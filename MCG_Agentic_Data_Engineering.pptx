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cov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1024128" cy="56692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57200" y="13716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Meridian Commerce Group</a:t>
            </a:r>
            <a:endParaRPr lang="en-US" sz="1800" dirty="0"/>
          </a:p>
        </p:txBody>
      </p:sp>
      <p:sp>
        <p:nvSpPr>
          <p:cNvPr id="5" name="Text 1"/>
          <p:cNvSpPr/>
          <p:nvPr/>
        </p:nvSpPr>
        <p:spPr>
          <a:xfrm>
            <a:off x="457200" y="1965960"/>
            <a:ext cx="68580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Agentic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Engineering</a:t>
            </a:r>
            <a:endParaRPr lang="en-US" sz="4000" dirty="0"/>
          </a:p>
        </p:txBody>
      </p:sp>
      <p:sp>
        <p:nvSpPr>
          <p:cNvPr id="6" name="Text 2"/>
          <p:cNvSpPr/>
          <p:nvPr/>
        </p:nvSpPr>
        <p:spPr>
          <a:xfrm>
            <a:off x="457200" y="361188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Pipelines as code.  Agents that build trust.  AI that ships.</a:t>
            </a:r>
            <a:endParaRPr lang="en-US" sz="1600" dirty="0"/>
          </a:p>
        </p:txBody>
      </p:sp>
      <p:sp>
        <p:nvSpPr>
          <p:cNvPr id="7" name="Text 3"/>
          <p:cNvSpPr/>
          <p:nvPr/>
        </p:nvSpPr>
        <p:spPr>
          <a:xfrm>
            <a:off x="457200" y="41605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Build-side AI — the counterpart to Qlik's consumption-side agents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457200" y="5120640"/>
            <a:ext cx="1783080" cy="777240"/>
          </a:xfrm>
          <a:prstGeom prst="roundRect">
            <a:avLst>
              <a:gd name="adj" fmla="val 9412"/>
            </a:avLst>
          </a:prstGeom>
          <a:solidFill>
            <a:srgbClr val="006580"/>
          </a:solidFill>
          <a:ln/>
        </p:spPr>
      </p:sp>
      <p:sp>
        <p:nvSpPr>
          <p:cNvPr id="9" name="Text 5"/>
          <p:cNvSpPr/>
          <p:nvPr/>
        </p:nvSpPr>
        <p:spPr>
          <a:xfrm>
            <a:off x="457200" y="5120640"/>
            <a:ext cx="1783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Declarative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Pipelines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2359152" y="5120640"/>
            <a:ext cx="1783080" cy="777240"/>
          </a:xfrm>
          <a:prstGeom prst="roundRect">
            <a:avLst>
              <a:gd name="adj" fmla="val 9412"/>
            </a:avLst>
          </a:prstGeom>
          <a:solidFill>
            <a:srgbClr val="009845"/>
          </a:solidFill>
          <a:ln/>
        </p:spPr>
      </p:sp>
      <p:sp>
        <p:nvSpPr>
          <p:cNvPr id="11" name="Text 7"/>
          <p:cNvSpPr/>
          <p:nvPr/>
        </p:nvSpPr>
        <p:spPr>
          <a:xfrm>
            <a:off x="2359152" y="5120640"/>
            <a:ext cx="1783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4261104" y="5120640"/>
            <a:ext cx="1783080" cy="777240"/>
          </a:xfrm>
          <a:prstGeom prst="roundRect">
            <a:avLst>
              <a:gd name="adj" fmla="val 9412"/>
            </a:avLst>
          </a:prstGeom>
          <a:solidFill>
            <a:srgbClr val="009845"/>
          </a:solidFill>
          <a:ln/>
        </p:spPr>
      </p:sp>
      <p:sp>
        <p:nvSpPr>
          <p:cNvPr id="13" name="Text 9"/>
          <p:cNvSpPr/>
          <p:nvPr/>
        </p:nvSpPr>
        <p:spPr>
          <a:xfrm>
            <a:off x="4261104" y="5120640"/>
            <a:ext cx="1783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Quality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163056" y="5120640"/>
            <a:ext cx="1783080" cy="777240"/>
          </a:xfrm>
          <a:prstGeom prst="roundRect">
            <a:avLst>
              <a:gd name="adj" fmla="val 9412"/>
            </a:avLst>
          </a:prstGeom>
          <a:solidFill>
            <a:srgbClr val="4CB393"/>
          </a:solidFill>
          <a:ln/>
        </p:spPr>
      </p:sp>
      <p:sp>
        <p:nvSpPr>
          <p:cNvPr id="15" name="Text 11"/>
          <p:cNvSpPr/>
          <p:nvPr/>
        </p:nvSpPr>
        <p:spPr>
          <a:xfrm>
            <a:off x="6163056" y="5120640"/>
            <a:ext cx="1783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Catalog &amp;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Glossary Agent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65008" y="5120640"/>
            <a:ext cx="1783080" cy="777240"/>
          </a:xfrm>
          <a:prstGeom prst="roundRect">
            <a:avLst>
              <a:gd name="adj" fmla="val 9412"/>
            </a:avLst>
          </a:prstGeom>
          <a:solidFill>
            <a:srgbClr val="009845"/>
          </a:solidFill>
          <a:ln/>
        </p:spPr>
      </p:sp>
      <p:sp>
        <p:nvSpPr>
          <p:cNvPr id="17" name="Text 13"/>
          <p:cNvSpPr/>
          <p:nvPr/>
        </p:nvSpPr>
        <p:spPr>
          <a:xfrm>
            <a:off x="8065008" y="5120640"/>
            <a:ext cx="1783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Agentic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Routes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9966960" y="5120640"/>
            <a:ext cx="1783080" cy="777240"/>
          </a:xfrm>
          <a:prstGeom prst="roundRect">
            <a:avLst>
              <a:gd name="adj" fmla="val 9412"/>
            </a:avLst>
          </a:prstGeom>
          <a:solidFill>
            <a:srgbClr val="006580"/>
          </a:solidFill>
          <a:ln/>
        </p:spPr>
      </p:sp>
      <p:sp>
        <p:nvSpPr>
          <p:cNvPr id="19" name="Text 15"/>
          <p:cNvSpPr/>
          <p:nvPr/>
        </p:nvSpPr>
        <p:spPr>
          <a:xfrm>
            <a:off x="9966960" y="5120640"/>
            <a:ext cx="1783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MCP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Server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Agentic Data Engineering  •  MCG Demo  •  Qlik Talend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Forward-Looking Information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8638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Please read before evaluating anything in this deck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325880"/>
            <a:ext cx="11247120" cy="4206240"/>
          </a:xfrm>
          <a:prstGeom prst="roundRect">
            <a:avLst>
              <a:gd name="adj" fmla="val 2609"/>
            </a:avLst>
          </a:prstGeom>
          <a:solidFill>
            <a:srgbClr val="F6F7F8"/>
          </a:solidFill>
          <a:ln w="25400">
            <a:solidFill>
              <a:srgbClr val="19416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160020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This presentation includes forward-looking information about Qlik products and capabilities. It is provided for planning and evaluation only and is not a commitment to deliver any feature, functionality, or timing.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731520" y="2386584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Declarative Data Pipelines and the Qlik MCP Server tooling are in Qlik internal preview (June 2026). Capabilities, availability, and timing may change before general availability.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731520" y="3172968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The Data Product Agent, Data Quality Agent, and Catalog and Business Glossary Agent are delivered as Qlik Answers capabilities — not separate products or SKUs.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731520" y="3959352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Talend Agentic Routes extend Qlik Talend Cloud. Named third-party models, vector stores, and tools are examples of supported integrations, not endorsements.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731520" y="4745736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Purchasing decisions should be based on generally available functionality. Preview and roadmap items are labeled as such throughout this deck.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Agentic Data Engineering  •  MCG Demo  •  Qlik Talend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Agenda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8638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Six ways Qlik puts AI on the build side of the data platform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48640" y="1280160"/>
            <a:ext cx="548640" cy="548640"/>
          </a:xfrm>
          <a:prstGeom prst="ellipse">
            <a:avLst/>
          </a:prstGeom>
          <a:solidFill>
            <a:srgbClr val="006580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12801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1280160" y="123444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now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12801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shift from UI-driven to declarative, code-first, AI-assisted data engineering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48640" y="2103120"/>
            <a:ext cx="548640" cy="548640"/>
          </a:xfrm>
          <a:prstGeom prst="ellipse">
            <a:avLst/>
          </a:prstGeom>
          <a:solidFill>
            <a:srgbClr val="009845"/>
          </a:solidFill>
          <a:ln/>
        </p:spPr>
      </p:sp>
      <p:sp>
        <p:nvSpPr>
          <p:cNvPr id="14" name="Text 11"/>
          <p:cNvSpPr/>
          <p:nvPr/>
        </p:nvSpPr>
        <p:spPr>
          <a:xfrm>
            <a:off x="548640" y="21031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1280160" y="205740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big idea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1280160" y="24231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pipeline YAML — editable visually, programmatically, or agentically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48640" y="2926080"/>
            <a:ext cx="548640" cy="548640"/>
          </a:xfrm>
          <a:prstGeom prst="ellipse">
            <a:avLst/>
          </a:prstGeom>
          <a:solidFill>
            <a:srgbClr val="009845"/>
          </a:solidFill>
          <a:ln/>
        </p:spPr>
      </p:sp>
      <p:sp>
        <p:nvSpPr>
          <p:cNvPr id="18" name="Text 15"/>
          <p:cNvSpPr/>
          <p:nvPr/>
        </p:nvSpPr>
        <p:spPr>
          <a:xfrm>
            <a:off x="548640" y="29260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1280160" y="288036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Six build-side capabilities</a:t>
            </a:r>
            <a:endParaRPr lang="en-US" sz="1700" dirty="0"/>
          </a:p>
        </p:txBody>
      </p:sp>
      <p:sp>
        <p:nvSpPr>
          <p:cNvPr id="20" name="Text 17"/>
          <p:cNvSpPr/>
          <p:nvPr/>
        </p:nvSpPr>
        <p:spPr>
          <a:xfrm>
            <a:off x="1280160" y="32461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Declarative pipelines, three Qlik Answers agents, Talend Agentic Routes, and the MCP Server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548640" y="3749040"/>
            <a:ext cx="548640" cy="548640"/>
          </a:xfrm>
          <a:prstGeom prst="ellipse">
            <a:avLst/>
          </a:prstGeom>
          <a:solidFill>
            <a:srgbClr val="4CB393"/>
          </a:solidFill>
          <a:ln/>
        </p:spPr>
      </p:sp>
      <p:sp>
        <p:nvSpPr>
          <p:cNvPr id="22" name="Text 19"/>
          <p:cNvSpPr/>
          <p:nvPr/>
        </p:nvSpPr>
        <p:spPr>
          <a:xfrm>
            <a:off x="548640" y="37490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200" dirty="0"/>
          </a:p>
        </p:txBody>
      </p:sp>
      <p:sp>
        <p:nvSpPr>
          <p:cNvPr id="23" name="Text 20"/>
          <p:cNvSpPr/>
          <p:nvPr/>
        </p:nvSpPr>
        <p:spPr>
          <a:xfrm>
            <a:off x="1280160" y="37033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it works</a:t>
            </a:r>
            <a:endParaRPr lang="en-US" sz="1700" dirty="0"/>
          </a:p>
        </p:txBody>
      </p:sp>
      <p:sp>
        <p:nvSpPr>
          <p:cNvPr id="24" name="Text 21"/>
          <p:cNvSpPr/>
          <p:nvPr/>
        </p:nvSpPr>
        <p:spPr>
          <a:xfrm>
            <a:off x="1280160" y="40690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raw-to-trusted flow, with a human in the loop at each stage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48640" y="4572000"/>
            <a:ext cx="548640" cy="548640"/>
          </a:xfrm>
          <a:prstGeom prst="ellipse">
            <a:avLst/>
          </a:prstGeom>
          <a:solidFill>
            <a:srgbClr val="006580"/>
          </a:solidFill>
          <a:ln/>
        </p:spPr>
      </p:sp>
      <p:sp>
        <p:nvSpPr>
          <p:cNvPr id="26" name="Text 23"/>
          <p:cNvSpPr/>
          <p:nvPr/>
        </p:nvSpPr>
        <p:spPr>
          <a:xfrm>
            <a:off x="548640" y="45720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2200" dirty="0"/>
          </a:p>
        </p:txBody>
      </p:sp>
      <p:sp>
        <p:nvSpPr>
          <p:cNvPr id="27" name="Text 24"/>
          <p:cNvSpPr/>
          <p:nvPr/>
        </p:nvSpPr>
        <p:spPr>
          <a:xfrm>
            <a:off x="1280160" y="452628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See it live</a:t>
            </a:r>
            <a:endParaRPr lang="en-US" sz="1700" dirty="0"/>
          </a:p>
        </p:txBody>
      </p:sp>
      <p:sp>
        <p:nvSpPr>
          <p:cNvPr id="28" name="Text 25"/>
          <p:cNvSpPr/>
          <p:nvPr/>
        </p:nvSpPr>
        <p:spPr>
          <a:xfrm>
            <a:off x="1280160" y="48920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one-line pipeline change in VS Code with a coding agent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548640" y="5394960"/>
            <a:ext cx="548640" cy="548640"/>
          </a:xfrm>
          <a:prstGeom prst="ellipse">
            <a:avLst/>
          </a:prstGeom>
          <a:solidFill>
            <a:srgbClr val="009845"/>
          </a:solidFill>
          <a:ln/>
        </p:spPr>
      </p:sp>
      <p:sp>
        <p:nvSpPr>
          <p:cNvPr id="30" name="Text 27"/>
          <p:cNvSpPr/>
          <p:nvPr/>
        </p:nvSpPr>
        <p:spPr>
          <a:xfrm>
            <a:off x="548640" y="53949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2200" dirty="0"/>
          </a:p>
        </p:txBody>
      </p:sp>
      <p:sp>
        <p:nvSpPr>
          <p:cNvPr id="31" name="Text 28"/>
          <p:cNvSpPr/>
          <p:nvPr/>
        </p:nvSpPr>
        <p:spPr>
          <a:xfrm>
            <a:off x="1280160" y="534924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Roadmap &amp; what it unlocks for MCG</a:t>
            </a:r>
            <a:endParaRPr lang="en-US" sz="1700" dirty="0"/>
          </a:p>
        </p:txBody>
      </p:sp>
      <p:sp>
        <p:nvSpPr>
          <p:cNvPr id="32" name="Text 29"/>
          <p:cNvSpPr/>
          <p:nvPr/>
        </p:nvSpPr>
        <p:spPr>
          <a:xfrm>
            <a:off x="1280160" y="57150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this is going, and the payoff for Meridian Commerce Group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Agentic Data Engineering  •  MCG Demo  •  Qlik Talend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Now — Data Engineering Goes Declarative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86384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same shift software went through: from clicking things together to code you can review, version, and let AI help write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57200" y="1325880"/>
            <a:ext cx="11247120" cy="914400"/>
          </a:xfrm>
          <a:prstGeom prst="roundRect">
            <a:avLst>
              <a:gd name="adj" fmla="val 10000"/>
            </a:avLst>
          </a:prstGeom>
          <a:solidFill>
            <a:srgbClr val="F6F7F8"/>
          </a:solidFill>
          <a:ln w="12700">
            <a:solidFill>
              <a:srgbClr val="A9B3B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85800" y="143560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685800" y="169164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Pipelines clicked together in a UI — hard to review, diff, or reproduce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623560" y="160020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6355080" y="143560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6355080" y="169164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Declarative YAML you can diff, version, and roll back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57200" y="2377440"/>
            <a:ext cx="11247120" cy="914400"/>
          </a:xfrm>
          <a:prstGeom prst="roundRect">
            <a:avLst>
              <a:gd name="adj" fmla="val 10000"/>
            </a:avLst>
          </a:prstGeom>
          <a:solidFill>
            <a:srgbClr val="F6F7F8"/>
          </a:solidFill>
          <a:ln w="12700">
            <a:solidFill>
              <a:srgbClr val="A9B3B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85800" y="24871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685800" y="274320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change authored by hand, one screen at a time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5623560" y="265176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6355080" y="24871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355080" y="274320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coding agents draft the change; engineers review and approve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457200" y="3429000"/>
            <a:ext cx="11247120" cy="914400"/>
          </a:xfrm>
          <a:prstGeom prst="roundRect">
            <a:avLst>
              <a:gd name="adj" fmla="val 10000"/>
            </a:avLst>
          </a:prstGeom>
          <a:solidFill>
            <a:srgbClr val="F6F7F8"/>
          </a:solidFill>
          <a:ln w="12700">
            <a:solidFill>
              <a:srgbClr val="A9B3B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85800" y="353872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685800" y="379476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quality and definitions live in tribal knowledge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5623560" y="370332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800" dirty="0"/>
          </a:p>
        </p:txBody>
      </p:sp>
      <p:sp>
        <p:nvSpPr>
          <p:cNvPr id="25" name="Text 22"/>
          <p:cNvSpPr/>
          <p:nvPr/>
        </p:nvSpPr>
        <p:spPr>
          <a:xfrm>
            <a:off x="6355080" y="353872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6355080" y="379476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scores, DQ rules, and a glossary that ship as governed assets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57200" y="4572000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E0F5EA"/>
          </a:solidFill>
          <a:ln/>
        </p:spPr>
      </p:sp>
      <p:sp>
        <p:nvSpPr>
          <p:cNvPr id="28" name="Text 25"/>
          <p:cNvSpPr/>
          <p:nvPr/>
        </p:nvSpPr>
        <p:spPr>
          <a:xfrm>
            <a:off x="731520" y="4590288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already runs consumption-side AI — Discovery Agent, Qlik Answers, Qlik Predict. This is the build-side counterpart: AI that authors the pipeline and governs the data.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Agentic Data Engineering  •  MCG Demo  •  Qlik Talend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Big Idea — One Pipeline YAML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86384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whole pipeline is one declarative definition. Edit it whichever way fits the moment — the file is the single source of truth.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3803904" y="1325880"/>
            <a:ext cx="4572000" cy="1143000"/>
          </a:xfrm>
          <a:prstGeom prst="roundRect">
            <a:avLst>
              <a:gd name="adj" fmla="val 9600"/>
            </a:avLst>
          </a:prstGeom>
          <a:solidFill>
            <a:srgbClr val="19416C"/>
          </a:solidFill>
          <a:ln/>
          <a:effectLst>
            <a:outerShdw sx="100000" sy="100000" kx="0" ky="0" algn="bl" rotWithShape="0" blurRad="63500" dist="25400" dir="16200000">
              <a:srgbClr val="000000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3803904" y="141732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pipeline.yaml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3803904" y="196596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declarative definition · schema-validated · Git-versioned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920240" y="260604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5637276" y="260604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9354312" y="260604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640080" y="3063240"/>
            <a:ext cx="3538728" cy="2011680"/>
          </a:xfrm>
          <a:prstGeom prst="roundRect">
            <a:avLst>
              <a:gd name="adj" fmla="val 5455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68680" y="324612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6580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17" name="Image 1" descr="C:\Claude\MCG Full Stack\generators\assets\icons\pipeli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235" y="3341675"/>
            <a:ext cx="311810" cy="31181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1508760" y="32918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Visually</a:t>
            </a:r>
            <a:endParaRPr lang="en-US" sz="1600" dirty="0"/>
          </a:p>
        </p:txBody>
      </p:sp>
      <p:sp>
        <p:nvSpPr>
          <p:cNvPr id="19" name="Text 15"/>
          <p:cNvSpPr/>
          <p:nvPr/>
        </p:nvSpPr>
        <p:spPr>
          <a:xfrm>
            <a:off x="868680" y="388620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the Qlik Talend Cloud UI — the low-code pipeline designer your data team already knows.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4361688" y="3063240"/>
            <a:ext cx="3538728" cy="2011680"/>
          </a:xfrm>
          <a:prstGeom prst="roundRect">
            <a:avLst>
              <a:gd name="adj" fmla="val 5455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4590288" y="324612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9845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22" name="Image 2" descr="C:\Claude\MCG Full Stack\generators\assets\icons\transfor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5843" y="3341675"/>
            <a:ext cx="311810" cy="311810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5230368" y="32918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Programmatically</a:t>
            </a:r>
            <a:endParaRPr lang="en-US" sz="1600" dirty="0"/>
          </a:p>
        </p:txBody>
      </p:sp>
      <p:sp>
        <p:nvSpPr>
          <p:cNvPr id="24" name="Text 19"/>
          <p:cNvSpPr/>
          <p:nvPr/>
        </p:nvSpPr>
        <p:spPr>
          <a:xfrm>
            <a:off x="4590288" y="388620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VS Code or any third-party IDE — export, import, diff, and commit to Git like any other code.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8083296" y="3063240"/>
            <a:ext cx="3538728" cy="2011680"/>
          </a:xfrm>
          <a:prstGeom prst="roundRect">
            <a:avLst>
              <a:gd name="adj" fmla="val 5455"/>
            </a:avLst>
          </a:prstGeom>
          <a:solidFill>
            <a:srgbClr val="F6F7F8"/>
          </a:solidFill>
          <a:ln w="25400">
            <a:solidFill>
              <a:srgbClr val="4CB393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8311896" y="324612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4CB393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27" name="Image 3" descr="C:\Claude\MCG Full Stack\generators\assets\icons\agen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07451" y="3341675"/>
            <a:ext cx="311810" cy="311810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8951976" y="32918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Agentically</a:t>
            </a:r>
            <a:endParaRPr lang="en-US" sz="1600" dirty="0"/>
          </a:p>
        </p:txBody>
      </p:sp>
      <p:sp>
        <p:nvSpPr>
          <p:cNvPr id="29" name="Text 23"/>
          <p:cNvSpPr/>
          <p:nvPr/>
        </p:nvSpPr>
        <p:spPr>
          <a:xfrm>
            <a:off x="8311896" y="388620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With an AI coding agent — it drafts the change against the schema; you review and approve.</a:t>
            </a:r>
            <a:endParaRPr lang="en-US" sz="1100" dirty="0"/>
          </a:p>
        </p:txBody>
      </p:sp>
      <p:sp>
        <p:nvSpPr>
          <p:cNvPr id="30" name="Shape 24"/>
          <p:cNvSpPr/>
          <p:nvPr/>
        </p:nvSpPr>
        <p:spPr>
          <a:xfrm>
            <a:off x="457200" y="5349240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E0F8F7"/>
          </a:solidFill>
          <a:ln/>
        </p:spPr>
      </p:sp>
      <p:sp>
        <p:nvSpPr>
          <p:cNvPr id="31" name="Text 25"/>
          <p:cNvSpPr/>
          <p:nvPr/>
        </p:nvSpPr>
        <p:spPr>
          <a:xfrm>
            <a:off x="731520" y="5367528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"A path from raw data to trusted, AI-ready data product that keeps human expertise in the loop at each stage."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Agentic Data Engineering  •  MCG Demo  •  Qlik Talend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Declarative Data Pipelines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9006840" y="256032"/>
            <a:ext cx="2743200" cy="402336"/>
          </a:xfrm>
          <a:prstGeom prst="roundRect">
            <a:avLst>
              <a:gd name="adj" fmla="val 50000"/>
            </a:avLst>
          </a:prstGeom>
          <a:solidFill>
            <a:srgbClr val="19416C"/>
          </a:solidFill>
          <a:ln/>
        </p:spPr>
      </p:sp>
      <p:sp>
        <p:nvSpPr>
          <p:cNvPr id="9" name="Text 6"/>
          <p:cNvSpPr/>
          <p:nvPr/>
        </p:nvSpPr>
        <p:spPr>
          <a:xfrm>
            <a:off x="9006840" y="256032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PREVIEW · Jun 2026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457200" y="786384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YAML, code-first pipeline definitions — authored anywhere, versioned like software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57200" y="1280160"/>
            <a:ext cx="6766560" cy="4343400"/>
          </a:xfrm>
          <a:prstGeom prst="roundRect">
            <a:avLst>
              <a:gd name="adj" fmla="val 2526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1371600"/>
            <a:ext cx="6583680" cy="457200"/>
          </a:xfrm>
          <a:prstGeom prst="roundRect">
            <a:avLst>
              <a:gd name="adj" fmla="val 12000"/>
            </a:avLst>
          </a:prstGeom>
          <a:solidFill>
            <a:srgbClr val="006580"/>
          </a:solidFill>
          <a:ln/>
        </p:spPr>
      </p:sp>
      <p:sp>
        <p:nvSpPr>
          <p:cNvPr id="13" name="Text 10"/>
          <p:cNvSpPr/>
          <p:nvPr/>
        </p:nvSpPr>
        <p:spPr>
          <a:xfrm>
            <a:off x="548640" y="1371600"/>
            <a:ext cx="6583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does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21792" y="1426464"/>
            <a:ext cx="347472" cy="3474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15" name="Image 1" descr="C:\Claude\MCG Full Stack\generators\assets\icons\pipeli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812" y="1492484"/>
            <a:ext cx="215433" cy="215433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13232" y="1993392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YAML, code-first definition of the whole pipeline</a:t>
            </a:r>
            <a:endParaRPr lang="en-US" sz="1150" dirty="0"/>
          </a:p>
        </p:txBody>
      </p:sp>
      <p:sp>
        <p:nvSpPr>
          <p:cNvPr id="17" name="Text 13"/>
          <p:cNvSpPr/>
          <p:nvPr/>
        </p:nvSpPr>
        <p:spPr>
          <a:xfrm>
            <a:off x="713232" y="2651760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Author in the Qlik Talend Cloud UI, a third-party IDE (VS Code), or an AI coding agent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713232" y="3310128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Git version control + CI/CD; export and import definitions</a:t>
            </a:r>
            <a:endParaRPr lang="en-US" sz="1150" dirty="0"/>
          </a:p>
        </p:txBody>
      </p:sp>
      <p:sp>
        <p:nvSpPr>
          <p:cNvPr id="19" name="Text 15"/>
          <p:cNvSpPr/>
          <p:nvPr/>
        </p:nvSpPr>
        <p:spPr>
          <a:xfrm>
            <a:off x="713232" y="3968496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Schema-validated and agent-friendly by design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7406640" y="1280160"/>
            <a:ext cx="4315968" cy="4343400"/>
          </a:xfrm>
          <a:prstGeom prst="roundRect">
            <a:avLst>
              <a:gd name="adj" fmla="val 2542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7498080" y="1371600"/>
            <a:ext cx="4133088" cy="457200"/>
          </a:xfrm>
          <a:prstGeom prst="roundRect">
            <a:avLst>
              <a:gd name="adj" fmla="val 12000"/>
            </a:avLst>
          </a:prstGeom>
          <a:solidFill>
            <a:srgbClr val="009845"/>
          </a:solidFill>
          <a:ln/>
        </p:spPr>
      </p:sp>
      <p:sp>
        <p:nvSpPr>
          <p:cNvPr id="22" name="Text 18"/>
          <p:cNvSpPr/>
          <p:nvPr/>
        </p:nvSpPr>
        <p:spPr>
          <a:xfrm>
            <a:off x="7498080" y="1371600"/>
            <a:ext cx="41330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in this demo</a:t>
            </a:r>
            <a:endParaRPr lang="en-US" sz="1400" dirty="0"/>
          </a:p>
        </p:txBody>
      </p:sp>
      <p:sp>
        <p:nvSpPr>
          <p:cNvPr id="23" name="Text 19"/>
          <p:cNvSpPr/>
          <p:nvPr/>
        </p:nvSpPr>
        <p:spPr>
          <a:xfrm>
            <a:off x="7662672" y="1993392"/>
            <a:ext cx="3858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QTCP projects on Open Lakehouse — 6 tasks total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7662672" y="2651760"/>
            <a:ext cx="3858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mcg-batch-pipeline (4 tasks) + mcg-streaming-pipeline (2 tasks)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7662672" y="3310128"/>
            <a:ext cx="3858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Shipped as a VS Code template in deploy/pipelines/</a:t>
            </a:r>
            <a:endParaRPr lang="en-US" sz="1100" dirty="0"/>
          </a:p>
        </p:txBody>
      </p:sp>
      <p:sp>
        <p:nvSpPr>
          <p:cNvPr id="26" name="Text 22"/>
          <p:cNvSpPr/>
          <p:nvPr/>
        </p:nvSpPr>
        <p:spPr>
          <a:xfrm>
            <a:off x="7662672" y="3968496"/>
            <a:ext cx="3858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Schema kit dropped in locally via "npm run pipeline:template"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457200" y="5806440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E0F8F7"/>
          </a:solidFill>
          <a:ln/>
        </p:spPr>
      </p:sp>
      <p:sp>
        <p:nvSpPr>
          <p:cNvPr id="28" name="Text 24"/>
          <p:cNvSpPr/>
          <p:nvPr/>
        </p:nvSpPr>
        <p:spPr>
          <a:xfrm>
            <a:off x="731520" y="5824728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internal preview, June 2026 — roadmap, not GA. Availability and timing may change.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Agentic Data Engineering  •  MCG Demo  •  Qlik Talend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 Agent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9006840" y="256032"/>
            <a:ext cx="2743200" cy="402336"/>
          </a:xfrm>
          <a:prstGeom prst="roundRect">
            <a:avLst>
              <a:gd name="adj" fmla="val 50000"/>
            </a:avLst>
          </a:prstGeom>
          <a:solidFill>
            <a:srgbClr val="006580"/>
          </a:solidFill>
          <a:ln/>
        </p:spPr>
      </p:sp>
      <p:sp>
        <p:nvSpPr>
          <p:cNvPr id="9" name="Text 6"/>
          <p:cNvSpPr/>
          <p:nvPr/>
        </p:nvSpPr>
        <p:spPr>
          <a:xfrm>
            <a:off x="9006840" y="256032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Answers capability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457200" y="786384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Create and manage data products through natural-language interaction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57200" y="1280160"/>
            <a:ext cx="6766560" cy="4343400"/>
          </a:xfrm>
          <a:prstGeom prst="roundRect">
            <a:avLst>
              <a:gd name="adj" fmla="val 2526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1371600"/>
            <a:ext cx="6583680" cy="457200"/>
          </a:xfrm>
          <a:prstGeom prst="roundRect">
            <a:avLst>
              <a:gd name="adj" fmla="val 12000"/>
            </a:avLst>
          </a:prstGeom>
          <a:solidFill>
            <a:srgbClr val="009845"/>
          </a:solidFill>
          <a:ln/>
        </p:spPr>
      </p:sp>
      <p:sp>
        <p:nvSpPr>
          <p:cNvPr id="13" name="Text 10"/>
          <p:cNvSpPr/>
          <p:nvPr/>
        </p:nvSpPr>
        <p:spPr>
          <a:xfrm>
            <a:off x="548640" y="1371600"/>
            <a:ext cx="6583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does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21792" y="1426464"/>
            <a:ext cx="347472" cy="3474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15" name="Image 1" descr="C:\Claude\MCG Full Stack\generators\assets\icons\age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812" y="1492484"/>
            <a:ext cx="215433" cy="215433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13232" y="1993392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Create, read, update, and manage data products conversationally</a:t>
            </a:r>
            <a:endParaRPr lang="en-US" sz="1150" dirty="0"/>
          </a:p>
        </p:txBody>
      </p:sp>
      <p:sp>
        <p:nvSpPr>
          <p:cNvPr id="17" name="Text 13"/>
          <p:cNvSpPr/>
          <p:nvPr/>
        </p:nvSpPr>
        <p:spPr>
          <a:xfrm>
            <a:off x="713232" y="2651760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Discover and interact with products in plain language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713232" y="3310128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Review and improve data-product quality and completeness</a:t>
            </a:r>
            <a:endParaRPr lang="en-US" sz="1150" dirty="0"/>
          </a:p>
        </p:txBody>
      </p:sp>
      <p:sp>
        <p:nvSpPr>
          <p:cNvPr id="19" name="Text 15"/>
          <p:cNvSpPr/>
          <p:nvPr/>
        </p:nvSpPr>
        <p:spPr>
          <a:xfrm>
            <a:off x="713232" y="3968496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Packages Silver into Gold with governance metadata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7406640" y="1280160"/>
            <a:ext cx="4315968" cy="4343400"/>
          </a:xfrm>
          <a:prstGeom prst="roundRect">
            <a:avLst>
              <a:gd name="adj" fmla="val 2542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7498080" y="1371600"/>
            <a:ext cx="4133088" cy="457200"/>
          </a:xfrm>
          <a:prstGeom prst="roundRect">
            <a:avLst>
              <a:gd name="adj" fmla="val 12000"/>
            </a:avLst>
          </a:prstGeom>
          <a:solidFill>
            <a:srgbClr val="009845"/>
          </a:solidFill>
          <a:ln/>
        </p:spPr>
      </p:sp>
      <p:sp>
        <p:nvSpPr>
          <p:cNvPr id="22" name="Text 18"/>
          <p:cNvSpPr/>
          <p:nvPr/>
        </p:nvSpPr>
        <p:spPr>
          <a:xfrm>
            <a:off x="7498080" y="1371600"/>
            <a:ext cx="41330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in this demo</a:t>
            </a:r>
            <a:endParaRPr lang="en-US" sz="1400" dirty="0"/>
          </a:p>
        </p:txBody>
      </p:sp>
      <p:sp>
        <p:nvSpPr>
          <p:cNvPr id="23" name="Text 19"/>
          <p:cNvSpPr/>
          <p:nvPr/>
        </p:nvSpPr>
        <p:spPr>
          <a:xfrm>
            <a:off x="7662672" y="1993392"/>
            <a:ext cx="3858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gold data products: Supply Chain Health and Last Mile Performance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7662672" y="2651760"/>
            <a:ext cx="3858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Both API-shared, each with a trust-score SLA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7662672" y="3310128"/>
            <a:ext cx="3858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Built from the Silver medallion layer on Apache Iceberg</a:t>
            </a:r>
            <a:endParaRPr lang="en-US" sz="1100" dirty="0"/>
          </a:p>
        </p:txBody>
      </p:sp>
      <p:sp>
        <p:nvSpPr>
          <p:cNvPr id="26" name="Text 22"/>
          <p:cNvSpPr/>
          <p:nvPr/>
        </p:nvSpPr>
        <p:spPr>
          <a:xfrm>
            <a:off x="7662672" y="3968496"/>
            <a:ext cx="3858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The governed contract between producers and consumers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457200" y="5806440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E0F5EA"/>
          </a:solidFill>
          <a:ln/>
        </p:spPr>
      </p:sp>
      <p:sp>
        <p:nvSpPr>
          <p:cNvPr id="28" name="Text 24"/>
          <p:cNvSpPr/>
          <p:nvPr/>
        </p:nvSpPr>
        <p:spPr>
          <a:xfrm>
            <a:off x="731520" y="5824728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Delivered as a Qlik Answers capability, not a separate product or SKU.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Agentic Data Engineering  •  MCG Demo  •  Qlik Talend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Quality Agent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9006840" y="256032"/>
            <a:ext cx="2743200" cy="402336"/>
          </a:xfrm>
          <a:prstGeom prst="roundRect">
            <a:avLst>
              <a:gd name="adj" fmla="val 50000"/>
            </a:avLst>
          </a:prstGeom>
          <a:solidFill>
            <a:srgbClr val="006580"/>
          </a:solidFill>
          <a:ln/>
        </p:spPr>
      </p:sp>
      <p:sp>
        <p:nvSpPr>
          <p:cNvPr id="9" name="Text 6"/>
          <p:cNvSpPr/>
          <p:nvPr/>
        </p:nvSpPr>
        <p:spPr>
          <a:xfrm>
            <a:off x="9006840" y="256032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Answers capability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457200" y="786384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Helps data stewards assess, define, and enforce data-quality rules — conversationally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57200" y="1280160"/>
            <a:ext cx="6766560" cy="4343400"/>
          </a:xfrm>
          <a:prstGeom prst="roundRect">
            <a:avLst>
              <a:gd name="adj" fmla="val 2526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1371600"/>
            <a:ext cx="6583680" cy="457200"/>
          </a:xfrm>
          <a:prstGeom prst="roundRect">
            <a:avLst>
              <a:gd name="adj" fmla="val 12000"/>
            </a:avLst>
          </a:prstGeom>
          <a:solidFill>
            <a:srgbClr val="009845"/>
          </a:solidFill>
          <a:ln/>
        </p:spPr>
      </p:sp>
      <p:sp>
        <p:nvSpPr>
          <p:cNvPr id="13" name="Text 10"/>
          <p:cNvSpPr/>
          <p:nvPr/>
        </p:nvSpPr>
        <p:spPr>
          <a:xfrm>
            <a:off x="548640" y="1371600"/>
            <a:ext cx="6583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does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21792" y="1426464"/>
            <a:ext cx="347472" cy="3474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15" name="Image 1" descr="C:\Claude\MCG Full Stack\generators\assets\icons\governa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812" y="1492484"/>
            <a:ext cx="215433" cy="215433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13232" y="1993392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Assess data quality across datasets in plain language</a:t>
            </a:r>
            <a:endParaRPr lang="en-US" sz="1150" dirty="0"/>
          </a:p>
        </p:txBody>
      </p:sp>
      <p:sp>
        <p:nvSpPr>
          <p:cNvPr id="17" name="Text 13"/>
          <p:cNvSpPr/>
          <p:nvPr/>
        </p:nvSpPr>
        <p:spPr>
          <a:xfrm>
            <a:off x="713232" y="2651760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Create, manage, and map data-quality rules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713232" y="3310128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Run data-quality metric calculations on demand</a:t>
            </a:r>
            <a:endParaRPr lang="en-US" sz="1150" dirty="0"/>
          </a:p>
        </p:txBody>
      </p:sp>
      <p:sp>
        <p:nvSpPr>
          <p:cNvPr id="19" name="Text 15"/>
          <p:cNvSpPr/>
          <p:nvPr/>
        </p:nvSpPr>
        <p:spPr>
          <a:xfrm>
            <a:off x="713232" y="3968496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Bridges business and technical users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7406640" y="1280160"/>
            <a:ext cx="4315968" cy="4343400"/>
          </a:xfrm>
          <a:prstGeom prst="roundRect">
            <a:avLst>
              <a:gd name="adj" fmla="val 2542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7498080" y="1371600"/>
            <a:ext cx="4133088" cy="457200"/>
          </a:xfrm>
          <a:prstGeom prst="roundRect">
            <a:avLst>
              <a:gd name="adj" fmla="val 12000"/>
            </a:avLst>
          </a:prstGeom>
          <a:solidFill>
            <a:srgbClr val="009845"/>
          </a:solidFill>
          <a:ln/>
        </p:spPr>
      </p:sp>
      <p:sp>
        <p:nvSpPr>
          <p:cNvPr id="22" name="Text 18"/>
          <p:cNvSpPr/>
          <p:nvPr/>
        </p:nvSpPr>
        <p:spPr>
          <a:xfrm>
            <a:off x="7498080" y="1371600"/>
            <a:ext cx="41330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in this demo</a:t>
            </a:r>
            <a:endParaRPr lang="en-US" sz="1400" dirty="0"/>
          </a:p>
        </p:txBody>
      </p:sp>
      <p:sp>
        <p:nvSpPr>
          <p:cNvPr id="23" name="Text 19"/>
          <p:cNvSpPr/>
          <p:nvPr/>
        </p:nvSpPr>
        <p:spPr>
          <a:xfrm>
            <a:off x="7662672" y="1993392"/>
            <a:ext cx="3858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Silver-layer trust-score and DQ rules feed Gold SLAs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7662672" y="2651760"/>
            <a:ext cx="3858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Stewardship review queues keep a human in the loop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7662672" y="3310128"/>
            <a:ext cx="3858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Profiling surfaces issues before they reach a data product</a:t>
            </a:r>
            <a:endParaRPr lang="en-US" sz="1100" dirty="0"/>
          </a:p>
        </p:txBody>
      </p:sp>
      <p:sp>
        <p:nvSpPr>
          <p:cNvPr id="26" name="Text 22"/>
          <p:cNvSpPr/>
          <p:nvPr/>
        </p:nvSpPr>
        <p:spPr>
          <a:xfrm>
            <a:off x="7662672" y="3968496"/>
            <a:ext cx="3858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Grounds the trust scores on Supply Chain Health &amp; Last Mile Performance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457200" y="5806440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E0F5EA"/>
          </a:solidFill>
          <a:ln/>
        </p:spPr>
      </p:sp>
      <p:sp>
        <p:nvSpPr>
          <p:cNvPr id="28" name="Text 24"/>
          <p:cNvSpPr/>
          <p:nvPr/>
        </p:nvSpPr>
        <p:spPr>
          <a:xfrm>
            <a:off x="731520" y="5824728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Delivered as a Qlik Answers capability, not a separate product or SKU.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Agentic Data Engineering  •  MCG Demo  •  Qlik Talend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Catalog and Business Glossary Agent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9006840" y="256032"/>
            <a:ext cx="2743200" cy="402336"/>
          </a:xfrm>
          <a:prstGeom prst="roundRect">
            <a:avLst>
              <a:gd name="adj" fmla="val 50000"/>
            </a:avLst>
          </a:prstGeom>
          <a:solidFill>
            <a:srgbClr val="006580"/>
          </a:solidFill>
          <a:ln/>
        </p:spPr>
      </p:sp>
      <p:sp>
        <p:nvSpPr>
          <p:cNvPr id="9" name="Text 6"/>
          <p:cNvSpPr/>
          <p:nvPr/>
        </p:nvSpPr>
        <p:spPr>
          <a:xfrm>
            <a:off x="9006840" y="256032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Answers capability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457200" y="786384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 data assets, understand context, and define consistent business terminology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57200" y="1280160"/>
            <a:ext cx="6766560" cy="4343400"/>
          </a:xfrm>
          <a:prstGeom prst="roundRect">
            <a:avLst>
              <a:gd name="adj" fmla="val 2526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1371600"/>
            <a:ext cx="6583680" cy="457200"/>
          </a:xfrm>
          <a:prstGeom prst="roundRect">
            <a:avLst>
              <a:gd name="adj" fmla="val 12000"/>
            </a:avLst>
          </a:prstGeom>
          <a:solidFill>
            <a:srgbClr val="009845"/>
          </a:solidFill>
          <a:ln/>
        </p:spPr>
      </p:sp>
      <p:sp>
        <p:nvSpPr>
          <p:cNvPr id="13" name="Text 10"/>
          <p:cNvSpPr/>
          <p:nvPr/>
        </p:nvSpPr>
        <p:spPr>
          <a:xfrm>
            <a:off x="548640" y="1371600"/>
            <a:ext cx="6583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does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21792" y="1426464"/>
            <a:ext cx="347472" cy="3474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15" name="Image 1" descr="C:\Claude\MCG Full Stack\generators\assets\icons\answ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812" y="1492484"/>
            <a:ext cx="215433" cy="215433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13232" y="1993392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Natural-language queries against Qlik Cloud Catalog metadata</a:t>
            </a:r>
            <a:endParaRPr lang="en-US" sz="1150" dirty="0"/>
          </a:p>
        </p:txBody>
      </p:sp>
      <p:sp>
        <p:nvSpPr>
          <p:cNvPr id="17" name="Text 13"/>
          <p:cNvSpPr/>
          <p:nvPr/>
        </p:nvSpPr>
        <p:spPr>
          <a:xfrm>
            <a:off x="713232" y="2651760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Generate glossaries from apps, data products, datasets, or a domain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713232" y="3310128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Standardize terms and synonyms across the estate</a:t>
            </a:r>
            <a:endParaRPr lang="en-US" sz="1150" dirty="0"/>
          </a:p>
        </p:txBody>
      </p:sp>
      <p:sp>
        <p:nvSpPr>
          <p:cNvPr id="19" name="Text 15"/>
          <p:cNvSpPr/>
          <p:nvPr/>
        </p:nvSpPr>
        <p:spPr>
          <a:xfrm>
            <a:off x="713232" y="3968496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Understand context and relationships between assets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7406640" y="1280160"/>
            <a:ext cx="4315968" cy="4343400"/>
          </a:xfrm>
          <a:prstGeom prst="roundRect">
            <a:avLst>
              <a:gd name="adj" fmla="val 2542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7498080" y="1371600"/>
            <a:ext cx="4133088" cy="457200"/>
          </a:xfrm>
          <a:prstGeom prst="roundRect">
            <a:avLst>
              <a:gd name="adj" fmla="val 12000"/>
            </a:avLst>
          </a:prstGeom>
          <a:solidFill>
            <a:srgbClr val="009845"/>
          </a:solidFill>
          <a:ln/>
        </p:spPr>
      </p:sp>
      <p:sp>
        <p:nvSpPr>
          <p:cNvPr id="22" name="Text 18"/>
          <p:cNvSpPr/>
          <p:nvPr/>
        </p:nvSpPr>
        <p:spPr>
          <a:xfrm>
            <a:off x="7498080" y="1371600"/>
            <a:ext cx="41330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in this demo</a:t>
            </a:r>
            <a:endParaRPr lang="en-US" sz="1400" dirty="0"/>
          </a:p>
        </p:txBody>
      </p:sp>
      <p:sp>
        <p:nvSpPr>
          <p:cNvPr id="23" name="Text 19"/>
          <p:cNvSpPr/>
          <p:nvPr/>
        </p:nvSpPr>
        <p:spPr>
          <a:xfrm>
            <a:off x="7662672" y="1993392"/>
            <a:ext cx="3858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25-term MCG business glossary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7662672" y="2651760"/>
            <a:ext cx="3858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Generated terms land in DRAFT status by default — a human reviews before publish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7662672" y="3310128"/>
            <a:ext cx="3858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Links terms to datasets, data products, and nightmare scenarios</a:t>
            </a:r>
            <a:endParaRPr lang="en-US" sz="1100" dirty="0"/>
          </a:p>
        </p:txBody>
      </p:sp>
      <p:sp>
        <p:nvSpPr>
          <p:cNvPr id="26" name="Text 22"/>
          <p:cNvSpPr/>
          <p:nvPr/>
        </p:nvSpPr>
        <p:spPr>
          <a:xfrm>
            <a:off x="7662672" y="3968496"/>
            <a:ext cx="3858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Keeps definitions consistent across analytics and AI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457200" y="5806440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E0F5EA"/>
          </a:solidFill>
          <a:ln/>
        </p:spPr>
      </p:sp>
      <p:sp>
        <p:nvSpPr>
          <p:cNvPr id="28" name="Text 24"/>
          <p:cNvSpPr/>
          <p:nvPr/>
        </p:nvSpPr>
        <p:spPr>
          <a:xfrm>
            <a:off x="731520" y="5824728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Generated glossary terms are draft by default and require human review. Delivered as a Qlik Answers capability, not a separate product.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Agentic Data Engineering  •  MCG Demo  •  Qlik Talend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Agentic Routes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9006840" y="256032"/>
            <a:ext cx="2743200" cy="402336"/>
          </a:xfrm>
          <a:prstGeom prst="roundRect">
            <a:avLst>
              <a:gd name="adj" fmla="val 50000"/>
            </a:avLst>
          </a:prstGeom>
          <a:solidFill>
            <a:srgbClr val="19416C"/>
          </a:solidFill>
          <a:ln/>
        </p:spPr>
      </p:sp>
      <p:sp>
        <p:nvSpPr>
          <p:cNvPr id="9" name="Text 6"/>
          <p:cNvSpPr/>
          <p:nvPr/>
        </p:nvSpPr>
        <p:spPr>
          <a:xfrm>
            <a:off x="9006840" y="256032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PREVIEW · Jun 2026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457200" y="786384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AI-native workflows inside Qlik Talend Cloud — LLMs, RAG, and orchestration in the pipeline task itself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57200" y="1280160"/>
            <a:ext cx="6766560" cy="4343400"/>
          </a:xfrm>
          <a:prstGeom prst="roundRect">
            <a:avLst>
              <a:gd name="adj" fmla="val 2526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1371600"/>
            <a:ext cx="6583680" cy="457200"/>
          </a:xfrm>
          <a:prstGeom prst="roundRect">
            <a:avLst>
              <a:gd name="adj" fmla="val 12000"/>
            </a:avLst>
          </a:prstGeom>
          <a:solidFill>
            <a:srgbClr val="009845"/>
          </a:solidFill>
          <a:ln/>
        </p:spPr>
      </p:sp>
      <p:sp>
        <p:nvSpPr>
          <p:cNvPr id="13" name="Text 10"/>
          <p:cNvSpPr/>
          <p:nvPr/>
        </p:nvSpPr>
        <p:spPr>
          <a:xfrm>
            <a:off x="548640" y="1371600"/>
            <a:ext cx="6583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does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21792" y="1426464"/>
            <a:ext cx="347472" cy="3474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15" name="Image 1" descr="C:\Claude\MCG Full Stack\generators\assets\icons\transfor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812" y="1492484"/>
            <a:ext cx="215433" cy="215433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13232" y="1993392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LLM integration in data tasks — cloud (OpenAI, Anthropic Claude, Google Gemini, Amazon Bedrock) and on-prem (Ollama, Mistral, Gemma 3, Phi 4)</a:t>
            </a:r>
            <a:endParaRPr lang="en-US" sz="1150" dirty="0"/>
          </a:p>
        </p:txBody>
      </p:sp>
      <p:sp>
        <p:nvSpPr>
          <p:cNvPr id="17" name="Text 13"/>
          <p:cNvSpPr/>
          <p:nvPr/>
        </p:nvSpPr>
        <p:spPr>
          <a:xfrm>
            <a:off x="713232" y="2651760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RAG pipelines to vector targets: Pinecone, MongoDB, Snowflake, Databricks, Milvus, Oracle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713232" y="3310128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Agentic orchestration — event-driven, conversational AI, extensible tools + MCP client</a:t>
            </a:r>
            <a:endParaRPr lang="en-US" sz="1150" dirty="0"/>
          </a:p>
        </p:txBody>
      </p:sp>
      <p:sp>
        <p:nvSpPr>
          <p:cNvPr id="19" name="Text 15"/>
          <p:cNvSpPr/>
          <p:nvPr/>
        </p:nvSpPr>
        <p:spPr>
          <a:xfrm>
            <a:off x="713232" y="3968496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In-task sentiment analysis, entity extraction, classification, AI-assisted DQ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7406640" y="1280160"/>
            <a:ext cx="4315968" cy="4343400"/>
          </a:xfrm>
          <a:prstGeom prst="roundRect">
            <a:avLst>
              <a:gd name="adj" fmla="val 2542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7498080" y="1371600"/>
            <a:ext cx="4133088" cy="457200"/>
          </a:xfrm>
          <a:prstGeom prst="roundRect">
            <a:avLst>
              <a:gd name="adj" fmla="val 12000"/>
            </a:avLst>
          </a:prstGeom>
          <a:solidFill>
            <a:srgbClr val="009845"/>
          </a:solidFill>
          <a:ln/>
        </p:spPr>
      </p:sp>
      <p:sp>
        <p:nvSpPr>
          <p:cNvPr id="22" name="Text 18"/>
          <p:cNvSpPr/>
          <p:nvPr/>
        </p:nvSpPr>
        <p:spPr>
          <a:xfrm>
            <a:off x="7498080" y="1371600"/>
            <a:ext cx="41330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in this demo</a:t>
            </a:r>
            <a:endParaRPr lang="en-US" sz="1400" dirty="0"/>
          </a:p>
        </p:txBody>
      </p:sp>
      <p:sp>
        <p:nvSpPr>
          <p:cNvPr id="23" name="Text 19"/>
          <p:cNvSpPr/>
          <p:nvPr/>
        </p:nvSpPr>
        <p:spPr>
          <a:xfrm>
            <a:off x="7662672" y="1993392"/>
            <a:ext cx="3858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Existing Talend job mcg_crm_address_validate_bulk: address standardization, bulk geocoding, GPS routing gate to Iceberg or a Stewardship sprint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7662672" y="2651760"/>
            <a:ext cx="3858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Add an LLM-assisted address-correction step to that route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7662672" y="3310128"/>
            <a:ext cx="3858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Enrich Silver in place, before packaging to Gold</a:t>
            </a:r>
            <a:endParaRPr lang="en-US" sz="1100" dirty="0"/>
          </a:p>
        </p:txBody>
      </p:sp>
      <p:sp>
        <p:nvSpPr>
          <p:cNvPr id="26" name="Shape 22"/>
          <p:cNvSpPr/>
          <p:nvPr/>
        </p:nvSpPr>
        <p:spPr>
          <a:xfrm>
            <a:off x="457200" y="5806440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E0F5EA"/>
          </a:solidFill>
          <a:ln/>
        </p:spPr>
      </p:sp>
      <p:sp>
        <p:nvSpPr>
          <p:cNvPr id="27" name="Text 23"/>
          <p:cNvSpPr/>
          <p:nvPr/>
        </p:nvSpPr>
        <p:spPr>
          <a:xfrm>
            <a:off x="731520" y="5824728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Named models, vector stores, and tools are examples of supported integrations — not endorsements.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Agentic Data Engineering  •  MCG Demo  •  Qlik Talend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MCP Server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9006840" y="256032"/>
            <a:ext cx="2743200" cy="402336"/>
          </a:xfrm>
          <a:prstGeom prst="roundRect">
            <a:avLst>
              <a:gd name="adj" fmla="val 50000"/>
            </a:avLst>
          </a:prstGeom>
          <a:solidFill>
            <a:srgbClr val="19416C"/>
          </a:solidFill>
          <a:ln/>
        </p:spPr>
      </p:sp>
      <p:sp>
        <p:nvSpPr>
          <p:cNvPr id="9" name="Text 6"/>
          <p:cNvSpPr/>
          <p:nvPr/>
        </p:nvSpPr>
        <p:spPr>
          <a:xfrm>
            <a:off x="9006840" y="256032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PREVIEW · Jun 2026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457200" y="786384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MCP-compliant server that exposes Qlik Cloud's governance to any AI assistant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57200" y="1280160"/>
            <a:ext cx="6766560" cy="4343400"/>
          </a:xfrm>
          <a:prstGeom prst="roundRect">
            <a:avLst>
              <a:gd name="adj" fmla="val 2526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1371600"/>
            <a:ext cx="6583680" cy="457200"/>
          </a:xfrm>
          <a:prstGeom prst="roundRect">
            <a:avLst>
              <a:gd name="adj" fmla="val 12000"/>
            </a:avLst>
          </a:prstGeom>
          <a:solidFill>
            <a:srgbClr val="006580"/>
          </a:solidFill>
          <a:ln/>
        </p:spPr>
      </p:sp>
      <p:sp>
        <p:nvSpPr>
          <p:cNvPr id="13" name="Text 10"/>
          <p:cNvSpPr/>
          <p:nvPr/>
        </p:nvSpPr>
        <p:spPr>
          <a:xfrm>
            <a:off x="548640" y="1371600"/>
            <a:ext cx="6583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does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21792" y="1426464"/>
            <a:ext cx="347472" cy="3474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15" name="Image 1" descr="C:\Claude\MCG Full Stack\generators\assets\icons\mc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812" y="1492484"/>
            <a:ext cx="215433" cy="215433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13232" y="1993392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Exposes Qlik Cloud analytical and data-governance capabilities over MCP</a:t>
            </a:r>
            <a:endParaRPr lang="en-US" sz="1150" dirty="0"/>
          </a:p>
        </p:txBody>
      </p:sp>
      <p:sp>
        <p:nvSpPr>
          <p:cNvPr id="17" name="Text 13"/>
          <p:cNvSpPr/>
          <p:nvPr/>
        </p:nvSpPr>
        <p:spPr>
          <a:xfrm>
            <a:off x="713232" y="2651760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Surfaces data products, quality metrics, lineage, and catalog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713232" y="3310128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Works with any MCP-compatible assistant — Claude, Copilot</a:t>
            </a:r>
            <a:endParaRPr lang="en-US" sz="1150" dirty="0"/>
          </a:p>
        </p:txBody>
      </p:sp>
      <p:sp>
        <p:nvSpPr>
          <p:cNvPr id="19" name="Text 15"/>
          <p:cNvSpPr/>
          <p:nvPr/>
        </p:nvSpPr>
        <p:spPr>
          <a:xfrm>
            <a:off x="713232" y="3968496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Bridges Qlik governance to third-party AI agents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7406640" y="1280160"/>
            <a:ext cx="4315968" cy="4343400"/>
          </a:xfrm>
          <a:prstGeom prst="roundRect">
            <a:avLst>
              <a:gd name="adj" fmla="val 2542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7498080" y="1371600"/>
            <a:ext cx="4133088" cy="457200"/>
          </a:xfrm>
          <a:prstGeom prst="roundRect">
            <a:avLst>
              <a:gd name="adj" fmla="val 12000"/>
            </a:avLst>
          </a:prstGeom>
          <a:solidFill>
            <a:srgbClr val="009845"/>
          </a:solidFill>
          <a:ln/>
        </p:spPr>
      </p:sp>
      <p:sp>
        <p:nvSpPr>
          <p:cNvPr id="22" name="Text 18"/>
          <p:cNvSpPr/>
          <p:nvPr/>
        </p:nvSpPr>
        <p:spPr>
          <a:xfrm>
            <a:off x="7498080" y="1371600"/>
            <a:ext cx="41330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in this demo</a:t>
            </a:r>
            <a:endParaRPr lang="en-US" sz="1400" dirty="0"/>
          </a:p>
        </p:txBody>
      </p:sp>
      <p:sp>
        <p:nvSpPr>
          <p:cNvPr id="23" name="Text 19"/>
          <p:cNvSpPr/>
          <p:nvPr/>
        </p:nvSpPr>
        <p:spPr>
          <a:xfrm>
            <a:off x="7662672" y="1993392"/>
            <a:ext cx="3858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Expose MCG's 2 gold data products + trust metrics to Claude / Copilot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7662672" y="2651760"/>
            <a:ext cx="3858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Governed, read-through access to lineage and glossary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7662672" y="3310128"/>
            <a:ext cx="3858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Complements the consumption-side MCP already in the MCG demo</a:t>
            </a:r>
            <a:endParaRPr lang="en-US" sz="1100" dirty="0"/>
          </a:p>
        </p:txBody>
      </p:sp>
      <p:sp>
        <p:nvSpPr>
          <p:cNvPr id="26" name="Shape 22"/>
          <p:cNvSpPr/>
          <p:nvPr/>
        </p:nvSpPr>
        <p:spPr>
          <a:xfrm>
            <a:off x="457200" y="5806440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E0F8F7"/>
          </a:solidFill>
          <a:ln/>
        </p:spPr>
      </p:sp>
      <p:sp>
        <p:nvSpPr>
          <p:cNvPr id="27" name="Text 23"/>
          <p:cNvSpPr/>
          <p:nvPr/>
        </p:nvSpPr>
        <p:spPr>
          <a:xfrm>
            <a:off x="731520" y="5824728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internal preview, June 2026 — roadmap, not GA. Availability and timing may change.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Agentic Data Engineering  •  MCG Demo  •  Qlik Talend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It Works — Raw to Trusted, AI-Ready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86384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Seven stages take data from a declarative definition to a governed, AI-ready product — each stage owned by a capability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02920" y="1261872"/>
            <a:ext cx="457200" cy="457200"/>
          </a:xfrm>
          <a:prstGeom prst="ellipse">
            <a:avLst/>
          </a:prstGeom>
          <a:solidFill>
            <a:srgbClr val="006580"/>
          </a:solidFill>
          <a:ln/>
        </p:spPr>
      </p:sp>
      <p:sp>
        <p:nvSpPr>
          <p:cNvPr id="10" name="Text 7"/>
          <p:cNvSpPr/>
          <p:nvPr/>
        </p:nvSpPr>
        <p:spPr>
          <a:xfrm>
            <a:off x="502920" y="12618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143000" y="1252728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Design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297680" y="1252728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Author declaratively in your IDE with an AI coding agent; commit to Git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9098280" y="1252728"/>
            <a:ext cx="2606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Declarative Data Pipelines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02920" y="1920240"/>
            <a:ext cx="457200" cy="457200"/>
          </a:xfrm>
          <a:prstGeom prst="ellipse">
            <a:avLst/>
          </a:prstGeom>
          <a:solidFill>
            <a:srgbClr val="006580"/>
          </a:solidFill>
          <a:ln/>
        </p:spPr>
      </p:sp>
      <p:sp>
        <p:nvSpPr>
          <p:cNvPr id="15" name="Text 12"/>
          <p:cNvSpPr/>
          <p:nvPr/>
        </p:nvSpPr>
        <p:spPr>
          <a:xfrm>
            <a:off x="502920" y="19202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1143000" y="1911096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movement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4297680" y="1911096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CI/CD deploys the definition to the Open Lakehouse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9098280" y="1911096"/>
            <a:ext cx="2606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Talend Cloud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02920" y="2578608"/>
            <a:ext cx="457200" cy="457200"/>
          </a:xfrm>
          <a:prstGeom prst="ellipse">
            <a:avLst/>
          </a:prstGeom>
          <a:solidFill>
            <a:srgbClr val="006580"/>
          </a:solidFill>
          <a:ln/>
        </p:spPr>
      </p:sp>
      <p:sp>
        <p:nvSpPr>
          <p:cNvPr id="20" name="Text 17"/>
          <p:cNvSpPr/>
          <p:nvPr/>
        </p:nvSpPr>
        <p:spPr>
          <a:xfrm>
            <a:off x="502920" y="257860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1143000" y="2569464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Quality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4297680" y="2569464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Profile and validate the data conversationally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9098280" y="2569464"/>
            <a:ext cx="2606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Quality Agent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502920" y="3236976"/>
            <a:ext cx="457200" cy="457200"/>
          </a:xfrm>
          <a:prstGeom prst="ellipse">
            <a:avLst/>
          </a:prstGeom>
          <a:solidFill>
            <a:srgbClr val="006580"/>
          </a:solidFill>
          <a:ln/>
        </p:spPr>
      </p:sp>
      <p:sp>
        <p:nvSpPr>
          <p:cNvPr id="25" name="Text 22"/>
          <p:cNvSpPr/>
          <p:nvPr/>
        </p:nvSpPr>
        <p:spPr>
          <a:xfrm>
            <a:off x="502920" y="323697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1143000" y="3227832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Packaging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4297680" y="3227832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Package Silver into Gold with governance metadata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9098280" y="3227832"/>
            <a:ext cx="2606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 Agent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502920" y="3895344"/>
            <a:ext cx="457200" cy="457200"/>
          </a:xfrm>
          <a:prstGeom prst="ellipse">
            <a:avLst/>
          </a:prstGeom>
          <a:solidFill>
            <a:srgbClr val="006580"/>
          </a:solidFill>
          <a:ln/>
        </p:spPr>
      </p:sp>
      <p:sp>
        <p:nvSpPr>
          <p:cNvPr id="30" name="Text 27"/>
          <p:cNvSpPr/>
          <p:nvPr/>
        </p:nvSpPr>
        <p:spPr>
          <a:xfrm>
            <a:off x="502920" y="389534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1143000" y="3886200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&amp; governance</a:t>
            </a:r>
            <a:endParaRPr lang="en-US" sz="1300" dirty="0"/>
          </a:p>
        </p:txBody>
      </p:sp>
      <p:sp>
        <p:nvSpPr>
          <p:cNvPr id="32" name="Text 29"/>
          <p:cNvSpPr/>
          <p:nvPr/>
        </p:nvSpPr>
        <p:spPr>
          <a:xfrm>
            <a:off x="4297680" y="3886200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Catalog assets and generate glossary terms (draft)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9098280" y="3886200"/>
            <a:ext cx="2606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Catalog &amp; Glossary Agent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502920" y="4553712"/>
            <a:ext cx="457200" cy="457200"/>
          </a:xfrm>
          <a:prstGeom prst="ellipse">
            <a:avLst/>
          </a:prstGeom>
          <a:solidFill>
            <a:srgbClr val="006580"/>
          </a:solidFill>
          <a:ln/>
        </p:spPr>
      </p:sp>
      <p:sp>
        <p:nvSpPr>
          <p:cNvPr id="35" name="Text 32"/>
          <p:cNvSpPr/>
          <p:nvPr/>
        </p:nvSpPr>
        <p:spPr>
          <a:xfrm>
            <a:off x="502920" y="455371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600" dirty="0"/>
          </a:p>
        </p:txBody>
      </p:sp>
      <p:sp>
        <p:nvSpPr>
          <p:cNvPr id="36" name="Text 33"/>
          <p:cNvSpPr/>
          <p:nvPr/>
        </p:nvSpPr>
        <p:spPr>
          <a:xfrm>
            <a:off x="1143000" y="4544568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enhancement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4297680" y="4544568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Inject LLM, RAG, and orchestration into pipeline tasks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9098280" y="4544568"/>
            <a:ext cx="2606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Agentic Routes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502920" y="5212080"/>
            <a:ext cx="457200" cy="457200"/>
          </a:xfrm>
          <a:prstGeom prst="ellipse">
            <a:avLst/>
          </a:prstGeom>
          <a:solidFill>
            <a:srgbClr val="009845"/>
          </a:solidFill>
          <a:ln/>
        </p:spPr>
      </p:sp>
      <p:sp>
        <p:nvSpPr>
          <p:cNvPr id="40" name="Text 37"/>
          <p:cNvSpPr/>
          <p:nvPr/>
        </p:nvSpPr>
        <p:spPr>
          <a:xfrm>
            <a:off x="502920" y="5212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600" dirty="0"/>
          </a:p>
        </p:txBody>
      </p:sp>
      <p:sp>
        <p:nvSpPr>
          <p:cNvPr id="41" name="Text 38"/>
          <p:cNvSpPr/>
          <p:nvPr/>
        </p:nvSpPr>
        <p:spPr>
          <a:xfrm>
            <a:off x="1143000" y="5202936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 output</a:t>
            </a:r>
            <a:endParaRPr lang="en-US" sz="1300" dirty="0"/>
          </a:p>
        </p:txBody>
      </p:sp>
      <p:sp>
        <p:nvSpPr>
          <p:cNvPr id="42" name="Text 39"/>
          <p:cNvSpPr/>
          <p:nvPr/>
        </p:nvSpPr>
        <p:spPr>
          <a:xfrm>
            <a:off x="4297680" y="5202936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Trusted data product with trust scores + provenance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9098280" y="5202936"/>
            <a:ext cx="2606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 data products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Agentic Data Engineering  •  MCG Demo  •  Qlik Talend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Human in the Loop — The Coding-Agent Loop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86384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agent moves fast; the schema guards the work; the engineer decides. Four steps, repeated for every change.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57200" y="1737360"/>
            <a:ext cx="2651760" cy="2651760"/>
          </a:xfrm>
          <a:prstGeom prst="roundRect">
            <a:avLst>
              <a:gd name="adj" fmla="val 4138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737360"/>
            <a:ext cx="2651760" cy="502920"/>
          </a:xfrm>
          <a:prstGeom prst="roundRect">
            <a:avLst>
              <a:gd name="adj" fmla="val 10909"/>
            </a:avLst>
          </a:prstGeom>
          <a:solidFill>
            <a:srgbClr val="006580"/>
          </a:solidFill>
          <a:ln/>
        </p:spPr>
      </p:sp>
      <p:sp>
        <p:nvSpPr>
          <p:cNvPr id="11" name="Text 8"/>
          <p:cNvSpPr/>
          <p:nvPr/>
        </p:nvSpPr>
        <p:spPr>
          <a:xfrm>
            <a:off x="457200" y="173736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 1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554480" y="242316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6580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13" name="Image 1" descr="C:\Claude\MCG Full Stack\generators\assets\icons\age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1348" y="2510028"/>
            <a:ext cx="283464" cy="28346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48640" y="30175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Developer Prompts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640080" y="3520440"/>
            <a:ext cx="22860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Describe the change in plain language — no boilerplate.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3072384" y="278892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800" dirty="0"/>
          </a:p>
        </p:txBody>
      </p:sp>
      <p:sp>
        <p:nvSpPr>
          <p:cNvPr id="17" name="Shape 13"/>
          <p:cNvSpPr/>
          <p:nvPr/>
        </p:nvSpPr>
        <p:spPr>
          <a:xfrm>
            <a:off x="3346704" y="1737360"/>
            <a:ext cx="2651760" cy="2651760"/>
          </a:xfrm>
          <a:prstGeom prst="roundRect">
            <a:avLst>
              <a:gd name="adj" fmla="val 4138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3346704" y="1737360"/>
            <a:ext cx="2651760" cy="502920"/>
          </a:xfrm>
          <a:prstGeom prst="roundRect">
            <a:avLst>
              <a:gd name="adj" fmla="val 10909"/>
            </a:avLst>
          </a:prstGeom>
          <a:solidFill>
            <a:srgbClr val="009845"/>
          </a:solidFill>
          <a:ln/>
        </p:spPr>
      </p:sp>
      <p:sp>
        <p:nvSpPr>
          <p:cNvPr id="19" name="Text 15"/>
          <p:cNvSpPr/>
          <p:nvPr/>
        </p:nvSpPr>
        <p:spPr>
          <a:xfrm>
            <a:off x="3346704" y="173736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 2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4443984" y="242316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9845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21" name="Image 2" descr="C:\Claude\MCG Full Stack\generators\assets\icons\transfor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0852" y="2510028"/>
            <a:ext cx="283464" cy="283464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3438144" y="30175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 Generates</a:t>
            </a:r>
            <a:endParaRPr lang="en-US" sz="1400" dirty="0"/>
          </a:p>
        </p:txBody>
      </p:sp>
      <p:sp>
        <p:nvSpPr>
          <p:cNvPr id="23" name="Text 18"/>
          <p:cNvSpPr/>
          <p:nvPr/>
        </p:nvSpPr>
        <p:spPr>
          <a:xfrm>
            <a:off x="3529584" y="3520440"/>
            <a:ext cx="22860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coding agent edits the pipeline YAML for you.</a:t>
            </a:r>
            <a:endParaRPr lang="en-US" sz="1050" dirty="0"/>
          </a:p>
        </p:txBody>
      </p:sp>
      <p:sp>
        <p:nvSpPr>
          <p:cNvPr id="24" name="Text 19"/>
          <p:cNvSpPr/>
          <p:nvPr/>
        </p:nvSpPr>
        <p:spPr>
          <a:xfrm>
            <a:off x="5961888" y="278892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800" dirty="0"/>
          </a:p>
        </p:txBody>
      </p:sp>
      <p:sp>
        <p:nvSpPr>
          <p:cNvPr id="25" name="Shape 20"/>
          <p:cNvSpPr/>
          <p:nvPr/>
        </p:nvSpPr>
        <p:spPr>
          <a:xfrm>
            <a:off x="6236208" y="1737360"/>
            <a:ext cx="2651760" cy="2651760"/>
          </a:xfrm>
          <a:prstGeom prst="roundRect">
            <a:avLst>
              <a:gd name="adj" fmla="val 4138"/>
            </a:avLst>
          </a:prstGeom>
          <a:solidFill>
            <a:srgbClr val="F6F7F8"/>
          </a:solidFill>
          <a:ln w="25400">
            <a:solidFill>
              <a:srgbClr val="4CB393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6236208" y="1737360"/>
            <a:ext cx="2651760" cy="502920"/>
          </a:xfrm>
          <a:prstGeom prst="roundRect">
            <a:avLst>
              <a:gd name="adj" fmla="val 10909"/>
            </a:avLst>
          </a:prstGeom>
          <a:solidFill>
            <a:srgbClr val="4CB393"/>
          </a:solidFill>
          <a:ln/>
        </p:spPr>
      </p:sp>
      <p:sp>
        <p:nvSpPr>
          <p:cNvPr id="27" name="Text 22"/>
          <p:cNvSpPr/>
          <p:nvPr/>
        </p:nvSpPr>
        <p:spPr>
          <a:xfrm>
            <a:off x="6236208" y="173736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 3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7333488" y="242316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4CB393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29" name="Image 3" descr="C:\Claude\MCG Full Stack\generators\assets\icons\governanc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0356" y="2510028"/>
            <a:ext cx="283464" cy="283464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6327648" y="30175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Schema Validates</a:t>
            </a:r>
            <a:endParaRPr lang="en-US" sz="1400" dirty="0"/>
          </a:p>
        </p:txBody>
      </p:sp>
      <p:sp>
        <p:nvSpPr>
          <p:cNvPr id="31" name="Text 25"/>
          <p:cNvSpPr/>
          <p:nvPr/>
        </p:nvSpPr>
        <p:spPr>
          <a:xfrm>
            <a:off x="6419088" y="3520440"/>
            <a:ext cx="22860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pipeline schema checks the change automatically.</a:t>
            </a:r>
            <a:endParaRPr lang="en-US" sz="1050" dirty="0"/>
          </a:p>
        </p:txBody>
      </p:sp>
      <p:sp>
        <p:nvSpPr>
          <p:cNvPr id="32" name="Text 26"/>
          <p:cNvSpPr/>
          <p:nvPr/>
        </p:nvSpPr>
        <p:spPr>
          <a:xfrm>
            <a:off x="8851392" y="278892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800" dirty="0"/>
          </a:p>
        </p:txBody>
      </p:sp>
      <p:sp>
        <p:nvSpPr>
          <p:cNvPr id="33" name="Shape 27"/>
          <p:cNvSpPr/>
          <p:nvPr/>
        </p:nvSpPr>
        <p:spPr>
          <a:xfrm>
            <a:off x="9125712" y="1737360"/>
            <a:ext cx="2651760" cy="2651760"/>
          </a:xfrm>
          <a:prstGeom prst="roundRect">
            <a:avLst>
              <a:gd name="adj" fmla="val 4138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34" name="Shape 28"/>
          <p:cNvSpPr/>
          <p:nvPr/>
        </p:nvSpPr>
        <p:spPr>
          <a:xfrm>
            <a:off x="9125712" y="1737360"/>
            <a:ext cx="2651760" cy="502920"/>
          </a:xfrm>
          <a:prstGeom prst="roundRect">
            <a:avLst>
              <a:gd name="adj" fmla="val 10909"/>
            </a:avLst>
          </a:prstGeom>
          <a:solidFill>
            <a:srgbClr val="006580"/>
          </a:solidFill>
          <a:ln/>
        </p:spPr>
      </p:sp>
      <p:sp>
        <p:nvSpPr>
          <p:cNvPr id="35" name="Text 29"/>
          <p:cNvSpPr/>
          <p:nvPr/>
        </p:nvSpPr>
        <p:spPr>
          <a:xfrm>
            <a:off x="9125712" y="173736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 4</a:t>
            </a:r>
            <a:endParaRPr lang="en-US" sz="1200" dirty="0"/>
          </a:p>
        </p:txBody>
      </p:sp>
      <p:sp>
        <p:nvSpPr>
          <p:cNvPr id="36" name="Shape 30"/>
          <p:cNvSpPr/>
          <p:nvPr/>
        </p:nvSpPr>
        <p:spPr>
          <a:xfrm>
            <a:off x="10222992" y="242316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6580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37" name="Image 4" descr="C:\Claude\MCG Full Stack\generators\assets\icons\answer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09860" y="2510028"/>
            <a:ext cx="283464" cy="283464"/>
          </a:xfrm>
          <a:prstGeom prst="rect">
            <a:avLst/>
          </a:prstGeom>
        </p:spPr>
      </p:pic>
      <p:sp>
        <p:nvSpPr>
          <p:cNvPr id="38" name="Text 31"/>
          <p:cNvSpPr/>
          <p:nvPr/>
        </p:nvSpPr>
        <p:spPr>
          <a:xfrm>
            <a:off x="9217152" y="30175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Developer Reviews</a:t>
            </a:r>
            <a:endParaRPr lang="en-US" sz="1400" dirty="0"/>
          </a:p>
        </p:txBody>
      </p:sp>
      <p:sp>
        <p:nvSpPr>
          <p:cNvPr id="39" name="Text 32"/>
          <p:cNvSpPr/>
          <p:nvPr/>
        </p:nvSpPr>
        <p:spPr>
          <a:xfrm>
            <a:off x="9308592" y="3520440"/>
            <a:ext cx="22860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engineer reads the git diff and approves.</a:t>
            </a:r>
            <a:endParaRPr lang="en-US" sz="1050" dirty="0"/>
          </a:p>
        </p:txBody>
      </p:sp>
      <p:sp>
        <p:nvSpPr>
          <p:cNvPr id="40" name="Shape 33"/>
          <p:cNvSpPr/>
          <p:nvPr/>
        </p:nvSpPr>
        <p:spPr>
          <a:xfrm>
            <a:off x="457200" y="4754880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E0F5EA"/>
          </a:solidFill>
          <a:ln/>
        </p:spPr>
      </p:sp>
      <p:sp>
        <p:nvSpPr>
          <p:cNvPr id="41" name="Text 34"/>
          <p:cNvSpPr/>
          <p:nvPr/>
        </p:nvSpPr>
        <p:spPr>
          <a:xfrm>
            <a:off x="731520" y="4773168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Human expertise stays in the loop at every stage — the agent drafts, the schema guards, the engineer decides.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Agentic Data Engineering  •  MCG Demo  •  Qlik Talend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See It Live — A One-Line Change in VS Code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86384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 the CRM landing cadence from every 15 minutes to every 30 — with a coding agent, a one-line diff, and Apply-from-Remote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57200" y="1325880"/>
            <a:ext cx="5760720" cy="4160520"/>
          </a:xfrm>
          <a:prstGeom prst="roundRect">
            <a:avLst>
              <a:gd name="adj" fmla="val 2637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1463040"/>
            <a:ext cx="5394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Walkthrough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85800" y="2011680"/>
            <a:ext cx="384048" cy="384048"/>
          </a:xfrm>
          <a:prstGeom prst="ellipse">
            <a:avLst/>
          </a:prstGeom>
          <a:solidFill>
            <a:srgbClr val="006580"/>
          </a:solidFill>
          <a:ln/>
        </p:spPr>
      </p:sp>
      <p:sp>
        <p:nvSpPr>
          <p:cNvPr id="12" name="Text 9"/>
          <p:cNvSpPr/>
          <p:nvPr/>
        </p:nvSpPr>
        <p:spPr>
          <a:xfrm>
            <a:off x="685800" y="20116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234440" y="196596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deploy/pipelines/ in VS Code — schema kit is local via "npm run pipeline:template"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85800" y="2670048"/>
            <a:ext cx="384048" cy="384048"/>
          </a:xfrm>
          <a:prstGeom prst="ellipse">
            <a:avLst/>
          </a:prstGeom>
          <a:solidFill>
            <a:srgbClr val="006580"/>
          </a:solidFill>
          <a:ln/>
        </p:spPr>
      </p:sp>
      <p:sp>
        <p:nvSpPr>
          <p:cNvPr id="15" name="Text 12"/>
          <p:cNvSpPr/>
          <p:nvPr/>
        </p:nvSpPr>
        <p:spPr>
          <a:xfrm>
            <a:off x="685800" y="26700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234440" y="2624328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Prompt the coding agent: "change MCG CRM Landing from every 15 to every 30 minutes"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85800" y="3328416"/>
            <a:ext cx="384048" cy="384048"/>
          </a:xfrm>
          <a:prstGeom prst="ellipse">
            <a:avLst/>
          </a:prstGeom>
          <a:solidFill>
            <a:srgbClr val="006580"/>
          </a:solidFill>
          <a:ln/>
        </p:spPr>
      </p:sp>
      <p:sp>
        <p:nvSpPr>
          <p:cNvPr id="18" name="Text 15"/>
          <p:cNvSpPr/>
          <p:nvPr/>
        </p:nvSpPr>
        <p:spPr>
          <a:xfrm>
            <a:off x="685800" y="332841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234440" y="3282696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agent edits one line of the task YAML schedule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685800" y="3986784"/>
            <a:ext cx="384048" cy="384048"/>
          </a:xfrm>
          <a:prstGeom prst="ellipse">
            <a:avLst/>
          </a:prstGeom>
          <a:solidFill>
            <a:srgbClr val="006580"/>
          </a:solidFill>
          <a:ln/>
        </p:spPr>
      </p:sp>
      <p:sp>
        <p:nvSpPr>
          <p:cNvPr id="21" name="Text 18"/>
          <p:cNvSpPr/>
          <p:nvPr/>
        </p:nvSpPr>
        <p:spPr>
          <a:xfrm>
            <a:off x="685800" y="398678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1234440" y="3941064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pipeline schema validates the change automatically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85800" y="4645152"/>
            <a:ext cx="384048" cy="384048"/>
          </a:xfrm>
          <a:prstGeom prst="ellipse">
            <a:avLst/>
          </a:prstGeom>
          <a:solidFill>
            <a:srgbClr val="006580"/>
          </a:solidFill>
          <a:ln/>
        </p:spPr>
      </p:sp>
      <p:sp>
        <p:nvSpPr>
          <p:cNvPr id="24" name="Text 21"/>
          <p:cNvSpPr/>
          <p:nvPr/>
        </p:nvSpPr>
        <p:spPr>
          <a:xfrm>
            <a:off x="685800" y="464515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1234440" y="4599432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Review the one-line git diff, then Apply-from-Remote back to Qlik Talend Cloud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6400800" y="1325880"/>
            <a:ext cx="5303520" cy="2788920"/>
          </a:xfrm>
          <a:prstGeom prst="roundRect">
            <a:avLst>
              <a:gd name="adj" fmla="val 3279"/>
            </a:avLst>
          </a:prstGeom>
          <a:solidFill>
            <a:srgbClr val="19416C"/>
          </a:solidFill>
          <a:ln/>
        </p:spPr>
      </p:sp>
      <p:sp>
        <p:nvSpPr>
          <p:cNvPr id="27" name="Text 24"/>
          <p:cNvSpPr/>
          <p:nvPr/>
        </p:nvSpPr>
        <p:spPr>
          <a:xfrm>
            <a:off x="6583680" y="141732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git diff — mcg-batch-pipeline / crm-landing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6629400" y="182880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task: MCG CRM Landing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6629400" y="2212848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schedule: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6629400" y="2596896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  rrule: FREQ=MINUTELY;INTERVAL=15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6629400" y="2980944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   rrule: FREQ=MINUTELY;INTERVAL=30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6583680" y="352044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line changed · additions in green, removals in gray</a:t>
            </a:r>
            <a:endParaRPr lang="en-US" sz="950" dirty="0"/>
          </a:p>
        </p:txBody>
      </p:sp>
      <p:sp>
        <p:nvSpPr>
          <p:cNvPr id="33" name="Shape 30"/>
          <p:cNvSpPr/>
          <p:nvPr/>
        </p:nvSpPr>
        <p:spPr>
          <a:xfrm>
            <a:off x="6400800" y="4251960"/>
            <a:ext cx="5303520" cy="1234440"/>
          </a:xfrm>
          <a:prstGeom prst="roundRect">
            <a:avLst>
              <a:gd name="adj" fmla="val 7407"/>
            </a:avLst>
          </a:prstGeom>
          <a:solidFill>
            <a:srgbClr val="E0F8F7"/>
          </a:solidFill>
          <a:ln/>
        </p:spPr>
      </p:sp>
      <p:sp>
        <p:nvSpPr>
          <p:cNvPr id="34" name="Text 31"/>
          <p:cNvSpPr/>
          <p:nvPr/>
        </p:nvSpPr>
        <p:spPr>
          <a:xfrm>
            <a:off x="6583680" y="4343400"/>
            <a:ext cx="50292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git diff is the audit trail. Apply-from-Remote is the deploy. No UI clicking, no guesswork — a reviewable, reproducible change.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493776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Agentic Data Engineering  •  MCG Demo  •  Qlik Talend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MCP Server — Roadmap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9006840" y="256032"/>
            <a:ext cx="2743200" cy="402336"/>
          </a:xfrm>
          <a:prstGeom prst="roundRect">
            <a:avLst>
              <a:gd name="adj" fmla="val 50000"/>
            </a:avLst>
          </a:prstGeom>
          <a:solidFill>
            <a:srgbClr val="19416C"/>
          </a:solidFill>
          <a:ln/>
        </p:spPr>
      </p:sp>
      <p:sp>
        <p:nvSpPr>
          <p:cNvPr id="9" name="Text 6"/>
          <p:cNvSpPr/>
          <p:nvPr/>
        </p:nvSpPr>
        <p:spPr>
          <a:xfrm>
            <a:off x="9006840" y="256032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PREVIEW · ROADMAP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457200" y="786384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governance-aware AI agents are headed at Qlik — clearly a roadmap item, not a commitment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57200" y="1280160"/>
            <a:ext cx="5486400" cy="3657600"/>
          </a:xfrm>
          <a:prstGeom prst="roundRect">
            <a:avLst>
              <a:gd name="adj" fmla="val 3000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1371600"/>
            <a:ext cx="5303520" cy="457200"/>
          </a:xfrm>
          <a:prstGeom prst="roundRect">
            <a:avLst>
              <a:gd name="adj" fmla="val 12000"/>
            </a:avLst>
          </a:prstGeom>
          <a:solidFill>
            <a:srgbClr val="006580"/>
          </a:solidFill>
          <a:ln/>
        </p:spPr>
      </p:sp>
      <p:sp>
        <p:nvSpPr>
          <p:cNvPr id="13" name="Text 10"/>
          <p:cNvSpPr/>
          <p:nvPr/>
        </p:nvSpPr>
        <p:spPr>
          <a:xfrm>
            <a:off x="548640" y="137160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the MCP Server exposes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21792" y="1426464"/>
            <a:ext cx="347472" cy="3474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15" name="Image 1" descr="C:\Claude\MCG Full Stack\generators\assets\icons\mc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812" y="1492484"/>
            <a:ext cx="215433" cy="215433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13232" y="1993392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Data products — discover and query the governed catalog</a:t>
            </a:r>
            <a:endParaRPr lang="en-US" sz="1150" dirty="0"/>
          </a:p>
        </p:txBody>
      </p:sp>
      <p:sp>
        <p:nvSpPr>
          <p:cNvPr id="17" name="Text 13"/>
          <p:cNvSpPr/>
          <p:nvPr/>
        </p:nvSpPr>
        <p:spPr>
          <a:xfrm>
            <a:off x="713232" y="256032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Quality metrics — trust scores and DQ signals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713232" y="3127248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Lineage — where a field comes from, end to end</a:t>
            </a:r>
            <a:endParaRPr lang="en-US" sz="1150" dirty="0"/>
          </a:p>
        </p:txBody>
      </p:sp>
      <p:sp>
        <p:nvSpPr>
          <p:cNvPr id="19" name="Text 15"/>
          <p:cNvSpPr/>
          <p:nvPr/>
        </p:nvSpPr>
        <p:spPr>
          <a:xfrm>
            <a:off x="713232" y="3694176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Catalog &amp; glossary — consistent business terminology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713232" y="4261104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Reachable from any MCP-compatible assistant (Claude, Copilot)</a:t>
            </a:r>
            <a:endParaRPr lang="en-US" sz="1150" dirty="0"/>
          </a:p>
        </p:txBody>
      </p:sp>
      <p:sp>
        <p:nvSpPr>
          <p:cNvPr id="21" name="Shape 17"/>
          <p:cNvSpPr/>
          <p:nvPr/>
        </p:nvSpPr>
        <p:spPr>
          <a:xfrm>
            <a:off x="6217920" y="1280160"/>
            <a:ext cx="5486400" cy="3657600"/>
          </a:xfrm>
          <a:prstGeom prst="roundRect">
            <a:avLst>
              <a:gd name="adj" fmla="val 3000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309360" y="1371600"/>
            <a:ext cx="5303520" cy="457200"/>
          </a:xfrm>
          <a:prstGeom prst="roundRect">
            <a:avLst>
              <a:gd name="adj" fmla="val 12000"/>
            </a:avLst>
          </a:prstGeom>
          <a:solidFill>
            <a:srgbClr val="009845"/>
          </a:solidFill>
          <a:ln/>
        </p:spPr>
      </p:sp>
      <p:sp>
        <p:nvSpPr>
          <p:cNvPr id="23" name="Text 19"/>
          <p:cNvSpPr/>
          <p:nvPr/>
        </p:nvSpPr>
        <p:spPr>
          <a:xfrm>
            <a:off x="6309360" y="137160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unlocks for MCG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6382512" y="1426464"/>
            <a:ext cx="347472" cy="3474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25" name="Image 2" descr="C:\Claude\MCG Full Stack\generators\assets\icons\governanc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8532" y="1492484"/>
            <a:ext cx="215433" cy="215433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6473952" y="1993392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Ask Claude or Copilot governed questions about MCG data</a:t>
            </a:r>
            <a:endParaRPr lang="en-US" sz="1150" dirty="0"/>
          </a:p>
        </p:txBody>
      </p:sp>
      <p:sp>
        <p:nvSpPr>
          <p:cNvPr id="27" name="Text 22"/>
          <p:cNvSpPr/>
          <p:nvPr/>
        </p:nvSpPr>
        <p:spPr>
          <a:xfrm>
            <a:off x="6473952" y="256032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Expose the 2 gold data products + trust metrics safely</a:t>
            </a:r>
            <a:endParaRPr lang="en-US" sz="1150" dirty="0"/>
          </a:p>
        </p:txBody>
      </p:sp>
      <p:sp>
        <p:nvSpPr>
          <p:cNvPr id="28" name="Text 23"/>
          <p:cNvSpPr/>
          <p:nvPr/>
        </p:nvSpPr>
        <p:spPr>
          <a:xfrm>
            <a:off x="6473952" y="3127248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Governance travels with the answer — lineage and glossary in context</a:t>
            </a:r>
            <a:endParaRPr lang="en-US" sz="1150" dirty="0"/>
          </a:p>
        </p:txBody>
      </p:sp>
      <p:sp>
        <p:nvSpPr>
          <p:cNvPr id="29" name="Text 24"/>
          <p:cNvSpPr/>
          <p:nvPr/>
        </p:nvSpPr>
        <p:spPr>
          <a:xfrm>
            <a:off x="6473952" y="3694176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Complements the consumption-side MCP already in the demo</a:t>
            </a:r>
            <a:endParaRPr lang="en-US" sz="1150" dirty="0"/>
          </a:p>
        </p:txBody>
      </p:sp>
      <p:sp>
        <p:nvSpPr>
          <p:cNvPr id="30" name="Text 25"/>
          <p:cNvSpPr/>
          <p:nvPr/>
        </p:nvSpPr>
        <p:spPr>
          <a:xfrm>
            <a:off x="6473952" y="4261104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One governed surface for build-side and consumption-side AI</a:t>
            </a:r>
            <a:endParaRPr lang="en-US" sz="1150" dirty="0"/>
          </a:p>
        </p:txBody>
      </p:sp>
      <p:sp>
        <p:nvSpPr>
          <p:cNvPr id="31" name="Shape 26"/>
          <p:cNvSpPr/>
          <p:nvPr/>
        </p:nvSpPr>
        <p:spPr>
          <a:xfrm>
            <a:off x="457200" y="5120640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E0F8F7"/>
          </a:solidFill>
          <a:ln/>
        </p:spPr>
      </p:sp>
      <p:sp>
        <p:nvSpPr>
          <p:cNvPr id="32" name="Text 27"/>
          <p:cNvSpPr/>
          <p:nvPr/>
        </p:nvSpPr>
        <p:spPr>
          <a:xfrm>
            <a:off x="731520" y="5138928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Roadmap, not a commitment. Qlik internal preview, June 2026 — capabilities, availability, and timing may change before GA.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cov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1024128" cy="56692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57200" y="137160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Meridian Commerce Group</a:t>
            </a:r>
            <a:endParaRPr lang="en-US" sz="1600" dirty="0"/>
          </a:p>
        </p:txBody>
      </p:sp>
      <p:sp>
        <p:nvSpPr>
          <p:cNvPr id="5" name="Text 1"/>
          <p:cNvSpPr/>
          <p:nvPr/>
        </p:nvSpPr>
        <p:spPr>
          <a:xfrm>
            <a:off x="457200" y="187452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Pipelines as code.</a:t>
            </a:r>
            <a:endParaRPr lang="en-US" sz="3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Agents that build trust.</a:t>
            </a:r>
            <a:endParaRPr lang="en-US" sz="3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that ships.</a:t>
            </a:r>
            <a:endParaRPr lang="en-US" sz="3000" dirty="0"/>
          </a:p>
        </p:txBody>
      </p:sp>
      <p:sp>
        <p:nvSpPr>
          <p:cNvPr id="6" name="Text 2"/>
          <p:cNvSpPr/>
          <p:nvPr/>
        </p:nvSpPr>
        <p:spPr>
          <a:xfrm>
            <a:off x="457200" y="35204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this unlocks for MCG:  faster, governed pipeline changes — drafted by AI, reviewed by engineers, trusted by the business.</a:t>
            </a:r>
            <a:endParaRPr lang="en-US" sz="1300" dirty="0"/>
          </a:p>
        </p:txBody>
      </p:sp>
      <p:sp>
        <p:nvSpPr>
          <p:cNvPr id="7" name="Shape 3"/>
          <p:cNvSpPr/>
          <p:nvPr/>
        </p:nvSpPr>
        <p:spPr>
          <a:xfrm>
            <a:off x="457200" y="4160520"/>
            <a:ext cx="201168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457200" y="420624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800" dirty="0"/>
          </a:p>
        </p:txBody>
      </p:sp>
      <p:sp>
        <p:nvSpPr>
          <p:cNvPr id="9" name="Text 5"/>
          <p:cNvSpPr/>
          <p:nvPr/>
        </p:nvSpPr>
        <p:spPr>
          <a:xfrm>
            <a:off x="457200" y="47548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QTCP Projects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2743200" y="4160520"/>
            <a:ext cx="201168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2743200" y="420624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2800" dirty="0"/>
          </a:p>
        </p:txBody>
      </p:sp>
      <p:sp>
        <p:nvSpPr>
          <p:cNvPr id="12" name="Text 8"/>
          <p:cNvSpPr/>
          <p:nvPr/>
        </p:nvSpPr>
        <p:spPr>
          <a:xfrm>
            <a:off x="2743200" y="47548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Tasks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5029200" y="4160520"/>
            <a:ext cx="201168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5029200" y="420624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800" dirty="0"/>
          </a:p>
        </p:txBody>
      </p:sp>
      <p:sp>
        <p:nvSpPr>
          <p:cNvPr id="15" name="Text 11"/>
          <p:cNvSpPr/>
          <p:nvPr/>
        </p:nvSpPr>
        <p:spPr>
          <a:xfrm>
            <a:off x="5029200" y="47548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 Data Products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7315200" y="4160520"/>
            <a:ext cx="201168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7315200" y="420624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2800" dirty="0"/>
          </a:p>
        </p:txBody>
      </p:sp>
      <p:sp>
        <p:nvSpPr>
          <p:cNvPr id="18" name="Text 14"/>
          <p:cNvSpPr/>
          <p:nvPr/>
        </p:nvSpPr>
        <p:spPr>
          <a:xfrm>
            <a:off x="7315200" y="47548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Glossary Terms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9601200" y="4160520"/>
            <a:ext cx="201168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4CB393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601200" y="420624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2800" dirty="0"/>
          </a:p>
        </p:txBody>
      </p:sp>
      <p:sp>
        <p:nvSpPr>
          <p:cNvPr id="21" name="Text 17"/>
          <p:cNvSpPr/>
          <p:nvPr/>
        </p:nvSpPr>
        <p:spPr>
          <a:xfrm>
            <a:off x="9601200" y="47548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Build-Side Capabilities</a:t>
            </a:r>
            <a:endParaRPr lang="en-US" sz="1000" dirty="0"/>
          </a:p>
        </p:txBody>
      </p:sp>
      <p:sp>
        <p:nvSpPr>
          <p:cNvPr id="22" name="Text 18"/>
          <p:cNvSpPr/>
          <p:nvPr/>
        </p:nvSpPr>
        <p:spPr>
          <a:xfrm>
            <a:off x="457200" y="544068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Learn more:  </a:t>
            </a:r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Agentic Data Engineering evaluation guide — [placeholder]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457200" y="580644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Try it:  </a:t>
            </a:r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deploy/pipelines/ in VS Code and run  npm run pipeline:template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Qlik / Meridian Commerce Group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Meridian Commerce Group — Qlik Agentic Data Engineering</dc:title>
  <dc:subject>PptxGenJS Presentation</dc:subject>
  <dc:creator>Qlik</dc:creator>
  <cp:lastModifiedBy>Qlik</cp:lastModifiedBy>
  <cp:revision>1</cp:revision>
  <dcterms:created xsi:type="dcterms:W3CDTF">2026-09-21T20:13:00Z</dcterms:created>
  <dcterms:modified xsi:type="dcterms:W3CDTF">2026-09-21T20:13:00Z</dcterms:modified>
</cp:coreProperties>
</file>