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laude\MCG Full Stack\generators\assets\qlik_cov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C:\Claude\MCG Full Stack\generators\assets\qlik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241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371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Commerce Group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457200" y="1965960"/>
            <a:ext cx="6858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Agentic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Engineering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457200" y="36118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Pipelines as code.  Agents that build trust.  AI that ships.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Build-side AI — the counterpart to Qlik's consumption-side agents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57200" y="51206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006580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5120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Declarative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359152" y="51206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009845"/>
          </a:solidFill>
          <a:ln/>
        </p:spPr>
      </p:sp>
      <p:sp>
        <p:nvSpPr>
          <p:cNvPr id="11" name="Text 7"/>
          <p:cNvSpPr/>
          <p:nvPr/>
        </p:nvSpPr>
        <p:spPr>
          <a:xfrm>
            <a:off x="2359152" y="5120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Product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261104" y="51206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009845"/>
          </a:solidFill>
          <a:ln/>
        </p:spPr>
      </p:sp>
      <p:sp>
        <p:nvSpPr>
          <p:cNvPr id="13" name="Text 9"/>
          <p:cNvSpPr/>
          <p:nvPr/>
        </p:nvSpPr>
        <p:spPr>
          <a:xfrm>
            <a:off x="4261104" y="5120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63056" y="51206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4CB393"/>
          </a:solidFill>
          <a:ln/>
        </p:spPr>
      </p:sp>
      <p:sp>
        <p:nvSpPr>
          <p:cNvPr id="15" name="Text 11"/>
          <p:cNvSpPr/>
          <p:nvPr/>
        </p:nvSpPr>
        <p:spPr>
          <a:xfrm>
            <a:off x="6163056" y="5120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 &amp;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Glossary Agent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65008" y="51206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009845"/>
          </a:solidFill>
          <a:ln/>
        </p:spPr>
      </p:sp>
      <p:sp>
        <p:nvSpPr>
          <p:cNvPr id="17" name="Text 13"/>
          <p:cNvSpPr/>
          <p:nvPr/>
        </p:nvSpPr>
        <p:spPr>
          <a:xfrm>
            <a:off x="8065008" y="5120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Agentic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9966960" y="51206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006580"/>
          </a:solidFill>
          <a:ln/>
        </p:spPr>
      </p:sp>
      <p:sp>
        <p:nvSpPr>
          <p:cNvPr id="19" name="Text 15"/>
          <p:cNvSpPr/>
          <p:nvPr/>
        </p:nvSpPr>
        <p:spPr>
          <a:xfrm>
            <a:off x="9966960" y="5120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MCP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94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Agentic Data Engineering  •  MCG Demo  •  Qlik Talend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Forward-Looking Information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8638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Please read before evaluating anything in this deck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11247120" cy="4206240"/>
          </a:xfrm>
          <a:prstGeom prst="roundRect">
            <a:avLst>
              <a:gd name="adj" fmla="val 2609"/>
            </a:avLst>
          </a:prstGeom>
          <a:solidFill>
            <a:srgbClr val="F6F7F8"/>
          </a:solidFill>
          <a:ln w="25400">
            <a:solidFill>
              <a:srgbClr val="19416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6002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This presentation includes forward-looking information about Qlik products and capabilities. It is provided for planning and evaluation only and is not a commitment to deliver any feature, functionality, or timing.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" y="2386584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Declarative Data Pipelines and the Qlik MCP Server tooling are in Qlik internal preview (June 2026). Capabilities, availability, and timing may change before general availability.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1520" y="3172968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The Data Product Agent, Data Quality Agent, and Catalog and Business Glossary Agent are delivered as Qlik Answers capabilities — not separate products or SKUs.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1520" y="3959352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Talend Agentic Routes extend Qlik Talend Cloud. Named third-party models, vector stores, and tools are examples of supported integrations, not endorsements.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31520" y="4745736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Purchasing decisions should be based on generally available functionality. Preview and roadmap items are labeled as such throughout this deck.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Agentic Data Engineering  •  MCG Demo  •  Qlik Talend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8638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ways Qlik puts AI on the build side of the data platform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00658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280160" y="1234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80160" y="1600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shift from UI-driven to declarative, code-first, AI-assisted data engineering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2103120"/>
            <a:ext cx="548640" cy="548640"/>
          </a:xfrm>
          <a:prstGeom prst="ellipse">
            <a:avLst/>
          </a:prstGeom>
          <a:solidFill>
            <a:srgbClr val="009845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280160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big idea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280160" y="24231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pipeline YAML — editable visually, programmatically, or agentically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009845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280160" y="2880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build-side capabilities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280160" y="32461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Declarative pipelines, three Qlik Answers agents, Talend Agentic Routes, and the MCP Server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rgbClr val="4CB393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280160" y="3703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B3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280160" y="40690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raw-to-trusted flow, with a human in the loop at each stage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4572000"/>
            <a:ext cx="548640" cy="548640"/>
          </a:xfrm>
          <a:prstGeom prst="ellipse">
            <a:avLst/>
          </a:prstGeom>
          <a:solidFill>
            <a:srgbClr val="006580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4572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1280160" y="4526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it live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1280160" y="4892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one-line pipeline change in VS Code with a coding agent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48640" y="5394960"/>
            <a:ext cx="548640" cy="548640"/>
          </a:xfrm>
          <a:prstGeom prst="ellipse">
            <a:avLst/>
          </a:prstGeom>
          <a:solidFill>
            <a:srgbClr val="009845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5394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1280160" y="5349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&amp; what it unlocks for MCG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1280160" y="5715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this is going, and the payoff for Meridian Commerce Group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Agentic Data Engineering  •  MCG Demo  •  Qlik Talend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 — Data Engineering Goes Declarative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863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shift software went through: from clicking things together to code you can review, version, and let AI help write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6F7F8"/>
          </a:solidFill>
          <a:ln w="12700">
            <a:solidFill>
              <a:srgbClr val="A9B3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1435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1691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Pipelines clicked together in a UI — hard to review, diff, or reproduce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2356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435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355080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Declarative YAML you can diff, version, and roll back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37744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6F7F8"/>
          </a:solidFill>
          <a:ln w="12700">
            <a:solidFill>
              <a:srgbClr val="A9B3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2487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change authored by hand, one screen at a time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23560" y="2651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55080" y="2487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355080" y="2743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coding agents draft the change; engineers review and approve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42900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6F7F8"/>
          </a:solidFill>
          <a:ln w="12700">
            <a:solidFill>
              <a:srgbClr val="A9B3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35387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5800" y="3794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and definitions live in tribal knowledge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623560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55080" y="35387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355080" y="3794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scores, DQ rules, and a glossary that ship as governed assets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457200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0F5EA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459028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already runs consumption-side AI — Discovery Agent, Qlik Answers, Qlik Predict. This is the build-side counterpart: AI that authors the pipeline and governs the data.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Agentic Data Engineering  •  MCG Demo  •  Qlik Talend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Big Idea — One Pipeline YAML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863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whole pipeline is one declarative definition. Edit it whichever way fits the moment — the file is the single source of truth.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03904" y="1325880"/>
            <a:ext cx="4572000" cy="1143000"/>
          </a:xfrm>
          <a:prstGeom prst="roundRect">
            <a:avLst>
              <a:gd name="adj" fmla="val 9600"/>
            </a:avLst>
          </a:prstGeom>
          <a:solidFill>
            <a:srgbClr val="19416C"/>
          </a:solidFill>
          <a:ln/>
          <a:effectLst>
            <a:outerShdw sx="100000" sy="100000" kx="0" ky="0" algn="bl" rotWithShape="0" blurRad="63500" dist="25400" dir="162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803904" y="1417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pipeline.yaml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803904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declarative definition · schema-validated · Git-versioned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920240" y="2606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637276" y="2606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354312" y="2606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40080" y="3063240"/>
            <a:ext cx="3538728" cy="2011680"/>
          </a:xfrm>
          <a:prstGeom prst="roundRect">
            <a:avLst>
              <a:gd name="adj" fmla="val 5455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680" y="32461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58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17" name="Image 1" descr="C:\Claude\MCG Full Stack\generators\assets\icons\pip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35" y="3341675"/>
            <a:ext cx="311810" cy="31181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0876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Visually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68680" y="3886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Qlik Talend Cloud UI — the low-code pipeline designer your data team already knows.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361688" y="3063240"/>
            <a:ext cx="3538728" cy="2011680"/>
          </a:xfrm>
          <a:prstGeom prst="roundRect">
            <a:avLst>
              <a:gd name="adj" fmla="val 5455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590288" y="32461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845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22" name="Image 2" descr="C:\Claude\MCG Full Stack\generators\assets\icons\transf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843" y="3341675"/>
            <a:ext cx="311810" cy="31181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30368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Programmatically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590288" y="3886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VS Code or any third-party IDE — export, import, diff, and commit to Git like any other code.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083296" y="3063240"/>
            <a:ext cx="3538728" cy="2011680"/>
          </a:xfrm>
          <a:prstGeom prst="roundRect">
            <a:avLst>
              <a:gd name="adj" fmla="val 5455"/>
            </a:avLst>
          </a:prstGeom>
          <a:solidFill>
            <a:srgbClr val="F6F7F8"/>
          </a:solidFill>
          <a:ln w="25400">
            <a:solidFill>
              <a:srgbClr val="4CB39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311896" y="32461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CB393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27" name="Image 3" descr="C:\Claude\MCG Full Stack\generators\assets\icons\ag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451" y="3341675"/>
            <a:ext cx="311810" cy="31181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51976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B3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Agentically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311896" y="38862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an AI coding agent — it drafts the change against the schema; you review and approve.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57200" y="534924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0F8F7"/>
          </a:solidFill>
          <a:ln/>
        </p:spPr>
      </p:sp>
      <p:sp>
        <p:nvSpPr>
          <p:cNvPr id="31" name="Text 25"/>
          <p:cNvSpPr/>
          <p:nvPr/>
        </p:nvSpPr>
        <p:spPr>
          <a:xfrm>
            <a:off x="731520" y="53675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 path from raw data to trusted, AI-ready data product that keeps human expertise in the loop at each stage."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Agentic Data Engineering  •  MCG Demo  •  Qlik Talend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Declarative Data Pipelines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9006840" y="256032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19416C"/>
          </a:solidFill>
          <a:ln/>
        </p:spPr>
      </p:sp>
      <p:sp>
        <p:nvSpPr>
          <p:cNvPr id="9" name="Text 6"/>
          <p:cNvSpPr/>
          <p:nvPr/>
        </p:nvSpPr>
        <p:spPr>
          <a:xfrm>
            <a:off x="9006840" y="25603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· Jun 2026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YAML, code-first pipeline definitions — authored anywhere, versioned like software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280160"/>
            <a:ext cx="6766560" cy="4343400"/>
          </a:xfrm>
          <a:prstGeom prst="roundRect">
            <a:avLst>
              <a:gd name="adj" fmla="val 2526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37160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00658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3716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792" y="1426464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15" name="Image 1" descr="C:\Claude\MCG Full Stack\generators\assets\icons\pip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12" y="1492484"/>
            <a:ext cx="215433" cy="21543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" y="199339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YAML, code-first definition of the whole pipeline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13232" y="265176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Author in the Qlik Talend Cloud UI, a third-party IDE (VS Code), or an AI coding agent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13232" y="33101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Git version control + CI/CD; export and import definitions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13232" y="396849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Schema-validated and agent-friendly by design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406640" y="1280160"/>
            <a:ext cx="4315968" cy="4343400"/>
          </a:xfrm>
          <a:prstGeom prst="roundRect">
            <a:avLst>
              <a:gd name="adj" fmla="val 2542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0" y="1371600"/>
            <a:ext cx="4133088" cy="457200"/>
          </a:xfrm>
          <a:prstGeom prst="roundRect">
            <a:avLst>
              <a:gd name="adj" fmla="val 12000"/>
            </a:avLst>
          </a:prstGeom>
          <a:solidFill>
            <a:srgbClr val="009845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0" y="1371600"/>
            <a:ext cx="4133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in this demo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662672" y="1993392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2 QTCP projects on Open Lakehouse — 6 tasks total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662672" y="2651760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mcg-batch-pipeline (4 tasks) + mcg-streaming-pipeline (2 tasks)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662672" y="3310128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Shipped as a VS Code template in deploy/pipelines/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662672" y="3968496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Schema kit dropped in locally via "npm run pipeline:template"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57200" y="580644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0F8F7"/>
          </a:solidFill>
          <a:ln/>
        </p:spPr>
      </p:sp>
      <p:sp>
        <p:nvSpPr>
          <p:cNvPr id="28" name="Text 24"/>
          <p:cNvSpPr/>
          <p:nvPr/>
        </p:nvSpPr>
        <p:spPr>
          <a:xfrm>
            <a:off x="731520" y="58247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internal preview, June 2026 — roadmap, not GA. Availability and timing may change.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Agentic Data Engineering  •  MCG Demo  •  Qlik Talend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Product Agent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9006840" y="256032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006580"/>
          </a:solidFill>
          <a:ln/>
        </p:spPr>
      </p:sp>
      <p:sp>
        <p:nvSpPr>
          <p:cNvPr id="9" name="Text 6"/>
          <p:cNvSpPr/>
          <p:nvPr/>
        </p:nvSpPr>
        <p:spPr>
          <a:xfrm>
            <a:off x="9006840" y="25603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Answers capability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and manage data products through natural-language interaction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280160"/>
            <a:ext cx="6766560" cy="4343400"/>
          </a:xfrm>
          <a:prstGeom prst="roundRect">
            <a:avLst>
              <a:gd name="adj" fmla="val 2526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37160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009845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3716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792" y="1426464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15" name="Image 1" descr="C:\Claude\MCG Full Stack\generators\assets\icons\ag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12" y="1492484"/>
            <a:ext cx="215433" cy="21543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" y="199339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Create, read, update, and manage data products conversationally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13232" y="265176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Discover and interact with products in plain language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13232" y="33101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Review and improve data-product quality and completeness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13232" y="396849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Packages Silver into Gold with governance metadata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406640" y="1280160"/>
            <a:ext cx="4315968" cy="4343400"/>
          </a:xfrm>
          <a:prstGeom prst="roundRect">
            <a:avLst>
              <a:gd name="adj" fmla="val 2542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0" y="1371600"/>
            <a:ext cx="4133088" cy="457200"/>
          </a:xfrm>
          <a:prstGeom prst="roundRect">
            <a:avLst>
              <a:gd name="adj" fmla="val 12000"/>
            </a:avLst>
          </a:prstGeom>
          <a:solidFill>
            <a:srgbClr val="009845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0" y="1371600"/>
            <a:ext cx="4133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in this demo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662672" y="1993392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2 gold data products: Supply Chain Health and Last Mile Performance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662672" y="2651760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Both API-shared, each with a trust-score SLA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662672" y="3310128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Built from the Silver medallion layer on Apache Iceberg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662672" y="3968496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The governed contract between producers and consumers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57200" y="580644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0F5EA"/>
          </a:solidFill>
          <a:ln/>
        </p:spPr>
      </p:sp>
      <p:sp>
        <p:nvSpPr>
          <p:cNvPr id="28" name="Text 24"/>
          <p:cNvSpPr/>
          <p:nvPr/>
        </p:nvSpPr>
        <p:spPr>
          <a:xfrm>
            <a:off x="731520" y="58247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as a Qlik Answers capability, not a separate product or SKU.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Agentic Data Engineering  •  MCG Demo  •  Qlik Talend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Agent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9006840" y="256032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006580"/>
          </a:solidFill>
          <a:ln/>
        </p:spPr>
      </p:sp>
      <p:sp>
        <p:nvSpPr>
          <p:cNvPr id="9" name="Text 6"/>
          <p:cNvSpPr/>
          <p:nvPr/>
        </p:nvSpPr>
        <p:spPr>
          <a:xfrm>
            <a:off x="9006840" y="25603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Answers capability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Helps data stewards assess, define, and enforce data-quality rules — conversationally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280160"/>
            <a:ext cx="6766560" cy="4343400"/>
          </a:xfrm>
          <a:prstGeom prst="roundRect">
            <a:avLst>
              <a:gd name="adj" fmla="val 2526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37160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009845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3716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792" y="1426464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15" name="Image 1" descr="C:\Claude\MCG Full Stack\generators\assets\icons\govern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12" y="1492484"/>
            <a:ext cx="215433" cy="21543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" y="199339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Assess data quality across datasets in plain language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13232" y="265176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Create, manage, and map data-quality rules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13232" y="33101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Run data-quality metric calculations on demand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13232" y="396849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Bridges business and technical users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406640" y="1280160"/>
            <a:ext cx="4315968" cy="4343400"/>
          </a:xfrm>
          <a:prstGeom prst="roundRect">
            <a:avLst>
              <a:gd name="adj" fmla="val 2542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0" y="1371600"/>
            <a:ext cx="4133088" cy="457200"/>
          </a:xfrm>
          <a:prstGeom prst="roundRect">
            <a:avLst>
              <a:gd name="adj" fmla="val 12000"/>
            </a:avLst>
          </a:prstGeom>
          <a:solidFill>
            <a:srgbClr val="009845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0" y="1371600"/>
            <a:ext cx="4133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in this demo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662672" y="1993392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Silver-layer trust-score and DQ rules feed Gold SLAs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662672" y="2651760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Stewardship review queues keep a human in the loop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662672" y="3310128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Profiling surfaces issues before they reach a data product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662672" y="3968496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Grounds the trust scores on Supply Chain Health &amp; Last Mile Performance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57200" y="580644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0F5EA"/>
          </a:solidFill>
          <a:ln/>
        </p:spPr>
      </p:sp>
      <p:sp>
        <p:nvSpPr>
          <p:cNvPr id="28" name="Text 24"/>
          <p:cNvSpPr/>
          <p:nvPr/>
        </p:nvSpPr>
        <p:spPr>
          <a:xfrm>
            <a:off x="731520" y="58247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as a Qlik Answers capability, not a separate product or SKU.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Agentic Data Engineering  •  MCG Demo  •  Qlik Talend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 and Business Glossary Agent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9006840" y="256032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006580"/>
          </a:solidFill>
          <a:ln/>
        </p:spPr>
      </p:sp>
      <p:sp>
        <p:nvSpPr>
          <p:cNvPr id="9" name="Text 6"/>
          <p:cNvSpPr/>
          <p:nvPr/>
        </p:nvSpPr>
        <p:spPr>
          <a:xfrm>
            <a:off x="9006840" y="25603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Answers capability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data assets, understand context, and define consistent business terminology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280160"/>
            <a:ext cx="6766560" cy="4343400"/>
          </a:xfrm>
          <a:prstGeom prst="roundRect">
            <a:avLst>
              <a:gd name="adj" fmla="val 2526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37160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009845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3716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792" y="1426464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15" name="Image 1" descr="C:\Claude\MCG Full Stack\generators\assets\icons\answ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12" y="1492484"/>
            <a:ext cx="215433" cy="21543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" y="199339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Natural-language queries against Qlik Cloud Catalog metadata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13232" y="265176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Generate glossaries from apps, data products, datasets, or a domain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13232" y="33101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Standardize terms and synonyms across the estate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13232" y="396849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Understand context and relationships between assets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406640" y="1280160"/>
            <a:ext cx="4315968" cy="4343400"/>
          </a:xfrm>
          <a:prstGeom prst="roundRect">
            <a:avLst>
              <a:gd name="adj" fmla="val 2542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0" y="1371600"/>
            <a:ext cx="4133088" cy="457200"/>
          </a:xfrm>
          <a:prstGeom prst="roundRect">
            <a:avLst>
              <a:gd name="adj" fmla="val 12000"/>
            </a:avLst>
          </a:prstGeom>
          <a:solidFill>
            <a:srgbClr val="009845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0" y="1371600"/>
            <a:ext cx="4133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in this demo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662672" y="1993392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25-term MCG business glossary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662672" y="2651760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Generated terms land in DRAFT status by default — a human reviews before publish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662672" y="3310128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Links terms to datasets, data products, and nightmare scenarios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662672" y="3968496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Keeps definitions consistent across analytics and AI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57200" y="580644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0F5EA"/>
          </a:solidFill>
          <a:ln/>
        </p:spPr>
      </p:sp>
      <p:sp>
        <p:nvSpPr>
          <p:cNvPr id="28" name="Text 24"/>
          <p:cNvSpPr/>
          <p:nvPr/>
        </p:nvSpPr>
        <p:spPr>
          <a:xfrm>
            <a:off x="731520" y="58247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glossary terms are draft by default and require human review. Delivered as a Qlik Answers capability, not a separate product.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Agentic Data Engineering  •  MCG Demo  •  Qlik Talend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Agentic Routes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9006840" y="256032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19416C"/>
          </a:solidFill>
          <a:ln/>
        </p:spPr>
      </p:sp>
      <p:sp>
        <p:nvSpPr>
          <p:cNvPr id="9" name="Text 6"/>
          <p:cNvSpPr/>
          <p:nvPr/>
        </p:nvSpPr>
        <p:spPr>
          <a:xfrm>
            <a:off x="9006840" y="25603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· Jun 2026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AI-native workflows inside Qlik Talend Cloud — LLMs, RAG, and orchestration in the pipeline task itself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280160"/>
            <a:ext cx="6766560" cy="4343400"/>
          </a:xfrm>
          <a:prstGeom prst="roundRect">
            <a:avLst>
              <a:gd name="adj" fmla="val 2526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37160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009845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3716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792" y="1426464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15" name="Image 1" descr="C:\Claude\MCG Full Stack\generators\assets\icons\trans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12" y="1492484"/>
            <a:ext cx="215433" cy="21543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" y="199339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LLM integration in data tasks — cloud (OpenAI, Anthropic Claude, Google Gemini, Amazon Bedrock) and on-prem (Ollama, Mistral, Gemma 3, Phi 4)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13232" y="265176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RAG pipelines to vector targets: Pinecone, MongoDB, Snowflake, Databricks, Milvus, Oracle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13232" y="33101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Agentic orchestration — event-driven, conversational AI, extensible tools + MCP client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13232" y="396849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In-task sentiment analysis, entity extraction, classification, AI-assisted DQ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406640" y="1280160"/>
            <a:ext cx="4315968" cy="4343400"/>
          </a:xfrm>
          <a:prstGeom prst="roundRect">
            <a:avLst>
              <a:gd name="adj" fmla="val 2542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0" y="1371600"/>
            <a:ext cx="4133088" cy="457200"/>
          </a:xfrm>
          <a:prstGeom prst="roundRect">
            <a:avLst>
              <a:gd name="adj" fmla="val 12000"/>
            </a:avLst>
          </a:prstGeom>
          <a:solidFill>
            <a:srgbClr val="009845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0" y="1371600"/>
            <a:ext cx="4133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in this demo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662672" y="1993392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Existing Talend job mcg_crm_address_validate_bulk: address standardization, bulk geocoding, GPS routing gate to Iceberg or a Stewardship sprint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662672" y="2651760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Add an LLM-assisted address-correction step to that route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662672" y="3310128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Enrich Silver in place, before packaging to Gold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57200" y="580644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0F5EA"/>
          </a:solidFill>
          <a:ln/>
        </p:spPr>
      </p:sp>
      <p:sp>
        <p:nvSpPr>
          <p:cNvPr id="27" name="Text 23"/>
          <p:cNvSpPr/>
          <p:nvPr/>
        </p:nvSpPr>
        <p:spPr>
          <a:xfrm>
            <a:off x="731520" y="58247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Named models, vector stores, and tools are examples of supported integrations — not endorsements.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Agentic Data Engineering  •  MCG Demo  •  Qlik Talend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MCP Server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9006840" y="256032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19416C"/>
          </a:solidFill>
          <a:ln/>
        </p:spPr>
      </p:sp>
      <p:sp>
        <p:nvSpPr>
          <p:cNvPr id="9" name="Text 6"/>
          <p:cNvSpPr/>
          <p:nvPr/>
        </p:nvSpPr>
        <p:spPr>
          <a:xfrm>
            <a:off x="9006840" y="25603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· Jun 2026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MCP-compliant server that exposes Qlik Cloud's governance to any AI assistant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280160"/>
            <a:ext cx="6766560" cy="4343400"/>
          </a:xfrm>
          <a:prstGeom prst="roundRect">
            <a:avLst>
              <a:gd name="adj" fmla="val 2526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37160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00658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3716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792" y="1426464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15" name="Image 1" descr="C:\Claude\MCG Full Stack\generators\assets\icons\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12" y="1492484"/>
            <a:ext cx="215433" cy="21543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" y="1993392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Exposes Qlik Cloud analytical and data-governance capabilities over MCP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13232" y="265176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Surfaces data products, quality metrics, lineage, and catalog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13232" y="33101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Works with any MCP-compatible assistant — Claude, Copilot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13232" y="396849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Bridges Qlik governance to third-party AI agents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406640" y="1280160"/>
            <a:ext cx="4315968" cy="4343400"/>
          </a:xfrm>
          <a:prstGeom prst="roundRect">
            <a:avLst>
              <a:gd name="adj" fmla="val 2542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0" y="1371600"/>
            <a:ext cx="4133088" cy="457200"/>
          </a:xfrm>
          <a:prstGeom prst="roundRect">
            <a:avLst>
              <a:gd name="adj" fmla="val 12000"/>
            </a:avLst>
          </a:prstGeom>
          <a:solidFill>
            <a:srgbClr val="009845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0" y="1371600"/>
            <a:ext cx="4133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MCG in this demo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662672" y="1993392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Expose MCG's 2 gold data products + trust metrics to Claude / Copilot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662672" y="2651760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Governed, read-through access to lineage and glossary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7662672" y="3310128"/>
            <a:ext cx="3858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Complements the consumption-side MCP already in the MCG demo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57200" y="580644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0F8F7"/>
          </a:solidFill>
          <a:ln/>
        </p:spPr>
      </p:sp>
      <p:sp>
        <p:nvSpPr>
          <p:cNvPr id="27" name="Text 23"/>
          <p:cNvSpPr/>
          <p:nvPr/>
        </p:nvSpPr>
        <p:spPr>
          <a:xfrm>
            <a:off x="731520" y="58247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internal preview, June 2026 — roadmap, not GA. Availability and timing may change.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Agentic Data Engineering  •  MCG Demo  •  Qlik Talend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 — Raw to Trusted, AI-Ready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863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stages take data from a declarative definition to a governed, AI-ready product — each stage owned by a capability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1261872"/>
            <a:ext cx="457200" cy="457200"/>
          </a:xfrm>
          <a:prstGeom prst="ellipse">
            <a:avLst/>
          </a:prstGeom>
          <a:solidFill>
            <a:srgbClr val="00658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" y="125272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97680" y="125272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 declaratively in your IDE with an AI coding agent; commit to Git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098280" y="125272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Declarative Data Pipelines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1920240"/>
            <a:ext cx="457200" cy="457200"/>
          </a:xfrm>
          <a:prstGeom prst="ellipse">
            <a:avLst/>
          </a:prstGeom>
          <a:solidFill>
            <a:srgbClr val="006580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43000" y="191109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movement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297680" y="191109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 deploys the definition to the Open Lakehouse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098280" y="191109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Talend Cloud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2578608"/>
            <a:ext cx="457200" cy="457200"/>
          </a:xfrm>
          <a:prstGeom prst="ellipse">
            <a:avLst/>
          </a:prstGeom>
          <a:solidFill>
            <a:srgbClr val="006580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43000" y="256946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297680" y="256946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and validate the data conversationally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098280" y="256946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 Agent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2920" y="3236976"/>
            <a:ext cx="457200" cy="457200"/>
          </a:xfrm>
          <a:prstGeom prst="ellipse">
            <a:avLst/>
          </a:prstGeom>
          <a:solidFill>
            <a:srgbClr val="006580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" y="3236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43000" y="32278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Packaging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297680" y="322783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 Silver into Gold with governance metadata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098280" y="32278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Product Agent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02920" y="3895344"/>
            <a:ext cx="457200" cy="457200"/>
          </a:xfrm>
          <a:prstGeom prst="ellipse">
            <a:avLst/>
          </a:prstGeom>
          <a:solidFill>
            <a:srgbClr val="006580"/>
          </a:solidFill>
          <a:ln/>
        </p:spPr>
      </p:sp>
      <p:sp>
        <p:nvSpPr>
          <p:cNvPr id="30" name="Text 27"/>
          <p:cNvSpPr/>
          <p:nvPr/>
        </p:nvSpPr>
        <p:spPr>
          <a:xfrm>
            <a:off x="50292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43000" y="3886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&amp; governance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297680" y="3886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 assets and generate glossary terms (draft)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098280" y="3886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 &amp; Glossary Agent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02920" y="4553712"/>
            <a:ext cx="457200" cy="457200"/>
          </a:xfrm>
          <a:prstGeom prst="ellipse">
            <a:avLst/>
          </a:prstGeom>
          <a:solidFill>
            <a:srgbClr val="006580"/>
          </a:solidFill>
          <a:ln/>
        </p:spPr>
      </p:sp>
      <p:sp>
        <p:nvSpPr>
          <p:cNvPr id="35" name="Text 32"/>
          <p:cNvSpPr/>
          <p:nvPr/>
        </p:nvSpPr>
        <p:spPr>
          <a:xfrm>
            <a:off x="502920" y="4553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143000" y="45445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enhancement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4297680" y="45445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 LLM, RAG, and orchestration into pipeline tasks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9098280" y="45445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Agentic Routes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02920" y="5212080"/>
            <a:ext cx="457200" cy="457200"/>
          </a:xfrm>
          <a:prstGeom prst="ellipse">
            <a:avLst/>
          </a:prstGeom>
          <a:solidFill>
            <a:srgbClr val="009845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1143000" y="520293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AI-ready output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4297680" y="520293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data product with trust scores + provenance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098280" y="520293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data products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Agentic Data Engineering  •  MCG Demo  •  Qlik Talend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in the Loop — The Coding-Agent Loop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863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moves fast; the schema guards the work; the engineer decides. Four steps, repeated for every change.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73736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73736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00658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1737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554480" y="2423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58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13" name="Image 1" descr="C:\Claude\MCG Full Stack\generators\assets\icons\ag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348" y="2510028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Prompts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40080" y="35204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the change in plain language — no boilerplate.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072384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3346704" y="173736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346704" y="173736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009845"/>
          </a:solidFill>
          <a:ln/>
        </p:spPr>
      </p:sp>
      <p:sp>
        <p:nvSpPr>
          <p:cNvPr id="19" name="Text 15"/>
          <p:cNvSpPr/>
          <p:nvPr/>
        </p:nvSpPr>
        <p:spPr>
          <a:xfrm>
            <a:off x="3346704" y="1737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443984" y="2423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9845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21" name="Image 2" descr="C:\Claude\MCG Full Stack\generators\assets\icons\transf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510028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438144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Generates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529584" y="35204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coding agent edits the pipeline YAML for you.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961888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6236208" y="173736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6F7F8"/>
          </a:solidFill>
          <a:ln w="25400">
            <a:solidFill>
              <a:srgbClr val="4CB39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236208" y="173736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4CB393"/>
          </a:solidFill>
          <a:ln/>
        </p:spPr>
      </p:sp>
      <p:sp>
        <p:nvSpPr>
          <p:cNvPr id="27" name="Text 22"/>
          <p:cNvSpPr/>
          <p:nvPr/>
        </p:nvSpPr>
        <p:spPr>
          <a:xfrm>
            <a:off x="6236208" y="1737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333488" y="2423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CB393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29" name="Image 3" descr="C:\Claude\MCG Full Stack\generators\assets\icons\govern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0356" y="2510028"/>
            <a:ext cx="283464" cy="28346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327648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B3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Validates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419088" y="35204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schema checks the change automatically.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8851392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9125712" y="173736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9125712" y="1737360"/>
            <a:ext cx="2651760" cy="502920"/>
          </a:xfrm>
          <a:prstGeom prst="roundRect">
            <a:avLst>
              <a:gd name="adj" fmla="val 10909"/>
            </a:avLst>
          </a:prstGeom>
          <a:solidFill>
            <a:srgbClr val="006580"/>
          </a:solidFill>
          <a:ln/>
        </p:spPr>
      </p:sp>
      <p:sp>
        <p:nvSpPr>
          <p:cNvPr id="35" name="Text 29"/>
          <p:cNvSpPr/>
          <p:nvPr/>
        </p:nvSpPr>
        <p:spPr>
          <a:xfrm>
            <a:off x="9125712" y="1737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4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10222992" y="24231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580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37" name="Image 4" descr="C:\Claude\MCG Full Stack\generators\assets\icons\answ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9860" y="2510028"/>
            <a:ext cx="283464" cy="28346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217152" y="3017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Reviews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9308592" y="35204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engineer reads the git diff and approves.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457200" y="475488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0F5EA"/>
          </a:solidFill>
          <a:ln/>
        </p:spPr>
      </p:sp>
      <p:sp>
        <p:nvSpPr>
          <p:cNvPr id="41" name="Text 34"/>
          <p:cNvSpPr/>
          <p:nvPr/>
        </p:nvSpPr>
        <p:spPr>
          <a:xfrm>
            <a:off x="731520" y="47731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expertise stays in the loop at every stage — the agent drafts, the schema guards, the engineer decides.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Agentic Data Engineering  •  MCG Demo  •  Qlik Talend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It Live — A One-Line Change in VS Code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7863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the CRM landing cadence from every 15 minutes to every 30 — with a coding agent, a one-line diff, and Apply-from-Remote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5760720" cy="4160520"/>
          </a:xfrm>
          <a:prstGeom prst="roundRect">
            <a:avLst>
              <a:gd name="adj" fmla="val 2637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4630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Walkthrough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2011680"/>
            <a:ext cx="384048" cy="384048"/>
          </a:xfrm>
          <a:prstGeom prst="ellipse">
            <a:avLst/>
          </a:prstGeom>
          <a:solidFill>
            <a:srgbClr val="00658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34440" y="1965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deploy/pipelines/ in VS Code — schema kit is local via "npm run pipeline:template"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5800" y="2670048"/>
            <a:ext cx="384048" cy="384048"/>
          </a:xfrm>
          <a:prstGeom prst="ellipse">
            <a:avLst/>
          </a:prstGeom>
          <a:solidFill>
            <a:srgbClr val="006580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2670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34440" y="262432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the coding agent: "change MCG CRM Landing from every 15 to every 30 minutes"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5800" y="3328416"/>
            <a:ext cx="384048" cy="384048"/>
          </a:xfrm>
          <a:prstGeom prst="ellipse">
            <a:avLst/>
          </a:prstGeom>
          <a:solidFill>
            <a:srgbClr val="006580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" y="33284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34440" y="328269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edits one line of the task YAML schedule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5800" y="3986784"/>
            <a:ext cx="384048" cy="384048"/>
          </a:xfrm>
          <a:prstGeom prst="ellipse">
            <a:avLst/>
          </a:prstGeom>
          <a:solidFill>
            <a:srgbClr val="006580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39867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234440" y="394106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schema validates the change automatically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5800" y="4645152"/>
            <a:ext cx="384048" cy="384048"/>
          </a:xfrm>
          <a:prstGeom prst="ellipse">
            <a:avLst/>
          </a:prstGeom>
          <a:solidFill>
            <a:srgbClr val="00658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234440" y="459943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the one-line git diff, then Apply-from-Remote back to Qlik Talend Cloud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0" y="1325880"/>
            <a:ext cx="5303520" cy="2788920"/>
          </a:xfrm>
          <a:prstGeom prst="roundRect">
            <a:avLst>
              <a:gd name="adj" fmla="val 3279"/>
            </a:avLst>
          </a:prstGeom>
          <a:solidFill>
            <a:srgbClr val="19416C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14173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diff — mcg-batch-pipeline / crm-landing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62940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task: MCG CRM Landing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629400" y="22128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4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schedule: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629400" y="259689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  rrule: FREQ=MINUTELY;INTERVAL=15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629400" y="298094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  rrule: FREQ=MINUTELY;INTERVAL=30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583680" y="3520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0CF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line changed · additions in green, removals in gray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400800" y="425196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E0F8F7"/>
          </a:solidFill>
          <a:ln/>
        </p:spPr>
      </p:sp>
      <p:sp>
        <p:nvSpPr>
          <p:cNvPr id="34" name="Text 31"/>
          <p:cNvSpPr/>
          <p:nvPr/>
        </p:nvSpPr>
        <p:spPr>
          <a:xfrm>
            <a:off x="6583680" y="434340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git diff is the audit trail. Apply-from-Remote is the deploy. No UI clicking, no guesswork — a reviewable, reproducible change.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9416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11274552" cy="9144"/>
          </a:xfrm>
          <a:prstGeom prst="rect">
            <a:avLst/>
          </a:prstGeom>
          <a:solidFill>
            <a:srgbClr val="A9B3B6"/>
          </a:solidFill>
          <a:ln/>
        </p:spPr>
      </p:sp>
      <p:pic>
        <p:nvPicPr>
          <p:cNvPr id="4" name="Image 0" descr="C:\Claude\MCG Full Stack\generators\assets\qlik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92240"/>
            <a:ext cx="493776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Agentic Data Engineering  •  MCG Demo  •  Qlik Talend Cloud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MCP Server — Roadmap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9006840" y="256032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19416C"/>
          </a:solidFill>
          <a:ln/>
        </p:spPr>
      </p:sp>
      <p:sp>
        <p:nvSpPr>
          <p:cNvPr id="9" name="Text 6"/>
          <p:cNvSpPr/>
          <p:nvPr/>
        </p:nvSpPr>
        <p:spPr>
          <a:xfrm>
            <a:off x="9006840" y="25603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· ROADMAP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78638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governance-aware AI agents are headed at Qlik — clearly a roadmap item, not a commitment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28016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F6F7F8"/>
          </a:solidFill>
          <a:ln w="25400">
            <a:solidFill>
              <a:srgbClr val="0065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37160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006580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MCP Server exposes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1792" y="1426464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15" name="Image 1" descr="C:\Claude\MCG Full Stack\generators\assets\icons\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812" y="1492484"/>
            <a:ext cx="215433" cy="21543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3232" y="19933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Data products — discover and query the governed catalog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13232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Quality metrics — trust scores and DQ signals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713232" y="31272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Lineage — where a field comes from, end to end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713232" y="36941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Catalog &amp; glossary — consistent business terminology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13232" y="426110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Reachable from any MCP-compatible assistant (Claude, Copilot)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217920" y="128016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F6F7F8"/>
          </a:solidFill>
          <a:ln w="25400">
            <a:solidFill>
              <a:srgbClr val="00984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09360" y="1371600"/>
            <a:ext cx="5303520" cy="457200"/>
          </a:xfrm>
          <a:prstGeom prst="roundRect">
            <a:avLst>
              <a:gd name="adj" fmla="val 12000"/>
            </a:avLst>
          </a:prstGeom>
          <a:solidFill>
            <a:srgbClr val="009845"/>
          </a:solidFill>
          <a:ln/>
        </p:spPr>
      </p:sp>
      <p:sp>
        <p:nvSpPr>
          <p:cNvPr id="23" name="Text 19"/>
          <p:cNvSpPr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it unlocks for MCG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382512" y="1426464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5000"/>
              </a:srgbClr>
            </a:outerShdw>
          </a:effectLst>
        </p:spPr>
      </p:sp>
      <p:pic>
        <p:nvPicPr>
          <p:cNvPr id="25" name="Image 2" descr="C:\Claude\MCG Full Stack\generators\assets\icons\govern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532" y="1492484"/>
            <a:ext cx="215433" cy="21543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73952" y="19933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Ask Claude or Copilot governed questions about MCG data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473952" y="25603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Expose the 2 gold data products + trust metrics safely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6473952" y="31272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Governance travels with the answer — lineage and glossary in context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6473952" y="369417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Complements the consumption-side MCP already in the demo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473952" y="426110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 One governed surface for build-side and consumption-side AI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457200" y="512064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E0F8F7"/>
          </a:solidFill>
          <a:ln/>
        </p:spPr>
      </p:sp>
      <p:sp>
        <p:nvSpPr>
          <p:cNvPr id="32" name="Text 27"/>
          <p:cNvSpPr/>
          <p:nvPr/>
        </p:nvSpPr>
        <p:spPr>
          <a:xfrm>
            <a:off x="731520" y="513892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Roadmap, not a commitment. Qlik internal preview, June 2026 — capabilities, availability, and timing may change before GA.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laude\MCG Full Stack\generators\assets\qlik_cov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C:\Claude\MCG Full Stack\generators\assets\qlik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024128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Commerce Group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457200" y="1874520"/>
            <a:ext cx="7315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Pipelines as code.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that build trust.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that ships.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45720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this unlocks for MCG:  faster, governed pipeline changes — drafted by AI, reviewed by engineers, trusted by the business.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57200" y="41605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6F7F8"/>
          </a:solidFill>
          <a:ln w="19050">
            <a:solidFill>
              <a:srgbClr val="00658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45720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QTCP Projects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743200" y="41605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6F7F8"/>
          </a:solidFill>
          <a:ln w="19050">
            <a:solidFill>
              <a:srgbClr val="00658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0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5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274320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Tasks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029200" y="41605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6F7F8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0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502920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 Data Products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315200" y="41605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6F7F8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315200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731520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Glossary Terms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9601200" y="416052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6F7F8"/>
          </a:solidFill>
          <a:ln w="19050">
            <a:solidFill>
              <a:srgbClr val="4CB39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601200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B39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2800" dirty="0"/>
          </a:p>
        </p:txBody>
      </p:sp>
      <p:sp>
        <p:nvSpPr>
          <p:cNvPr id="21" name="Text 17"/>
          <p:cNvSpPr/>
          <p:nvPr/>
        </p:nvSpPr>
        <p:spPr>
          <a:xfrm>
            <a:off x="9601200" y="47548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Build-Side Capabilities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57200" y="5440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41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more:  </a:t>
            </a:r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Agentic Data Engineering evaluation guide — [placeholder]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it:  </a:t>
            </a:r>
            <a:pPr indent="0" marL="0">
              <a:buNone/>
            </a:pPr>
            <a:r>
              <a:rPr lang="en-US" sz="1200" dirty="0">
                <a:solidFill>
                  <a:srgbClr val="454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deploy/pipelines/ in VS Code and run  npm run pipeline:template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Qlik / Meridian Commerce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Commerce Group — Qlik Agentic Data Engineering</dc:title>
  <dc:subject>PptxGenJS Presentation</dc:subject>
  <dc:creator>Qlik</dc:creator>
  <cp:lastModifiedBy>Qlik</cp:lastModifiedBy>
  <cp:revision>1</cp:revision>
  <dcterms:created xsi:type="dcterms:W3CDTF">2026-09-21T20:26:57Z</dcterms:created>
  <dcterms:modified xsi:type="dcterms:W3CDTF">2026-09-21T20:26:57Z</dcterms:modified>
</cp:coreProperties>
</file>