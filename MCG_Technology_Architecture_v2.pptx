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371600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5486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Full Stack Demo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4297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Sources  •  Open Lakehouse  •  8 Transformation Routes  •  7 Data Products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Analytics Apps  •  2 AutoML Models  •  25 Knowledge Documents  •  MCP + AI Agents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92608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006580"/>
          </a:solidFill>
          <a:ln/>
        </p:spPr>
      </p:sp>
      <p:sp>
        <p:nvSpPr>
          <p:cNvPr id="11" name="Text 7"/>
          <p:cNvSpPr/>
          <p:nvPr/>
        </p:nvSpPr>
        <p:spPr>
          <a:xfrm>
            <a:off x="292608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30352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13" name="Text 9"/>
          <p:cNvSpPr/>
          <p:nvPr/>
        </p:nvSpPr>
        <p:spPr>
          <a:xfrm>
            <a:off x="530352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5577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4CB393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Outcomes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Architecture Overview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116128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16128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5786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25786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395020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9416C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395020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5230368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4CB393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5230368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96596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03911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3911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• 3 tables • Real-time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8348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5663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5663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• 2 IoT topics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01000" y="1005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074152" y="10607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74152" y="1481328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 • 3 objects • 15 min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38328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40080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418320" y="1920240"/>
            <a:ext cx="0" cy="502920"/>
          </a:xfrm>
          <a:prstGeom prst="line">
            <a:avLst/>
          </a:prstGeom>
          <a:noFill/>
          <a:ln w="19050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965960" y="2423160"/>
            <a:ext cx="7040880" cy="914400"/>
          </a:xfrm>
          <a:prstGeom prst="roundRect">
            <a:avLst>
              <a:gd name="adj" fmla="val 12000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65960" y="241401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Open Lakehouse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48840" y="2715768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221992" y="277063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(8 tables)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221992" y="2999232"/>
            <a:ext cx="186537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3400" y="2715768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009845"/>
          </a:solidFill>
          <a:ln w="63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416552" y="2770632"/>
            <a:ext cx="186537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(8 routes)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16552" y="2999232"/>
            <a:ext cx="186537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Cleansed + joined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37960" y="2715768"/>
            <a:ext cx="2286000" cy="530352"/>
          </a:xfrm>
          <a:prstGeom prst="roundRect">
            <a:avLst>
              <a:gd name="adj" fmla="val 17241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611112" y="2770632"/>
            <a:ext cx="2139696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(7 products)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11112" y="2999232"/>
            <a:ext cx="2139696" cy="222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+ API-shared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160520" y="2980944"/>
            <a:ext cx="182880" cy="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355080" y="2980944"/>
            <a:ext cx="182880" cy="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189720" y="24231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 w="63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262872" y="2478024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9262872" y="2898648"/>
            <a:ext cx="15453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Validation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Stewardship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794760" y="3337560"/>
            <a:ext cx="0" cy="45720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7909560" y="3337560"/>
            <a:ext cx="0" cy="457200"/>
          </a:xfrm>
          <a:prstGeom prst="line">
            <a:avLst/>
          </a:prstGeom>
          <a:noFill/>
          <a:ln w="1905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965960" y="3794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039112" y="384962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039112" y="4270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apps • 10 sheets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892040" y="3794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965192" y="3849624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965192" y="4270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Spoilage Risk • SLA Model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18120" y="3794760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 w="6350">
            <a:solidFill>
              <a:srgbClr val="19416C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7891272" y="384962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Trust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891272" y="4270248"/>
            <a:ext cx="291693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• Stewardship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• Lineage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33756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26364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9372600" y="4709160"/>
            <a:ext cx="0" cy="365760"/>
          </a:xfrm>
          <a:prstGeom prst="line">
            <a:avLst/>
          </a:prstGeom>
          <a:noFill/>
          <a:ln w="19050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1965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2039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2039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DOCX docs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251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4325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4325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alerts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537960" y="50749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6611112" y="512978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6611112" y="5550408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queries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8823960" y="5074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8897112" y="5129784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8897112" y="5550408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alerts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10744200" y="10058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3EAF3"/>
          </a:solidFill>
          <a:ln w="12700">
            <a:solidFill>
              <a:srgbClr val="19416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744200" y="100584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Data Quality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$127M/yr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— Three Pillars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Data Capture • Real-time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~8,000 rows  •  Stock levels by DC/SKU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warehouse_events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~15,000 rows  •  Pick, pack, ship events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" y="314553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1455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419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~3,000 rows  •  Outbound shipment tracking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4251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Phantom inventory (WMS vs ERP mismatch)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Missing lot numbers on 15% of perishables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Timestamp drift between WMS and SAP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Silent pipeline failures (72h undetected)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0624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 (IoT)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2062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• Confluent Platform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4340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3484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mcg.iot.cold-chain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3484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 msg/5s  •  Temperature, humidity, GPS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34340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mcg.iot.carrier-events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3484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 msg/min  •  Carrier status updates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34340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43400" y="36118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5% readings in Fahrenheit (mixed units)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3% bare timestamps (no timezone)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2% Lagos GPS blackouts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8.8% GRU-BA temp exceedances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Carrier status in 5 languages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100584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9552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Connector • 15-min polling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92440" y="18288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18388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18.4M records  •  Customer addresses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092440" y="24871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8388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MCG_Order__c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183880" y="27614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~12,000  •  Order details + SLAs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92440" y="314553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83880" y="31455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MCG_Product__c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3419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~5,000  •  Product catalog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09244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092440" y="4251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11% address format inconsistencies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6% truncated addresses (30-char limit)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Duplicate customer records (fuzzy)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Mixed naming conventions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 — Medallion Architecture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291840" cy="5166360"/>
          </a:xfrm>
          <a:prstGeom prst="roundRect">
            <a:avLst>
              <a:gd name="adj" fmla="val 3333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14300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463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187452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87452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 (CDC)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238658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38658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warehouse_events (CDC)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289864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89864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 (CDC)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3410712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410712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sf_contacts (API)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" y="3922776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922776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sf_orders (API)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443484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44348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sf_products (API)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" y="494690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4946904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iot_cold_chain (Stream)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" y="545896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65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5458968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iot_carrier_events (Stream)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06240" y="1005840"/>
            <a:ext cx="3383280" cy="5166360"/>
          </a:xfrm>
          <a:prstGeom prst="roundRect">
            <a:avLst>
              <a:gd name="adj" fmla="val 3243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89120" y="11430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0" y="1143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389120" y="1463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Routes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343400" y="187452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62272" y="187452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Timestamp Normalization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343400" y="2386584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62272" y="2386584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Inventory Reconciliation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43400" y="2898648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62272" y="2898648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Address Standardization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343400" y="3410712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62272" y="3410712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Product Harmonization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43400" y="3922776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62272" y="3922776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Carrier Canonicalization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343400" y="4434840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62272" y="4434840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IoT Normalization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343400" y="4946904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62272" y="4946904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Supplier Deduplication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343400" y="5458968"/>
            <a:ext cx="3108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0984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462272" y="5458968"/>
            <a:ext cx="28712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Order-to-Delivery Timeline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046720" y="1005840"/>
            <a:ext cx="3566160" cy="5166360"/>
          </a:xfrm>
          <a:prstGeom prst="roundRect">
            <a:avLst>
              <a:gd name="adj" fmla="val 3077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29600" y="11430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/>
        </p:spPr>
      </p:sp>
      <p:sp>
        <p:nvSpPr>
          <p:cNvPr id="50" name="Text 47"/>
          <p:cNvSpPr/>
          <p:nvPr/>
        </p:nvSpPr>
        <p:spPr>
          <a:xfrm>
            <a:off x="822960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822960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 Products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183880" y="1874520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02752" y="187452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supply_chain_health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183880" y="2386584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19416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02752" y="2386584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last_mile_performance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749040" y="3474720"/>
            <a:ext cx="457200" cy="0"/>
          </a:xfrm>
          <a:prstGeom prst="line">
            <a:avLst/>
          </a:prstGeom>
          <a:noFill/>
          <a:ln w="2540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772400" y="3474720"/>
            <a:ext cx="457200" cy="0"/>
          </a:xfrm>
          <a:prstGeom prst="line">
            <a:avLst/>
          </a:prstGeom>
          <a:noFill/>
          <a:ln w="25400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8" name="Text 55"/>
          <p:cNvSpPr/>
          <p:nvPr/>
        </p:nvSpPr>
        <p:spPr>
          <a:xfrm>
            <a:off x="361188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Flows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Jobs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63524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Transformation Routes — Nightmare Mapping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 Addressed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1005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Transformation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Timestamp Normalization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49040" y="1508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Timestamp Tower of Babel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760" y="1508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timestamps → UTC with source tracking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Inventory Reconciliation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4904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Phantom Inventory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23760" y="2057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vs ERP comparison, phantom detection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0604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606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Address Standardization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749040" y="2606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 Address Catastrophe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2606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matching, postal code normalization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15468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154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Product Harmonization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4904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 Product Master Mess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2376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resolution, weight/UoM standardization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70332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703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Carrier Canonicalization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74904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 Carrier Data Black Hole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23760" y="3703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status → MCG canonical codes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IoT Normalization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749040" y="4251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+ #6 Combined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223760" y="4251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Celsius normalization, GPS gap detection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Supplier Deduplication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749040" y="4800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 Product Master Mess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23760" y="4800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name matching, canonical ID assignment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349240"/>
            <a:ext cx="112745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Order-to-Delivery Timeline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74904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 + #6 Combined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223760" y="5349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order lifecycle assembly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7607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E0F5EA"/>
          </a:solidFill>
          <a:ln w="12700">
            <a:solidFill>
              <a:srgbClr val="0098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Talend Address Validation Job — tAddressRowStandardize → tAddressRowValidate → tGeocode (callable service)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Gold-Layer Data Products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" y="1060704"/>
            <a:ext cx="2551176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Health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Henrik Jansen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15 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IRA: 97% target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10058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10712" y="1060704"/>
            <a:ext cx="2551176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17" name="Text 14"/>
          <p:cNvSpPr/>
          <p:nvPr/>
        </p:nvSpPr>
        <p:spPr>
          <a:xfrm>
            <a:off x="333756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Mile Performance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Sophie Muller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Refresh: 30 min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2044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KPI: On-time: 92%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37560" y="2743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API Sharing  •  Lineage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Layer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  •  Predict  •  Answers  •  Discovery Agent  •  MCP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AI Layer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E3EAF3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 — 2 Domain Apps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Operations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sheets: Inventory, Cold Chain,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Quality, Compliance, Cost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&amp; Customer Exp.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6499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sheets: Last Mile, Tracking,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WISMO, Orders, Addresses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514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Dark Theme  •  Streaming IoT  •  Section Access  •  Business Logic  •  NLI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100584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0241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 — 2 AutoML Models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150876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65392" y="1563624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Spoilage Risk Predictor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65392" y="1938528"/>
            <a:ext cx="232257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spoilage_risk_score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feature: route_id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098280" y="15087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006580"/>
          </a:solidFill>
          <a:ln w="6350">
            <a:solidFill>
              <a:srgbClr val="006580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71432" y="1563624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SLA Predictor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71432" y="1938528"/>
            <a:ext cx="2231136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sla_met (Y/N)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Top: address_quality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25146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  •  Feature Importance  •  API Sharing  •  Deployed to Production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11247120" cy="2468880"/>
          </a:xfrm>
          <a:prstGeom prst="roundRect">
            <a:avLst>
              <a:gd name="adj" fmla="val 4444"/>
            </a:avLst>
          </a:prstGeom>
          <a:solidFill>
            <a:srgbClr val="E0F5EA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0332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Agentic Layer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580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5895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895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DOCX docs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demo scenarios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Mart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9184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36499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36499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TransFrio spoilage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alerts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9788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97103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97103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demo prompts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+ docs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503920" y="42062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4CB393"/>
          </a:solidFill>
          <a:ln w="6350">
            <a:solidFill>
              <a:srgbClr val="4CB393"/>
            </a:solidFill>
            <a:prstDash val="solid"/>
          </a:ln>
          <a:effectLst>
            <a:outerShdw sx="100000" sy="100000" kx="0" ky="0" algn="bl" rotWithShape="0" blurRad="50800" dist="19050" dir="16200000">
              <a:srgbClr val="000000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577072" y="4261104"/>
            <a:ext cx="2231136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577072" y="5093208"/>
            <a:ext cx="2231136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automations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integration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job trigger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 Nightmares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$127M in annual data quality costs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 Data Quality Nightmares — $127M Annual Impact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109728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 Inventory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$41M / year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06240" y="10515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says 50, WMS says 42. Stockouts from ghost inventory.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72821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82880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1828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Catastrophe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$31M / year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206240" y="17830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11% format issues, 6% truncated. 4.7% carrier rejection.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45973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256032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2560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2514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Master Mess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$14M / year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06240" y="251460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8,200 missing weights, duplicated suppliers, SKU chaos.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19125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329184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291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80160" y="3246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Pipeline Failures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801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$4M / year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06240" y="324612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Rotterdam CDC sync: 72h undetected. 847 phantom units.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92277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2" name="Shape 29"/>
          <p:cNvSpPr/>
          <p:nvPr/>
        </p:nvSpPr>
        <p:spPr>
          <a:xfrm>
            <a:off x="548640" y="402336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4023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280160" y="3977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Tower of Babel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801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$6M / 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206240" y="397764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UTC/local/bare timestamps across 3 sources.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465429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475488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39" name="Text 36"/>
          <p:cNvSpPr/>
          <p:nvPr/>
        </p:nvSpPr>
        <p:spPr>
          <a:xfrm>
            <a:off x="548640" y="4754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280160" y="4709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Data Black Hole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28016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$22M / year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206240" y="470916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carriers, 5 languages, no canonical status mapping.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5385816"/>
            <a:ext cx="11274552" cy="4572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44" name="Shape 41"/>
          <p:cNvSpPr/>
          <p:nvPr/>
        </p:nvSpPr>
        <p:spPr>
          <a:xfrm>
            <a:off x="548640" y="5486400"/>
            <a:ext cx="512064" cy="512064"/>
          </a:xfrm>
          <a:prstGeom prst="ellipse">
            <a:avLst/>
          </a:prstGeom>
          <a:solidFill>
            <a:srgbClr val="19416C"/>
          </a:solidFill>
          <a:ln/>
        </p:spPr>
      </p:sp>
      <p:sp>
        <p:nvSpPr>
          <p:cNvPr id="45" name="Text 42"/>
          <p:cNvSpPr/>
          <p:nvPr/>
        </p:nvSpPr>
        <p:spPr>
          <a:xfrm>
            <a:off x="548640" y="5486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280160" y="5440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Traceability Gap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280160" y="5760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 / year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206240" y="544068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Lettuce recall: 11 days vs 24h requirement. NVWA citation.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&amp; Cluster Architecture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0F2F5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241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Cluster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CDC + Salesforce incremental sync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1: inventory_positions (CDC, real-time)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212848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2: warehouse_events (CDC, real-time)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596896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3: shipments (CDC, real-time)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2980944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6: sf_contacts (API, 15 min)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364992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7: sf_orders (API, 15 min)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3749040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8: sf_products (API, 15 min)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0F5EA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10241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Cluster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Kafka ingestion from IoT topics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18288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4: mcg.iot.cold-chain → bronze.iot_cold_chain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2212848"/>
            <a:ext cx="5029200" cy="347472"/>
          </a:xfrm>
          <a:prstGeom prst="rect">
            <a:avLst/>
          </a:prstGeom>
          <a:solidFill>
            <a:srgbClr val="F6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5: mcg.iot.carrier-events → bronze.iot_carrier_events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F6F7F8"/>
          </a:solidFill>
          <a:ln w="12700">
            <a:solidFill>
              <a:srgbClr val="A9B3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5720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Components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Movement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5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PostgreSQL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971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71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971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connectivity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257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57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57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Confluent Platform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4380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Simulator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54380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kafka_iot_simulator.py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646920" y="5029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46920" y="50474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WMS Simulator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646920" y="5504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postgres_simulator.py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46520"/>
            <a:ext cx="11274552" cy="7315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10528"/>
            <a:ext cx="59436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Technology Architecture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Component Summary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51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(3)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WMS (CDC)  •  Apache Kafka 2 topics (streaming)  •  Salesforce CRM (API)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8013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18013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Bronze tables  •  8 Silver transformations + 1 Talend job  •  7 Gold data products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551176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658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5511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91840" y="255117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 •  Data Lineage  •  Impact Analysis  •  Profiling  •  25-term Glossary  •  4 Stewardship campaigns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00984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19416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30098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91840" y="330098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Qlik Analytics apps (10 sheets)  •  MCG Dark Theme  •  Streaming IoT  •  Alerts  •  Reports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05079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4CB393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0507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91840" y="4050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Predict models (Spoilage + SLA)  •  Qlik Answers (25 docs)  •  Discovery Agent  •  MCP Server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80060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984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00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91840" y="4800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automations: App Reload, Cold Chain Alert, Pipeline Health, WISMO, Address Correction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550408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A9B3B6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555040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91840" y="55504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(Confluent)  •  3 simulators (PG, Kafka, SF)  •  Deploy script  •  Setup guide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630936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Sources  •  23 Tables  •  9 Flows  •  7 Products  •  10 Sheets  •  2 Models  •  25 Docs  •  5 Automations  •  1 MCP Server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Qlik / Meridian Commerce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 Technology Architecture — Qlik Cloud Full Stack Demo</dc:title>
  <dc:subject>PptxGenJS Presentation</dc:subject>
  <dc:creator>Qlik</dc:creator>
  <cp:lastModifiedBy>Qlik</cp:lastModifiedBy>
  <cp:revision>1</cp:revision>
  <dcterms:created xsi:type="dcterms:W3CDTF">2026-03-28T03:19:57Z</dcterms:created>
  <dcterms:modified xsi:type="dcterms:W3CDTF">2026-03-28T03:19:57Z</dcterms:modified>
</cp:coreProperties>
</file>