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371600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14630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700" dirty="0"/>
          </a:p>
        </p:txBody>
      </p:sp>
      <p:sp>
        <p:nvSpPr>
          <p:cNvPr id="5" name="Text 1"/>
          <p:cNvSpPr/>
          <p:nvPr/>
        </p:nvSpPr>
        <p:spPr>
          <a:xfrm>
            <a:off x="548640" y="2011680"/>
            <a:ext cx="5486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Technology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Architecture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Full Stack Demo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548640" y="429768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Open Lakehouse  •  8 Transformation Routes  •  7 Data Products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Analytics Apps  •  2 AutoML Models  •  25 Knowledge Documents  •  MCP + AI Agents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9" name="Text 5"/>
          <p:cNvSpPr/>
          <p:nvPr/>
        </p:nvSpPr>
        <p:spPr>
          <a:xfrm>
            <a:off x="54864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92608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11" name="Text 7"/>
          <p:cNvSpPr/>
          <p:nvPr/>
        </p:nvSpPr>
        <p:spPr>
          <a:xfrm>
            <a:off x="292608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30352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30352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680960" y="5577840"/>
            <a:ext cx="2103120" cy="54864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680960" y="55778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Architecture Overview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20040" y="116128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320040" y="116128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" y="25786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320040" y="25786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0040" y="395020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3" name="Text 10"/>
          <p:cNvSpPr/>
          <p:nvPr/>
        </p:nvSpPr>
        <p:spPr>
          <a:xfrm>
            <a:off x="320040" y="395020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20040" y="5230368"/>
            <a:ext cx="141732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15" name="Text 12"/>
          <p:cNvSpPr/>
          <p:nvPr/>
        </p:nvSpPr>
        <p:spPr>
          <a:xfrm>
            <a:off x="320040" y="5230368"/>
            <a:ext cx="1417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96596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03911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03911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3 tables • Real-time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98348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05663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05663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2 IoT topics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8001000" y="1005840"/>
            <a:ext cx="2834640" cy="91440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8074152" y="1060704"/>
            <a:ext cx="2688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074152" y="1481328"/>
            <a:ext cx="2688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Connector • 3 objects • 15 min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338328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40080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418320" y="1920240"/>
            <a:ext cx="0" cy="502920"/>
          </a:xfrm>
          <a:prstGeom prst="line">
            <a:avLst/>
          </a:prstGeom>
          <a:noFill/>
          <a:ln w="19050">
            <a:solidFill>
              <a:srgbClr val="0065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1965960" y="2423160"/>
            <a:ext cx="7040880" cy="9144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965960" y="2414016"/>
            <a:ext cx="7040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Open Lakehouse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214884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22199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(8 tables)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2199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343400" y="2715768"/>
            <a:ext cx="2011680" cy="530352"/>
          </a:xfrm>
          <a:prstGeom prst="roundRect">
            <a:avLst>
              <a:gd name="adj" fmla="val 17241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416552" y="2770632"/>
            <a:ext cx="186537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 (8 routes)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416552" y="2999232"/>
            <a:ext cx="186537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Cleansed + joined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6537960" y="2715768"/>
            <a:ext cx="2286000" cy="530352"/>
          </a:xfrm>
          <a:prstGeom prst="roundRect">
            <a:avLst>
              <a:gd name="adj" fmla="val 17241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611112" y="2770632"/>
            <a:ext cx="2139696" cy="265176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 (7 products)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6611112" y="2999232"/>
            <a:ext cx="2139696" cy="2227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+ API-shared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4160520" y="2980944"/>
            <a:ext cx="182880" cy="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355080" y="2980944"/>
            <a:ext cx="182880" cy="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9189720" y="2423160"/>
            <a:ext cx="1691640" cy="91440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 w="63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9262872" y="2478024"/>
            <a:ext cx="15453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9262872" y="2898648"/>
            <a:ext cx="15453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Stewardship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37947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909560" y="3337560"/>
            <a:ext cx="0" cy="457200"/>
          </a:xfrm>
          <a:prstGeom prst="line">
            <a:avLst/>
          </a:prstGeom>
          <a:noFill/>
          <a:ln w="1905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46" name="Shape 43"/>
          <p:cNvSpPr/>
          <p:nvPr/>
        </p:nvSpPr>
        <p:spPr>
          <a:xfrm>
            <a:off x="196596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203911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203911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• 10 sheets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4892040" y="3794760"/>
            <a:ext cx="274320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0" name="Text 47"/>
          <p:cNvSpPr/>
          <p:nvPr/>
        </p:nvSpPr>
        <p:spPr>
          <a:xfrm>
            <a:off x="4965192" y="3849624"/>
            <a:ext cx="25968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4965192" y="4270248"/>
            <a:ext cx="25968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• SLA Model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7818120" y="3794760"/>
            <a:ext cx="3063240" cy="91440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 w="63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3" name="Text 50"/>
          <p:cNvSpPr/>
          <p:nvPr/>
        </p:nvSpPr>
        <p:spPr>
          <a:xfrm>
            <a:off x="7891272" y="3849624"/>
            <a:ext cx="291693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&amp; Trust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7891272" y="4270248"/>
            <a:ext cx="291693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• Stewardship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Glossary • Lineage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333756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26364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9372600" y="4709160"/>
            <a:ext cx="0" cy="365760"/>
          </a:xfrm>
          <a:prstGeom prst="line">
            <a:avLst/>
          </a:prstGeom>
          <a:noFill/>
          <a:ln w="19050">
            <a:solidFill>
              <a:srgbClr val="19416C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965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9" name="Text 56"/>
          <p:cNvSpPr/>
          <p:nvPr/>
        </p:nvSpPr>
        <p:spPr>
          <a:xfrm>
            <a:off x="2039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60" name="Text 57"/>
          <p:cNvSpPr/>
          <p:nvPr/>
        </p:nvSpPr>
        <p:spPr>
          <a:xfrm>
            <a:off x="2039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4251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2" name="Text 59"/>
          <p:cNvSpPr/>
          <p:nvPr/>
        </p:nvSpPr>
        <p:spPr>
          <a:xfrm>
            <a:off x="4325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4325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64" name="Shape 61"/>
          <p:cNvSpPr/>
          <p:nvPr/>
        </p:nvSpPr>
        <p:spPr>
          <a:xfrm>
            <a:off x="6537960" y="5074920"/>
            <a:ext cx="210312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5" name="Text 62"/>
          <p:cNvSpPr/>
          <p:nvPr/>
        </p:nvSpPr>
        <p:spPr>
          <a:xfrm>
            <a:off x="6611112" y="5129784"/>
            <a:ext cx="195681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6611112" y="5550408"/>
            <a:ext cx="195681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queries</a:t>
            </a:r>
            <a:endParaRPr lang="en-US" sz="1000" dirty="0"/>
          </a:p>
        </p:txBody>
      </p:sp>
      <p:sp>
        <p:nvSpPr>
          <p:cNvPr id="67" name="Shape 64"/>
          <p:cNvSpPr/>
          <p:nvPr/>
        </p:nvSpPr>
        <p:spPr>
          <a:xfrm>
            <a:off x="8823960" y="5074920"/>
            <a:ext cx="2057400" cy="91440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68" name="Text 65"/>
          <p:cNvSpPr/>
          <p:nvPr/>
        </p:nvSpPr>
        <p:spPr>
          <a:xfrm>
            <a:off x="8897112" y="5129784"/>
            <a:ext cx="1911096" cy="457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8897112" y="5550408"/>
            <a:ext cx="191109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alerts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10744200" y="100584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10744200" y="1005840"/>
            <a:ext cx="1234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Data Quality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— Three Pillars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Data Capture • Real-time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36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~8,000 rows  •  Stock levels by DC/SKU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59436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580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~15,000 rows  •  Pick, pack, ship events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436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580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~3,000 rows  •  Outbound shipment tracking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9436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Phantom inventory (WMS vs ERP mismatch)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Missing lot numbers on 15% of perishables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Timestamp drift between WMS and SAP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Silent pipeline failures (72h undetected)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20624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20624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20624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• Confluent Platform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34340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443484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msg/5s  •  Temperature, humidity, GPS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34340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3484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mcg.iot.carrier-events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43484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 msg/min  •  Carrier status updates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343400" y="32918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343400" y="361188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5% readings in Fahrenheit (mixed units)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3% bare timestamps (no timezone)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2% Lagos GPS blackouts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8.8% GRU-BA temp exceedances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Carrier status in 5 languages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55280" y="1005840"/>
            <a:ext cx="3566160" cy="5120640"/>
          </a:xfrm>
          <a:prstGeom prst="roundRect">
            <a:avLst>
              <a:gd name="adj" fmla="val 3077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955280" y="1051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7955280" y="14173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• 15-min polling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092440" y="1828800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183880" y="18288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8183880" y="2103120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18.4M records  •  Customer addresses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8092440" y="2487168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183880" y="2487168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MCG_Order__c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183880" y="276148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~12,000  •  Order details + SLAs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092440" y="3145536"/>
            <a:ext cx="329184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183880" y="3145536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MCG_Product__c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8183880" y="3419856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~5,000  •  Product catalog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8092440" y="39319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Issues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092440" y="4251960"/>
            <a:ext cx="3291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11% address format inconsistencies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6% truncated addresses (30-char limit)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Duplicate customer records (fuzzy)</a:t>
            </a:r>
            <a:endParaRPr lang="en-US" sz="1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•  Mixed naming conventions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Medallion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3291840" cy="5166360"/>
          </a:xfrm>
          <a:prstGeom prst="roundRect">
            <a:avLst>
              <a:gd name="adj" fmla="val 3333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14300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" y="114300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46304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360" y="187452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13232" y="187452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(CDC)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360" y="238658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3232" y="238658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 (CDC)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94360" y="289864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289864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shipments (CDC)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94360" y="3410712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3410712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sf_contacts (API)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94360" y="3922776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13232" y="3922776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sf_orders (API)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94360" y="4434840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13232" y="4434840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sf_products (API)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594360" y="4946904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13232" y="4946904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iot_cold_chain (Stream)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94360" y="5458968"/>
            <a:ext cx="301752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658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13232" y="5458968"/>
            <a:ext cx="277977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iot_carrier_events (Stream)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4206240" y="1005840"/>
            <a:ext cx="3383280" cy="5166360"/>
          </a:xfrm>
          <a:prstGeom prst="roundRect">
            <a:avLst>
              <a:gd name="adj" fmla="val 3243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89120" y="11430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30" name="Text 27"/>
          <p:cNvSpPr/>
          <p:nvPr/>
        </p:nvSpPr>
        <p:spPr>
          <a:xfrm>
            <a:off x="4389120" y="1143000"/>
            <a:ext cx="301752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4389120" y="1463040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Transformation Routes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4343400" y="187452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462272" y="187452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4343400" y="238658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462272" y="238658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343400" y="289864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462272" y="289864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4343400" y="3410712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462272" y="3410712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343400" y="3922776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462272" y="3922776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4343400" y="4434840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462272" y="4434840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4343400" y="4946904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462272" y="4946904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4343400" y="5458968"/>
            <a:ext cx="310896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00984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462272" y="5458968"/>
            <a:ext cx="287121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046720" y="1005840"/>
            <a:ext cx="3566160" cy="5166360"/>
          </a:xfrm>
          <a:prstGeom prst="roundRect">
            <a:avLst>
              <a:gd name="adj" fmla="val 3077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1143000"/>
            <a:ext cx="320040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50" name="Text 47"/>
          <p:cNvSpPr/>
          <p:nvPr/>
        </p:nvSpPr>
        <p:spPr>
          <a:xfrm>
            <a:off x="8229600" y="11430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500" dirty="0"/>
          </a:p>
        </p:txBody>
      </p:sp>
      <p:sp>
        <p:nvSpPr>
          <p:cNvPr id="51" name="Text 48"/>
          <p:cNvSpPr/>
          <p:nvPr/>
        </p:nvSpPr>
        <p:spPr>
          <a:xfrm>
            <a:off x="8229600" y="1463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 Data Products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183880" y="1874520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302752" y="1874520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8183880" y="2386584"/>
            <a:ext cx="3291840" cy="420624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19416C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8302752" y="2386584"/>
            <a:ext cx="305409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last_mile_performance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374904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772400" y="3474720"/>
            <a:ext cx="457200" cy="0"/>
          </a:xfrm>
          <a:prstGeom prst="line">
            <a:avLst/>
          </a:prstGeom>
          <a:noFill/>
          <a:ln w="25400">
            <a:solidFill>
              <a:srgbClr val="009845"/>
            </a:solidFill>
            <a:prstDash val="solid"/>
            <a:tailEnd type="triangle"/>
          </a:ln>
        </p:spPr>
      </p:sp>
      <p:sp>
        <p:nvSpPr>
          <p:cNvPr id="58" name="Text 55"/>
          <p:cNvSpPr/>
          <p:nvPr/>
        </p:nvSpPr>
        <p:spPr>
          <a:xfrm>
            <a:off x="361188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Flows +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Jobs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7635240" y="292608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Table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Recipes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Transformation Routes — Nightmare Mapping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058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749040" y="1005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 Addressed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223760" y="100584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Key Transformation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50876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15087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Timestamp Normalization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749040" y="15087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Timestamp Tower of Babel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223760" y="15087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timestamps → UTC with source tracking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05740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0574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Inventory Reconciliation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749040" y="20574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 Phantom Inventory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223760" y="20574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vs ERP comparison, phantom detection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60604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26060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Address Standardization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749040" y="26060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Address Catastrophe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223760" y="26060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matching, postal code normalization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15468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315468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Product Harmonization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749040" y="315468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223760" y="31546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SKU resolution, weight/UoM standardization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370332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37033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Carrier Canonicalization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3749040" y="370332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Carrier Data Black Hole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223760" y="370332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 status → MCG canonical codes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457200" y="425196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Text 30"/>
          <p:cNvSpPr/>
          <p:nvPr/>
        </p:nvSpPr>
        <p:spPr>
          <a:xfrm>
            <a:off x="640080" y="42519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IoT Normalization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3749040" y="425196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7223760" y="425196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Celsius normalization, GPS gap detection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4800600"/>
            <a:ext cx="11274552" cy="502920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7" name="Text 34"/>
          <p:cNvSpPr/>
          <p:nvPr/>
        </p:nvSpPr>
        <p:spPr>
          <a:xfrm>
            <a:off x="640080" y="480060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 Supplier Deduplication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3749040" y="48006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#3 Product Master Mess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223760" y="48006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Fuzzy name matching, canonical ID assignment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349240"/>
            <a:ext cx="11274552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8"/>
          <p:cNvSpPr/>
          <p:nvPr/>
        </p:nvSpPr>
        <p:spPr>
          <a:xfrm>
            <a:off x="640080" y="534924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 Order-to-Delivery Timeline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3749040" y="534924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#5 + #6 Combined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7223760" y="534924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order lifecycle assembly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760720"/>
            <a:ext cx="11274552" cy="457200"/>
          </a:xfrm>
          <a:prstGeom prst="roundRect">
            <a:avLst>
              <a:gd name="adj" fmla="val 12000"/>
            </a:avLst>
          </a:prstGeom>
          <a:solidFill>
            <a:srgbClr val="E0F5EA"/>
          </a:solidFill>
          <a:ln w="12700">
            <a:solidFill>
              <a:srgbClr val="00984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Talend Address Validation Job — tAddressRowStandardize → tAddressRowValidate → tGeocode (callable service)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Gold-Layer Data Products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30352" y="106070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Health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Henrik Jansen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15 min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IRA: 97% target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333756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410712" y="106070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17" name="Text 14"/>
          <p:cNvSpPr/>
          <p:nvPr/>
        </p:nvSpPr>
        <p:spPr>
          <a:xfrm>
            <a:off x="333756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Mile Performance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52044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52044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2044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On-time: 92%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333756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621792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291072" y="106070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Compliance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640080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Lars Eriksson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40080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40080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Exceedance: &lt; 2%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21792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9098280" y="100584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71432" y="1060704"/>
            <a:ext cx="2551176" cy="54864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1" name="Text 28"/>
          <p:cNvSpPr/>
          <p:nvPr/>
        </p:nvSpPr>
        <p:spPr>
          <a:xfrm>
            <a:off x="9098280" y="118872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Health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9281160" y="169164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Thomas Berger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9281160" y="1965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9281160" y="2240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Completeness: &gt; 95%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098280" y="274320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5720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30352" y="3621024"/>
            <a:ext cx="2551176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8" name="Text 35"/>
          <p:cNvSpPr/>
          <p:nvPr/>
        </p:nvSpPr>
        <p:spPr>
          <a:xfrm>
            <a:off x="45720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64008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Dr. E. Vasquez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64008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30 min</a:t>
            </a:r>
            <a:endParaRPr lang="en-US" sz="1000" dirty="0"/>
          </a:p>
        </p:txBody>
      </p:sp>
      <p:sp>
        <p:nvSpPr>
          <p:cNvPr id="41" name="Text 38"/>
          <p:cNvSpPr/>
          <p:nvPr/>
        </p:nvSpPr>
        <p:spPr>
          <a:xfrm>
            <a:off x="64008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Lot capture: 100%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5720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33756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009845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3410712" y="3621024"/>
            <a:ext cx="2551176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45" name="Text 42"/>
          <p:cNvSpPr/>
          <p:nvPr/>
        </p:nvSpPr>
        <p:spPr>
          <a:xfrm>
            <a:off x="333756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Timestamp Audit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352044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P. Ramanathan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52044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5 min</a:t>
            </a:r>
            <a:endParaRPr lang="en-US" sz="1000" dirty="0"/>
          </a:p>
        </p:txBody>
      </p:sp>
      <p:sp>
        <p:nvSpPr>
          <p:cNvPr id="48" name="Text 45"/>
          <p:cNvSpPr/>
          <p:nvPr/>
        </p:nvSpPr>
        <p:spPr>
          <a:xfrm>
            <a:off x="352044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Trust Score: 0.95 target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333756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6217920" y="3566160"/>
            <a:ext cx="26974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9050">
            <a:solidFill>
              <a:srgbClr val="19416C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6291072" y="3621024"/>
            <a:ext cx="2551176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52" name="Text 49"/>
          <p:cNvSpPr/>
          <p:nvPr/>
        </p:nvSpPr>
        <p:spPr>
          <a:xfrm>
            <a:off x="6217920" y="3749040"/>
            <a:ext cx="2697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Quality Index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6400800" y="425196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Owner: Sophie Müller</a:t>
            </a:r>
            <a:endParaRPr lang="en-US" sz="1000" dirty="0"/>
          </a:p>
        </p:txBody>
      </p:sp>
      <p:sp>
        <p:nvSpPr>
          <p:cNvPr id="54" name="Text 51"/>
          <p:cNvSpPr/>
          <p:nvPr/>
        </p:nvSpPr>
        <p:spPr>
          <a:xfrm>
            <a:off x="6400800" y="452628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Refresh: 1 hour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400800" y="4800600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KPI: Address quality: &gt; 0.85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6217920" y="53035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API Sharing  •  Lineage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Layer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 •  Predict  •  Answers  •  Discovery Agent  •  MCP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&amp; AI Layer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577840" cy="2377440"/>
          </a:xfrm>
          <a:prstGeom prst="roundRect">
            <a:avLst>
              <a:gd name="adj" fmla="val 4615"/>
            </a:avLst>
          </a:prstGeom>
          <a:solidFill>
            <a:srgbClr val="E3EAF3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577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580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75895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 Chain Operations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5895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Inventory, Cold Chain,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Quality, Compliance, Cost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918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3649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&amp; Customer Exp.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3649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sheets: Last Mile, Tracking,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WISMO, Orders, Addresses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57200" y="25146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Dark Theme  •  Streaming IoT  •  Section Access  •  Business Logic  •  NLI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263640" y="1005840"/>
            <a:ext cx="5440680" cy="2377440"/>
          </a:xfrm>
          <a:prstGeom prst="roundRect">
            <a:avLst>
              <a:gd name="adj" fmla="val 4615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1024128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2 AutoML Models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150876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565392" y="1563624"/>
            <a:ext cx="232257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565392" y="1938528"/>
            <a:ext cx="232257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spoilage_risk_score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feature: route_id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9098280" y="150876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006580"/>
          </a:solidFill>
          <a:ln w="6350">
            <a:solidFill>
              <a:srgbClr val="006580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171432" y="1563624"/>
            <a:ext cx="2231136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9171432" y="1938528"/>
            <a:ext cx="2231136" cy="34564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 sla_met (Y/N)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Top: address_quality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263640" y="2514600"/>
            <a:ext cx="5440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AutoML  •  Feature Importance  •  API Sharing  •  Deployed to Production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457200" y="3703320"/>
            <a:ext cx="11247120" cy="2468880"/>
          </a:xfrm>
          <a:prstGeom prst="roundRect">
            <a:avLst>
              <a:gd name="adj" fmla="val 4444"/>
            </a:avLst>
          </a:prstGeom>
          <a:solidFill>
            <a:srgbClr val="E0F5EA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3703320"/>
            <a:ext cx="11247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Agentic Layer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68580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5895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DOCX docs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demo scenarios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9184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2" name="Text 29"/>
          <p:cNvSpPr/>
          <p:nvPr/>
        </p:nvSpPr>
        <p:spPr>
          <a:xfrm>
            <a:off x="336499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36499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Anomaly detection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TransFrio spoilage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alerts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89788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597103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597103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demo prompts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+ docs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8503920" y="4206240"/>
            <a:ext cx="2377440" cy="1737360"/>
          </a:xfrm>
          <a:prstGeom prst="roundRect">
            <a:avLst>
              <a:gd name="adj" fmla="val 5263"/>
            </a:avLst>
          </a:prstGeom>
          <a:solidFill>
            <a:srgbClr val="4CB393"/>
          </a:solidFill>
          <a:ln w="6350">
            <a:solidFill>
              <a:srgbClr val="4CB393"/>
            </a:solidFill>
            <a:prstDash val="solid"/>
          </a:ln>
          <a:effectLst>
            <a:outerShdw sx="100000" sy="100000" kx="0" ky="0" algn="bl" rotWithShape="0" blurRad="50800" dist="19050" dir="16200000">
              <a:srgbClr val="000000">
                <a:alpha val="8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8577072" y="4261104"/>
            <a:ext cx="2231136" cy="8686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8577072" y="5093208"/>
            <a:ext cx="2231136" cy="72969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integration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D0D4D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job trigger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194560"/>
            <a:ext cx="7315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Nightmares</a:t>
            </a:r>
            <a:endParaRPr lang="en-US" sz="3600" dirty="0"/>
          </a:p>
        </p:txBody>
      </p:sp>
      <p:sp>
        <p:nvSpPr>
          <p:cNvPr id="4" name="Text 1"/>
          <p:cNvSpPr/>
          <p:nvPr/>
        </p:nvSpPr>
        <p:spPr>
          <a:xfrm>
            <a:off x="731520" y="33832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 in annual data quality costs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7 Data Quality Nightmares — $127M Annual Impact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10972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10972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280160" y="1051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Phantom Inventory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13716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$41M / year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206240" y="10515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 says 50, WMS says 42. Stockouts from ghost inventory.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17282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18288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18288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17830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Catastrophe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280160" y="21031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$31M / year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206240" y="17830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11% format issues, 6% truncated. 4.7% carrier rejection.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45973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256032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1" name="Text 18"/>
          <p:cNvSpPr/>
          <p:nvPr/>
        </p:nvSpPr>
        <p:spPr>
          <a:xfrm>
            <a:off x="548640" y="256032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280160" y="251460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Master Mess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280160" y="28346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 / year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206240" y="251460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8,200 missing weights, duplicated suppliers, SKU chaos.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19125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48640" y="329184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32918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1280160" y="3246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Silent Pipeline Failures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1280160" y="35661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/ year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4206240" y="324612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Rotterdam CDC sync: 72h undetected. 847 phantom units.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457200" y="392277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2" name="Shape 29"/>
          <p:cNvSpPr/>
          <p:nvPr/>
        </p:nvSpPr>
        <p:spPr>
          <a:xfrm>
            <a:off x="548640" y="402336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3" name="Text 30"/>
          <p:cNvSpPr/>
          <p:nvPr/>
        </p:nvSpPr>
        <p:spPr>
          <a:xfrm>
            <a:off x="548640" y="40233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1280160" y="3977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 Tower of Babel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1280160" y="42976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 / year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4206240" y="397764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 UTC/local/bare timestamps across 3 sources.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457200" y="465429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38" name="Shape 35"/>
          <p:cNvSpPr/>
          <p:nvPr/>
        </p:nvSpPr>
        <p:spPr>
          <a:xfrm>
            <a:off x="548640" y="475488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39" name="Text 36"/>
          <p:cNvSpPr/>
          <p:nvPr/>
        </p:nvSpPr>
        <p:spPr>
          <a:xfrm>
            <a:off x="548640" y="475488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1280160" y="47091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 Data Black Hole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1280160" y="502920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 / year</a:t>
            </a:r>
            <a:endParaRPr lang="en-US" sz="1100" dirty="0"/>
          </a:p>
        </p:txBody>
      </p:sp>
      <p:sp>
        <p:nvSpPr>
          <p:cNvPr id="42" name="Text 39"/>
          <p:cNvSpPr/>
          <p:nvPr/>
        </p:nvSpPr>
        <p:spPr>
          <a:xfrm>
            <a:off x="4206240" y="470916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carriers, 5 languages, no canonical status mapping.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5385816"/>
            <a:ext cx="11274552" cy="4572"/>
          </a:xfrm>
          <a:prstGeom prst="rect">
            <a:avLst/>
          </a:prstGeom>
          <a:solidFill>
            <a:srgbClr val="F6F7F8"/>
          </a:solidFill>
          <a:ln/>
        </p:spPr>
      </p:sp>
      <p:sp>
        <p:nvSpPr>
          <p:cNvPr id="44" name="Shape 41"/>
          <p:cNvSpPr/>
          <p:nvPr/>
        </p:nvSpPr>
        <p:spPr>
          <a:xfrm>
            <a:off x="548640" y="5486400"/>
            <a:ext cx="512064" cy="512064"/>
          </a:xfrm>
          <a:prstGeom prst="ellipse">
            <a:avLst/>
          </a:prstGeom>
          <a:solidFill>
            <a:srgbClr val="19416C"/>
          </a:solidFill>
          <a:ln/>
        </p:spPr>
      </p:sp>
      <p:sp>
        <p:nvSpPr>
          <p:cNvPr id="45" name="Text 42"/>
          <p:cNvSpPr/>
          <p:nvPr/>
        </p:nvSpPr>
        <p:spPr>
          <a:xfrm>
            <a:off x="548640" y="548640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800" dirty="0"/>
          </a:p>
        </p:txBody>
      </p:sp>
      <p:sp>
        <p:nvSpPr>
          <p:cNvPr id="46" name="Text 43"/>
          <p:cNvSpPr/>
          <p:nvPr/>
        </p:nvSpPr>
        <p:spPr>
          <a:xfrm>
            <a:off x="1280160" y="544068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 Traceability Gap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1280160" y="5760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/ year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4206240" y="5440680"/>
            <a:ext cx="74980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Lettuce recall: 11 days vs 24h requirement. NVWA citation.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&amp; Cluster Architecture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2F5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Cluster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CDC + Salesforce incremental sync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1: inventory_positions (CDC, real-time)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8580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2: warehouse_events (CDC, real-time)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2596896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3: shipments (CDC, real-time)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85800" y="2980944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6: sf_contacts (API, 15 min)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85800" y="3364992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7: sf_orders (API, 15 min)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85800" y="3749040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8: sf_products (API, 15 min)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3200400"/>
          </a:xfrm>
          <a:prstGeom prst="roundRect">
            <a:avLst>
              <a:gd name="adj" fmla="val 3429"/>
            </a:avLst>
          </a:prstGeom>
          <a:solidFill>
            <a:srgbClr val="E0F5EA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17920" y="1024128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Cluster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6217920" y="138988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Kafka ingestion from IoT topics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46520" y="1828800"/>
            <a:ext cx="502920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4: mcg.iot.cold-chain → bronze.iot_cold_chain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46520" y="2212848"/>
            <a:ext cx="5029200" cy="347472"/>
          </a:xfrm>
          <a:prstGeom prst="rect">
            <a:avLst/>
          </a:prstGeom>
          <a:solidFill>
            <a:srgbClr val="F6F7F8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 5: mcg.iot.carrier-events → bronze.iot_carrier_events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572000"/>
            <a:ext cx="11247120" cy="1554480"/>
          </a:xfrm>
          <a:prstGeom prst="roundRect">
            <a:avLst>
              <a:gd name="adj" fmla="val 5882"/>
            </a:avLst>
          </a:prstGeom>
          <a:solidFill>
            <a:srgbClr val="F6F7F8"/>
          </a:solidFill>
          <a:ln w="12700">
            <a:solidFill>
              <a:srgbClr val="A9B3B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7200" y="4572000"/>
            <a:ext cx="11247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 Components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85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Movement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Gateway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85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PostgreSQL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971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971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2971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 connectivity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257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57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257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Confluent Platform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4380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54380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IoT Simulator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754380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kafka_iot_simulator.py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9646920" y="5029200"/>
            <a:ext cx="2057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646920" y="5047488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WMS Simulator</a:t>
            </a:r>
            <a:endParaRPr lang="en-US" sz="1000" dirty="0"/>
          </a:p>
        </p:txBody>
      </p:sp>
      <p:sp>
        <p:nvSpPr>
          <p:cNvPr id="38" name="Text 35"/>
          <p:cNvSpPr/>
          <p:nvPr/>
        </p:nvSpPr>
        <p:spPr>
          <a:xfrm>
            <a:off x="9646920" y="5504688"/>
            <a:ext cx="20574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postgres_simulator.py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46520"/>
            <a:ext cx="11274552" cy="7315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510528"/>
            <a:ext cx="594360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88720" y="6510528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Technology Architecture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5105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Stack Component Summary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57200" y="105156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05156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(3)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291840" y="105156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WMS (CDC)  •  Apache Kafka 2 topics (streaming)  •  Salesforce CRM (API)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80136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12" name="Text 9"/>
          <p:cNvSpPr/>
          <p:nvPr/>
        </p:nvSpPr>
        <p:spPr>
          <a:xfrm>
            <a:off x="457200" y="180136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91840" y="18013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Bronze tables  •  8 Silver transformations + 1 Talend job  •  7 Gold data products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551176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6580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2551176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291840" y="2551176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 •  Data Lineage  •  Impact Analysis  •  Profiling  •  25-term Glossary  •  4 Stewardship campaigns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300984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19416C"/>
          </a:solidFill>
          <a:ln/>
        </p:spPr>
      </p:sp>
      <p:sp>
        <p:nvSpPr>
          <p:cNvPr id="18" name="Text 15"/>
          <p:cNvSpPr/>
          <p:nvPr/>
        </p:nvSpPr>
        <p:spPr>
          <a:xfrm>
            <a:off x="457200" y="3300984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3291840" y="3300984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Qlik Analytics apps (10 sheets)  •  MCG Dark Theme  •  Streaming IoT  •  Alerts  •  Reports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4050792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4CB393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050792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/ ML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291840" y="4050792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Predict models (Spoilage + SLA)  •  Qlik Answers (25 docs)  •  Discovery Agent  •  MCP Server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4800600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4800600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291840" y="480060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automations: App Reload, Cold Chain Alert, Pipeline Health, WISMO, Address Correction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5550408"/>
            <a:ext cx="2651760" cy="594360"/>
          </a:xfrm>
          <a:prstGeom prst="roundRect">
            <a:avLst>
              <a:gd name="adj" fmla="val 9231"/>
            </a:avLst>
          </a:prstGeom>
          <a:solidFill>
            <a:srgbClr val="A9B3B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5550408"/>
            <a:ext cx="26517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Infrastructure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291840" y="555040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 (Confluent)  •  3 simulators (PG, Kafka, SF)  •  Deploy script  •  Setup guide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6309360"/>
            <a:ext cx="11274552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0" name="Text 27"/>
          <p:cNvSpPr/>
          <p:nvPr/>
        </p:nvSpPr>
        <p:spPr>
          <a:xfrm>
            <a:off x="457200" y="6309360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Sources  •  23 Tables  •  9 Flows  •  7 Products  •  10 Sheets  •  2 Models  •  25 Docs  •  5 Automations  •  1 MCP Server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Qlik / Meridian Commerce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Technology Architecture — Qlik Cloud Full Stack Demo</dc:title>
  <dc:subject>PptxGenJS Presentation</dc:subject>
  <dc:creator>Qlik</dc:creator>
  <cp:lastModifiedBy>Qlik</cp:lastModifiedBy>
  <cp:revision>1</cp:revision>
  <dcterms:created xsi:type="dcterms:W3CDTF">2026-06-11T17:14:05Z</dcterms:created>
  <dcterms:modified xsi:type="dcterms:W3CDTF">2026-06-11T17:14:05Z</dcterms:modified>
</cp:coreProperties>
</file>