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 60 SECONDS
Meridian Commerce Group runs on three systems that never talked: a PostgreSQL warehouse database, cold-chain IoT through Kafka, and Meridian CRM. Agentic Data Engineering changes how that data is built and governed.
The pipeline is code. Two declarative Qlik Talend Cloud projects — six tasks across batch and streaming — are version-controlled YAML that lands and transforms every feed in the Open Lakehouse. The same definition is editable three ways: visually in the UI, programmatically in VS Code, or agentically with an AI coding agent that reads the schema, generates the change, and hands it back for a one-line git review.
On top of the lakehouse, conversational agents do the governance work — a Data Product Agent to package the two gold products, a Data Quality Agent to define and run rules with a steward, and a Catalog and Business Glossary Agent to generate draft glossary terms for human review. These are Qlik Answers capabilities, not separate products. Inside the pipeline tasks, Talend Agentic Routes add LLM calls and RAG; the Qlik MCP Server then exposes the governed data products, quality, and lineage to any MCP-compatible AI assistant.
The result is a path from raw data to a trusted, AI-ready data product that keeps human expertise in the loop at every step. (Declarative pipelines and the Qlik MCP Server are Qlik internal preview, June 2026 — positioned as forward-looking.)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slideLayout" Target="../slideLayouts/slideLayout1.xml"/><Relationship Id="rId2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365760" y="109728"/>
            <a:ext cx="11430000" cy="411480"/>
          </a:xfrm>
          <a:prstGeom prst="rect">
            <a:avLst/>
          </a:prstGeom>
          <a:noFill/>
          <a:ln/>
        </p:spPr>
        <p:txBody>
          <a:bodyPr wrap="square" lIns="0" tIns="0" rIns="0" bIns="0" rtlCol="0" anchor="ctr"/>
          <a:lstStyle/>
          <a:p>
            <a:pPr indent="0" marL="0">
              <a:buNone/>
            </a:pPr>
            <a:r>
              <a:rPr lang="en-US" sz="2400" b="1" dirty="0">
                <a:solidFill>
                  <a:srgbClr val="19416C"/>
                </a:solidFill>
                <a:latin typeface="Inter" pitchFamily="34" charset="0"/>
                <a:ea typeface="Inter" pitchFamily="34" charset="-122"/>
                <a:cs typeface="Inter" pitchFamily="34" charset="-120"/>
              </a:rPr>
              <a:t>Meridian Commerce Group — Agentic Data Engineering</a:t>
            </a:r>
            <a:endParaRPr lang="en-US" sz="2400" dirty="0"/>
          </a:p>
        </p:txBody>
      </p:sp>
      <p:sp>
        <p:nvSpPr>
          <p:cNvPr id="4" name="Text 1"/>
          <p:cNvSpPr/>
          <p:nvPr/>
        </p:nvSpPr>
        <p:spPr>
          <a:xfrm>
            <a:off x="365760" y="530352"/>
            <a:ext cx="11430000" cy="237744"/>
          </a:xfrm>
          <a:prstGeom prst="rect">
            <a:avLst/>
          </a:prstGeom>
          <a:noFill/>
          <a:ln/>
        </p:spPr>
        <p:txBody>
          <a:bodyPr wrap="square" lIns="0" tIns="0" rIns="0" bIns="0" rtlCol="0" anchor="ctr"/>
          <a:lstStyle/>
          <a:p>
            <a:pPr indent="0" marL="0">
              <a:buNone/>
            </a:pPr>
            <a:r>
              <a:rPr lang="en-US" sz="1200" i="1" dirty="0">
                <a:solidFill>
                  <a:srgbClr val="54565A"/>
                </a:solidFill>
                <a:latin typeface="Inter" pitchFamily="34" charset="0"/>
                <a:ea typeface="Inter" pitchFamily="34" charset="-122"/>
                <a:cs typeface="Inter" pitchFamily="34" charset="-120"/>
              </a:rPr>
              <a:t>INTERNAL — DEMO ENABLEMENT  ·  Pipelines as code, agents that govern, AI in the pipeline — raw feeds to trusted, AI-ready data products</a:t>
            </a:r>
            <a:endParaRPr lang="en-US" sz="1200" dirty="0"/>
          </a:p>
        </p:txBody>
      </p:sp>
      <p:sp>
        <p:nvSpPr>
          <p:cNvPr id="5" name="Text 2"/>
          <p:cNvSpPr/>
          <p:nvPr/>
        </p:nvSpPr>
        <p:spPr>
          <a:xfrm>
            <a:off x="274320" y="859536"/>
            <a:ext cx="2468880" cy="274320"/>
          </a:xfrm>
          <a:prstGeom prst="rect">
            <a:avLst/>
          </a:prstGeom>
          <a:noFill/>
          <a:ln/>
        </p:spPr>
        <p:txBody>
          <a:bodyPr wrap="square" lIns="0" tIns="0" rIns="0" bIns="0" rtlCol="0" anchor="ctr"/>
          <a:lstStyle/>
          <a:p>
            <a:pPr algn="ctr" indent="0" marL="0">
              <a:buNone/>
            </a:pPr>
            <a:r>
              <a:rPr lang="en-US" sz="1100" b="1" spc="200" kern="0" dirty="0">
                <a:solidFill>
                  <a:srgbClr val="19416C"/>
                </a:solidFill>
                <a:latin typeface="Inter" pitchFamily="34" charset="0"/>
                <a:ea typeface="Inter" pitchFamily="34" charset="-122"/>
                <a:cs typeface="Inter" pitchFamily="34" charset="-120"/>
              </a:rPr>
              <a:t>WHERE COMMERCE HAPPENS</a:t>
            </a:r>
            <a:endParaRPr lang="en-US" sz="1100" dirty="0"/>
          </a:p>
        </p:txBody>
      </p:sp>
      <p:sp>
        <p:nvSpPr>
          <p:cNvPr id="6" name="Text 3"/>
          <p:cNvSpPr/>
          <p:nvPr/>
        </p:nvSpPr>
        <p:spPr>
          <a:xfrm>
            <a:off x="2880360" y="859536"/>
            <a:ext cx="1783080" cy="274320"/>
          </a:xfrm>
          <a:prstGeom prst="rect">
            <a:avLst/>
          </a:prstGeom>
          <a:noFill/>
          <a:ln/>
        </p:spPr>
        <p:txBody>
          <a:bodyPr wrap="square" lIns="0" tIns="0" rIns="0" bIns="0" rtlCol="0" anchor="ctr"/>
          <a:lstStyle/>
          <a:p>
            <a:pPr algn="ctr" indent="0" marL="0">
              <a:buNone/>
            </a:pPr>
            <a:r>
              <a:rPr lang="en-US" sz="1100" b="1" spc="200" kern="0" dirty="0">
                <a:solidFill>
                  <a:srgbClr val="19416C"/>
                </a:solidFill>
                <a:latin typeface="Inter" pitchFamily="34" charset="0"/>
                <a:ea typeface="Inter" pitchFamily="34" charset="-122"/>
                <a:cs typeface="Inter" pitchFamily="34" charset="-120"/>
              </a:rPr>
              <a:t>SYSTEM OF RECORD</a:t>
            </a:r>
            <a:endParaRPr lang="en-US" sz="1100" dirty="0"/>
          </a:p>
        </p:txBody>
      </p:sp>
      <p:sp>
        <p:nvSpPr>
          <p:cNvPr id="7" name="Text 4"/>
          <p:cNvSpPr/>
          <p:nvPr/>
        </p:nvSpPr>
        <p:spPr>
          <a:xfrm>
            <a:off x="4800600" y="859536"/>
            <a:ext cx="2423160" cy="274320"/>
          </a:xfrm>
          <a:prstGeom prst="rect">
            <a:avLst/>
          </a:prstGeom>
          <a:noFill/>
          <a:ln/>
        </p:spPr>
        <p:txBody>
          <a:bodyPr wrap="square" lIns="0" tIns="0" rIns="0" bIns="0" rtlCol="0" anchor="ctr"/>
          <a:lstStyle/>
          <a:p>
            <a:pPr algn="ctr" indent="0" marL="0">
              <a:buNone/>
            </a:pPr>
            <a:r>
              <a:rPr lang="en-US" sz="1100" b="1" spc="200" kern="0" dirty="0">
                <a:solidFill>
                  <a:srgbClr val="19416C"/>
                </a:solidFill>
                <a:latin typeface="Inter" pitchFamily="34" charset="0"/>
                <a:ea typeface="Inter" pitchFamily="34" charset="-122"/>
                <a:cs typeface="Inter" pitchFamily="34" charset="-120"/>
              </a:rPr>
              <a:t>AGENTIC DATA ENGINEERING</a:t>
            </a:r>
            <a:endParaRPr lang="en-US" sz="1100" dirty="0"/>
          </a:p>
        </p:txBody>
      </p:sp>
      <p:sp>
        <p:nvSpPr>
          <p:cNvPr id="8" name="Text 5"/>
          <p:cNvSpPr/>
          <p:nvPr/>
        </p:nvSpPr>
        <p:spPr>
          <a:xfrm>
            <a:off x="7360920" y="859536"/>
            <a:ext cx="2240280" cy="274320"/>
          </a:xfrm>
          <a:prstGeom prst="rect">
            <a:avLst/>
          </a:prstGeom>
          <a:noFill/>
          <a:ln/>
        </p:spPr>
        <p:txBody>
          <a:bodyPr wrap="square" lIns="0" tIns="0" rIns="0" bIns="0" rtlCol="0" anchor="ctr"/>
          <a:lstStyle/>
          <a:p>
            <a:pPr algn="ctr" indent="0" marL="0">
              <a:buNone/>
            </a:pPr>
            <a:r>
              <a:rPr lang="en-US" sz="1100" b="1" spc="200" kern="0" dirty="0">
                <a:solidFill>
                  <a:srgbClr val="19416C"/>
                </a:solidFill>
                <a:latin typeface="Inter" pitchFamily="34" charset="0"/>
                <a:ea typeface="Inter" pitchFamily="34" charset="-122"/>
                <a:cs typeface="Inter" pitchFamily="34" charset="-120"/>
              </a:rPr>
              <a:t>DECISION-READY FOUNDATION</a:t>
            </a:r>
            <a:endParaRPr lang="en-US" sz="1100" dirty="0"/>
          </a:p>
        </p:txBody>
      </p:sp>
      <p:sp>
        <p:nvSpPr>
          <p:cNvPr id="9" name="Text 6"/>
          <p:cNvSpPr/>
          <p:nvPr/>
        </p:nvSpPr>
        <p:spPr>
          <a:xfrm>
            <a:off x="10012680" y="859536"/>
            <a:ext cx="2011680" cy="274320"/>
          </a:xfrm>
          <a:prstGeom prst="rect">
            <a:avLst/>
          </a:prstGeom>
          <a:noFill/>
          <a:ln/>
        </p:spPr>
        <p:txBody>
          <a:bodyPr wrap="square" lIns="0" tIns="0" rIns="0" bIns="0" rtlCol="0" anchor="ctr"/>
          <a:lstStyle/>
          <a:p>
            <a:pPr algn="ctr" indent="0" marL="0">
              <a:buNone/>
            </a:pPr>
            <a:r>
              <a:rPr lang="en-US" sz="1100" b="1" spc="200" kern="0" dirty="0">
                <a:solidFill>
                  <a:srgbClr val="19416C"/>
                </a:solidFill>
                <a:latin typeface="Inter" pitchFamily="34" charset="0"/>
                <a:ea typeface="Inter" pitchFamily="34" charset="-122"/>
                <a:cs typeface="Inter" pitchFamily="34" charset="-120"/>
              </a:rPr>
              <a:t>TRUSTED, AI-READY DATA</a:t>
            </a:r>
            <a:endParaRPr lang="en-US" sz="1100" dirty="0"/>
          </a:p>
        </p:txBody>
      </p:sp>
      <p:sp>
        <p:nvSpPr>
          <p:cNvPr id="10" name="Shape 7"/>
          <p:cNvSpPr/>
          <p:nvPr/>
        </p:nvSpPr>
        <p:spPr>
          <a:xfrm>
            <a:off x="274320" y="1207008"/>
            <a:ext cx="2468880" cy="786384"/>
          </a:xfrm>
          <a:prstGeom prst="rect">
            <a:avLst/>
          </a:prstGeom>
          <a:solidFill>
            <a:srgbClr val="FFFFFF"/>
          </a:solidFill>
          <a:ln w="9525">
            <a:solidFill>
              <a:srgbClr val="DEE2E6"/>
            </a:solidFill>
            <a:prstDash val="solid"/>
          </a:ln>
        </p:spPr>
      </p:sp>
      <p:sp>
        <p:nvSpPr>
          <p:cNvPr id="11" name="Shape 8"/>
          <p:cNvSpPr/>
          <p:nvPr/>
        </p:nvSpPr>
        <p:spPr>
          <a:xfrm>
            <a:off x="274320" y="1207008"/>
            <a:ext cx="54864" cy="786384"/>
          </a:xfrm>
          <a:prstGeom prst="rect">
            <a:avLst/>
          </a:prstGeom>
          <a:solidFill>
            <a:srgbClr val="006580"/>
          </a:solidFill>
          <a:ln w="12700">
            <a:solidFill>
              <a:srgbClr val="006580"/>
            </a:solidFill>
            <a:prstDash val="solid"/>
          </a:ln>
        </p:spPr>
      </p:sp>
      <p:pic>
        <p:nvPicPr>
          <p:cNvPr id="12" name="Image 0" descr="preencoded.png">    </p:cNvPr>
          <p:cNvPicPr>
            <a:picLocks noChangeAspect="1"/>
          </p:cNvPicPr>
          <p:nvPr/>
        </p:nvPicPr>
        <p:blipFill>
          <a:blip r:embed="rId1"/>
          <a:stretch>
            <a:fillRect/>
          </a:stretch>
        </p:blipFill>
        <p:spPr>
          <a:xfrm>
            <a:off x="365760" y="1308735"/>
            <a:ext cx="777240" cy="582930"/>
          </a:xfrm>
          <a:prstGeom prst="rect">
            <a:avLst/>
          </a:prstGeom>
        </p:spPr>
      </p:pic>
      <p:sp>
        <p:nvSpPr>
          <p:cNvPr id="13" name="Text 9"/>
          <p:cNvSpPr/>
          <p:nvPr/>
        </p:nvSpPr>
        <p:spPr>
          <a:xfrm>
            <a:off x="1207008" y="1243584"/>
            <a:ext cx="1481328" cy="201168"/>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PostgreSQL WMS</a:t>
            </a:r>
            <a:endParaRPr lang="en-US" sz="1200" dirty="0"/>
          </a:p>
        </p:txBody>
      </p:sp>
      <p:sp>
        <p:nvSpPr>
          <p:cNvPr id="14" name="Text 10"/>
          <p:cNvSpPr/>
          <p:nvPr/>
        </p:nvSpPr>
        <p:spPr>
          <a:xfrm>
            <a:off x="1207008" y="1481328"/>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Warehouse system</a:t>
            </a:r>
            <a:endParaRPr lang="en-US" sz="900" dirty="0"/>
          </a:p>
        </p:txBody>
      </p:sp>
      <p:sp>
        <p:nvSpPr>
          <p:cNvPr id="15" name="Text 11"/>
          <p:cNvSpPr/>
          <p:nvPr/>
        </p:nvSpPr>
        <p:spPr>
          <a:xfrm>
            <a:off x="1207008" y="1664208"/>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Inventory · Shipments</a:t>
            </a:r>
            <a:endParaRPr lang="en-US" sz="900" dirty="0"/>
          </a:p>
        </p:txBody>
      </p:sp>
      <p:sp>
        <p:nvSpPr>
          <p:cNvPr id="16" name="Text 12"/>
          <p:cNvSpPr/>
          <p:nvPr/>
        </p:nvSpPr>
        <p:spPr>
          <a:xfrm>
            <a:off x="1207008" y="1847088"/>
            <a:ext cx="1481328" cy="128016"/>
          </a:xfrm>
          <a:prstGeom prst="rect">
            <a:avLst/>
          </a:prstGeom>
          <a:noFill/>
          <a:ln/>
        </p:spPr>
        <p:txBody>
          <a:bodyPr wrap="square" lIns="0" tIns="0" rIns="0" bIns="0" rtlCol="0" anchor="ctr"/>
          <a:lstStyle/>
          <a:p>
            <a:pPr indent="0" marL="0">
              <a:buNone/>
            </a:pPr>
            <a:r>
              <a:rPr lang="en-US" sz="850" b="1" dirty="0">
                <a:solidFill>
                  <a:srgbClr val="006580"/>
                </a:solidFill>
                <a:latin typeface="Inter" pitchFamily="34" charset="0"/>
                <a:ea typeface="Inter" pitchFamily="34" charset="-122"/>
                <a:cs typeface="Inter" pitchFamily="34" charset="-120"/>
              </a:rPr>
              <a:t>CDC real-time</a:t>
            </a:r>
            <a:endParaRPr lang="en-US" sz="850" dirty="0"/>
          </a:p>
        </p:txBody>
      </p:sp>
      <p:sp>
        <p:nvSpPr>
          <p:cNvPr id="17" name="Shape 13"/>
          <p:cNvSpPr/>
          <p:nvPr/>
        </p:nvSpPr>
        <p:spPr>
          <a:xfrm>
            <a:off x="274320" y="2048256"/>
            <a:ext cx="2468880" cy="786384"/>
          </a:xfrm>
          <a:prstGeom prst="rect">
            <a:avLst/>
          </a:prstGeom>
          <a:solidFill>
            <a:srgbClr val="FFFFFF"/>
          </a:solidFill>
          <a:ln w="9525">
            <a:solidFill>
              <a:srgbClr val="DEE2E6"/>
            </a:solidFill>
            <a:prstDash val="solid"/>
          </a:ln>
        </p:spPr>
      </p:sp>
      <p:sp>
        <p:nvSpPr>
          <p:cNvPr id="18" name="Shape 14"/>
          <p:cNvSpPr/>
          <p:nvPr/>
        </p:nvSpPr>
        <p:spPr>
          <a:xfrm>
            <a:off x="274320" y="2048256"/>
            <a:ext cx="54864" cy="786384"/>
          </a:xfrm>
          <a:prstGeom prst="rect">
            <a:avLst/>
          </a:prstGeom>
          <a:solidFill>
            <a:srgbClr val="006580"/>
          </a:solidFill>
          <a:ln w="12700">
            <a:solidFill>
              <a:srgbClr val="006580"/>
            </a:solidFill>
            <a:prstDash val="solid"/>
          </a:ln>
        </p:spPr>
      </p:sp>
      <p:pic>
        <p:nvPicPr>
          <p:cNvPr id="19" name="Image 1" descr="preencoded.png">    </p:cNvPr>
          <p:cNvPicPr>
            <a:picLocks noChangeAspect="1"/>
          </p:cNvPicPr>
          <p:nvPr/>
        </p:nvPicPr>
        <p:blipFill>
          <a:blip r:embed="rId2"/>
          <a:stretch>
            <a:fillRect/>
          </a:stretch>
        </p:blipFill>
        <p:spPr>
          <a:xfrm>
            <a:off x="365760" y="2149983"/>
            <a:ext cx="777240" cy="582930"/>
          </a:xfrm>
          <a:prstGeom prst="rect">
            <a:avLst/>
          </a:prstGeom>
        </p:spPr>
      </p:pic>
      <p:sp>
        <p:nvSpPr>
          <p:cNvPr id="20" name="Text 15"/>
          <p:cNvSpPr/>
          <p:nvPr/>
        </p:nvSpPr>
        <p:spPr>
          <a:xfrm>
            <a:off x="1207008" y="2084832"/>
            <a:ext cx="1481328" cy="201168"/>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Cold-chain IoT</a:t>
            </a:r>
            <a:endParaRPr lang="en-US" sz="1200" dirty="0"/>
          </a:p>
        </p:txBody>
      </p:sp>
      <p:sp>
        <p:nvSpPr>
          <p:cNvPr id="21" name="Text 16"/>
          <p:cNvSpPr/>
          <p:nvPr/>
        </p:nvSpPr>
        <p:spPr>
          <a:xfrm>
            <a:off x="1207008" y="2322576"/>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Tive/Sensitech feeds</a:t>
            </a:r>
            <a:endParaRPr lang="en-US" sz="900" dirty="0"/>
          </a:p>
        </p:txBody>
      </p:sp>
      <p:sp>
        <p:nvSpPr>
          <p:cNvPr id="22" name="Text 17"/>
          <p:cNvSpPr/>
          <p:nvPr/>
        </p:nvSpPr>
        <p:spPr>
          <a:xfrm>
            <a:off x="1207008" y="2505456"/>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Temp · GPS · Battery</a:t>
            </a:r>
            <a:endParaRPr lang="en-US" sz="900" dirty="0"/>
          </a:p>
        </p:txBody>
      </p:sp>
      <p:sp>
        <p:nvSpPr>
          <p:cNvPr id="23" name="Text 18"/>
          <p:cNvSpPr/>
          <p:nvPr/>
        </p:nvSpPr>
        <p:spPr>
          <a:xfrm>
            <a:off x="1207008" y="2688336"/>
            <a:ext cx="1481328" cy="128016"/>
          </a:xfrm>
          <a:prstGeom prst="rect">
            <a:avLst/>
          </a:prstGeom>
          <a:noFill/>
          <a:ln/>
        </p:spPr>
        <p:txBody>
          <a:bodyPr wrap="square" lIns="0" tIns="0" rIns="0" bIns="0" rtlCol="0" anchor="ctr"/>
          <a:lstStyle/>
          <a:p>
            <a:pPr indent="0" marL="0">
              <a:buNone/>
            </a:pPr>
            <a:r>
              <a:rPr lang="en-US" sz="850" b="1" dirty="0">
                <a:solidFill>
                  <a:srgbClr val="006580"/>
                </a:solidFill>
                <a:latin typeface="Inter" pitchFamily="34" charset="0"/>
                <a:ea typeface="Inter" pitchFamily="34" charset="-122"/>
                <a:cs typeface="Inter" pitchFamily="34" charset="-120"/>
              </a:rPr>
              <a:t>Kafka streaming</a:t>
            </a:r>
            <a:endParaRPr lang="en-US" sz="850" dirty="0"/>
          </a:p>
        </p:txBody>
      </p:sp>
      <p:sp>
        <p:nvSpPr>
          <p:cNvPr id="24" name="Shape 19"/>
          <p:cNvSpPr/>
          <p:nvPr/>
        </p:nvSpPr>
        <p:spPr>
          <a:xfrm>
            <a:off x="274320" y="2889504"/>
            <a:ext cx="2468880" cy="786384"/>
          </a:xfrm>
          <a:prstGeom prst="rect">
            <a:avLst/>
          </a:prstGeom>
          <a:solidFill>
            <a:srgbClr val="FFFFFF"/>
          </a:solidFill>
          <a:ln w="9525">
            <a:solidFill>
              <a:srgbClr val="DEE2E6"/>
            </a:solidFill>
            <a:prstDash val="solid"/>
          </a:ln>
        </p:spPr>
      </p:sp>
      <p:sp>
        <p:nvSpPr>
          <p:cNvPr id="25" name="Shape 20"/>
          <p:cNvSpPr/>
          <p:nvPr/>
        </p:nvSpPr>
        <p:spPr>
          <a:xfrm>
            <a:off x="274320" y="2889504"/>
            <a:ext cx="54864" cy="786384"/>
          </a:xfrm>
          <a:prstGeom prst="rect">
            <a:avLst/>
          </a:prstGeom>
          <a:solidFill>
            <a:srgbClr val="006580"/>
          </a:solidFill>
          <a:ln w="12700">
            <a:solidFill>
              <a:srgbClr val="006580"/>
            </a:solidFill>
            <a:prstDash val="solid"/>
          </a:ln>
        </p:spPr>
      </p:sp>
      <p:pic>
        <p:nvPicPr>
          <p:cNvPr id="26" name="Image 2" descr="preencoded.png">    </p:cNvPr>
          <p:cNvPicPr>
            <a:picLocks noChangeAspect="1"/>
          </p:cNvPicPr>
          <p:nvPr/>
        </p:nvPicPr>
        <p:blipFill>
          <a:blip r:embed="rId3"/>
          <a:stretch>
            <a:fillRect/>
          </a:stretch>
        </p:blipFill>
        <p:spPr>
          <a:xfrm>
            <a:off x="365760" y="2991231"/>
            <a:ext cx="777240" cy="582930"/>
          </a:xfrm>
          <a:prstGeom prst="rect">
            <a:avLst/>
          </a:prstGeom>
        </p:spPr>
      </p:pic>
      <p:sp>
        <p:nvSpPr>
          <p:cNvPr id="27" name="Text 21"/>
          <p:cNvSpPr/>
          <p:nvPr/>
        </p:nvSpPr>
        <p:spPr>
          <a:xfrm>
            <a:off x="1207008" y="2926080"/>
            <a:ext cx="1481328" cy="201168"/>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Carrier events</a:t>
            </a:r>
            <a:endParaRPr lang="en-US" sz="1200" dirty="0"/>
          </a:p>
        </p:txBody>
      </p:sp>
      <p:sp>
        <p:nvSpPr>
          <p:cNvPr id="28" name="Text 22"/>
          <p:cNvSpPr/>
          <p:nvPr/>
        </p:nvSpPr>
        <p:spPr>
          <a:xfrm>
            <a:off x="1207008" y="3163824"/>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6 carrier webhooks</a:t>
            </a:r>
            <a:endParaRPr lang="en-US" sz="900" dirty="0"/>
          </a:p>
        </p:txBody>
      </p:sp>
      <p:sp>
        <p:nvSpPr>
          <p:cNvPr id="29" name="Text 23"/>
          <p:cNvSpPr/>
          <p:nvPr/>
        </p:nvSpPr>
        <p:spPr>
          <a:xfrm>
            <a:off x="1207008" y="3346704"/>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5 languages, 1 stream</a:t>
            </a:r>
            <a:endParaRPr lang="en-US" sz="900" dirty="0"/>
          </a:p>
        </p:txBody>
      </p:sp>
      <p:sp>
        <p:nvSpPr>
          <p:cNvPr id="30" name="Text 24"/>
          <p:cNvSpPr/>
          <p:nvPr/>
        </p:nvSpPr>
        <p:spPr>
          <a:xfrm>
            <a:off x="1207008" y="3529584"/>
            <a:ext cx="1481328" cy="128016"/>
          </a:xfrm>
          <a:prstGeom prst="rect">
            <a:avLst/>
          </a:prstGeom>
          <a:noFill/>
          <a:ln/>
        </p:spPr>
        <p:txBody>
          <a:bodyPr wrap="square" lIns="0" tIns="0" rIns="0" bIns="0" rtlCol="0" anchor="ctr"/>
          <a:lstStyle/>
          <a:p>
            <a:pPr indent="0" marL="0">
              <a:buNone/>
            </a:pPr>
            <a:r>
              <a:rPr lang="en-US" sz="850" b="1" dirty="0">
                <a:solidFill>
                  <a:srgbClr val="006580"/>
                </a:solidFill>
                <a:latin typeface="Inter" pitchFamily="34" charset="0"/>
                <a:ea typeface="Inter" pitchFamily="34" charset="-122"/>
                <a:cs typeface="Inter" pitchFamily="34" charset="-120"/>
              </a:rPr>
              <a:t>Kafka streaming</a:t>
            </a:r>
            <a:endParaRPr lang="en-US" sz="850" dirty="0"/>
          </a:p>
        </p:txBody>
      </p:sp>
      <p:sp>
        <p:nvSpPr>
          <p:cNvPr id="31" name="Shape 25"/>
          <p:cNvSpPr/>
          <p:nvPr/>
        </p:nvSpPr>
        <p:spPr>
          <a:xfrm>
            <a:off x="274320" y="3730752"/>
            <a:ext cx="2468880" cy="786384"/>
          </a:xfrm>
          <a:prstGeom prst="rect">
            <a:avLst/>
          </a:prstGeom>
          <a:solidFill>
            <a:srgbClr val="FFFFFF"/>
          </a:solidFill>
          <a:ln w="9525">
            <a:solidFill>
              <a:srgbClr val="DEE2E6"/>
            </a:solidFill>
            <a:prstDash val="solid"/>
          </a:ln>
        </p:spPr>
      </p:sp>
      <p:sp>
        <p:nvSpPr>
          <p:cNvPr id="32" name="Shape 26"/>
          <p:cNvSpPr/>
          <p:nvPr/>
        </p:nvSpPr>
        <p:spPr>
          <a:xfrm>
            <a:off x="274320" y="3730752"/>
            <a:ext cx="54864" cy="786384"/>
          </a:xfrm>
          <a:prstGeom prst="rect">
            <a:avLst/>
          </a:prstGeom>
          <a:solidFill>
            <a:srgbClr val="006580"/>
          </a:solidFill>
          <a:ln w="12700">
            <a:solidFill>
              <a:srgbClr val="006580"/>
            </a:solidFill>
            <a:prstDash val="solid"/>
          </a:ln>
        </p:spPr>
      </p:sp>
      <p:pic>
        <p:nvPicPr>
          <p:cNvPr id="33" name="Image 3" descr="preencoded.png">    </p:cNvPr>
          <p:cNvPicPr>
            <a:picLocks noChangeAspect="1"/>
          </p:cNvPicPr>
          <p:nvPr/>
        </p:nvPicPr>
        <p:blipFill>
          <a:blip r:embed="rId4"/>
          <a:stretch>
            <a:fillRect/>
          </a:stretch>
        </p:blipFill>
        <p:spPr>
          <a:xfrm>
            <a:off x="365760" y="3832479"/>
            <a:ext cx="777240" cy="582930"/>
          </a:xfrm>
          <a:prstGeom prst="rect">
            <a:avLst/>
          </a:prstGeom>
        </p:spPr>
      </p:pic>
      <p:sp>
        <p:nvSpPr>
          <p:cNvPr id="34" name="Text 27"/>
          <p:cNvSpPr/>
          <p:nvPr/>
        </p:nvSpPr>
        <p:spPr>
          <a:xfrm>
            <a:off x="1207008" y="3767328"/>
            <a:ext cx="1481328" cy="201168"/>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Meridian CRM</a:t>
            </a:r>
            <a:endParaRPr lang="en-US" sz="1200" dirty="0"/>
          </a:p>
        </p:txBody>
      </p:sp>
      <p:sp>
        <p:nvSpPr>
          <p:cNvPr id="35" name="Text 28"/>
          <p:cNvSpPr/>
          <p:nvPr/>
        </p:nvSpPr>
        <p:spPr>
          <a:xfrm>
            <a:off x="1207008" y="4005072"/>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Contacts + orders</a:t>
            </a:r>
            <a:endParaRPr lang="en-US" sz="900" dirty="0"/>
          </a:p>
        </p:txBody>
      </p:sp>
      <p:sp>
        <p:nvSpPr>
          <p:cNvPr id="36" name="Text 29"/>
          <p:cNvSpPr/>
          <p:nvPr/>
        </p:nvSpPr>
        <p:spPr>
          <a:xfrm>
            <a:off x="1207008" y="4187952"/>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Product master</a:t>
            </a:r>
            <a:endParaRPr lang="en-US" sz="900" dirty="0"/>
          </a:p>
        </p:txBody>
      </p:sp>
      <p:sp>
        <p:nvSpPr>
          <p:cNvPr id="37" name="Text 30"/>
          <p:cNvSpPr/>
          <p:nvPr/>
        </p:nvSpPr>
        <p:spPr>
          <a:xfrm>
            <a:off x="1207008" y="4370832"/>
            <a:ext cx="1481328" cy="128016"/>
          </a:xfrm>
          <a:prstGeom prst="rect">
            <a:avLst/>
          </a:prstGeom>
          <a:noFill/>
          <a:ln/>
        </p:spPr>
        <p:txBody>
          <a:bodyPr wrap="square" lIns="0" tIns="0" rIns="0" bIns="0" rtlCol="0" anchor="ctr"/>
          <a:lstStyle/>
          <a:p>
            <a:pPr indent="0" marL="0">
              <a:buNone/>
            </a:pPr>
            <a:r>
              <a:rPr lang="en-US" sz="850" b="1" dirty="0">
                <a:solidFill>
                  <a:srgbClr val="006580"/>
                </a:solidFill>
                <a:latin typeface="Inter" pitchFamily="34" charset="0"/>
                <a:ea typeface="Inter" pitchFamily="34" charset="-122"/>
                <a:cs typeface="Inter" pitchFamily="34" charset="-120"/>
              </a:rPr>
              <a:t>MySQL CDC</a:t>
            </a:r>
            <a:endParaRPr lang="en-US" sz="850" dirty="0"/>
          </a:p>
        </p:txBody>
      </p:sp>
      <p:sp>
        <p:nvSpPr>
          <p:cNvPr id="38" name="Shape 31"/>
          <p:cNvSpPr/>
          <p:nvPr/>
        </p:nvSpPr>
        <p:spPr>
          <a:xfrm>
            <a:off x="274320" y="4572000"/>
            <a:ext cx="2468880" cy="786384"/>
          </a:xfrm>
          <a:prstGeom prst="rect">
            <a:avLst/>
          </a:prstGeom>
          <a:solidFill>
            <a:srgbClr val="FFFFFF"/>
          </a:solidFill>
          <a:ln w="9525">
            <a:solidFill>
              <a:srgbClr val="DEE2E6"/>
            </a:solidFill>
            <a:prstDash val="solid"/>
          </a:ln>
        </p:spPr>
      </p:sp>
      <p:sp>
        <p:nvSpPr>
          <p:cNvPr id="39" name="Shape 32"/>
          <p:cNvSpPr/>
          <p:nvPr/>
        </p:nvSpPr>
        <p:spPr>
          <a:xfrm>
            <a:off x="274320" y="4572000"/>
            <a:ext cx="54864" cy="786384"/>
          </a:xfrm>
          <a:prstGeom prst="rect">
            <a:avLst/>
          </a:prstGeom>
          <a:solidFill>
            <a:srgbClr val="006580"/>
          </a:solidFill>
          <a:ln w="12700">
            <a:solidFill>
              <a:srgbClr val="006580"/>
            </a:solidFill>
            <a:prstDash val="solid"/>
          </a:ln>
        </p:spPr>
      </p:sp>
      <p:pic>
        <p:nvPicPr>
          <p:cNvPr id="40" name="Image 4" descr="preencoded.png">    </p:cNvPr>
          <p:cNvPicPr>
            <a:picLocks noChangeAspect="1"/>
          </p:cNvPicPr>
          <p:nvPr/>
        </p:nvPicPr>
        <p:blipFill>
          <a:blip r:embed="rId5"/>
          <a:stretch>
            <a:fillRect/>
          </a:stretch>
        </p:blipFill>
        <p:spPr>
          <a:xfrm>
            <a:off x="365760" y="4673727"/>
            <a:ext cx="777240" cy="582930"/>
          </a:xfrm>
          <a:prstGeom prst="rect">
            <a:avLst/>
          </a:prstGeom>
        </p:spPr>
      </p:pic>
      <p:sp>
        <p:nvSpPr>
          <p:cNvPr id="41" name="Text 33"/>
          <p:cNvSpPr/>
          <p:nvPr/>
        </p:nvSpPr>
        <p:spPr>
          <a:xfrm>
            <a:off x="1207008" y="4608576"/>
            <a:ext cx="1481328" cy="201168"/>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Product master</a:t>
            </a:r>
            <a:endParaRPr lang="en-US" sz="1200" dirty="0"/>
          </a:p>
        </p:txBody>
      </p:sp>
      <p:sp>
        <p:nvSpPr>
          <p:cNvPr id="42" name="Text 34"/>
          <p:cNvSpPr/>
          <p:nvPr/>
        </p:nvSpPr>
        <p:spPr>
          <a:xfrm>
            <a:off x="1207008" y="4846320"/>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CRM tables</a:t>
            </a:r>
            <a:endParaRPr lang="en-US" sz="900" dirty="0"/>
          </a:p>
        </p:txBody>
      </p:sp>
      <p:sp>
        <p:nvSpPr>
          <p:cNvPr id="43" name="Text 35"/>
          <p:cNvSpPr/>
          <p:nvPr/>
        </p:nvSpPr>
        <p:spPr>
          <a:xfrm>
            <a:off x="1207008" y="5029200"/>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Weights · suppliers</a:t>
            </a:r>
            <a:endParaRPr lang="en-US" sz="900" dirty="0"/>
          </a:p>
        </p:txBody>
      </p:sp>
      <p:sp>
        <p:nvSpPr>
          <p:cNvPr id="44" name="Text 36"/>
          <p:cNvSpPr/>
          <p:nvPr/>
        </p:nvSpPr>
        <p:spPr>
          <a:xfrm>
            <a:off x="1207008" y="5212080"/>
            <a:ext cx="1481328" cy="128016"/>
          </a:xfrm>
          <a:prstGeom prst="rect">
            <a:avLst/>
          </a:prstGeom>
          <a:noFill/>
          <a:ln/>
        </p:spPr>
        <p:txBody>
          <a:bodyPr wrap="square" lIns="0" tIns="0" rIns="0" bIns="0" rtlCol="0" anchor="ctr"/>
          <a:lstStyle/>
          <a:p>
            <a:pPr indent="0" marL="0">
              <a:buNone/>
            </a:pPr>
            <a:r>
              <a:rPr lang="en-US" sz="850" b="1" dirty="0">
                <a:solidFill>
                  <a:srgbClr val="006580"/>
                </a:solidFill>
                <a:latin typeface="Inter" pitchFamily="34" charset="0"/>
                <a:ea typeface="Inter" pitchFamily="34" charset="-122"/>
                <a:cs typeface="Inter" pitchFamily="34" charset="-120"/>
              </a:rPr>
              <a:t>MySQL CDC</a:t>
            </a:r>
            <a:endParaRPr lang="en-US" sz="850" dirty="0"/>
          </a:p>
        </p:txBody>
      </p:sp>
      <p:sp>
        <p:nvSpPr>
          <p:cNvPr id="45" name="Shape 37"/>
          <p:cNvSpPr/>
          <p:nvPr/>
        </p:nvSpPr>
        <p:spPr>
          <a:xfrm>
            <a:off x="274320" y="5413248"/>
            <a:ext cx="2468880" cy="786384"/>
          </a:xfrm>
          <a:prstGeom prst="rect">
            <a:avLst/>
          </a:prstGeom>
          <a:solidFill>
            <a:srgbClr val="FFFFFF"/>
          </a:solidFill>
          <a:ln w="9525">
            <a:solidFill>
              <a:srgbClr val="DEE2E6"/>
            </a:solidFill>
            <a:prstDash val="solid"/>
          </a:ln>
        </p:spPr>
      </p:sp>
      <p:sp>
        <p:nvSpPr>
          <p:cNvPr id="46" name="Shape 38"/>
          <p:cNvSpPr/>
          <p:nvPr/>
        </p:nvSpPr>
        <p:spPr>
          <a:xfrm>
            <a:off x="274320" y="5413248"/>
            <a:ext cx="54864" cy="786384"/>
          </a:xfrm>
          <a:prstGeom prst="rect">
            <a:avLst/>
          </a:prstGeom>
          <a:solidFill>
            <a:srgbClr val="006580"/>
          </a:solidFill>
          <a:ln w="12700">
            <a:solidFill>
              <a:srgbClr val="006580"/>
            </a:solidFill>
            <a:prstDash val="solid"/>
          </a:ln>
        </p:spPr>
      </p:sp>
      <p:pic>
        <p:nvPicPr>
          <p:cNvPr id="47" name="Image 5" descr="preencoded.png">    </p:cNvPr>
          <p:cNvPicPr>
            <a:picLocks noChangeAspect="1"/>
          </p:cNvPicPr>
          <p:nvPr/>
        </p:nvPicPr>
        <p:blipFill>
          <a:blip r:embed="rId6"/>
          <a:stretch>
            <a:fillRect/>
          </a:stretch>
        </p:blipFill>
        <p:spPr>
          <a:xfrm>
            <a:off x="455676" y="5486400"/>
            <a:ext cx="597408" cy="640080"/>
          </a:xfrm>
          <a:prstGeom prst="rect">
            <a:avLst/>
          </a:prstGeom>
        </p:spPr>
      </p:pic>
      <p:sp>
        <p:nvSpPr>
          <p:cNvPr id="48" name="Text 39"/>
          <p:cNvSpPr/>
          <p:nvPr/>
        </p:nvSpPr>
        <p:spPr>
          <a:xfrm>
            <a:off x="1207008" y="5449824"/>
            <a:ext cx="1481328" cy="201168"/>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Operational docs</a:t>
            </a:r>
            <a:endParaRPr lang="en-US" sz="1200" dirty="0"/>
          </a:p>
        </p:txBody>
      </p:sp>
      <p:sp>
        <p:nvSpPr>
          <p:cNvPr id="49" name="Text 40"/>
          <p:cNvSpPr/>
          <p:nvPr/>
        </p:nvSpPr>
        <p:spPr>
          <a:xfrm>
            <a:off x="1207008" y="5687568"/>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SOPs + contracts</a:t>
            </a:r>
            <a:endParaRPr lang="en-US" sz="900" dirty="0"/>
          </a:p>
        </p:txBody>
      </p:sp>
      <p:sp>
        <p:nvSpPr>
          <p:cNvPr id="50" name="Text 41"/>
          <p:cNvSpPr/>
          <p:nvPr/>
        </p:nvSpPr>
        <p:spPr>
          <a:xfrm>
            <a:off x="1207008" y="5870448"/>
            <a:ext cx="1481328" cy="146304"/>
          </a:xfrm>
          <a:prstGeom prst="rect">
            <a:avLst/>
          </a:prstGeom>
          <a:noFill/>
          <a:ln/>
        </p:spPr>
        <p:txBody>
          <a:bodyPr wrap="square" lIns="0" tIns="0" rIns="0" bIns="0" rtlCol="0" anchor="ctr"/>
          <a:lstStyle/>
          <a:p>
            <a:pPr indent="0" marL="0">
              <a:buNone/>
            </a:pPr>
            <a:r>
              <a:rPr lang="en-US" sz="900" dirty="0">
                <a:solidFill>
                  <a:srgbClr val="54565A"/>
                </a:solidFill>
                <a:latin typeface="Inter" pitchFamily="34" charset="0"/>
                <a:ea typeface="Inter" pitchFamily="34" charset="-122"/>
                <a:cs typeface="Inter" pitchFamily="34" charset="-120"/>
              </a:rPr>
              <a:t>25 DOCX knowledge base</a:t>
            </a:r>
            <a:endParaRPr lang="en-US" sz="900" dirty="0"/>
          </a:p>
        </p:txBody>
      </p:sp>
      <p:sp>
        <p:nvSpPr>
          <p:cNvPr id="51" name="Text 42"/>
          <p:cNvSpPr/>
          <p:nvPr/>
        </p:nvSpPr>
        <p:spPr>
          <a:xfrm>
            <a:off x="1207008" y="6053328"/>
            <a:ext cx="1481328" cy="128016"/>
          </a:xfrm>
          <a:prstGeom prst="rect">
            <a:avLst/>
          </a:prstGeom>
          <a:noFill/>
          <a:ln/>
        </p:spPr>
        <p:txBody>
          <a:bodyPr wrap="square" lIns="0" tIns="0" rIns="0" bIns="0" rtlCol="0" anchor="ctr"/>
          <a:lstStyle/>
          <a:p>
            <a:pPr indent="0" marL="0">
              <a:buNone/>
            </a:pPr>
            <a:r>
              <a:rPr lang="en-US" sz="850" b="1" dirty="0">
                <a:solidFill>
                  <a:srgbClr val="006580"/>
                </a:solidFill>
                <a:latin typeface="Inter" pitchFamily="34" charset="0"/>
                <a:ea typeface="Inter" pitchFamily="34" charset="-122"/>
                <a:cs typeface="Inter" pitchFamily="34" charset="-120"/>
              </a:rPr>
              <a:t>Qlik Answers</a:t>
            </a:r>
            <a:endParaRPr lang="en-US" sz="850" dirty="0"/>
          </a:p>
        </p:txBody>
      </p:sp>
      <p:sp>
        <p:nvSpPr>
          <p:cNvPr id="52" name="Shape 43"/>
          <p:cNvSpPr/>
          <p:nvPr/>
        </p:nvSpPr>
        <p:spPr>
          <a:xfrm>
            <a:off x="2880360" y="1207008"/>
            <a:ext cx="1783080" cy="4983480"/>
          </a:xfrm>
          <a:prstGeom prst="rect">
            <a:avLst/>
          </a:prstGeom>
          <a:solidFill>
            <a:srgbClr val="19416C"/>
          </a:solidFill>
          <a:ln w="12700">
            <a:solidFill>
              <a:srgbClr val="0F2A47"/>
            </a:solidFill>
            <a:prstDash val="solid"/>
          </a:ln>
        </p:spPr>
      </p:sp>
      <p:sp>
        <p:nvSpPr>
          <p:cNvPr id="53" name="Shape 44"/>
          <p:cNvSpPr/>
          <p:nvPr/>
        </p:nvSpPr>
        <p:spPr>
          <a:xfrm>
            <a:off x="2880360" y="1207008"/>
            <a:ext cx="1783080" cy="73152"/>
          </a:xfrm>
          <a:prstGeom prst="rect">
            <a:avLst/>
          </a:prstGeom>
          <a:solidFill>
            <a:srgbClr val="006580"/>
          </a:solidFill>
          <a:ln w="12700">
            <a:solidFill>
              <a:srgbClr val="006580"/>
            </a:solidFill>
            <a:prstDash val="solid"/>
          </a:ln>
        </p:spPr>
      </p:sp>
      <p:sp>
        <p:nvSpPr>
          <p:cNvPr id="54" name="Text 45"/>
          <p:cNvSpPr/>
          <p:nvPr/>
        </p:nvSpPr>
        <p:spPr>
          <a:xfrm>
            <a:off x="2880360" y="1618488"/>
            <a:ext cx="1783080" cy="640080"/>
          </a:xfrm>
          <a:prstGeom prst="rect">
            <a:avLst/>
          </a:prstGeom>
          <a:noFill/>
          <a:ln/>
        </p:spPr>
        <p:txBody>
          <a:bodyPr wrap="square" lIns="0" tIns="0" rIns="0" bIns="0" rtlCol="0" anchor="ctr"/>
          <a:lstStyle/>
          <a:p>
            <a:pPr algn="ctr" indent="0" marL="0">
              <a:buNone/>
            </a:pPr>
            <a:r>
              <a:rPr lang="en-US" sz="3600" b="1" spc="600" kern="0" dirty="0">
                <a:solidFill>
                  <a:srgbClr val="FFFFFF"/>
                </a:solidFill>
                <a:latin typeface="Inter" pitchFamily="34" charset="0"/>
                <a:ea typeface="Inter" pitchFamily="34" charset="-122"/>
                <a:cs typeface="Inter" pitchFamily="34" charset="-120"/>
              </a:rPr>
              <a:t>LAKE</a:t>
            </a:r>
            <a:endParaRPr lang="en-US" sz="3600" dirty="0"/>
          </a:p>
        </p:txBody>
      </p:sp>
      <p:sp>
        <p:nvSpPr>
          <p:cNvPr id="55" name="Text 46"/>
          <p:cNvSpPr/>
          <p:nvPr/>
        </p:nvSpPr>
        <p:spPr>
          <a:xfrm>
            <a:off x="2880360" y="2286000"/>
            <a:ext cx="1783080" cy="237744"/>
          </a:xfrm>
          <a:prstGeom prst="rect">
            <a:avLst/>
          </a:prstGeom>
          <a:noFill/>
          <a:ln/>
        </p:spPr>
        <p:txBody>
          <a:bodyPr wrap="square" lIns="0" tIns="0" rIns="0" bIns="0" rtlCol="0" anchor="ctr"/>
          <a:lstStyle/>
          <a:p>
            <a:pPr algn="ctr" indent="0" marL="0">
              <a:buNone/>
            </a:pPr>
            <a:r>
              <a:rPr lang="en-US" sz="1000" spc="300" kern="0" dirty="0">
                <a:solidFill>
                  <a:srgbClr val="10CFC9"/>
                </a:solidFill>
                <a:latin typeface="Inter" pitchFamily="34" charset="0"/>
                <a:ea typeface="Inter" pitchFamily="34" charset="-122"/>
                <a:cs typeface="Inter" pitchFamily="34" charset="-120"/>
              </a:rPr>
              <a:t>OPEN LAKEHOUSE</a:t>
            </a:r>
            <a:endParaRPr lang="en-US" sz="1000" dirty="0"/>
          </a:p>
        </p:txBody>
      </p:sp>
      <p:pic>
        <p:nvPicPr>
          <p:cNvPr id="56" name="Image 6" descr="preencoded.png">    </p:cNvPr>
          <p:cNvPicPr>
            <a:picLocks noChangeAspect="1"/>
          </p:cNvPicPr>
          <p:nvPr/>
        </p:nvPicPr>
        <p:blipFill>
          <a:blip r:embed="rId7"/>
          <a:stretch>
            <a:fillRect/>
          </a:stretch>
        </p:blipFill>
        <p:spPr>
          <a:xfrm>
            <a:off x="3337560" y="2624328"/>
            <a:ext cx="868680" cy="1280160"/>
          </a:xfrm>
          <a:prstGeom prst="rect">
            <a:avLst/>
          </a:prstGeom>
        </p:spPr>
      </p:pic>
      <p:sp>
        <p:nvSpPr>
          <p:cNvPr id="57" name="Text 47"/>
          <p:cNvSpPr/>
          <p:nvPr/>
        </p:nvSpPr>
        <p:spPr>
          <a:xfrm>
            <a:off x="2971800" y="4041648"/>
            <a:ext cx="1600200" cy="1417320"/>
          </a:xfrm>
          <a:prstGeom prst="rect">
            <a:avLst/>
          </a:prstGeom>
          <a:noFill/>
          <a:ln/>
        </p:spPr>
        <p:txBody>
          <a:bodyPr wrap="square" lIns="0" tIns="0" rIns="0" bIns="0" rtlCol="0" anchor="t"/>
          <a:lstStyle/>
          <a:p>
            <a:pPr algn="ctr" indent="0" marL="0">
              <a:buNone/>
            </a:pPr>
            <a:r>
              <a:rPr lang="en-US" sz="950" dirty="0">
                <a:solidFill>
                  <a:srgbClr val="FFFFFF"/>
                </a:solidFill>
                <a:latin typeface="Inter" pitchFamily="34" charset="0"/>
                <a:ea typeface="Inter" pitchFamily="34" charset="-122"/>
                <a:cs typeface="Inter" pitchFamily="34" charset="-120"/>
              </a:rPr>
              <a:t>Pipelines as code</a:t>
            </a:r>
            <a:endParaRPr lang="en-US" sz="950" dirty="0"/>
          </a:p>
          <a:p>
            <a:pPr algn="ctr" indent="0" marL="0">
              <a:buNone/>
            </a:pPr>
            <a:r>
              <a:rPr lang="en-US" sz="850" dirty="0">
                <a:solidFill>
                  <a:srgbClr val="A9B3B6"/>
                </a:solidFill>
                <a:latin typeface="Inter" pitchFamily="34" charset="0"/>
                <a:ea typeface="Inter" pitchFamily="34" charset="-122"/>
                <a:cs typeface="Inter" pitchFamily="34" charset="-120"/>
              </a:rPr>
              <a:t>YAML · VS Code · AI agent</a:t>
            </a:r>
            <a:endParaRPr lang="en-US" sz="950" dirty="0"/>
          </a:p>
          <a:p>
            <a:pPr algn="ctr" indent="0" marL="0">
              <a:buNone/>
            </a:pPr>
            <a:r>
              <a:rPr lang="en-US" sz="400" dirty="0">
                <a:solidFill>
                  <a:srgbClr val="000000"/>
                </a:solidFill>
                <a:latin typeface="Inter" pitchFamily="34" charset="0"/>
                <a:ea typeface="Inter" pitchFamily="34" charset="-122"/>
                <a:cs typeface="Inter" pitchFamily="34" charset="-120"/>
              </a:rPr>
              <a:t> </a:t>
            </a:r>
            <a:endParaRPr lang="en-US" sz="950" dirty="0"/>
          </a:p>
          <a:p>
            <a:pPr algn="ctr" indent="0" marL="0">
              <a:buNone/>
            </a:pPr>
            <a:r>
              <a:rPr lang="en-US" sz="950" dirty="0">
                <a:solidFill>
                  <a:srgbClr val="FFFFFF"/>
                </a:solidFill>
                <a:latin typeface="Inter" pitchFamily="34" charset="0"/>
                <a:ea typeface="Inter" pitchFamily="34" charset="-122"/>
                <a:cs typeface="Inter" pitchFamily="34" charset="-120"/>
              </a:rPr>
              <a:t>Agents govern</a:t>
            </a:r>
            <a:endParaRPr lang="en-US" sz="950" dirty="0"/>
          </a:p>
          <a:p>
            <a:pPr algn="ctr" indent="0" marL="0">
              <a:buNone/>
            </a:pPr>
            <a:r>
              <a:rPr lang="en-US" sz="850" dirty="0">
                <a:solidFill>
                  <a:srgbClr val="A9B3B6"/>
                </a:solidFill>
                <a:latin typeface="Inter" pitchFamily="34" charset="0"/>
                <a:ea typeface="Inter" pitchFamily="34" charset="-122"/>
                <a:cs typeface="Inter" pitchFamily="34" charset="-120"/>
              </a:rPr>
              <a:t>Product · Quality · Glossary</a:t>
            </a:r>
            <a:endParaRPr lang="en-US" sz="950" dirty="0"/>
          </a:p>
          <a:p>
            <a:pPr algn="ctr" indent="0" marL="0">
              <a:buNone/>
            </a:pPr>
            <a:r>
              <a:rPr lang="en-US" sz="400" dirty="0">
                <a:solidFill>
                  <a:srgbClr val="000000"/>
                </a:solidFill>
                <a:latin typeface="Inter" pitchFamily="34" charset="0"/>
                <a:ea typeface="Inter" pitchFamily="34" charset="-122"/>
                <a:cs typeface="Inter" pitchFamily="34" charset="-120"/>
              </a:rPr>
              <a:t> </a:t>
            </a:r>
            <a:endParaRPr lang="en-US" sz="950" dirty="0"/>
          </a:p>
          <a:p>
            <a:pPr algn="ctr" indent="0" marL="0">
              <a:buNone/>
            </a:pPr>
            <a:r>
              <a:rPr lang="en-US" sz="950" dirty="0">
                <a:solidFill>
                  <a:srgbClr val="FFFFFF"/>
                </a:solidFill>
                <a:latin typeface="Inter" pitchFamily="34" charset="0"/>
                <a:ea typeface="Inter" pitchFamily="34" charset="-122"/>
                <a:cs typeface="Inter" pitchFamily="34" charset="-120"/>
              </a:rPr>
              <a:t>Talend Agentic Routes</a:t>
            </a:r>
            <a:endParaRPr lang="en-US" sz="950" dirty="0"/>
          </a:p>
          <a:p>
            <a:pPr algn="ctr" indent="0" marL="0">
              <a:buNone/>
            </a:pPr>
            <a:r>
              <a:rPr lang="en-US" sz="850" dirty="0">
                <a:solidFill>
                  <a:srgbClr val="A9B3B6"/>
                </a:solidFill>
                <a:latin typeface="Inter" pitchFamily="34" charset="0"/>
                <a:ea typeface="Inter" pitchFamily="34" charset="-122"/>
                <a:cs typeface="Inter" pitchFamily="34" charset="-120"/>
              </a:rPr>
              <a:t>LLM · RAG in-task</a:t>
            </a:r>
            <a:endParaRPr lang="en-US" sz="950" dirty="0"/>
          </a:p>
          <a:p>
            <a:pPr algn="ctr" indent="0" marL="0">
              <a:buNone/>
            </a:pPr>
            <a:r>
              <a:rPr lang="en-US" sz="400" dirty="0">
                <a:solidFill>
                  <a:srgbClr val="000000"/>
                </a:solidFill>
                <a:latin typeface="Inter" pitchFamily="34" charset="0"/>
                <a:ea typeface="Inter" pitchFamily="34" charset="-122"/>
                <a:cs typeface="Inter" pitchFamily="34" charset="-120"/>
              </a:rPr>
              <a:t> </a:t>
            </a:r>
            <a:endParaRPr lang="en-US" sz="950" dirty="0"/>
          </a:p>
          <a:p>
            <a:pPr algn="ctr" indent="0" marL="0">
              <a:buNone/>
            </a:pPr>
            <a:r>
              <a:rPr lang="en-US" sz="950" dirty="0">
                <a:solidFill>
                  <a:srgbClr val="FFFFFF"/>
                </a:solidFill>
                <a:latin typeface="Inter" pitchFamily="34" charset="0"/>
                <a:ea typeface="Inter" pitchFamily="34" charset="-122"/>
                <a:cs typeface="Inter" pitchFamily="34" charset="-120"/>
              </a:rPr>
              <a:t>MCP + trust</a:t>
            </a:r>
            <a:endParaRPr lang="en-US" sz="950" dirty="0"/>
          </a:p>
          <a:p>
            <a:pPr algn="ctr" indent="0" marL="0">
              <a:buNone/>
            </a:pPr>
            <a:r>
              <a:rPr lang="en-US" sz="850" dirty="0">
                <a:solidFill>
                  <a:srgbClr val="A9B3B6"/>
                </a:solidFill>
                <a:latin typeface="Inter" pitchFamily="34" charset="0"/>
                <a:ea typeface="Inter" pitchFamily="34" charset="-122"/>
                <a:cs typeface="Inter" pitchFamily="34" charset="-120"/>
              </a:rPr>
              <a:t>governance to any AI</a:t>
            </a:r>
            <a:endParaRPr lang="en-US" sz="950" dirty="0"/>
          </a:p>
        </p:txBody>
      </p:sp>
      <p:sp>
        <p:nvSpPr>
          <p:cNvPr id="58" name="Shape 48"/>
          <p:cNvSpPr/>
          <p:nvPr/>
        </p:nvSpPr>
        <p:spPr>
          <a:xfrm>
            <a:off x="2971800" y="5806440"/>
            <a:ext cx="1600200" cy="274320"/>
          </a:xfrm>
          <a:prstGeom prst="rect">
            <a:avLst/>
          </a:prstGeom>
          <a:solidFill>
            <a:srgbClr val="006580"/>
          </a:solidFill>
          <a:ln w="12700">
            <a:solidFill>
              <a:srgbClr val="006580"/>
            </a:solidFill>
            <a:prstDash val="solid"/>
          </a:ln>
        </p:spPr>
      </p:sp>
      <p:sp>
        <p:nvSpPr>
          <p:cNvPr id="59" name="Text 49"/>
          <p:cNvSpPr/>
          <p:nvPr/>
        </p:nvSpPr>
        <p:spPr>
          <a:xfrm>
            <a:off x="2971800" y="5806440"/>
            <a:ext cx="16002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Inter" pitchFamily="34" charset="0"/>
                <a:ea typeface="Inter" pitchFamily="34" charset="-122"/>
                <a:cs typeface="Inter" pitchFamily="34" charset="-120"/>
              </a:rPr>
              <a:t>ONE STORE, AS CODE</a:t>
            </a:r>
            <a:endParaRPr lang="en-US" sz="900" dirty="0"/>
          </a:p>
        </p:txBody>
      </p:sp>
      <p:sp>
        <p:nvSpPr>
          <p:cNvPr id="60" name="Shape 50"/>
          <p:cNvSpPr/>
          <p:nvPr/>
        </p:nvSpPr>
        <p:spPr>
          <a:xfrm>
            <a:off x="4764024" y="3602736"/>
            <a:ext cx="164592" cy="192024"/>
          </a:xfrm>
          <a:prstGeom prst="rightArrow">
            <a:avLst/>
          </a:prstGeom>
          <a:solidFill>
            <a:srgbClr val="54565A"/>
          </a:solidFill>
          <a:ln w="12700">
            <a:solidFill>
              <a:srgbClr val="54565A"/>
            </a:solidFill>
            <a:prstDash val="solid"/>
          </a:ln>
        </p:spPr>
      </p:sp>
      <p:sp>
        <p:nvSpPr>
          <p:cNvPr id="61" name="Text 51"/>
          <p:cNvSpPr/>
          <p:nvPr/>
        </p:nvSpPr>
        <p:spPr>
          <a:xfrm rot="16200000">
            <a:off x="4434840" y="2555748"/>
            <a:ext cx="822960" cy="274320"/>
          </a:xfrm>
          <a:prstGeom prst="rect">
            <a:avLst/>
          </a:prstGeom>
          <a:noFill/>
          <a:ln/>
        </p:spPr>
        <p:txBody>
          <a:bodyPr wrap="square" lIns="0" tIns="0" rIns="0" bIns="0" rtlCol="0" anchor="ctr"/>
          <a:lstStyle/>
          <a:p>
            <a:pPr algn="ctr" indent="0" marL="0">
              <a:buNone/>
            </a:pPr>
            <a:r>
              <a:rPr lang="en-US" sz="1200" b="1" dirty="0">
                <a:solidFill>
                  <a:srgbClr val="54565A"/>
                </a:solidFill>
                <a:latin typeface="Inter" pitchFamily="34" charset="0"/>
                <a:ea typeface="Inter" pitchFamily="34" charset="-122"/>
                <a:cs typeface="Inter" pitchFamily="34" charset="-120"/>
              </a:rPr>
              <a:t>EXTRACT</a:t>
            </a:r>
            <a:endParaRPr lang="en-US" sz="1200" dirty="0"/>
          </a:p>
        </p:txBody>
      </p:sp>
      <p:sp>
        <p:nvSpPr>
          <p:cNvPr id="62" name="Shape 52"/>
          <p:cNvSpPr/>
          <p:nvPr/>
        </p:nvSpPr>
        <p:spPr>
          <a:xfrm>
            <a:off x="5029200" y="1207008"/>
            <a:ext cx="2331720" cy="4983480"/>
          </a:xfrm>
          <a:prstGeom prst="rect">
            <a:avLst/>
          </a:prstGeom>
          <a:solidFill>
            <a:srgbClr val="FFFFFF"/>
          </a:solidFill>
          <a:ln w="9525">
            <a:solidFill>
              <a:srgbClr val="DEE2E6"/>
            </a:solidFill>
            <a:prstDash val="solid"/>
          </a:ln>
        </p:spPr>
      </p:sp>
      <p:sp>
        <p:nvSpPr>
          <p:cNvPr id="63" name="Shape 53"/>
          <p:cNvSpPr/>
          <p:nvPr/>
        </p:nvSpPr>
        <p:spPr>
          <a:xfrm>
            <a:off x="5029200" y="1207008"/>
            <a:ext cx="2331720" cy="73152"/>
          </a:xfrm>
          <a:prstGeom prst="rect">
            <a:avLst/>
          </a:prstGeom>
          <a:solidFill>
            <a:srgbClr val="006580"/>
          </a:solidFill>
          <a:ln w="12700">
            <a:solidFill>
              <a:srgbClr val="006580"/>
            </a:solidFill>
            <a:prstDash val="solid"/>
          </a:ln>
        </p:spPr>
      </p:sp>
      <p:sp>
        <p:nvSpPr>
          <p:cNvPr id="64" name="Text 54"/>
          <p:cNvSpPr/>
          <p:nvPr/>
        </p:nvSpPr>
        <p:spPr>
          <a:xfrm>
            <a:off x="5029200" y="1371600"/>
            <a:ext cx="2331720" cy="310896"/>
          </a:xfrm>
          <a:prstGeom prst="rect">
            <a:avLst/>
          </a:prstGeom>
          <a:noFill/>
          <a:ln/>
        </p:spPr>
        <p:txBody>
          <a:bodyPr wrap="square" lIns="0" tIns="0" rIns="0" bIns="0" rtlCol="0" anchor="ctr"/>
          <a:lstStyle/>
          <a:p>
            <a:pPr algn="ctr" indent="0" marL="0">
              <a:buNone/>
            </a:pPr>
            <a:r>
              <a:rPr lang="en-US" sz="1600" b="1" dirty="0">
                <a:solidFill>
                  <a:srgbClr val="19416C"/>
                </a:solidFill>
                <a:latin typeface="Inter" pitchFamily="34" charset="0"/>
                <a:ea typeface="Inter" pitchFamily="34" charset="-122"/>
                <a:cs typeface="Inter" pitchFamily="34" charset="-120"/>
              </a:rPr>
              <a:t>Data Integration</a:t>
            </a:r>
            <a:endParaRPr lang="en-US" sz="1600" dirty="0"/>
          </a:p>
        </p:txBody>
      </p:sp>
      <p:sp>
        <p:nvSpPr>
          <p:cNvPr id="65" name="Text 55"/>
          <p:cNvSpPr/>
          <p:nvPr/>
        </p:nvSpPr>
        <p:spPr>
          <a:xfrm>
            <a:off x="5120640" y="1682496"/>
            <a:ext cx="2148840" cy="219456"/>
          </a:xfrm>
          <a:prstGeom prst="rect">
            <a:avLst/>
          </a:prstGeom>
          <a:noFill/>
          <a:ln/>
        </p:spPr>
        <p:txBody>
          <a:bodyPr wrap="square" lIns="0" tIns="0" rIns="0" bIns="0" rtlCol="0" anchor="ctr"/>
          <a:lstStyle/>
          <a:p>
            <a:pPr algn="ctr" indent="0" marL="0">
              <a:buNone/>
            </a:pPr>
            <a:r>
              <a:rPr lang="en-US" sz="1000" i="1" dirty="0">
                <a:solidFill>
                  <a:srgbClr val="54565A"/>
                </a:solidFill>
                <a:latin typeface="Inter" pitchFamily="34" charset="0"/>
                <a:ea typeface="Inter" pitchFamily="34" charset="-122"/>
                <a:cs typeface="Inter" pitchFamily="34" charset="-120"/>
              </a:rPr>
              <a:t>Author declaratively, govern with agents, enrich in the pipeline</a:t>
            </a:r>
            <a:endParaRPr lang="en-US" sz="1000" dirty="0"/>
          </a:p>
        </p:txBody>
      </p:sp>
      <p:sp>
        <p:nvSpPr>
          <p:cNvPr id="66" name="Shape 56"/>
          <p:cNvSpPr/>
          <p:nvPr/>
        </p:nvSpPr>
        <p:spPr>
          <a:xfrm>
            <a:off x="5166360" y="1993392"/>
            <a:ext cx="2057400" cy="1207008"/>
          </a:xfrm>
          <a:prstGeom prst="rect">
            <a:avLst/>
          </a:prstGeom>
          <a:solidFill>
            <a:srgbClr val="FFFFFF"/>
          </a:solidFill>
          <a:ln w="9525">
            <a:solidFill>
              <a:srgbClr val="DEE2E6"/>
            </a:solidFill>
            <a:prstDash val="solid"/>
          </a:ln>
        </p:spPr>
      </p:sp>
      <p:sp>
        <p:nvSpPr>
          <p:cNvPr id="67" name="Text 57"/>
          <p:cNvSpPr/>
          <p:nvPr/>
        </p:nvSpPr>
        <p:spPr>
          <a:xfrm>
            <a:off x="5257800" y="2066544"/>
            <a:ext cx="1874520" cy="256032"/>
          </a:xfrm>
          <a:prstGeom prst="rect">
            <a:avLst/>
          </a:prstGeom>
          <a:noFill/>
          <a:ln/>
        </p:spPr>
        <p:txBody>
          <a:bodyPr wrap="square" lIns="0" tIns="0" rIns="0" bIns="0" rtlCol="0" anchor="ctr"/>
          <a:lstStyle/>
          <a:p>
            <a:pPr indent="0" marL="0">
              <a:buNone/>
            </a:pPr>
            <a:r>
              <a:rPr lang="en-US" sz="1300" b="1" dirty="0">
                <a:solidFill>
                  <a:srgbClr val="19416C"/>
                </a:solidFill>
                <a:latin typeface="Inter" pitchFamily="34" charset="0"/>
                <a:ea typeface="Inter" pitchFamily="34" charset="-122"/>
                <a:cs typeface="Inter" pitchFamily="34" charset="-120"/>
              </a:rPr>
              <a:t>1 · Author as Code</a:t>
            </a:r>
            <a:endParaRPr lang="en-US" sz="1300" dirty="0"/>
          </a:p>
        </p:txBody>
      </p:sp>
      <p:pic>
        <p:nvPicPr>
          <p:cNvPr id="68" name="Image 7" descr="preencoded.png">    </p:cNvPr>
          <p:cNvPicPr>
            <a:picLocks noChangeAspect="1"/>
          </p:cNvPicPr>
          <p:nvPr/>
        </p:nvPicPr>
        <p:blipFill>
          <a:blip r:embed="rId8"/>
          <a:stretch>
            <a:fillRect/>
          </a:stretch>
        </p:blipFill>
        <p:spPr>
          <a:xfrm>
            <a:off x="5463540" y="2377440"/>
            <a:ext cx="1463040" cy="365760"/>
          </a:xfrm>
          <a:prstGeom prst="rect">
            <a:avLst/>
          </a:prstGeom>
        </p:spPr>
      </p:pic>
      <p:sp>
        <p:nvSpPr>
          <p:cNvPr id="69" name="Text 58"/>
          <p:cNvSpPr/>
          <p:nvPr/>
        </p:nvSpPr>
        <p:spPr>
          <a:xfrm>
            <a:off x="5257800" y="2798064"/>
            <a:ext cx="1874520" cy="182880"/>
          </a:xfrm>
          <a:prstGeom prst="rect">
            <a:avLst/>
          </a:prstGeom>
          <a:noFill/>
          <a:ln/>
        </p:spPr>
        <p:txBody>
          <a:bodyPr wrap="square" lIns="0" tIns="0" rIns="0" bIns="0" rtlCol="0" anchor="ctr"/>
          <a:lstStyle/>
          <a:p>
            <a:pPr indent="0" marL="0">
              <a:buNone/>
            </a:pPr>
            <a:r>
              <a:rPr lang="en-US" sz="1000" dirty="0">
                <a:solidFill>
                  <a:srgbClr val="54565A"/>
                </a:solidFill>
                <a:latin typeface="Inter" pitchFamily="34" charset="0"/>
                <a:ea typeface="Inter" pitchFamily="34" charset="-122"/>
                <a:cs typeface="Inter" pitchFamily="34" charset="-120"/>
              </a:rPr>
              <a:t>Declarative YAML</a:t>
            </a:r>
            <a:endParaRPr lang="en-US" sz="1000" dirty="0"/>
          </a:p>
        </p:txBody>
      </p:sp>
      <p:sp>
        <p:nvSpPr>
          <p:cNvPr id="70" name="Text 59"/>
          <p:cNvSpPr/>
          <p:nvPr/>
        </p:nvSpPr>
        <p:spPr>
          <a:xfrm>
            <a:off x="5257800" y="2962656"/>
            <a:ext cx="1874520" cy="182880"/>
          </a:xfrm>
          <a:prstGeom prst="rect">
            <a:avLst/>
          </a:prstGeom>
          <a:noFill/>
          <a:ln/>
        </p:spPr>
        <p:txBody>
          <a:bodyPr wrap="square" lIns="0" tIns="0" rIns="0" bIns="0" rtlCol="0" anchor="ctr"/>
          <a:lstStyle/>
          <a:p>
            <a:pPr indent="0" marL="0">
              <a:buNone/>
            </a:pPr>
            <a:r>
              <a:rPr lang="en-US" sz="1000" i="1" dirty="0">
                <a:solidFill>
                  <a:srgbClr val="54565A"/>
                </a:solidFill>
                <a:latin typeface="Inter" pitchFamily="34" charset="0"/>
                <a:ea typeface="Inter" pitchFamily="34" charset="-122"/>
                <a:cs typeface="Inter" pitchFamily="34" charset="-120"/>
              </a:rPr>
              <a:t>— VS Code + AI agent</a:t>
            </a:r>
            <a:endParaRPr lang="en-US" sz="1000" dirty="0"/>
          </a:p>
        </p:txBody>
      </p:sp>
      <p:sp>
        <p:nvSpPr>
          <p:cNvPr id="71" name="Shape 60"/>
          <p:cNvSpPr/>
          <p:nvPr/>
        </p:nvSpPr>
        <p:spPr>
          <a:xfrm>
            <a:off x="5166360" y="3273552"/>
            <a:ext cx="2057400" cy="1280160"/>
          </a:xfrm>
          <a:prstGeom prst="rect">
            <a:avLst/>
          </a:prstGeom>
          <a:solidFill>
            <a:srgbClr val="FFFFFF"/>
          </a:solidFill>
          <a:ln w="9525">
            <a:solidFill>
              <a:srgbClr val="DEE2E6"/>
            </a:solidFill>
            <a:prstDash val="solid"/>
          </a:ln>
        </p:spPr>
      </p:sp>
      <p:sp>
        <p:nvSpPr>
          <p:cNvPr id="72" name="Text 61"/>
          <p:cNvSpPr/>
          <p:nvPr/>
        </p:nvSpPr>
        <p:spPr>
          <a:xfrm>
            <a:off x="5257800" y="3346704"/>
            <a:ext cx="1874520" cy="237744"/>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2 · Govern with Agents</a:t>
            </a:r>
            <a:endParaRPr lang="en-US" sz="1200" dirty="0"/>
          </a:p>
        </p:txBody>
      </p:sp>
      <p:pic>
        <p:nvPicPr>
          <p:cNvPr id="73" name="Image 8" descr="preencoded.png">    </p:cNvPr>
          <p:cNvPicPr>
            <a:picLocks noChangeAspect="1"/>
          </p:cNvPicPr>
          <p:nvPr/>
        </p:nvPicPr>
        <p:blipFill>
          <a:blip r:embed="rId9"/>
          <a:stretch>
            <a:fillRect/>
          </a:stretch>
        </p:blipFill>
        <p:spPr>
          <a:xfrm>
            <a:off x="5239512" y="3731323"/>
            <a:ext cx="502920" cy="565785"/>
          </a:xfrm>
          <a:prstGeom prst="rect">
            <a:avLst/>
          </a:prstGeom>
        </p:spPr>
      </p:pic>
      <p:sp>
        <p:nvSpPr>
          <p:cNvPr id="74" name="Text 62"/>
          <p:cNvSpPr/>
          <p:nvPr/>
        </p:nvSpPr>
        <p:spPr>
          <a:xfrm>
            <a:off x="5806440" y="3639312"/>
            <a:ext cx="1325880" cy="868680"/>
          </a:xfrm>
          <a:prstGeom prst="rect">
            <a:avLst/>
          </a:prstGeom>
          <a:noFill/>
          <a:ln/>
        </p:spPr>
        <p:txBody>
          <a:bodyPr wrap="square" lIns="0" tIns="0" rIns="0" bIns="0" rtlCol="0" anchor="t"/>
          <a:lstStyle/>
          <a:p>
            <a:pPr indent="0" marL="0">
              <a:buNone/>
            </a:pPr>
            <a:r>
              <a:rPr lang="en-US" sz="950" dirty="0">
                <a:solidFill>
                  <a:srgbClr val="54565A"/>
                </a:solidFill>
                <a:latin typeface="Inter" pitchFamily="34" charset="0"/>
                <a:ea typeface="Inter" pitchFamily="34" charset="-122"/>
                <a:cs typeface="Inter" pitchFamily="34" charset="-120"/>
              </a:rPr>
              <a:t>Data Product Agent</a:t>
            </a:r>
            <a:endParaRPr lang="en-US" sz="950" dirty="0"/>
          </a:p>
          <a:p>
            <a:pPr indent="0" marL="0">
              <a:buNone/>
            </a:pPr>
            <a:r>
              <a:rPr lang="en-US" sz="950" dirty="0">
                <a:solidFill>
                  <a:srgbClr val="54565A"/>
                </a:solidFill>
                <a:latin typeface="Inter" pitchFamily="34" charset="0"/>
                <a:ea typeface="Inter" pitchFamily="34" charset="-122"/>
                <a:cs typeface="Inter" pitchFamily="34" charset="-120"/>
              </a:rPr>
              <a:t>Data Quality Agent</a:t>
            </a:r>
            <a:endParaRPr lang="en-US" sz="950" dirty="0"/>
          </a:p>
          <a:p>
            <a:pPr indent="0" marL="0">
              <a:buNone/>
            </a:pPr>
            <a:r>
              <a:rPr lang="en-US" sz="950" dirty="0">
                <a:solidFill>
                  <a:srgbClr val="54565A"/>
                </a:solidFill>
                <a:latin typeface="Inter" pitchFamily="34" charset="0"/>
                <a:ea typeface="Inter" pitchFamily="34" charset="-122"/>
                <a:cs typeface="Inter" pitchFamily="34" charset="-120"/>
              </a:rPr>
              <a:t>Catalog + Glossary</a:t>
            </a:r>
            <a:endParaRPr lang="en-US" sz="950" dirty="0"/>
          </a:p>
          <a:p>
            <a:pPr indent="0" marL="0">
              <a:buNone/>
            </a:pPr>
            <a:r>
              <a:rPr lang="en-US" sz="950" dirty="0">
                <a:solidFill>
                  <a:srgbClr val="54565A"/>
                </a:solidFill>
                <a:latin typeface="Inter" pitchFamily="34" charset="0"/>
                <a:ea typeface="Inter" pitchFamily="34" charset="-122"/>
                <a:cs typeface="Inter" pitchFamily="34" charset="-120"/>
              </a:rPr>
              <a:t>Agent (draft, human-</a:t>
            </a:r>
            <a:endParaRPr lang="en-US" sz="950" dirty="0"/>
          </a:p>
          <a:p>
            <a:pPr indent="0" marL="0">
              <a:buNone/>
            </a:pPr>
            <a:r>
              <a:rPr lang="en-US" sz="950" dirty="0">
                <a:solidFill>
                  <a:srgbClr val="54565A"/>
                </a:solidFill>
                <a:latin typeface="Inter" pitchFamily="34" charset="0"/>
                <a:ea typeface="Inter" pitchFamily="34" charset="-122"/>
                <a:cs typeface="Inter" pitchFamily="34" charset="-120"/>
              </a:rPr>
              <a:t>reviewed)</a:t>
            </a:r>
            <a:endParaRPr lang="en-US" sz="950" dirty="0"/>
          </a:p>
          <a:p>
            <a:pPr indent="0" marL="0">
              <a:buNone/>
            </a:pPr>
            <a:r>
              <a:rPr lang="en-US" sz="950" b="1" dirty="0">
                <a:solidFill>
                  <a:srgbClr val="006580"/>
                </a:solidFill>
                <a:latin typeface="Inter" pitchFamily="34" charset="0"/>
                <a:ea typeface="Inter" pitchFamily="34" charset="-122"/>
                <a:cs typeface="Inter" pitchFamily="34" charset="-120"/>
              </a:rPr>
              <a:t>Qlik Answers, in NL</a:t>
            </a:r>
            <a:endParaRPr lang="en-US" sz="950" dirty="0"/>
          </a:p>
        </p:txBody>
      </p:sp>
      <p:sp>
        <p:nvSpPr>
          <p:cNvPr id="75" name="Shape 63"/>
          <p:cNvSpPr/>
          <p:nvPr/>
        </p:nvSpPr>
        <p:spPr>
          <a:xfrm>
            <a:off x="5166360" y="4645152"/>
            <a:ext cx="2057400" cy="1417320"/>
          </a:xfrm>
          <a:prstGeom prst="rect">
            <a:avLst/>
          </a:prstGeom>
          <a:solidFill>
            <a:srgbClr val="FFFFFF"/>
          </a:solidFill>
          <a:ln w="9525">
            <a:solidFill>
              <a:srgbClr val="DEE2E6"/>
            </a:solidFill>
            <a:prstDash val="solid"/>
          </a:ln>
        </p:spPr>
      </p:sp>
      <p:sp>
        <p:nvSpPr>
          <p:cNvPr id="76" name="Text 64"/>
          <p:cNvSpPr/>
          <p:nvPr/>
        </p:nvSpPr>
        <p:spPr>
          <a:xfrm>
            <a:off x="5257800" y="4718304"/>
            <a:ext cx="1874520" cy="237744"/>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3 · Enrich + Expose</a:t>
            </a:r>
            <a:endParaRPr lang="en-US" sz="1200" dirty="0"/>
          </a:p>
        </p:txBody>
      </p:sp>
      <p:pic>
        <p:nvPicPr>
          <p:cNvPr id="77" name="Image 9" descr="preencoded.png">    </p:cNvPr>
          <p:cNvPicPr>
            <a:picLocks noChangeAspect="1"/>
          </p:cNvPicPr>
          <p:nvPr/>
        </p:nvPicPr>
        <p:blipFill>
          <a:blip r:embed="rId10"/>
          <a:stretch>
            <a:fillRect/>
          </a:stretch>
        </p:blipFill>
        <p:spPr>
          <a:xfrm>
            <a:off x="5239512" y="5166360"/>
            <a:ext cx="502920" cy="502920"/>
          </a:xfrm>
          <a:prstGeom prst="rect">
            <a:avLst/>
          </a:prstGeom>
        </p:spPr>
      </p:pic>
      <p:sp>
        <p:nvSpPr>
          <p:cNvPr id="78" name="Text 65"/>
          <p:cNvSpPr/>
          <p:nvPr/>
        </p:nvSpPr>
        <p:spPr>
          <a:xfrm>
            <a:off x="5806440" y="5010912"/>
            <a:ext cx="1325880" cy="1051560"/>
          </a:xfrm>
          <a:prstGeom prst="rect">
            <a:avLst/>
          </a:prstGeom>
          <a:noFill/>
          <a:ln/>
        </p:spPr>
        <p:txBody>
          <a:bodyPr wrap="square" lIns="0" tIns="0" rIns="0" bIns="0" rtlCol="0" anchor="t"/>
          <a:lstStyle/>
          <a:p>
            <a:pPr indent="0" marL="0">
              <a:buNone/>
            </a:pPr>
            <a:r>
              <a:rPr lang="en-US" sz="950" dirty="0">
                <a:solidFill>
                  <a:srgbClr val="54565A"/>
                </a:solidFill>
                <a:latin typeface="Inter" pitchFamily="34" charset="0"/>
                <a:ea typeface="Inter" pitchFamily="34" charset="-122"/>
                <a:cs typeface="Inter" pitchFamily="34" charset="-120"/>
              </a:rPr>
              <a:t>Talend Agentic Routes</a:t>
            </a:r>
            <a:endParaRPr lang="en-US" sz="950" dirty="0"/>
          </a:p>
          <a:p>
            <a:pPr indent="0" marL="0">
              <a:buNone/>
            </a:pPr>
            <a:r>
              <a:rPr lang="en-US" sz="950" dirty="0">
                <a:solidFill>
                  <a:srgbClr val="54565A"/>
                </a:solidFill>
                <a:latin typeface="Inter" pitchFamily="34" charset="0"/>
                <a:ea typeface="Inter" pitchFamily="34" charset="-122"/>
                <a:cs typeface="Inter" pitchFamily="34" charset="-120"/>
              </a:rPr>
              <a:t>LLM · RAG in-task</a:t>
            </a:r>
            <a:endParaRPr lang="en-US" sz="950" dirty="0"/>
          </a:p>
          <a:p>
            <a:pPr indent="0" marL="0">
              <a:buNone/>
            </a:pPr>
            <a:r>
              <a:rPr lang="en-US" sz="950" dirty="0">
                <a:solidFill>
                  <a:srgbClr val="54565A"/>
                </a:solidFill>
                <a:latin typeface="Inter" pitchFamily="34" charset="0"/>
                <a:ea typeface="Inter" pitchFamily="34" charset="-122"/>
                <a:cs typeface="Inter" pitchFamily="34" charset="-120"/>
              </a:rPr>
              <a:t>Qlik MCP Server</a:t>
            </a:r>
            <a:endParaRPr lang="en-US" sz="950" dirty="0"/>
          </a:p>
          <a:p>
            <a:pPr indent="0" marL="0">
              <a:buNone/>
            </a:pPr>
            <a:r>
              <a:rPr lang="en-US" sz="400" dirty="0">
                <a:solidFill>
                  <a:srgbClr val="000000"/>
                </a:solidFill>
                <a:latin typeface="Inter" pitchFamily="34" charset="0"/>
                <a:ea typeface="Inter" pitchFamily="34" charset="-122"/>
                <a:cs typeface="Inter" pitchFamily="34" charset="-120"/>
              </a:rPr>
              <a:t> </a:t>
            </a:r>
            <a:endParaRPr lang="en-US" sz="950" dirty="0"/>
          </a:p>
          <a:p>
            <a:pPr indent="0" marL="0">
              <a:buNone/>
            </a:pPr>
            <a:r>
              <a:rPr lang="en-US" sz="950" b="1" dirty="0">
                <a:solidFill>
                  <a:srgbClr val="006580"/>
                </a:solidFill>
                <a:latin typeface="Inter" pitchFamily="34" charset="0"/>
                <a:ea typeface="Inter" pitchFamily="34" charset="-122"/>
                <a:cs typeface="Inter" pitchFamily="34" charset="-120"/>
              </a:rPr>
              <a:t>Governance to any AI</a:t>
            </a:r>
            <a:endParaRPr lang="en-US" sz="950" dirty="0"/>
          </a:p>
        </p:txBody>
      </p:sp>
      <p:sp>
        <p:nvSpPr>
          <p:cNvPr id="79" name="Shape 66"/>
          <p:cNvSpPr/>
          <p:nvPr/>
        </p:nvSpPr>
        <p:spPr>
          <a:xfrm>
            <a:off x="7461504" y="3602736"/>
            <a:ext cx="164592" cy="192024"/>
          </a:xfrm>
          <a:prstGeom prst="rightArrow">
            <a:avLst/>
          </a:prstGeom>
          <a:solidFill>
            <a:srgbClr val="54565A"/>
          </a:solidFill>
          <a:ln w="12700">
            <a:solidFill>
              <a:srgbClr val="54565A"/>
            </a:solidFill>
            <a:prstDash val="solid"/>
          </a:ln>
        </p:spPr>
      </p:sp>
      <p:sp>
        <p:nvSpPr>
          <p:cNvPr id="80" name="Text 67"/>
          <p:cNvSpPr/>
          <p:nvPr/>
        </p:nvSpPr>
        <p:spPr>
          <a:xfrm rot="16200000">
            <a:off x="7132320" y="2555748"/>
            <a:ext cx="822960" cy="274320"/>
          </a:xfrm>
          <a:prstGeom prst="rect">
            <a:avLst/>
          </a:prstGeom>
          <a:noFill/>
          <a:ln/>
        </p:spPr>
        <p:txBody>
          <a:bodyPr wrap="square" lIns="0" tIns="0" rIns="0" bIns="0" rtlCol="0" anchor="ctr"/>
          <a:lstStyle/>
          <a:p>
            <a:pPr algn="ctr" indent="0" marL="0">
              <a:buNone/>
            </a:pPr>
            <a:r>
              <a:rPr lang="en-US" sz="1200" b="1" dirty="0">
                <a:solidFill>
                  <a:srgbClr val="54565A"/>
                </a:solidFill>
                <a:latin typeface="Inter" pitchFamily="34" charset="0"/>
                <a:ea typeface="Inter" pitchFamily="34" charset="-122"/>
                <a:cs typeface="Inter" pitchFamily="34" charset="-120"/>
              </a:rPr>
              <a:t>LOAD</a:t>
            </a:r>
            <a:endParaRPr lang="en-US" sz="1200" dirty="0"/>
          </a:p>
        </p:txBody>
      </p:sp>
      <p:sp>
        <p:nvSpPr>
          <p:cNvPr id="81" name="Shape 68"/>
          <p:cNvSpPr/>
          <p:nvPr/>
        </p:nvSpPr>
        <p:spPr>
          <a:xfrm>
            <a:off x="7726680" y="1207008"/>
            <a:ext cx="2194560" cy="4983480"/>
          </a:xfrm>
          <a:prstGeom prst="rect">
            <a:avLst/>
          </a:prstGeom>
          <a:solidFill>
            <a:srgbClr val="FFFFFF"/>
          </a:solidFill>
          <a:ln w="9525">
            <a:solidFill>
              <a:srgbClr val="DEE2E6"/>
            </a:solidFill>
            <a:prstDash val="solid"/>
          </a:ln>
        </p:spPr>
      </p:sp>
      <p:sp>
        <p:nvSpPr>
          <p:cNvPr id="82" name="Shape 69"/>
          <p:cNvSpPr/>
          <p:nvPr/>
        </p:nvSpPr>
        <p:spPr>
          <a:xfrm>
            <a:off x="7726680" y="1207008"/>
            <a:ext cx="2194560" cy="73152"/>
          </a:xfrm>
          <a:prstGeom prst="rect">
            <a:avLst/>
          </a:prstGeom>
          <a:solidFill>
            <a:srgbClr val="006580"/>
          </a:solidFill>
          <a:ln w="12700">
            <a:solidFill>
              <a:srgbClr val="006580"/>
            </a:solidFill>
            <a:prstDash val="solid"/>
          </a:ln>
        </p:spPr>
      </p:sp>
      <p:sp>
        <p:nvSpPr>
          <p:cNvPr id="83" name="Text 70"/>
          <p:cNvSpPr/>
          <p:nvPr/>
        </p:nvSpPr>
        <p:spPr>
          <a:xfrm>
            <a:off x="7726680" y="1371600"/>
            <a:ext cx="2194560" cy="310896"/>
          </a:xfrm>
          <a:prstGeom prst="rect">
            <a:avLst/>
          </a:prstGeom>
          <a:noFill/>
          <a:ln/>
        </p:spPr>
        <p:txBody>
          <a:bodyPr wrap="square" lIns="0" tIns="0" rIns="0" bIns="0" rtlCol="0" anchor="ctr"/>
          <a:lstStyle/>
          <a:p>
            <a:pPr algn="ctr" indent="0" marL="0">
              <a:buNone/>
            </a:pPr>
            <a:r>
              <a:rPr lang="en-US" sz="1600" b="1" dirty="0">
                <a:solidFill>
                  <a:srgbClr val="19416C"/>
                </a:solidFill>
                <a:latin typeface="Inter" pitchFamily="34" charset="0"/>
                <a:ea typeface="Inter" pitchFamily="34" charset="-122"/>
                <a:cs typeface="Inter" pitchFamily="34" charset="-120"/>
              </a:rPr>
              <a:t>Analytics Workload</a:t>
            </a:r>
            <a:endParaRPr lang="en-US" sz="1600" dirty="0"/>
          </a:p>
        </p:txBody>
      </p:sp>
      <p:sp>
        <p:nvSpPr>
          <p:cNvPr id="84" name="Text 71"/>
          <p:cNvSpPr/>
          <p:nvPr/>
        </p:nvSpPr>
        <p:spPr>
          <a:xfrm>
            <a:off x="7726680" y="1682496"/>
            <a:ext cx="2194560" cy="219456"/>
          </a:xfrm>
          <a:prstGeom prst="rect">
            <a:avLst/>
          </a:prstGeom>
          <a:noFill/>
          <a:ln/>
        </p:spPr>
        <p:txBody>
          <a:bodyPr wrap="square" lIns="0" tIns="0" rIns="0" bIns="0" rtlCol="0" anchor="ctr"/>
          <a:lstStyle/>
          <a:p>
            <a:pPr algn="ctr" indent="0" marL="0">
              <a:buNone/>
            </a:pPr>
            <a:r>
              <a:rPr lang="en-US" sz="1000" i="1" dirty="0">
                <a:solidFill>
                  <a:srgbClr val="54565A"/>
                </a:solidFill>
                <a:latin typeface="Inter" pitchFamily="34" charset="0"/>
                <a:ea typeface="Inter" pitchFamily="34" charset="-122"/>
                <a:cs typeface="Inter" pitchFamily="34" charset="-120"/>
              </a:rPr>
              <a:t>Curated · Governed · Always-on</a:t>
            </a:r>
            <a:endParaRPr lang="en-US" sz="1000" dirty="0"/>
          </a:p>
        </p:txBody>
      </p:sp>
      <p:sp>
        <p:nvSpPr>
          <p:cNvPr id="85" name="Shape 72"/>
          <p:cNvSpPr/>
          <p:nvPr/>
        </p:nvSpPr>
        <p:spPr>
          <a:xfrm>
            <a:off x="7863840" y="1993392"/>
            <a:ext cx="1920240" cy="777240"/>
          </a:xfrm>
          <a:prstGeom prst="rect">
            <a:avLst/>
          </a:prstGeom>
          <a:solidFill>
            <a:srgbClr val="FFFFFF"/>
          </a:solidFill>
          <a:ln w="9525">
            <a:solidFill>
              <a:srgbClr val="DEE2E6"/>
            </a:solidFill>
            <a:prstDash val="solid"/>
          </a:ln>
        </p:spPr>
      </p:sp>
      <p:pic>
        <p:nvPicPr>
          <p:cNvPr id="86" name="Image 10" descr="preencoded.png">    </p:cNvPr>
          <p:cNvPicPr>
            <a:picLocks noChangeAspect="1"/>
          </p:cNvPicPr>
          <p:nvPr/>
        </p:nvPicPr>
        <p:blipFill>
          <a:blip r:embed="rId11"/>
          <a:stretch>
            <a:fillRect/>
          </a:stretch>
        </p:blipFill>
        <p:spPr>
          <a:xfrm>
            <a:off x="7936992" y="2193646"/>
            <a:ext cx="420624" cy="294437"/>
          </a:xfrm>
          <a:prstGeom prst="rect">
            <a:avLst/>
          </a:prstGeom>
        </p:spPr>
      </p:pic>
      <p:sp>
        <p:nvSpPr>
          <p:cNvPr id="87" name="Text 73"/>
          <p:cNvSpPr/>
          <p:nvPr/>
        </p:nvSpPr>
        <p:spPr>
          <a:xfrm>
            <a:off x="8394192" y="2139696"/>
            <a:ext cx="1316736" cy="219456"/>
          </a:xfrm>
          <a:prstGeom prst="rect">
            <a:avLst/>
          </a:prstGeom>
          <a:noFill/>
          <a:ln/>
        </p:spPr>
        <p:txBody>
          <a:bodyPr wrap="square" lIns="0" tIns="0" rIns="0" bIns="0" rtlCol="0" anchor="ctr"/>
          <a:lstStyle/>
          <a:p>
            <a:pPr indent="0" marL="0">
              <a:buNone/>
            </a:pPr>
            <a:r>
              <a:rPr lang="en-US" sz="1100" b="1" dirty="0">
                <a:solidFill>
                  <a:srgbClr val="19416C"/>
                </a:solidFill>
                <a:latin typeface="Inter" pitchFamily="34" charset="0"/>
                <a:ea typeface="Inter" pitchFamily="34" charset="-122"/>
                <a:cs typeface="Inter" pitchFamily="34" charset="-120"/>
              </a:rPr>
              <a:t>Cloud Platform</a:t>
            </a:r>
            <a:endParaRPr lang="en-US" sz="1100" dirty="0"/>
          </a:p>
        </p:txBody>
      </p:sp>
      <p:sp>
        <p:nvSpPr>
          <p:cNvPr id="88" name="Text 74"/>
          <p:cNvSpPr/>
          <p:nvPr/>
        </p:nvSpPr>
        <p:spPr>
          <a:xfrm>
            <a:off x="8394192" y="2395728"/>
            <a:ext cx="1316736" cy="201168"/>
          </a:xfrm>
          <a:prstGeom prst="rect">
            <a:avLst/>
          </a:prstGeom>
          <a:noFill/>
          <a:ln/>
        </p:spPr>
        <p:txBody>
          <a:bodyPr wrap="square" lIns="0" tIns="0" rIns="0" bIns="0" rtlCol="0" anchor="ctr"/>
          <a:lstStyle/>
          <a:p>
            <a:pPr indent="0" marL="0">
              <a:buNone/>
            </a:pPr>
            <a:r>
              <a:rPr lang="en-US" sz="850" dirty="0">
                <a:solidFill>
                  <a:srgbClr val="54565A"/>
                </a:solidFill>
                <a:latin typeface="Inter" pitchFamily="34" charset="0"/>
                <a:ea typeface="Inter" pitchFamily="34" charset="-122"/>
                <a:cs typeface="Inter" pitchFamily="34" charset="-120"/>
              </a:rPr>
              <a:t>Scales with the business</a:t>
            </a:r>
            <a:endParaRPr lang="en-US" sz="850" dirty="0"/>
          </a:p>
        </p:txBody>
      </p:sp>
      <p:sp>
        <p:nvSpPr>
          <p:cNvPr id="89" name="Shape 75"/>
          <p:cNvSpPr/>
          <p:nvPr/>
        </p:nvSpPr>
        <p:spPr>
          <a:xfrm>
            <a:off x="7863840" y="2843784"/>
            <a:ext cx="1920240" cy="777240"/>
          </a:xfrm>
          <a:prstGeom prst="rect">
            <a:avLst/>
          </a:prstGeom>
          <a:solidFill>
            <a:srgbClr val="FFFFFF"/>
          </a:solidFill>
          <a:ln w="9525">
            <a:solidFill>
              <a:srgbClr val="DEE2E6"/>
            </a:solidFill>
            <a:prstDash val="solid"/>
          </a:ln>
        </p:spPr>
      </p:sp>
      <p:pic>
        <p:nvPicPr>
          <p:cNvPr id="90" name="Image 11" descr="preencoded.png">    </p:cNvPr>
          <p:cNvPicPr>
            <a:picLocks noChangeAspect="1"/>
          </p:cNvPicPr>
          <p:nvPr/>
        </p:nvPicPr>
        <p:blipFill>
          <a:blip r:embed="rId12"/>
          <a:stretch>
            <a:fillRect/>
          </a:stretch>
        </p:blipFill>
        <p:spPr>
          <a:xfrm>
            <a:off x="7936992" y="3008376"/>
            <a:ext cx="420624" cy="420624"/>
          </a:xfrm>
          <a:prstGeom prst="rect">
            <a:avLst/>
          </a:prstGeom>
        </p:spPr>
      </p:pic>
      <p:sp>
        <p:nvSpPr>
          <p:cNvPr id="91" name="Text 76"/>
          <p:cNvSpPr/>
          <p:nvPr/>
        </p:nvSpPr>
        <p:spPr>
          <a:xfrm>
            <a:off x="8412480" y="3008376"/>
            <a:ext cx="1298448" cy="219456"/>
          </a:xfrm>
          <a:prstGeom prst="rect">
            <a:avLst/>
          </a:prstGeom>
          <a:noFill/>
          <a:ln/>
        </p:spPr>
        <p:txBody>
          <a:bodyPr wrap="square" lIns="0" tIns="0" rIns="0" bIns="0" rtlCol="0" anchor="ctr"/>
          <a:lstStyle/>
          <a:p>
            <a:pPr indent="0" marL="0">
              <a:buNone/>
            </a:pPr>
            <a:r>
              <a:rPr lang="en-US" sz="1100" b="1" dirty="0">
                <a:solidFill>
                  <a:srgbClr val="19416C"/>
                </a:solidFill>
                <a:latin typeface="Inter" pitchFamily="34" charset="0"/>
                <a:ea typeface="Inter" pitchFamily="34" charset="-122"/>
                <a:cs typeface="Inter" pitchFamily="34" charset="-120"/>
              </a:rPr>
              <a:t>Trusted Metrics</a:t>
            </a:r>
            <a:endParaRPr lang="en-US" sz="1100" dirty="0"/>
          </a:p>
        </p:txBody>
      </p:sp>
      <p:sp>
        <p:nvSpPr>
          <p:cNvPr id="92" name="Text 77"/>
          <p:cNvSpPr/>
          <p:nvPr/>
        </p:nvSpPr>
        <p:spPr>
          <a:xfrm>
            <a:off x="8412480" y="3264408"/>
            <a:ext cx="1298448" cy="201168"/>
          </a:xfrm>
          <a:prstGeom prst="rect">
            <a:avLst/>
          </a:prstGeom>
          <a:noFill/>
          <a:ln/>
        </p:spPr>
        <p:txBody>
          <a:bodyPr wrap="square" lIns="0" tIns="0" rIns="0" bIns="0" rtlCol="0" anchor="ctr"/>
          <a:lstStyle/>
          <a:p>
            <a:pPr indent="0" marL="0">
              <a:buNone/>
            </a:pPr>
            <a:r>
              <a:rPr lang="en-US" sz="900" b="1" dirty="0">
                <a:solidFill>
                  <a:srgbClr val="006580"/>
                </a:solidFill>
                <a:latin typeface="Inter" pitchFamily="34" charset="0"/>
                <a:ea typeface="Inter" pitchFamily="34" charset="-122"/>
                <a:cs typeface="Inter" pitchFamily="34" charset="-120"/>
              </a:rPr>
              <a:t>Powered by Qlik Trust Score</a:t>
            </a:r>
            <a:endParaRPr lang="en-US" sz="900" dirty="0"/>
          </a:p>
        </p:txBody>
      </p:sp>
      <p:sp>
        <p:nvSpPr>
          <p:cNvPr id="93" name="Shape 78"/>
          <p:cNvSpPr/>
          <p:nvPr/>
        </p:nvSpPr>
        <p:spPr>
          <a:xfrm>
            <a:off x="7863840" y="3694176"/>
            <a:ext cx="1920240" cy="1188720"/>
          </a:xfrm>
          <a:prstGeom prst="rect">
            <a:avLst/>
          </a:prstGeom>
          <a:solidFill>
            <a:srgbClr val="FFFFFF"/>
          </a:solidFill>
          <a:ln w="9525">
            <a:solidFill>
              <a:srgbClr val="DEE2E6"/>
            </a:solidFill>
            <a:prstDash val="solid"/>
          </a:ln>
        </p:spPr>
      </p:sp>
      <p:sp>
        <p:nvSpPr>
          <p:cNvPr id="94" name="Text 79"/>
          <p:cNvSpPr/>
          <p:nvPr/>
        </p:nvSpPr>
        <p:spPr>
          <a:xfrm>
            <a:off x="7955280" y="3767328"/>
            <a:ext cx="1737360" cy="256032"/>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AI / ML Foundation</a:t>
            </a:r>
            <a:endParaRPr lang="en-US" sz="1200" dirty="0"/>
          </a:p>
        </p:txBody>
      </p:sp>
      <p:pic>
        <p:nvPicPr>
          <p:cNvPr id="95" name="Image 12" descr="preencoded.png">    </p:cNvPr>
          <p:cNvPicPr>
            <a:picLocks noChangeAspect="1"/>
          </p:cNvPicPr>
          <p:nvPr/>
        </p:nvPicPr>
        <p:blipFill>
          <a:blip r:embed="rId13"/>
          <a:stretch>
            <a:fillRect/>
          </a:stretch>
        </p:blipFill>
        <p:spPr>
          <a:xfrm>
            <a:off x="7936992" y="4104513"/>
            <a:ext cx="420624" cy="368046"/>
          </a:xfrm>
          <a:prstGeom prst="rect">
            <a:avLst/>
          </a:prstGeom>
        </p:spPr>
      </p:pic>
      <p:sp>
        <p:nvSpPr>
          <p:cNvPr id="96" name="Text 80"/>
          <p:cNvSpPr/>
          <p:nvPr/>
        </p:nvSpPr>
        <p:spPr>
          <a:xfrm>
            <a:off x="8394192" y="4059936"/>
            <a:ext cx="1298448" cy="777240"/>
          </a:xfrm>
          <a:prstGeom prst="rect">
            <a:avLst/>
          </a:prstGeom>
          <a:noFill/>
          <a:ln/>
        </p:spPr>
        <p:txBody>
          <a:bodyPr wrap="square" lIns="0" tIns="0" rIns="0" bIns="0" rtlCol="0" anchor="t"/>
          <a:lstStyle/>
          <a:p>
            <a:pPr indent="0" marL="0">
              <a:buNone/>
            </a:pPr>
            <a:r>
              <a:rPr lang="en-US" sz="900" dirty="0">
                <a:solidFill>
                  <a:srgbClr val="54565A"/>
                </a:solidFill>
                <a:latin typeface="Inter" pitchFamily="34" charset="0"/>
                <a:ea typeface="Inter" pitchFamily="34" charset="-122"/>
                <a:cs typeface="Inter" pitchFamily="34" charset="-120"/>
              </a:rPr>
              <a:t>Predict trained on</a:t>
            </a:r>
            <a:endParaRPr lang="en-US" sz="900" dirty="0"/>
          </a:p>
          <a:p>
            <a:pPr indent="0" marL="0">
              <a:buNone/>
            </a:pPr>
            <a:r>
              <a:rPr lang="en-US" sz="900" dirty="0">
                <a:solidFill>
                  <a:srgbClr val="54565A"/>
                </a:solidFill>
                <a:latin typeface="Inter" pitchFamily="34" charset="0"/>
                <a:ea typeface="Inter" pitchFamily="34" charset="-122"/>
                <a:cs typeface="Inter" pitchFamily="34" charset="-120"/>
              </a:rPr>
              <a:t>governed lakehouse</a:t>
            </a:r>
            <a:endParaRPr lang="en-US" sz="900" dirty="0"/>
          </a:p>
          <a:p>
            <a:pPr indent="0" marL="0">
              <a:buNone/>
            </a:pPr>
            <a:r>
              <a:rPr lang="en-US" sz="400" dirty="0">
                <a:solidFill>
                  <a:srgbClr val="000000"/>
                </a:solidFill>
                <a:latin typeface="Inter" pitchFamily="34" charset="0"/>
                <a:ea typeface="Inter" pitchFamily="34" charset="-122"/>
                <a:cs typeface="Inter" pitchFamily="34" charset="-120"/>
              </a:rPr>
              <a:t> </a:t>
            </a:r>
            <a:endParaRPr lang="en-US" sz="900" dirty="0"/>
          </a:p>
          <a:p>
            <a:pPr indent="0" marL="0">
              <a:buNone/>
            </a:pPr>
            <a:r>
              <a:rPr lang="en-US" sz="900" b="1" dirty="0">
                <a:solidFill>
                  <a:srgbClr val="006580"/>
                </a:solidFill>
                <a:latin typeface="Inter" pitchFamily="34" charset="0"/>
                <a:ea typeface="Inter" pitchFamily="34" charset="-122"/>
                <a:cs typeface="Inter" pitchFamily="34" charset="-120"/>
              </a:rPr>
              <a:t>Human-in-the-loop:</a:t>
            </a:r>
            <a:endParaRPr lang="en-US" sz="900" dirty="0"/>
          </a:p>
          <a:p>
            <a:pPr indent="0" marL="0">
              <a:buNone/>
            </a:pPr>
            <a:r>
              <a:rPr lang="en-US" sz="900" b="1" dirty="0">
                <a:solidFill>
                  <a:srgbClr val="006580"/>
                </a:solidFill>
                <a:latin typeface="Inter" pitchFamily="34" charset="0"/>
                <a:ea typeface="Inter" pitchFamily="34" charset="-122"/>
                <a:cs typeface="Inter" pitchFamily="34" charset="-120"/>
              </a:rPr>
              <a:t>agent drafts, you OK</a:t>
            </a:r>
            <a:endParaRPr lang="en-US" sz="900" dirty="0"/>
          </a:p>
        </p:txBody>
      </p:sp>
      <p:sp>
        <p:nvSpPr>
          <p:cNvPr id="97" name="Shape 81"/>
          <p:cNvSpPr/>
          <p:nvPr/>
        </p:nvSpPr>
        <p:spPr>
          <a:xfrm>
            <a:off x="7863840" y="4956048"/>
            <a:ext cx="1920240" cy="1188720"/>
          </a:xfrm>
          <a:prstGeom prst="rect">
            <a:avLst/>
          </a:prstGeom>
          <a:solidFill>
            <a:srgbClr val="FFFFFF"/>
          </a:solidFill>
          <a:ln w="9525">
            <a:solidFill>
              <a:srgbClr val="DEE2E6"/>
            </a:solidFill>
            <a:prstDash val="solid"/>
          </a:ln>
        </p:spPr>
      </p:sp>
      <p:sp>
        <p:nvSpPr>
          <p:cNvPr id="98" name="Text 82"/>
          <p:cNvSpPr/>
          <p:nvPr/>
        </p:nvSpPr>
        <p:spPr>
          <a:xfrm>
            <a:off x="7955280" y="5029200"/>
            <a:ext cx="1737360" cy="256032"/>
          </a:xfrm>
          <a:prstGeom prst="rect">
            <a:avLst/>
          </a:prstGeom>
          <a:noFill/>
          <a:ln/>
        </p:spPr>
        <p:txBody>
          <a:bodyPr wrap="square" lIns="0" tIns="0" rIns="0" bIns="0" rtlCol="0" anchor="ctr"/>
          <a:lstStyle/>
          <a:p>
            <a:pPr indent="0" marL="0">
              <a:buNone/>
            </a:pPr>
            <a:r>
              <a:rPr lang="en-US" sz="1200" b="1" dirty="0">
                <a:solidFill>
                  <a:srgbClr val="19416C"/>
                </a:solidFill>
                <a:latin typeface="Inter" pitchFamily="34" charset="0"/>
                <a:ea typeface="Inter" pitchFamily="34" charset="-122"/>
                <a:cs typeface="Inter" pitchFamily="34" charset="-120"/>
              </a:rPr>
              <a:t>Governance &amp; Security</a:t>
            </a:r>
            <a:endParaRPr lang="en-US" sz="1200" dirty="0"/>
          </a:p>
        </p:txBody>
      </p:sp>
      <p:pic>
        <p:nvPicPr>
          <p:cNvPr id="99" name="Image 13" descr="preencoded.png">    </p:cNvPr>
          <p:cNvPicPr>
            <a:picLocks noChangeAspect="1"/>
          </p:cNvPicPr>
          <p:nvPr/>
        </p:nvPicPr>
        <p:blipFill>
          <a:blip r:embed="rId14"/>
          <a:stretch>
            <a:fillRect/>
          </a:stretch>
        </p:blipFill>
        <p:spPr>
          <a:xfrm>
            <a:off x="7973568" y="5257800"/>
            <a:ext cx="219456" cy="219456"/>
          </a:xfrm>
          <a:prstGeom prst="rect">
            <a:avLst/>
          </a:prstGeom>
        </p:spPr>
      </p:pic>
      <p:sp>
        <p:nvSpPr>
          <p:cNvPr id="100" name="Text 83"/>
          <p:cNvSpPr/>
          <p:nvPr/>
        </p:nvSpPr>
        <p:spPr>
          <a:xfrm>
            <a:off x="8229600" y="5276088"/>
            <a:ext cx="1463040" cy="182880"/>
          </a:xfrm>
          <a:prstGeom prst="rect">
            <a:avLst/>
          </a:prstGeom>
          <a:noFill/>
          <a:ln/>
        </p:spPr>
        <p:txBody>
          <a:bodyPr wrap="square" lIns="0" tIns="0" rIns="0" bIns="0" rtlCol="0" anchor="ctr"/>
          <a:lstStyle/>
          <a:p>
            <a:pPr indent="0" marL="0">
              <a:buNone/>
            </a:pPr>
            <a:r>
              <a:rPr lang="en-US" sz="950" dirty="0">
                <a:solidFill>
                  <a:srgbClr val="54565A"/>
                </a:solidFill>
                <a:latin typeface="Inter" pitchFamily="34" charset="0"/>
                <a:ea typeface="Inter" pitchFamily="34" charset="-122"/>
                <a:cs typeface="Inter" pitchFamily="34" charset="-120"/>
              </a:rPr>
              <a:t>Lineage</a:t>
            </a:r>
            <a:endParaRPr lang="en-US" sz="950" dirty="0"/>
          </a:p>
        </p:txBody>
      </p:sp>
      <p:pic>
        <p:nvPicPr>
          <p:cNvPr id="101" name="Image 14" descr="preencoded.png">    </p:cNvPr>
          <p:cNvPicPr>
            <a:picLocks noChangeAspect="1"/>
          </p:cNvPicPr>
          <p:nvPr/>
        </p:nvPicPr>
        <p:blipFill>
          <a:blip r:embed="rId15"/>
          <a:stretch>
            <a:fillRect/>
          </a:stretch>
        </p:blipFill>
        <p:spPr>
          <a:xfrm>
            <a:off x="7973568" y="5468112"/>
            <a:ext cx="219456" cy="219456"/>
          </a:xfrm>
          <a:prstGeom prst="rect">
            <a:avLst/>
          </a:prstGeom>
        </p:spPr>
      </p:pic>
      <p:sp>
        <p:nvSpPr>
          <p:cNvPr id="102" name="Text 84"/>
          <p:cNvSpPr/>
          <p:nvPr/>
        </p:nvSpPr>
        <p:spPr>
          <a:xfrm>
            <a:off x="8229600" y="5486400"/>
            <a:ext cx="1463040" cy="182880"/>
          </a:xfrm>
          <a:prstGeom prst="rect">
            <a:avLst/>
          </a:prstGeom>
          <a:noFill/>
          <a:ln/>
        </p:spPr>
        <p:txBody>
          <a:bodyPr wrap="square" lIns="0" tIns="0" rIns="0" bIns="0" rtlCol="0" anchor="ctr"/>
          <a:lstStyle/>
          <a:p>
            <a:pPr indent="0" marL="0">
              <a:buNone/>
            </a:pPr>
            <a:r>
              <a:rPr lang="en-US" sz="950" dirty="0">
                <a:solidFill>
                  <a:srgbClr val="54565A"/>
                </a:solidFill>
                <a:latin typeface="Inter" pitchFamily="34" charset="0"/>
                <a:ea typeface="Inter" pitchFamily="34" charset="-122"/>
                <a:cs typeface="Inter" pitchFamily="34" charset="-120"/>
              </a:rPr>
              <a:t>Impact analysis</a:t>
            </a:r>
            <a:endParaRPr lang="en-US" sz="950" dirty="0"/>
          </a:p>
        </p:txBody>
      </p:sp>
      <p:pic>
        <p:nvPicPr>
          <p:cNvPr id="103" name="Image 15" descr="preencoded.png">    </p:cNvPr>
          <p:cNvPicPr>
            <a:picLocks noChangeAspect="1"/>
          </p:cNvPicPr>
          <p:nvPr/>
        </p:nvPicPr>
        <p:blipFill>
          <a:blip r:embed="rId16"/>
          <a:stretch>
            <a:fillRect/>
          </a:stretch>
        </p:blipFill>
        <p:spPr>
          <a:xfrm>
            <a:off x="7973568" y="5678424"/>
            <a:ext cx="219456" cy="219456"/>
          </a:xfrm>
          <a:prstGeom prst="rect">
            <a:avLst/>
          </a:prstGeom>
        </p:spPr>
      </p:pic>
      <p:sp>
        <p:nvSpPr>
          <p:cNvPr id="104" name="Text 85"/>
          <p:cNvSpPr/>
          <p:nvPr/>
        </p:nvSpPr>
        <p:spPr>
          <a:xfrm>
            <a:off x="8229600" y="5696712"/>
            <a:ext cx="1463040" cy="182880"/>
          </a:xfrm>
          <a:prstGeom prst="rect">
            <a:avLst/>
          </a:prstGeom>
          <a:noFill/>
          <a:ln/>
        </p:spPr>
        <p:txBody>
          <a:bodyPr wrap="square" lIns="0" tIns="0" rIns="0" bIns="0" rtlCol="0" anchor="ctr"/>
          <a:lstStyle/>
          <a:p>
            <a:pPr indent="0" marL="0">
              <a:buNone/>
            </a:pPr>
            <a:r>
              <a:rPr lang="en-US" sz="950" dirty="0">
                <a:solidFill>
                  <a:srgbClr val="54565A"/>
                </a:solidFill>
                <a:latin typeface="Inter" pitchFamily="34" charset="0"/>
                <a:ea typeface="Inter" pitchFamily="34" charset="-122"/>
                <a:cs typeface="Inter" pitchFamily="34" charset="-120"/>
              </a:rPr>
              <a:t>Right access</a:t>
            </a:r>
            <a:endParaRPr lang="en-US" sz="950" dirty="0"/>
          </a:p>
        </p:txBody>
      </p:sp>
      <p:pic>
        <p:nvPicPr>
          <p:cNvPr id="105" name="Image 16" descr="preencoded.png">    </p:cNvPr>
          <p:cNvPicPr>
            <a:picLocks noChangeAspect="1"/>
          </p:cNvPicPr>
          <p:nvPr/>
        </p:nvPicPr>
        <p:blipFill>
          <a:blip r:embed="rId17"/>
          <a:stretch>
            <a:fillRect/>
          </a:stretch>
        </p:blipFill>
        <p:spPr>
          <a:xfrm>
            <a:off x="7973568" y="5888736"/>
            <a:ext cx="219456" cy="219456"/>
          </a:xfrm>
          <a:prstGeom prst="rect">
            <a:avLst/>
          </a:prstGeom>
        </p:spPr>
      </p:pic>
      <p:sp>
        <p:nvSpPr>
          <p:cNvPr id="106" name="Text 86"/>
          <p:cNvSpPr/>
          <p:nvPr/>
        </p:nvSpPr>
        <p:spPr>
          <a:xfrm>
            <a:off x="8229600" y="5907024"/>
            <a:ext cx="1463040" cy="182880"/>
          </a:xfrm>
          <a:prstGeom prst="rect">
            <a:avLst/>
          </a:prstGeom>
          <a:noFill/>
          <a:ln/>
        </p:spPr>
        <p:txBody>
          <a:bodyPr wrap="square" lIns="0" tIns="0" rIns="0" bIns="0" rtlCol="0" anchor="ctr"/>
          <a:lstStyle/>
          <a:p>
            <a:pPr indent="0" marL="0">
              <a:buNone/>
            </a:pPr>
            <a:r>
              <a:rPr lang="en-US" sz="950" dirty="0">
                <a:solidFill>
                  <a:srgbClr val="54565A"/>
                </a:solidFill>
                <a:latin typeface="Inter" pitchFamily="34" charset="0"/>
                <a:ea typeface="Inter" pitchFamily="34" charset="-122"/>
                <a:cs typeface="Inter" pitchFamily="34" charset="-120"/>
              </a:rPr>
              <a:t>Compliance built-in</a:t>
            </a:r>
            <a:endParaRPr lang="en-US" sz="950" dirty="0"/>
          </a:p>
        </p:txBody>
      </p:sp>
      <p:sp>
        <p:nvSpPr>
          <p:cNvPr id="107" name="Shape 87"/>
          <p:cNvSpPr/>
          <p:nvPr/>
        </p:nvSpPr>
        <p:spPr>
          <a:xfrm>
            <a:off x="9930384" y="3602736"/>
            <a:ext cx="164592" cy="192024"/>
          </a:xfrm>
          <a:prstGeom prst="rightArrow">
            <a:avLst/>
          </a:prstGeom>
          <a:solidFill>
            <a:srgbClr val="54565A"/>
          </a:solidFill>
          <a:ln w="12700">
            <a:solidFill>
              <a:srgbClr val="54565A"/>
            </a:solidFill>
            <a:prstDash val="solid"/>
          </a:ln>
        </p:spPr>
      </p:sp>
      <p:sp>
        <p:nvSpPr>
          <p:cNvPr id="108" name="Text 88"/>
          <p:cNvSpPr/>
          <p:nvPr/>
        </p:nvSpPr>
        <p:spPr>
          <a:xfrm rot="16200000">
            <a:off x="9601200" y="2555748"/>
            <a:ext cx="822960" cy="274320"/>
          </a:xfrm>
          <a:prstGeom prst="rect">
            <a:avLst/>
          </a:prstGeom>
          <a:noFill/>
          <a:ln/>
        </p:spPr>
        <p:txBody>
          <a:bodyPr wrap="square" lIns="0" tIns="0" rIns="0" bIns="0" rtlCol="0" anchor="ctr"/>
          <a:lstStyle/>
          <a:p>
            <a:pPr algn="ctr" indent="0" marL="0">
              <a:buNone/>
            </a:pPr>
            <a:r>
              <a:rPr lang="en-US" sz="1200" b="1" dirty="0">
                <a:solidFill>
                  <a:srgbClr val="54565A"/>
                </a:solidFill>
                <a:latin typeface="Inter" pitchFamily="34" charset="0"/>
                <a:ea typeface="Inter" pitchFamily="34" charset="-122"/>
                <a:cs typeface="Inter" pitchFamily="34" charset="-120"/>
              </a:rPr>
              <a:t>SERVE</a:t>
            </a:r>
            <a:endParaRPr lang="en-US" sz="1200" dirty="0"/>
          </a:p>
        </p:txBody>
      </p:sp>
      <p:sp>
        <p:nvSpPr>
          <p:cNvPr id="109" name="Shape 89"/>
          <p:cNvSpPr/>
          <p:nvPr/>
        </p:nvSpPr>
        <p:spPr>
          <a:xfrm>
            <a:off x="10104120" y="1207008"/>
            <a:ext cx="1874520" cy="4983480"/>
          </a:xfrm>
          <a:prstGeom prst="rect">
            <a:avLst/>
          </a:prstGeom>
          <a:solidFill>
            <a:srgbClr val="FFFFFF"/>
          </a:solidFill>
          <a:ln w="9525">
            <a:solidFill>
              <a:srgbClr val="DEE2E6"/>
            </a:solidFill>
            <a:prstDash val="solid"/>
          </a:ln>
        </p:spPr>
      </p:sp>
      <p:sp>
        <p:nvSpPr>
          <p:cNvPr id="110" name="Shape 90"/>
          <p:cNvSpPr/>
          <p:nvPr/>
        </p:nvSpPr>
        <p:spPr>
          <a:xfrm>
            <a:off x="10104120" y="1207008"/>
            <a:ext cx="1874520" cy="73152"/>
          </a:xfrm>
          <a:prstGeom prst="rect">
            <a:avLst/>
          </a:prstGeom>
          <a:solidFill>
            <a:srgbClr val="93579C"/>
          </a:solidFill>
          <a:ln w="12700">
            <a:solidFill>
              <a:srgbClr val="93579C"/>
            </a:solidFill>
            <a:prstDash val="solid"/>
          </a:ln>
        </p:spPr>
      </p:sp>
      <p:sp>
        <p:nvSpPr>
          <p:cNvPr id="111" name="Text 91"/>
          <p:cNvSpPr/>
          <p:nvPr/>
        </p:nvSpPr>
        <p:spPr>
          <a:xfrm>
            <a:off x="10104120" y="1371600"/>
            <a:ext cx="1874520" cy="310896"/>
          </a:xfrm>
          <a:prstGeom prst="rect">
            <a:avLst/>
          </a:prstGeom>
          <a:noFill/>
          <a:ln/>
        </p:spPr>
        <p:txBody>
          <a:bodyPr wrap="square" lIns="0" tIns="0" rIns="0" bIns="0" rtlCol="0" anchor="ctr"/>
          <a:lstStyle/>
          <a:p>
            <a:pPr algn="ctr" indent="0" marL="0">
              <a:buNone/>
            </a:pPr>
            <a:r>
              <a:rPr lang="en-US" sz="1600" b="1" dirty="0">
                <a:solidFill>
                  <a:srgbClr val="19416C"/>
                </a:solidFill>
                <a:latin typeface="Inter" pitchFamily="34" charset="0"/>
                <a:ea typeface="Inter" pitchFamily="34" charset="-122"/>
                <a:cs typeface="Inter" pitchFamily="34" charset="-120"/>
              </a:rPr>
              <a:t>Outcomes</a:t>
            </a:r>
            <a:endParaRPr lang="en-US" sz="1600" dirty="0"/>
          </a:p>
        </p:txBody>
      </p:sp>
      <p:sp>
        <p:nvSpPr>
          <p:cNvPr id="112" name="Text 92"/>
          <p:cNvSpPr/>
          <p:nvPr/>
        </p:nvSpPr>
        <p:spPr>
          <a:xfrm>
            <a:off x="10104120" y="1682496"/>
            <a:ext cx="1874520" cy="219456"/>
          </a:xfrm>
          <a:prstGeom prst="rect">
            <a:avLst/>
          </a:prstGeom>
          <a:noFill/>
          <a:ln/>
        </p:spPr>
        <p:txBody>
          <a:bodyPr wrap="square" lIns="0" tIns="0" rIns="0" bIns="0" rtlCol="0" anchor="ctr"/>
          <a:lstStyle/>
          <a:p>
            <a:pPr algn="ctr" indent="0" marL="0">
              <a:buNone/>
            </a:pPr>
            <a:r>
              <a:rPr lang="en-US" sz="1000" i="1" dirty="0">
                <a:solidFill>
                  <a:srgbClr val="54565A"/>
                </a:solidFill>
                <a:latin typeface="Inter" pitchFamily="34" charset="0"/>
                <a:ea typeface="Inter" pitchFamily="34" charset="-122"/>
                <a:cs typeface="Inter" pitchFamily="34" charset="-120"/>
              </a:rPr>
              <a:t>What your customer is buying</a:t>
            </a:r>
            <a:endParaRPr lang="en-US" sz="1000" dirty="0"/>
          </a:p>
        </p:txBody>
      </p:sp>
      <p:sp>
        <p:nvSpPr>
          <p:cNvPr id="113" name="Shape 93"/>
          <p:cNvSpPr/>
          <p:nvPr/>
        </p:nvSpPr>
        <p:spPr>
          <a:xfrm>
            <a:off x="10213848" y="1993392"/>
            <a:ext cx="1655064" cy="802843"/>
          </a:xfrm>
          <a:prstGeom prst="rect">
            <a:avLst/>
          </a:prstGeom>
          <a:solidFill>
            <a:srgbClr val="FFFFFF"/>
          </a:solidFill>
          <a:ln w="9525">
            <a:solidFill>
              <a:srgbClr val="DEE2E6"/>
            </a:solidFill>
            <a:prstDash val="solid"/>
          </a:ln>
        </p:spPr>
      </p:sp>
      <p:pic>
        <p:nvPicPr>
          <p:cNvPr id="114" name="Image 17" descr="preencoded.png">    </p:cNvPr>
          <p:cNvPicPr>
            <a:picLocks noChangeAspect="1"/>
          </p:cNvPicPr>
          <p:nvPr/>
        </p:nvPicPr>
        <p:blipFill>
          <a:blip r:embed="rId18"/>
          <a:stretch>
            <a:fillRect/>
          </a:stretch>
        </p:blipFill>
        <p:spPr>
          <a:xfrm>
            <a:off x="10259568" y="2257654"/>
            <a:ext cx="365760" cy="274320"/>
          </a:xfrm>
          <a:prstGeom prst="rect">
            <a:avLst/>
          </a:prstGeom>
        </p:spPr>
      </p:pic>
      <p:sp>
        <p:nvSpPr>
          <p:cNvPr id="115" name="Text 94"/>
          <p:cNvSpPr/>
          <p:nvPr/>
        </p:nvSpPr>
        <p:spPr>
          <a:xfrm>
            <a:off x="10652760" y="2066544"/>
            <a:ext cx="1161288" cy="201168"/>
          </a:xfrm>
          <a:prstGeom prst="rect">
            <a:avLst/>
          </a:prstGeom>
          <a:noFill/>
          <a:ln/>
        </p:spPr>
        <p:txBody>
          <a:bodyPr wrap="square" lIns="0" tIns="0" rIns="0" bIns="0" rtlCol="0" anchor="ctr"/>
          <a:lstStyle/>
          <a:p>
            <a:pPr indent="0" marL="0">
              <a:buNone/>
            </a:pPr>
            <a:r>
              <a:rPr lang="en-US" sz="1050" b="1" dirty="0">
                <a:solidFill>
                  <a:srgbClr val="19416C"/>
                </a:solidFill>
                <a:latin typeface="Inter" pitchFamily="34" charset="0"/>
                <a:ea typeface="Inter" pitchFamily="34" charset="-122"/>
                <a:cs typeface="Inter" pitchFamily="34" charset="-120"/>
              </a:rPr>
              <a:t>Pipelines as Code</a:t>
            </a:r>
            <a:endParaRPr lang="en-US" sz="1050" dirty="0"/>
          </a:p>
        </p:txBody>
      </p:sp>
      <p:sp>
        <p:nvSpPr>
          <p:cNvPr id="116" name="Text 95"/>
          <p:cNvSpPr/>
          <p:nvPr/>
        </p:nvSpPr>
        <p:spPr>
          <a:xfrm>
            <a:off x="10652760" y="2304288"/>
            <a:ext cx="1161288" cy="164592"/>
          </a:xfrm>
          <a:prstGeom prst="rect">
            <a:avLst/>
          </a:prstGeom>
          <a:noFill/>
          <a:ln/>
        </p:spPr>
        <p:txBody>
          <a:bodyPr wrap="square" lIns="0" tIns="0" rIns="0" bIns="0" rtlCol="0" anchor="ctr"/>
          <a:lstStyle/>
          <a:p>
            <a:pPr indent="0" marL="0">
              <a:buNone/>
            </a:pPr>
            <a:r>
              <a:rPr lang="en-US" sz="850" dirty="0">
                <a:solidFill>
                  <a:srgbClr val="54565A"/>
                </a:solidFill>
                <a:latin typeface="Inter" pitchFamily="34" charset="0"/>
                <a:ea typeface="Inter" pitchFamily="34" charset="-122"/>
                <a:cs typeface="Inter" pitchFamily="34" charset="-120"/>
              </a:rPr>
              <a:t>2 projects · 6 tasks</a:t>
            </a:r>
            <a:endParaRPr lang="en-US" sz="850" dirty="0"/>
          </a:p>
        </p:txBody>
      </p:sp>
      <p:sp>
        <p:nvSpPr>
          <p:cNvPr id="117" name="Text 96"/>
          <p:cNvSpPr/>
          <p:nvPr/>
        </p:nvSpPr>
        <p:spPr>
          <a:xfrm>
            <a:off x="10652760" y="2505456"/>
            <a:ext cx="1161288" cy="164592"/>
          </a:xfrm>
          <a:prstGeom prst="rect">
            <a:avLst/>
          </a:prstGeom>
          <a:noFill/>
          <a:ln/>
        </p:spPr>
        <p:txBody>
          <a:bodyPr wrap="square" lIns="0" tIns="0" rIns="0" bIns="0" rtlCol="0" anchor="ctr"/>
          <a:lstStyle/>
          <a:p>
            <a:pPr indent="0" marL="0">
              <a:buNone/>
            </a:pPr>
            <a:r>
              <a:rPr lang="en-US" sz="750" i="1" dirty="0">
                <a:solidFill>
                  <a:srgbClr val="93579C"/>
                </a:solidFill>
                <a:latin typeface="Inter" pitchFamily="34" charset="0"/>
                <a:ea typeface="Inter" pitchFamily="34" charset="-122"/>
                <a:cs typeface="Inter" pitchFamily="34" charset="-120"/>
              </a:rPr>
              <a:t>VS Code + AI agent</a:t>
            </a:r>
            <a:endParaRPr lang="en-US" sz="750" dirty="0"/>
          </a:p>
        </p:txBody>
      </p:sp>
      <p:sp>
        <p:nvSpPr>
          <p:cNvPr id="118" name="Shape 97"/>
          <p:cNvSpPr/>
          <p:nvPr/>
        </p:nvSpPr>
        <p:spPr>
          <a:xfrm>
            <a:off x="10213848" y="2841955"/>
            <a:ext cx="1655064" cy="802843"/>
          </a:xfrm>
          <a:prstGeom prst="rect">
            <a:avLst/>
          </a:prstGeom>
          <a:solidFill>
            <a:srgbClr val="FFFFFF"/>
          </a:solidFill>
          <a:ln w="9525">
            <a:solidFill>
              <a:srgbClr val="DEE2E6"/>
            </a:solidFill>
            <a:prstDash val="solid"/>
          </a:ln>
        </p:spPr>
      </p:sp>
      <p:pic>
        <p:nvPicPr>
          <p:cNvPr id="119" name="Image 18" descr="preencoded.png">    </p:cNvPr>
          <p:cNvPicPr>
            <a:picLocks noChangeAspect="1"/>
          </p:cNvPicPr>
          <p:nvPr/>
        </p:nvPicPr>
        <p:blipFill>
          <a:blip r:embed="rId19"/>
          <a:stretch>
            <a:fillRect/>
          </a:stretch>
        </p:blipFill>
        <p:spPr>
          <a:xfrm>
            <a:off x="10259568" y="3094787"/>
            <a:ext cx="365760" cy="297180"/>
          </a:xfrm>
          <a:prstGeom prst="rect">
            <a:avLst/>
          </a:prstGeom>
        </p:spPr>
      </p:pic>
      <p:sp>
        <p:nvSpPr>
          <p:cNvPr id="120" name="Text 98"/>
          <p:cNvSpPr/>
          <p:nvPr/>
        </p:nvSpPr>
        <p:spPr>
          <a:xfrm>
            <a:off x="10652760" y="2915107"/>
            <a:ext cx="1161288" cy="201168"/>
          </a:xfrm>
          <a:prstGeom prst="rect">
            <a:avLst/>
          </a:prstGeom>
          <a:noFill/>
          <a:ln/>
        </p:spPr>
        <p:txBody>
          <a:bodyPr wrap="square" lIns="0" tIns="0" rIns="0" bIns="0" rtlCol="0" anchor="ctr"/>
          <a:lstStyle/>
          <a:p>
            <a:pPr indent="0" marL="0">
              <a:buNone/>
            </a:pPr>
            <a:r>
              <a:rPr lang="en-US" sz="1050" b="1" dirty="0">
                <a:solidFill>
                  <a:srgbClr val="19416C"/>
                </a:solidFill>
                <a:latin typeface="Inter" pitchFamily="34" charset="0"/>
                <a:ea typeface="Inter" pitchFamily="34" charset="-122"/>
                <a:cs typeface="Inter" pitchFamily="34" charset="-120"/>
              </a:rPr>
              <a:t>Governance Agents</a:t>
            </a:r>
            <a:endParaRPr lang="en-US" sz="1050" dirty="0"/>
          </a:p>
        </p:txBody>
      </p:sp>
      <p:sp>
        <p:nvSpPr>
          <p:cNvPr id="121" name="Text 99"/>
          <p:cNvSpPr/>
          <p:nvPr/>
        </p:nvSpPr>
        <p:spPr>
          <a:xfrm>
            <a:off x="10652760" y="3152851"/>
            <a:ext cx="1161288" cy="164592"/>
          </a:xfrm>
          <a:prstGeom prst="rect">
            <a:avLst/>
          </a:prstGeom>
          <a:noFill/>
          <a:ln/>
        </p:spPr>
        <p:txBody>
          <a:bodyPr wrap="square" lIns="0" tIns="0" rIns="0" bIns="0" rtlCol="0" anchor="ctr"/>
          <a:lstStyle/>
          <a:p>
            <a:pPr indent="0" marL="0">
              <a:buNone/>
            </a:pPr>
            <a:r>
              <a:rPr lang="en-US" sz="850" dirty="0">
                <a:solidFill>
                  <a:srgbClr val="54565A"/>
                </a:solidFill>
                <a:latin typeface="Inter" pitchFamily="34" charset="0"/>
                <a:ea typeface="Inter" pitchFamily="34" charset="-122"/>
                <a:cs typeface="Inter" pitchFamily="34" charset="-120"/>
              </a:rPr>
              <a:t>Product · Quality</a:t>
            </a:r>
            <a:endParaRPr lang="en-US" sz="850" dirty="0"/>
          </a:p>
        </p:txBody>
      </p:sp>
      <p:sp>
        <p:nvSpPr>
          <p:cNvPr id="122" name="Text 100"/>
          <p:cNvSpPr/>
          <p:nvPr/>
        </p:nvSpPr>
        <p:spPr>
          <a:xfrm>
            <a:off x="10652760" y="3354019"/>
            <a:ext cx="1161288" cy="164592"/>
          </a:xfrm>
          <a:prstGeom prst="rect">
            <a:avLst/>
          </a:prstGeom>
          <a:noFill/>
          <a:ln/>
        </p:spPr>
        <p:txBody>
          <a:bodyPr wrap="square" lIns="0" tIns="0" rIns="0" bIns="0" rtlCol="0" anchor="ctr"/>
          <a:lstStyle/>
          <a:p>
            <a:pPr indent="0" marL="0">
              <a:buNone/>
            </a:pPr>
            <a:r>
              <a:rPr lang="en-US" sz="750" i="1" dirty="0">
                <a:solidFill>
                  <a:srgbClr val="93579C"/>
                </a:solidFill>
                <a:latin typeface="Inter" pitchFamily="34" charset="0"/>
                <a:ea typeface="Inter" pitchFamily="34" charset="-122"/>
                <a:cs typeface="Inter" pitchFamily="34" charset="-120"/>
              </a:rPr>
              <a:t>Qlik Answers, NL</a:t>
            </a:r>
            <a:endParaRPr lang="en-US" sz="750" dirty="0"/>
          </a:p>
        </p:txBody>
      </p:sp>
      <p:sp>
        <p:nvSpPr>
          <p:cNvPr id="123" name="Shape 101"/>
          <p:cNvSpPr/>
          <p:nvPr/>
        </p:nvSpPr>
        <p:spPr>
          <a:xfrm>
            <a:off x="10213848" y="3690518"/>
            <a:ext cx="1655064" cy="802843"/>
          </a:xfrm>
          <a:prstGeom prst="rect">
            <a:avLst/>
          </a:prstGeom>
          <a:solidFill>
            <a:srgbClr val="FFFFFF"/>
          </a:solidFill>
          <a:ln w="9525">
            <a:solidFill>
              <a:srgbClr val="DEE2E6"/>
            </a:solidFill>
            <a:prstDash val="solid"/>
          </a:ln>
        </p:spPr>
      </p:sp>
      <p:pic>
        <p:nvPicPr>
          <p:cNvPr id="124" name="Image 19" descr="preencoded.png">    </p:cNvPr>
          <p:cNvPicPr>
            <a:picLocks noChangeAspect="1"/>
          </p:cNvPicPr>
          <p:nvPr/>
        </p:nvPicPr>
        <p:blipFill>
          <a:blip r:embed="rId20"/>
          <a:stretch>
            <a:fillRect/>
          </a:stretch>
        </p:blipFill>
        <p:spPr>
          <a:xfrm>
            <a:off x="10259568" y="3909060"/>
            <a:ext cx="365760" cy="365760"/>
          </a:xfrm>
          <a:prstGeom prst="rect">
            <a:avLst/>
          </a:prstGeom>
        </p:spPr>
      </p:pic>
      <p:sp>
        <p:nvSpPr>
          <p:cNvPr id="125" name="Text 102"/>
          <p:cNvSpPr/>
          <p:nvPr/>
        </p:nvSpPr>
        <p:spPr>
          <a:xfrm>
            <a:off x="10652760" y="3763670"/>
            <a:ext cx="1161288" cy="201168"/>
          </a:xfrm>
          <a:prstGeom prst="rect">
            <a:avLst/>
          </a:prstGeom>
          <a:noFill/>
          <a:ln/>
        </p:spPr>
        <p:txBody>
          <a:bodyPr wrap="square" lIns="0" tIns="0" rIns="0" bIns="0" rtlCol="0" anchor="ctr"/>
          <a:lstStyle/>
          <a:p>
            <a:pPr indent="0" marL="0">
              <a:buNone/>
            </a:pPr>
            <a:r>
              <a:rPr lang="en-US" sz="1050" b="1" dirty="0">
                <a:solidFill>
                  <a:srgbClr val="19416C"/>
                </a:solidFill>
                <a:latin typeface="Inter" pitchFamily="34" charset="0"/>
                <a:ea typeface="Inter" pitchFamily="34" charset="-122"/>
                <a:cs typeface="Inter" pitchFamily="34" charset="-120"/>
              </a:rPr>
              <a:t>Agentic Routes</a:t>
            </a:r>
            <a:endParaRPr lang="en-US" sz="1050" dirty="0"/>
          </a:p>
        </p:txBody>
      </p:sp>
      <p:sp>
        <p:nvSpPr>
          <p:cNvPr id="126" name="Text 103"/>
          <p:cNvSpPr/>
          <p:nvPr/>
        </p:nvSpPr>
        <p:spPr>
          <a:xfrm>
            <a:off x="10652760" y="4001414"/>
            <a:ext cx="1161288" cy="164592"/>
          </a:xfrm>
          <a:prstGeom prst="rect">
            <a:avLst/>
          </a:prstGeom>
          <a:noFill/>
          <a:ln/>
        </p:spPr>
        <p:txBody>
          <a:bodyPr wrap="square" lIns="0" tIns="0" rIns="0" bIns="0" rtlCol="0" anchor="ctr"/>
          <a:lstStyle/>
          <a:p>
            <a:pPr indent="0" marL="0">
              <a:buNone/>
            </a:pPr>
            <a:r>
              <a:rPr lang="en-US" sz="850" dirty="0">
                <a:solidFill>
                  <a:srgbClr val="54565A"/>
                </a:solidFill>
                <a:latin typeface="Inter" pitchFamily="34" charset="0"/>
                <a:ea typeface="Inter" pitchFamily="34" charset="-122"/>
                <a:cs typeface="Inter" pitchFamily="34" charset="-120"/>
              </a:rPr>
              <a:t>LLM · RAG in-task</a:t>
            </a:r>
            <a:endParaRPr lang="en-US" sz="850" dirty="0"/>
          </a:p>
        </p:txBody>
      </p:sp>
      <p:sp>
        <p:nvSpPr>
          <p:cNvPr id="127" name="Text 104"/>
          <p:cNvSpPr/>
          <p:nvPr/>
        </p:nvSpPr>
        <p:spPr>
          <a:xfrm>
            <a:off x="10652760" y="4202582"/>
            <a:ext cx="1161288" cy="164592"/>
          </a:xfrm>
          <a:prstGeom prst="rect">
            <a:avLst/>
          </a:prstGeom>
          <a:noFill/>
          <a:ln/>
        </p:spPr>
        <p:txBody>
          <a:bodyPr wrap="square" lIns="0" tIns="0" rIns="0" bIns="0" rtlCol="0" anchor="ctr"/>
          <a:lstStyle/>
          <a:p>
            <a:pPr indent="0" marL="0">
              <a:buNone/>
            </a:pPr>
            <a:r>
              <a:rPr lang="en-US" sz="750" i="1" dirty="0">
                <a:solidFill>
                  <a:srgbClr val="93579C"/>
                </a:solidFill>
                <a:latin typeface="Inter" pitchFamily="34" charset="0"/>
                <a:ea typeface="Inter" pitchFamily="34" charset="-122"/>
                <a:cs typeface="Inter" pitchFamily="34" charset="-120"/>
              </a:rPr>
              <a:t>Talend · in-task AI</a:t>
            </a:r>
            <a:endParaRPr lang="en-US" sz="750" dirty="0"/>
          </a:p>
        </p:txBody>
      </p:sp>
      <p:sp>
        <p:nvSpPr>
          <p:cNvPr id="128" name="Shape 105"/>
          <p:cNvSpPr/>
          <p:nvPr/>
        </p:nvSpPr>
        <p:spPr>
          <a:xfrm>
            <a:off x="10213848" y="4539082"/>
            <a:ext cx="1655064" cy="802843"/>
          </a:xfrm>
          <a:prstGeom prst="rect">
            <a:avLst/>
          </a:prstGeom>
          <a:solidFill>
            <a:srgbClr val="FFFFFF"/>
          </a:solidFill>
          <a:ln w="9525">
            <a:solidFill>
              <a:srgbClr val="DEE2E6"/>
            </a:solidFill>
            <a:prstDash val="solid"/>
          </a:ln>
        </p:spPr>
      </p:sp>
      <p:pic>
        <p:nvPicPr>
          <p:cNvPr id="129" name="Image 20" descr="preencoded.png">    </p:cNvPr>
          <p:cNvPicPr>
            <a:picLocks noChangeAspect="1"/>
          </p:cNvPicPr>
          <p:nvPr/>
        </p:nvPicPr>
        <p:blipFill>
          <a:blip r:embed="rId21"/>
          <a:stretch>
            <a:fillRect/>
          </a:stretch>
        </p:blipFill>
        <p:spPr>
          <a:xfrm>
            <a:off x="10259568" y="4744560"/>
            <a:ext cx="365760" cy="391886"/>
          </a:xfrm>
          <a:prstGeom prst="rect">
            <a:avLst/>
          </a:prstGeom>
        </p:spPr>
      </p:pic>
      <p:sp>
        <p:nvSpPr>
          <p:cNvPr id="130" name="Text 106"/>
          <p:cNvSpPr/>
          <p:nvPr/>
        </p:nvSpPr>
        <p:spPr>
          <a:xfrm>
            <a:off x="10652760" y="4612234"/>
            <a:ext cx="1161288" cy="201168"/>
          </a:xfrm>
          <a:prstGeom prst="rect">
            <a:avLst/>
          </a:prstGeom>
          <a:noFill/>
          <a:ln/>
        </p:spPr>
        <p:txBody>
          <a:bodyPr wrap="square" lIns="0" tIns="0" rIns="0" bIns="0" rtlCol="0" anchor="ctr"/>
          <a:lstStyle/>
          <a:p>
            <a:pPr indent="0" marL="0">
              <a:buNone/>
            </a:pPr>
            <a:r>
              <a:rPr lang="en-US" sz="1050" b="1" dirty="0">
                <a:solidFill>
                  <a:srgbClr val="19416C"/>
                </a:solidFill>
                <a:latin typeface="Inter" pitchFamily="34" charset="0"/>
                <a:ea typeface="Inter" pitchFamily="34" charset="-122"/>
                <a:cs typeface="Inter" pitchFamily="34" charset="-120"/>
              </a:rPr>
              <a:t>Qlik MCP Server</a:t>
            </a:r>
            <a:endParaRPr lang="en-US" sz="1050" dirty="0"/>
          </a:p>
        </p:txBody>
      </p:sp>
      <p:sp>
        <p:nvSpPr>
          <p:cNvPr id="131" name="Text 107"/>
          <p:cNvSpPr/>
          <p:nvPr/>
        </p:nvSpPr>
        <p:spPr>
          <a:xfrm>
            <a:off x="10652760" y="4849978"/>
            <a:ext cx="1161288" cy="164592"/>
          </a:xfrm>
          <a:prstGeom prst="rect">
            <a:avLst/>
          </a:prstGeom>
          <a:noFill/>
          <a:ln/>
        </p:spPr>
        <p:txBody>
          <a:bodyPr wrap="square" lIns="0" tIns="0" rIns="0" bIns="0" rtlCol="0" anchor="ctr"/>
          <a:lstStyle/>
          <a:p>
            <a:pPr indent="0" marL="0">
              <a:buNone/>
            </a:pPr>
            <a:r>
              <a:rPr lang="en-US" sz="850" dirty="0">
                <a:solidFill>
                  <a:srgbClr val="54565A"/>
                </a:solidFill>
                <a:latin typeface="Inter" pitchFamily="34" charset="0"/>
                <a:ea typeface="Inter" pitchFamily="34" charset="-122"/>
                <a:cs typeface="Inter" pitchFamily="34" charset="-120"/>
              </a:rPr>
              <a:t>Products · lineage</a:t>
            </a:r>
            <a:endParaRPr lang="en-US" sz="850" dirty="0"/>
          </a:p>
        </p:txBody>
      </p:sp>
      <p:sp>
        <p:nvSpPr>
          <p:cNvPr id="132" name="Text 108"/>
          <p:cNvSpPr/>
          <p:nvPr/>
        </p:nvSpPr>
        <p:spPr>
          <a:xfrm>
            <a:off x="10652760" y="5051146"/>
            <a:ext cx="1161288" cy="164592"/>
          </a:xfrm>
          <a:prstGeom prst="rect">
            <a:avLst/>
          </a:prstGeom>
          <a:noFill/>
          <a:ln/>
        </p:spPr>
        <p:txBody>
          <a:bodyPr wrap="square" lIns="0" tIns="0" rIns="0" bIns="0" rtlCol="0" anchor="ctr"/>
          <a:lstStyle/>
          <a:p>
            <a:pPr indent="0" marL="0">
              <a:buNone/>
            </a:pPr>
            <a:r>
              <a:rPr lang="en-US" sz="750" i="1" dirty="0">
                <a:solidFill>
                  <a:srgbClr val="93579C"/>
                </a:solidFill>
                <a:latin typeface="Inter" pitchFamily="34" charset="0"/>
                <a:ea typeface="Inter" pitchFamily="34" charset="-122"/>
                <a:cs typeface="Inter" pitchFamily="34" charset="-120"/>
              </a:rPr>
              <a:t>Governance to any AI</a:t>
            </a:r>
            <a:endParaRPr lang="en-US" sz="750" dirty="0"/>
          </a:p>
        </p:txBody>
      </p:sp>
      <p:sp>
        <p:nvSpPr>
          <p:cNvPr id="133" name="Shape 109"/>
          <p:cNvSpPr/>
          <p:nvPr/>
        </p:nvSpPr>
        <p:spPr>
          <a:xfrm>
            <a:off x="10213848" y="5387645"/>
            <a:ext cx="1655064" cy="802843"/>
          </a:xfrm>
          <a:prstGeom prst="rect">
            <a:avLst/>
          </a:prstGeom>
          <a:solidFill>
            <a:srgbClr val="FFFFFF"/>
          </a:solidFill>
          <a:ln w="9525">
            <a:solidFill>
              <a:srgbClr val="DEE2E6"/>
            </a:solidFill>
            <a:prstDash val="solid"/>
          </a:ln>
        </p:spPr>
      </p:sp>
      <p:pic>
        <p:nvPicPr>
          <p:cNvPr id="134" name="Image 21" descr="preencoded.png">    </p:cNvPr>
          <p:cNvPicPr>
            <a:picLocks noChangeAspect="1"/>
          </p:cNvPicPr>
          <p:nvPr/>
        </p:nvPicPr>
        <p:blipFill>
          <a:blip r:embed="rId22"/>
          <a:stretch>
            <a:fillRect/>
          </a:stretch>
        </p:blipFill>
        <p:spPr>
          <a:xfrm>
            <a:off x="10259568" y="5606186"/>
            <a:ext cx="365760" cy="365760"/>
          </a:xfrm>
          <a:prstGeom prst="rect">
            <a:avLst/>
          </a:prstGeom>
        </p:spPr>
      </p:pic>
      <p:sp>
        <p:nvSpPr>
          <p:cNvPr id="135" name="Text 110"/>
          <p:cNvSpPr/>
          <p:nvPr/>
        </p:nvSpPr>
        <p:spPr>
          <a:xfrm>
            <a:off x="10652760" y="5460797"/>
            <a:ext cx="1161288" cy="201168"/>
          </a:xfrm>
          <a:prstGeom prst="rect">
            <a:avLst/>
          </a:prstGeom>
          <a:noFill/>
          <a:ln/>
        </p:spPr>
        <p:txBody>
          <a:bodyPr wrap="square" lIns="0" tIns="0" rIns="0" bIns="0" rtlCol="0" anchor="ctr"/>
          <a:lstStyle/>
          <a:p>
            <a:pPr indent="0" marL="0">
              <a:buNone/>
            </a:pPr>
            <a:r>
              <a:rPr lang="en-US" sz="1050" b="1" dirty="0">
                <a:solidFill>
                  <a:srgbClr val="19416C"/>
                </a:solidFill>
                <a:latin typeface="Inter" pitchFamily="34" charset="0"/>
                <a:ea typeface="Inter" pitchFamily="34" charset="-122"/>
                <a:cs typeface="Inter" pitchFamily="34" charset="-120"/>
              </a:rPr>
              <a:t>Trusted Products</a:t>
            </a:r>
            <a:endParaRPr lang="en-US" sz="1050" dirty="0"/>
          </a:p>
        </p:txBody>
      </p:sp>
      <p:sp>
        <p:nvSpPr>
          <p:cNvPr id="136" name="Text 111"/>
          <p:cNvSpPr/>
          <p:nvPr/>
        </p:nvSpPr>
        <p:spPr>
          <a:xfrm>
            <a:off x="10652760" y="5698541"/>
            <a:ext cx="1161288" cy="164592"/>
          </a:xfrm>
          <a:prstGeom prst="rect">
            <a:avLst/>
          </a:prstGeom>
          <a:noFill/>
          <a:ln/>
        </p:spPr>
        <p:txBody>
          <a:bodyPr wrap="square" lIns="0" tIns="0" rIns="0" bIns="0" rtlCol="0" anchor="ctr"/>
          <a:lstStyle/>
          <a:p>
            <a:pPr indent="0" marL="0">
              <a:buNone/>
            </a:pPr>
            <a:r>
              <a:rPr lang="en-US" sz="850" dirty="0">
                <a:solidFill>
                  <a:srgbClr val="54565A"/>
                </a:solidFill>
                <a:latin typeface="Inter" pitchFamily="34" charset="0"/>
                <a:ea typeface="Inter" pitchFamily="34" charset="-122"/>
                <a:cs typeface="Inter" pitchFamily="34" charset="-120"/>
              </a:rPr>
              <a:t>2 gold products</a:t>
            </a:r>
            <a:endParaRPr lang="en-US" sz="850" dirty="0"/>
          </a:p>
        </p:txBody>
      </p:sp>
      <p:sp>
        <p:nvSpPr>
          <p:cNvPr id="137" name="Text 112"/>
          <p:cNvSpPr/>
          <p:nvPr/>
        </p:nvSpPr>
        <p:spPr>
          <a:xfrm>
            <a:off x="10652760" y="5899709"/>
            <a:ext cx="1161288" cy="164592"/>
          </a:xfrm>
          <a:prstGeom prst="rect">
            <a:avLst/>
          </a:prstGeom>
          <a:noFill/>
          <a:ln/>
        </p:spPr>
        <p:txBody>
          <a:bodyPr wrap="square" lIns="0" tIns="0" rIns="0" bIns="0" rtlCol="0" anchor="ctr"/>
          <a:lstStyle/>
          <a:p>
            <a:pPr indent="0" marL="0">
              <a:buNone/>
            </a:pPr>
            <a:r>
              <a:rPr lang="en-US" sz="750" i="1" dirty="0">
                <a:solidFill>
                  <a:srgbClr val="93579C"/>
                </a:solidFill>
                <a:latin typeface="Inter" pitchFamily="34" charset="0"/>
                <a:ea typeface="Inter" pitchFamily="34" charset="-122"/>
                <a:cs typeface="Inter" pitchFamily="34" charset="-120"/>
              </a:rPr>
              <a:t>Trust + provenance</a:t>
            </a:r>
            <a:endParaRPr lang="en-US" sz="750" dirty="0"/>
          </a:p>
        </p:txBody>
      </p:sp>
      <p:sp>
        <p:nvSpPr>
          <p:cNvPr id="138" name="Shape 113"/>
          <p:cNvSpPr/>
          <p:nvPr/>
        </p:nvSpPr>
        <p:spPr>
          <a:xfrm>
            <a:off x="228600" y="6291072"/>
            <a:ext cx="11750040" cy="365760"/>
          </a:xfrm>
          <a:prstGeom prst="rect">
            <a:avLst/>
          </a:prstGeom>
          <a:solidFill>
            <a:srgbClr val="19416C"/>
          </a:solidFill>
          <a:ln w="12700">
            <a:solidFill>
              <a:srgbClr val="19416C"/>
            </a:solidFill>
            <a:prstDash val="solid"/>
          </a:ln>
        </p:spPr>
      </p:sp>
      <p:pic>
        <p:nvPicPr>
          <p:cNvPr id="139" name="Image 22" descr="preencoded.png">    </p:cNvPr>
          <p:cNvPicPr>
            <a:picLocks noChangeAspect="1"/>
          </p:cNvPicPr>
          <p:nvPr/>
        </p:nvPicPr>
        <p:blipFill>
          <a:blip r:embed="rId23"/>
          <a:stretch>
            <a:fillRect/>
          </a:stretch>
        </p:blipFill>
        <p:spPr>
          <a:xfrm>
            <a:off x="329184" y="6345936"/>
            <a:ext cx="219456" cy="256032"/>
          </a:xfrm>
          <a:prstGeom prst="rect">
            <a:avLst/>
          </a:prstGeom>
        </p:spPr>
      </p:pic>
      <p:sp>
        <p:nvSpPr>
          <p:cNvPr id="140" name="Text 114"/>
          <p:cNvSpPr/>
          <p:nvPr/>
        </p:nvSpPr>
        <p:spPr>
          <a:xfrm>
            <a:off x="640080" y="6364224"/>
            <a:ext cx="3657600" cy="219456"/>
          </a:xfrm>
          <a:prstGeom prst="rect">
            <a:avLst/>
          </a:prstGeom>
          <a:noFill/>
          <a:ln/>
        </p:spPr>
        <p:txBody>
          <a:bodyPr wrap="square" lIns="0" tIns="0" rIns="0" bIns="0" rtlCol="0" anchor="ctr"/>
          <a:lstStyle/>
          <a:p>
            <a:pPr indent="0" marL="0">
              <a:buNone/>
            </a:pPr>
            <a:r>
              <a:rPr lang="en-US" sz="1000" b="1" spc="150" kern="0" dirty="0">
                <a:solidFill>
                  <a:srgbClr val="10CFC9"/>
                </a:solidFill>
                <a:latin typeface="Inter" pitchFamily="34" charset="0"/>
                <a:ea typeface="Inter" pitchFamily="34" charset="-122"/>
                <a:cs typeface="Inter" pitchFamily="34" charset="-120"/>
              </a:rPr>
              <a:t>HIPAA · HITRUST · SOC 2 · ISO 27001</a:t>
            </a:r>
            <a:endParaRPr lang="en-US" sz="1000" dirty="0"/>
          </a:p>
        </p:txBody>
      </p:sp>
      <p:sp>
        <p:nvSpPr>
          <p:cNvPr id="141" name="Text 115"/>
          <p:cNvSpPr/>
          <p:nvPr/>
        </p:nvSpPr>
        <p:spPr>
          <a:xfrm>
            <a:off x="4114800" y="6345936"/>
            <a:ext cx="7818120" cy="256032"/>
          </a:xfrm>
          <a:prstGeom prst="rect">
            <a:avLst/>
          </a:prstGeom>
          <a:noFill/>
          <a:ln/>
        </p:spPr>
        <p:txBody>
          <a:bodyPr wrap="square" lIns="0" tIns="0" rIns="0" bIns="0" rtlCol="0" anchor="ctr"/>
          <a:lstStyle/>
          <a:p>
            <a:pPr algn="l" indent="0" marL="0">
              <a:buNone/>
            </a:pPr>
            <a:r>
              <a:rPr lang="en-US" sz="1000" b="1" dirty="0">
                <a:solidFill>
                  <a:srgbClr val="10CFC9"/>
                </a:solidFill>
                <a:latin typeface="Inter" pitchFamily="34" charset="0"/>
                <a:ea typeface="Inter" pitchFamily="34" charset="-122"/>
                <a:cs typeface="Inter" pitchFamily="34" charset="-120"/>
              </a:rPr>
              <a:t>Why customers buy this story:  </a:t>
            </a:r>
            <a:pPr algn="l" indent="0" marL="0">
              <a:buNone/>
            </a:pPr>
            <a:r>
              <a:rPr lang="en-US" sz="1000" dirty="0">
                <a:solidFill>
                  <a:srgbClr val="FFFFFF"/>
                </a:solidFill>
                <a:latin typeface="Inter" pitchFamily="34" charset="0"/>
                <a:ea typeface="Inter" pitchFamily="34" charset="-122"/>
                <a:cs typeface="Inter" pitchFamily="34" charset="-120"/>
              </a:rPr>
              <a:t>pipelines as code · agents that govern · AI in the pipeline · trusted, AI-ready data products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Qlik Marketecture</dc:title>
  <dc:subject>PptxGenJS Presentation</dc:subject>
  <dc:creator>Sales Enablement</dc:creator>
  <cp:lastModifiedBy>Sales Enablement</cp:lastModifiedBy>
  <cp:revision>1</cp:revision>
  <dcterms:created xsi:type="dcterms:W3CDTF">2026-09-21T20:19:16Z</dcterms:created>
  <dcterms:modified xsi:type="dcterms:W3CDTF">2026-09-21T20:19:16Z</dcterms:modified>
</cp:coreProperties>
</file>