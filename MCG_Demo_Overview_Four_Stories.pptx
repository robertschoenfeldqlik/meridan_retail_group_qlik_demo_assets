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6" r:id="rId3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6" d="100"/>
          <a:sy n="66" d="100"/>
        </p:scale>
        <p:origin x="84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73799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 •  Governance  •  Analytics  •  AI &amp; Outcomes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Architecture — Qlik Cloud Full Stack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274320" y="118872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274320" y="11887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69164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blurRad="38100" dist="12700" dir="16200000" algn="bl" rotWithShape="0">
              <a:srgbClr val="D0D0D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69164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9164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— Change Data Capture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0060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blurRad="38100" dist="12700" dir="16200000" algn="bl" rotWithShape="0">
              <a:srgbClr val="D0D0D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80060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80060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— Cold Chain &amp; Carrier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790956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blurRad="38100" dist="12700" dir="16200000" algn="bl" rotWithShape="0">
              <a:srgbClr val="D0D0D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90956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90956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— Contacts, Orders, Products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5577840" y="19019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274320" y="26517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274320" y="26517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1691640" y="2331720"/>
            <a:ext cx="9144000" cy="1234440"/>
          </a:xfrm>
          <a:prstGeom prst="roundRect">
            <a:avLst>
              <a:gd name="adj" fmla="val 7407"/>
            </a:avLst>
          </a:prstGeom>
          <a:solidFill>
            <a:srgbClr val="E0F5EA"/>
          </a:solidFill>
          <a:ln/>
          <a:effectLst>
            <a:outerShdw blurRad="50800" dist="12700" dir="16200000" algn="bl" rotWithShape="0">
              <a:srgbClr val="D0D0D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187452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D0D0D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1874520" y="249631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874520" y="280720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→ Silver → Gold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89204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D0D0D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4892040" y="249631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Integration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892040" y="280720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Streaming, API Pipelines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909560" y="24231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blurRad="38100" dist="12700" dir="16200000" algn="bl" rotWithShape="0">
              <a:srgbClr val="D0D0D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7909560" y="24963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909560" y="280720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 &amp; Cleansing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5577840" y="35844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74320" y="411480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274320" y="411480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169164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blurRad="38100" dist="12700" dir="16200000" algn="bl" rotWithShape="0">
              <a:srgbClr val="D0D0D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Text 33"/>
          <p:cNvSpPr/>
          <p:nvPr/>
        </p:nvSpPr>
        <p:spPr>
          <a:xfrm>
            <a:off x="169164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169164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 •  10 Sheets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480060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blurRad="38100" dist="12700" dir="16200000" algn="bl" rotWithShape="0">
              <a:srgbClr val="D0D0D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480060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80060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AutoML Models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790956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blurRad="38100" dist="12700" dir="16200000" algn="bl" rotWithShape="0">
              <a:srgbClr val="D0D0D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790956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790956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• Lineage • Glossary • Stewardship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5577840" y="482803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274320" y="53949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274320" y="53949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691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blurRad="38100" dist="12700" dir="16200000" algn="bl" rotWithShape="0">
              <a:srgbClr val="D0D0D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8" name="Text 45"/>
          <p:cNvSpPr/>
          <p:nvPr/>
        </p:nvSpPr>
        <p:spPr>
          <a:xfrm>
            <a:off x="1691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1691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Documents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977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blurRad="38100" dist="12700" dir="16200000" algn="bl" rotWithShape="0">
              <a:srgbClr val="D0D0D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Text 48"/>
          <p:cNvSpPr/>
          <p:nvPr/>
        </p:nvSpPr>
        <p:spPr>
          <a:xfrm>
            <a:off x="3977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3977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Analysis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6263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blurRad="38100" dist="12700" dir="16200000" algn="bl" rotWithShape="0">
              <a:srgbClr val="D0D0D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4" name="Text 51"/>
          <p:cNvSpPr/>
          <p:nvPr/>
        </p:nvSpPr>
        <p:spPr>
          <a:xfrm>
            <a:off x="6263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263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8549640" y="521208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blurRad="38100" dist="12700" dir="16200000" algn="bl" rotWithShape="0">
              <a:srgbClr val="D0D0D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7" name="Text 54"/>
          <p:cNvSpPr/>
          <p:nvPr/>
        </p:nvSpPr>
        <p:spPr>
          <a:xfrm>
            <a:off x="8549640" y="52852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8549640" y="559612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Notifications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1064240" y="1005840"/>
            <a:ext cx="960120" cy="5074920"/>
          </a:xfrm>
          <a:prstGeom prst="roundRect">
            <a:avLst>
              <a:gd name="adj" fmla="val 9524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7"/>
          <p:cNvSpPr/>
          <p:nvPr/>
        </p:nvSpPr>
        <p:spPr>
          <a:xfrm>
            <a:off x="11064240" y="1828800"/>
            <a:ext cx="960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1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11064240" y="2743200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Functional Architecture — The Four Stories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5720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Integrations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0F2F5"/>
          </a:solidFill>
          <a:ln/>
          <a:effectLst>
            <a:outerShdw blurRad="38100" dist="12700" dir="16200000" algn="bl" rotWithShape="0">
              <a:srgbClr val="D0D0D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9436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Data Sources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9436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8 CDC / API / Streaming Pipelines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9436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Bronze Layer (8 tables)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9436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Real-time &amp; Batch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9436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Movement Gateway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306324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38328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338328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Governance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383280" y="1417320"/>
            <a:ext cx="2743200" cy="2267712"/>
          </a:xfrm>
          <a:prstGeom prst="roundRect">
            <a:avLst>
              <a:gd name="adj" fmla="val 3226"/>
            </a:avLst>
          </a:prstGeom>
          <a:solidFill>
            <a:srgbClr val="E0F5EA"/>
          </a:solidFill>
          <a:ln/>
          <a:effectLst>
            <a:outerShdw blurRad="38100" dist="12700" dir="16200000" algn="bl" rotWithShape="0">
              <a:srgbClr val="D0D0D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352044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8 Transformation Routes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52044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Silver Layer (cleansed)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52044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7 Gold Data Products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352044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Trust Score &amp; Lineage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352044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Glossary (25 terms)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3520440" y="32004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Stewardship Campaigns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98932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30936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630936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Analytics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30936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3EAF3"/>
          </a:solidFill>
          <a:ln/>
          <a:effectLst>
            <a:outerShdw blurRad="38100" dist="12700" dir="16200000" algn="bl" rotWithShape="0">
              <a:srgbClr val="D0D0D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7"/>
          <p:cNvSpPr/>
          <p:nvPr/>
        </p:nvSpPr>
        <p:spPr>
          <a:xfrm>
            <a:off x="644652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Qlik Analytics Apps (10 sheets)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644652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Analytics &amp; NLI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644652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Alerts &amp; Reports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644652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Automations (Teams)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644652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Dark Theme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891540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9235440" y="914400"/>
            <a:ext cx="246888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9235440" y="914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AI &amp; Outcomes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235440" y="14173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E0F5EA"/>
          </a:solidFill>
          <a:ln/>
          <a:effectLst>
            <a:outerShdw blurRad="38100" dist="12700" dir="16200000" algn="bl" rotWithShape="0">
              <a:srgbClr val="D0D0D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9372600" y="14630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Predict Models (Spoilage/SLA)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9372600" y="18105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Answers (25 docs)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9372600" y="21579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Discovery Agent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9372600" y="25054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MCP Server (Claude)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9372600" y="28529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Closed-Loop Automation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457200" y="53949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6F7F8"/>
          </a:solidFill>
          <a:ln w="9525">
            <a:solidFill>
              <a:srgbClr val="A9B3B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2"/>
          <p:cNvSpPr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Total:  3 Sources  →  23 Tables  →  9 Flows  →  7 Products  →  10 Sheets  →  2 Models  →  25 Docs  →  5 Automations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dashboards, Analytics Engine (associative model), Natural Language Insights, Business Logic, native alerting, reporting &amp; subscriptions, automations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• Analytics Engine • Associative Model • NLI • Business Logic • Alerting • Reporting • Automations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(unified conversational AI), Qlik Answers (data + documents), Qlik Predict (AutoML), Discovery Agent, MCP Server, Knowledge Mart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• Qlik Answers • Predict • Discovery Agent • MCP • Knowledge Mart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End-To-End Demo\generators\assets\qlik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Qlik Cloud Connector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Kafka Connector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iot_telemetry_normalized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(7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 • cold_chain_compliance • product_master_360 • customer_delivery_experience • compliance_readiness • operational_cost_impact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3639312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End-To-End Demo\generators\assets\qlik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3035808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30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Compliance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min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4.8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360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Thomas Berger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3.9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Delivery Experience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Lisa Park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4.1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Compliance Readiness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Maria Santos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hour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4.6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Operational Cost Impact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CFO Office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4.3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6B72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210312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7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gold.cold_chain_compliance → highlight Validity (4.2), Completeness (3.8),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End-To-End Demo\generators\assets\qlik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 (10 Sheets)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1353312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Operations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Inventory accuracy, cold chain monitoring, quality, compliance, cost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#3, #4, #6, 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Delivery &amp; Customer Exp.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Last mile performance, order tracking, WISMO analysis, carrier SLAs, addresses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#5,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Engine &amp; Intelligent Insights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Qlik Associative Engine — the foundation powering every dashboard, calculation, and AI interaction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Associative Engine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In-memory associative data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Green/white/gray selection states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Set analysis for complex calculations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Cross-source data associations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No pre-defined drill paths or queries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152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Select Rotterdam → all charts update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9768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57200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Auto-generated narrative summaries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Trend, outlier, and driver detection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Linked directly to chart selections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Plain-English explanations of data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Updated Nov 2025: chart-linked NLI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NLI on Supply Chain Health app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13816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841248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relationships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41248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41248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analytics + AI behavior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41248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Calendar &amp; geographic hierarchies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41248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Measure definitions &amp; formatting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41248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4"/>
          <p:cNvSpPr/>
          <p:nvPr/>
        </p:nvSpPr>
        <p:spPr>
          <a:xfrm>
            <a:off x="731520" y="57150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Story 4 — AI &amp; Outcomes: The Agentic Analytics experience layers conversational AI and Qlik Answers on top of this engine. See the full agentic demo flow in Story 4.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Analytics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Analytics Engine &amp; NLI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associative selections: click Rotterdam DC → green/white/gray state across all charts instantly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NLI object on Supply Chain Health → auto-generated narrative explaining IRA trend and key drivers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Logical Model vocabulary mapping 'phantom' → inventory_accuracy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End-To-End Demo\generators\assets\qlik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— Unified AI Experience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conversational AI that queries data, reads documents, and reasons across both — now GA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answers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IRA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logic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+ unstructured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MCG operational documents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SOPs, contracts, incident reports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Cross-document reasoning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Project CLARITY?"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48056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731520" y="45262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is now GA — replaces legacy Insight Advisor with unified conversational AI across data and documents.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57200" y="512064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8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0"/>
          <p:cNvSpPr/>
          <p:nvPr/>
        </p:nvSpPr>
        <p:spPr>
          <a:xfrm>
            <a:off x="731520" y="51663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Powered by the Qlik Associative Engine &amp; Business Logic from Story 3 — Analytics. The engine provides governed calculations; Agentic Analytics adds conversational reasoning on top.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 Risk Predictor  (Regression)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gold.cold_chain_compliance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spoilage_risk_score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max_temp_celsius, exceedance_minutes, humidity_avg, product_category, route_id, season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shipments will spoil before arrival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SLA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gold.last_mile_performance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sla_met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carrier, destination_region, address_quality_score, weight_kg, promised_sla_hours, day_of_week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APAC shipments will miss SLA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(Address Catastrophe)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CLARITY?"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Mart: Automate the RAG pipeline — structured-to-document transformation, vectorization, and incremental loading to vector stores. Keeps Qlik Answers grounded in fresh data.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npx @qlik/mcp-server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List spaces, apps, connections programmatically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731520" y="4800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tools integrate with the Agentic Analytics experience (see slide above) — Discovery Agent proactively surfaces issues; MCP enables external AI agents to query Qlik data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C:\Claude\End-To-End Demo\generators\assets\qlik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Agentic Analytics Experience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 → data agent queries Qlik Analytics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happened at Rotterdam in September?" → document agent pulls INC-2025-04872 with citations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CLARITY propose to fix this?" → chain-of-thought reasoning across data + documents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Spoilage Risk experiment → show training report, feature importance (temperature is #1 driver)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shipment: São Paulo→Buenos Aires, 32°C outside temp, Correios carrier → 87% spoilage risk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divid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End-To-End Demo\generators\assets\qlik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End-To-End Demo\generators\assets\qlik_cover_b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End-To-End Demo\generators\assets\qlik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Sheets (2 Apps)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Integrations  •  Governance  •  Analytics  •  AI &amp; Outcomes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3767</Words>
  <Application>Microsoft Office PowerPoint</Application>
  <PresentationFormat>Widescreen</PresentationFormat>
  <Paragraphs>588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Qlik Cloud Demo — Four Stories</dc:title>
  <dc:subject>PptxGenJS Presentation</dc:subject>
  <dc:creator>Qlik</dc:creator>
  <cp:lastModifiedBy>Robert Schoenfeld</cp:lastModifiedBy>
  <cp:revision>2</cp:revision>
  <dcterms:created xsi:type="dcterms:W3CDTF">2026-03-05T19:24:19Z</dcterms:created>
  <dcterms:modified xsi:type="dcterms:W3CDTF">2026-03-05T23:22:51Z</dcterms:modified>
</cp:coreProperties>
</file>