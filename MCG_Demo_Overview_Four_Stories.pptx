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0136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0" y="1281440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2316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42316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91032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620" y="128144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53212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1928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580" y="1281440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4108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CRM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864108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7" name="Text 21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98424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1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540" y="2653040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0604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260604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00176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5" descr="C:\Claude\MCG Full Stack\generators\assets\icons\pipe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9060" y="2653040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62356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562356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801928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6" descr="C:\Claude\MCG Full Stack\generators\assets\icons\transfor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6580" y="2653040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8641080" y="249631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8641080" y="2825496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46" name="Text 37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47" name="Shape 38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Shape 39"/>
          <p:cNvSpPr/>
          <p:nvPr/>
        </p:nvSpPr>
        <p:spPr>
          <a:xfrm>
            <a:off x="180136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9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8660" y="4207520"/>
            <a:ext cx="317480" cy="3174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42316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51" name="Text 41"/>
          <p:cNvSpPr/>
          <p:nvPr/>
        </p:nvSpPr>
        <p:spPr>
          <a:xfrm>
            <a:off x="242316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52" name="Shape 42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491032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4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7620" y="4207520"/>
            <a:ext cx="317480" cy="31748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553212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56" name="Text 45"/>
          <p:cNvSpPr/>
          <p:nvPr/>
        </p:nvSpPr>
        <p:spPr>
          <a:xfrm>
            <a:off x="553212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57" name="Shape 46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8" name="Shape 47"/>
          <p:cNvSpPr/>
          <p:nvPr/>
        </p:nvSpPr>
        <p:spPr>
          <a:xfrm>
            <a:off x="801928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9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580" y="4207520"/>
            <a:ext cx="317480" cy="31748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864108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61" name="Text 49"/>
          <p:cNvSpPr/>
          <p:nvPr/>
        </p:nvSpPr>
        <p:spPr>
          <a:xfrm>
            <a:off x="864108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63" name="Shape 51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64" name="Text 52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65" name="Shape 53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66" name="Shape 54"/>
          <p:cNvSpPr/>
          <p:nvPr/>
        </p:nvSpPr>
        <p:spPr>
          <a:xfrm>
            <a:off x="1801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98660" y="5487680"/>
            <a:ext cx="317480" cy="317480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2423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2423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70" name="Shape 5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1" name="Shape 58"/>
          <p:cNvSpPr/>
          <p:nvPr/>
        </p:nvSpPr>
        <p:spPr>
          <a:xfrm>
            <a:off x="4087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4660" y="5487680"/>
            <a:ext cx="317480" cy="317480"/>
          </a:xfrm>
          <a:prstGeom prst="rect">
            <a:avLst/>
          </a:prstGeom>
        </p:spPr>
      </p:pic>
      <p:sp>
        <p:nvSpPr>
          <p:cNvPr id="73" name="Text 59"/>
          <p:cNvSpPr/>
          <p:nvPr/>
        </p:nvSpPr>
        <p:spPr>
          <a:xfrm>
            <a:off x="4709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74" name="Text 60"/>
          <p:cNvSpPr/>
          <p:nvPr/>
        </p:nvSpPr>
        <p:spPr>
          <a:xfrm>
            <a:off x="4709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75" name="Shape 61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6" name="Shape 62"/>
          <p:cNvSpPr/>
          <p:nvPr/>
        </p:nvSpPr>
        <p:spPr>
          <a:xfrm>
            <a:off x="6373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7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0660" y="5487680"/>
            <a:ext cx="317480" cy="317480"/>
          </a:xfrm>
          <a:prstGeom prst="rect">
            <a:avLst/>
          </a:prstGeom>
        </p:spPr>
      </p:pic>
      <p:sp>
        <p:nvSpPr>
          <p:cNvPr id="78" name="Text 63"/>
          <p:cNvSpPr/>
          <p:nvPr/>
        </p:nvSpPr>
        <p:spPr>
          <a:xfrm>
            <a:off x="6995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79" name="Text 64"/>
          <p:cNvSpPr/>
          <p:nvPr/>
        </p:nvSpPr>
        <p:spPr>
          <a:xfrm>
            <a:off x="6995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80" name="Shape 65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81" name="Shape 66"/>
          <p:cNvSpPr/>
          <p:nvPr/>
        </p:nvSpPr>
        <p:spPr>
          <a:xfrm>
            <a:off x="8659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2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6660" y="5487680"/>
            <a:ext cx="317480" cy="317480"/>
          </a:xfrm>
          <a:prstGeom prst="rect">
            <a:avLst/>
          </a:prstGeom>
        </p:spPr>
      </p:pic>
      <p:sp>
        <p:nvSpPr>
          <p:cNvPr id="83" name="Text 67"/>
          <p:cNvSpPr/>
          <p:nvPr/>
        </p:nvSpPr>
        <p:spPr>
          <a:xfrm>
            <a:off x="9281160" y="52852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84" name="Text 68"/>
          <p:cNvSpPr/>
          <p:nvPr/>
        </p:nvSpPr>
        <p:spPr>
          <a:xfrm>
            <a:off x="9281160" y="561441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85" name="Shape 69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86" name="Text 70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87" name="Text 71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Shape 6"/>
          <p:cNvSpPr/>
          <p:nvPr/>
        </p:nvSpPr>
        <p:spPr>
          <a:xfrm>
            <a:off x="54864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0" y="1023762"/>
            <a:ext cx="192756" cy="192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0" name="Shape 16"/>
          <p:cNvSpPr/>
          <p:nvPr/>
        </p:nvSpPr>
        <p:spPr>
          <a:xfrm>
            <a:off x="347472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790" y="1023762"/>
            <a:ext cx="192756" cy="192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Sprints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2" name="Shape 27"/>
          <p:cNvSpPr/>
          <p:nvPr/>
        </p:nvSpPr>
        <p:spPr>
          <a:xfrm>
            <a:off x="640080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870" y="1023762"/>
            <a:ext cx="192756" cy="19275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6" name="Text 30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3" name="Shape 37"/>
          <p:cNvSpPr/>
          <p:nvPr/>
        </p:nvSpPr>
        <p:spPr>
          <a:xfrm>
            <a:off x="932688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4" name="Image 4" descr="C:\Claude\MCG Full Stack\generators\assets\icons\ag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950" y="1023762"/>
            <a:ext cx="192756" cy="192756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50" name="Text 43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51" name="Text 44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proof points behind Project Qlarity's business case — MCG's unified Qlik data platform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Meridian CRM → Open Lakehouse (Bronze/Silver/Gold)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Sprints, Business Glossary, Data Marketplace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Consumption-side AI (Agentic Analytics, Qlik Answers, Qlik Predict, Discovery Agent, MCP Server) plus build-side agentic engineering — declarative pipelines as code, the governance agents, and Talend agentic routes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Declarative Pipelines • Governance Agents • Talend Agentic Routes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CRM (MySQL)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crm_orders • crm_products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(Meridian CRM).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crm_contacts • crm_orders • crm_products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CSV, XLSX, Snowflake, Iceberg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sprints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Sprint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mcg_crm_address_validate_bulk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GPS resolved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sprint → show the steward's queue (rows the bulk geocoder could not resolve to GPS)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Stewardship Sprint Summary → daily digest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Qlarity?"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Qlarity?"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 &amp; the VS Code Template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side of AI: one underlying pipeline YAML — editable visually, programmatically, or with an AI coding agent — on a single path from raw data to a trusted, AI-ready data product.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(UI)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Talend Cloud pipeline canvas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Point-and-click transforms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Business-user friendly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8912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7" name="Text 14"/>
          <p:cNvSpPr/>
          <p:nvPr/>
        </p:nvSpPr>
        <p:spPr>
          <a:xfrm>
            <a:off x="438912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(IDE)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57200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YAML definition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VS Code + third-party IDEs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Export / import, schema-validated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(AI)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1248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 coding agent authors the YAML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"Agent-friendly" schema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Prompt → Generate → Validate → Review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Developer approves every change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57200" y="370332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76732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today — the whole pipeline is code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" y="4133088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DATA_PIPELINE projects on Open Lakehouse — mcg-batch-pipeline (4 tasks) + mcg-streaming-pipeline (2 tasks) = 6 tasks authored as YAML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4462272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template: deploy/pipelines/ with .vscode/settings.json, CLAUDE.md, .github/copilot-instructions.md per project (schema kit via "npm run pipeline:template")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40080" y="4791456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 edit: change "MCG CRM Landing" schedule FREQ=MINUTELY;INTERVAL=15 → INTERVAL=30 — a one-line git diff, then Apply-from-Remote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52120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5EA"/>
          </a:solidFill>
          <a:ln/>
        </p:spPr>
      </p:sp>
      <p:sp>
        <p:nvSpPr>
          <p:cNvPr id="35" name="Text 32"/>
          <p:cNvSpPr/>
          <p:nvPr/>
        </p:nvSpPr>
        <p:spPr>
          <a:xfrm>
            <a:off x="640080" y="52395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from raw → trusted: design in IDE + agent → Git / CI-CD deploy → quality → packaging → catalog &amp; glossary → AI-ready output with trust scores.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57200" y="576072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578815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/ roadmap: Qlik declarative-pipeline tooling is a Qlik internal preview (June 2026). Forward-looking — capabilities and timing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Agents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keep human expertise in the loop while packaging, validating, and cataloging data — Qlik frames these as Qlik Answers capabilities, not separate products.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&amp; manage data products by chat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CRUD + conversational discovery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&amp; improve quality / completeness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package Supply Chain Health &amp; Last Mile Performance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48056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Helps stewards define &amp; enforce DQ rules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quality across datasets by chat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/ map rules, run DQ metrics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rules on silver.addresses_standardized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32104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Business Glossary Agent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NL queries over Qlik Cloud Catalog metadata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41248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a domain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41248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&amp; synonyms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41248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extend the 25-term business glossary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640080" y="4956048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by design: agent-generated glossary terms land as DRAFT and require human review before they become official. These are Qlik Answers capabilities, not standalone products — they bridge business and technical users.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pipeline tasks — call LLMs, build RAG pipelines, and orchestrate agents, with MCP client support.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integration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Call LLMs from data tasks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Cloud: OpenAI, Anthropic Claude, Google Gemini, Amazon Bedrock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On-prem: Ollama, Mistral, Gemma 3, Phi 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Sentiment, entity extraction, classification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9768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pipelines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Build retrieval-augmented pipelines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Vector targets: Pinecone, MongoDB, Snowflake, Databricks, Milvus, Oracle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AI-assisted data quality in-task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orchestration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41248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Event-driven agent orchestration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Conversational AI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Extensible tools + MCP client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438912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453128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surface — the CRM address job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47548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Talend job repairs and scores every CRM address, bulk-geocodes the batch against OSM Nominatim, and routes on one gate — GPS resolved goes to Iceberg, the rest to a Qlik Stewardship sprint. An agentic route adds an LLM-assisted correction step inside the same job, before the record ever reaches that queue.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4406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54681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Forward-looking: agentic-engineering capabilities are emerging across Qlik Talend Cloud; MCP-server tooling is in Qlik preview (June 2026). Timing and scope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Qlarity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088136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4983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build-side AI — pipelines as code, governance agents, and agentic data engineering (preview)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Full Stack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Full Stack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repository, one command - or 11 guided steps.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MCG deploy console — 11 setup steps, Stewardship at step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Qlik Cloud Demo — Four Stories</dc:title>
  <dc:subject>PptxGenJS Presentation</dc:subject>
  <dc:creator>Qlik</dc:creator>
  <cp:lastModifiedBy>Qlik</cp:lastModifiedBy>
  <cp:revision>1</cp:revision>
  <dcterms:created xsi:type="dcterms:W3CDTF">2026-09-21T20:12:59Z</dcterms:created>
  <dcterms:modified xsi:type="dcterms:W3CDTF">2026-09-21T20:12:59Z</dcterms:modified>
</cp:coreProperties>
</file>