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800" dirty="0"/>
          </a:p>
        </p:txBody>
      </p:sp>
      <p:sp>
        <p:nvSpPr>
          <p:cNvPr id="5" name="Text 1"/>
          <p:cNvSpPr/>
          <p:nvPr/>
        </p:nvSpPr>
        <p:spPr>
          <a:xfrm>
            <a:off x="457200" y="210312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38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End-to-End Demo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457200" y="36576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  •  Governance  •  Analytics  •  AI &amp; Outcomes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457200" y="42976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trusted, AI-ready data platform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57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2743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7"/>
          <p:cNvSpPr/>
          <p:nvPr/>
        </p:nvSpPr>
        <p:spPr>
          <a:xfrm>
            <a:off x="2743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5029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13" name="Text 9"/>
          <p:cNvSpPr/>
          <p:nvPr/>
        </p:nvSpPr>
        <p:spPr>
          <a:xfrm>
            <a:off x="5029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7315200" y="512064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/>
        </p:spPr>
      </p:sp>
      <p:sp>
        <p:nvSpPr>
          <p:cNvPr id="15" name="Text 11"/>
          <p:cNvSpPr/>
          <p:nvPr/>
        </p:nvSpPr>
        <p:spPr>
          <a:xfrm>
            <a:off x="7315200" y="51206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Technical Architecture — Qlik Cloud Full Stack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274320" y="118872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274320" y="118872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1691640" y="1005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1691640" y="107899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691640" y="138988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— Change Data Capture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800600" y="1005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4800600" y="107899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800600" y="138988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— Cold Chain &amp; Carrier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7909560" y="1005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7909560" y="107899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CRM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909560" y="138988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— Contacts, Orders, Products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5577840" y="190195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274320" y="265176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21" name="Text 18"/>
          <p:cNvSpPr/>
          <p:nvPr/>
        </p:nvSpPr>
        <p:spPr>
          <a:xfrm>
            <a:off x="274320" y="265176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1691640" y="2331720"/>
            <a:ext cx="9144000" cy="1234440"/>
          </a:xfrm>
          <a:prstGeom prst="roundRect">
            <a:avLst>
              <a:gd name="adj" fmla="val 7407"/>
            </a:avLst>
          </a:prstGeom>
          <a:solidFill>
            <a:srgbClr val="E0F5EA"/>
          </a:solidFill>
          <a:ln/>
          <a:effectLst>
            <a:outerShdw sx="100000" sy="100000" kx="0" ky="0" algn="bl" rotWithShape="0" blurRad="50800" dist="12700" dir="16200000">
              <a:srgbClr val="D0D0D0">
                <a:alpha val="25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1874520" y="2423160"/>
            <a:ext cx="28346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1874520" y="2496312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1874520" y="2807208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 → Silver → Gold</a:t>
            </a:r>
            <a:endParaRPr lang="en-US" sz="800" dirty="0"/>
          </a:p>
        </p:txBody>
      </p:sp>
      <p:sp>
        <p:nvSpPr>
          <p:cNvPr id="26" name="Shape 23"/>
          <p:cNvSpPr/>
          <p:nvPr/>
        </p:nvSpPr>
        <p:spPr>
          <a:xfrm>
            <a:off x="4892040" y="2423160"/>
            <a:ext cx="28346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4892040" y="2496312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Pipelines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4892040" y="2807208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declarative projects (YAML)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7909560" y="2423160"/>
            <a:ext cx="27432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7909560" y="249631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Talend Cloud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7909560" y="2807208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Address Validation &amp; Cleansing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5577840" y="3584448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33" name="Shape 30"/>
          <p:cNvSpPr/>
          <p:nvPr/>
        </p:nvSpPr>
        <p:spPr>
          <a:xfrm>
            <a:off x="274320" y="411480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34" name="Text 31"/>
          <p:cNvSpPr/>
          <p:nvPr/>
        </p:nvSpPr>
        <p:spPr>
          <a:xfrm>
            <a:off x="274320" y="411480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1691640" y="39319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36" name="Text 33"/>
          <p:cNvSpPr/>
          <p:nvPr/>
        </p:nvSpPr>
        <p:spPr>
          <a:xfrm>
            <a:off x="1691640" y="400507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</a:t>
            </a:r>
            <a:endParaRPr lang="en-US" sz="1000" dirty="0"/>
          </a:p>
        </p:txBody>
      </p:sp>
      <p:sp>
        <p:nvSpPr>
          <p:cNvPr id="37" name="Text 34"/>
          <p:cNvSpPr/>
          <p:nvPr/>
        </p:nvSpPr>
        <p:spPr>
          <a:xfrm>
            <a:off x="1691640" y="43159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Apps  •  10 Sheets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4800600" y="39319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39" name="Text 36"/>
          <p:cNvSpPr/>
          <p:nvPr/>
        </p:nvSpPr>
        <p:spPr>
          <a:xfrm>
            <a:off x="4800600" y="400507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</a:t>
            </a:r>
            <a:endParaRPr lang="en-US" sz="1000" dirty="0"/>
          </a:p>
        </p:txBody>
      </p:sp>
      <p:sp>
        <p:nvSpPr>
          <p:cNvPr id="40" name="Text 37"/>
          <p:cNvSpPr/>
          <p:nvPr/>
        </p:nvSpPr>
        <p:spPr>
          <a:xfrm>
            <a:off x="4800600" y="43159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AutoML Models</a:t>
            </a:r>
            <a:endParaRPr lang="en-US" sz="800" dirty="0"/>
          </a:p>
        </p:txBody>
      </p:sp>
      <p:sp>
        <p:nvSpPr>
          <p:cNvPr id="41" name="Shape 38"/>
          <p:cNvSpPr/>
          <p:nvPr/>
        </p:nvSpPr>
        <p:spPr>
          <a:xfrm>
            <a:off x="7909560" y="39319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7909560" y="4005072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7909560" y="4315968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• Lineage • Glossary • Stewardship</a:t>
            </a:r>
            <a:endParaRPr lang="en-US" sz="800" dirty="0"/>
          </a:p>
        </p:txBody>
      </p:sp>
      <p:sp>
        <p:nvSpPr>
          <p:cNvPr id="44" name="Text 41"/>
          <p:cNvSpPr/>
          <p:nvPr/>
        </p:nvSpPr>
        <p:spPr>
          <a:xfrm>
            <a:off x="5577840" y="4828032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800" dirty="0"/>
          </a:p>
        </p:txBody>
      </p:sp>
      <p:sp>
        <p:nvSpPr>
          <p:cNvPr id="45" name="Shape 42"/>
          <p:cNvSpPr/>
          <p:nvPr/>
        </p:nvSpPr>
        <p:spPr>
          <a:xfrm>
            <a:off x="274320" y="5394960"/>
            <a:ext cx="1234440" cy="41148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</p:sp>
      <p:sp>
        <p:nvSpPr>
          <p:cNvPr id="46" name="Text 43"/>
          <p:cNvSpPr/>
          <p:nvPr/>
        </p:nvSpPr>
        <p:spPr>
          <a:xfrm>
            <a:off x="274320" y="5394960"/>
            <a:ext cx="1234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1691640" y="5212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48" name="Text 45"/>
          <p:cNvSpPr/>
          <p:nvPr/>
        </p:nvSpPr>
        <p:spPr>
          <a:xfrm>
            <a:off x="1691640" y="528523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</a:t>
            </a:r>
            <a:endParaRPr lang="en-US" sz="1000" dirty="0"/>
          </a:p>
        </p:txBody>
      </p:sp>
      <p:sp>
        <p:nvSpPr>
          <p:cNvPr id="49" name="Text 46"/>
          <p:cNvSpPr/>
          <p:nvPr/>
        </p:nvSpPr>
        <p:spPr>
          <a:xfrm>
            <a:off x="1691640" y="5596128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Documents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977640" y="5212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51" name="Text 48"/>
          <p:cNvSpPr/>
          <p:nvPr/>
        </p:nvSpPr>
        <p:spPr>
          <a:xfrm>
            <a:off x="3977640" y="528523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000" dirty="0"/>
          </a:p>
        </p:txBody>
      </p:sp>
      <p:sp>
        <p:nvSpPr>
          <p:cNvPr id="52" name="Text 49"/>
          <p:cNvSpPr/>
          <p:nvPr/>
        </p:nvSpPr>
        <p:spPr>
          <a:xfrm>
            <a:off x="3977640" y="5596128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Autonomous Analysis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6263640" y="5212080"/>
            <a:ext cx="210312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54" name="Text 51"/>
          <p:cNvSpPr/>
          <p:nvPr/>
        </p:nvSpPr>
        <p:spPr>
          <a:xfrm>
            <a:off x="6263640" y="5285232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MCP Server</a:t>
            </a:r>
            <a:endParaRPr lang="en-US" sz="1000" dirty="0"/>
          </a:p>
        </p:txBody>
      </p:sp>
      <p:sp>
        <p:nvSpPr>
          <p:cNvPr id="55" name="Text 52"/>
          <p:cNvSpPr/>
          <p:nvPr/>
        </p:nvSpPr>
        <p:spPr>
          <a:xfrm>
            <a:off x="6263640" y="5596128"/>
            <a:ext cx="2103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Integration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8549640" y="5212080"/>
            <a:ext cx="2286000" cy="868680"/>
          </a:xfrm>
          <a:prstGeom prst="roundRect">
            <a:avLst>
              <a:gd name="adj" fmla="val 8421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30000"/>
              </a:srgbClr>
            </a:outerShdw>
          </a:effectLst>
        </p:spPr>
      </p:sp>
      <p:sp>
        <p:nvSpPr>
          <p:cNvPr id="57" name="Text 54"/>
          <p:cNvSpPr/>
          <p:nvPr/>
        </p:nvSpPr>
        <p:spPr>
          <a:xfrm>
            <a:off x="8549640" y="528523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Automations</a:t>
            </a:r>
            <a:endParaRPr lang="en-US" sz="1000" dirty="0"/>
          </a:p>
        </p:txBody>
      </p:sp>
      <p:sp>
        <p:nvSpPr>
          <p:cNvPr id="58" name="Text 55"/>
          <p:cNvSpPr/>
          <p:nvPr/>
        </p:nvSpPr>
        <p:spPr>
          <a:xfrm>
            <a:off x="8549640" y="5596128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Teams Notifications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11064240" y="1005840"/>
            <a:ext cx="960120" cy="5074920"/>
          </a:xfrm>
          <a:prstGeom prst="roundRect">
            <a:avLst>
              <a:gd name="adj" fmla="val 9524"/>
            </a:avLst>
          </a:prstGeom>
          <a:solidFill>
            <a:srgbClr val="E3EAF3"/>
          </a:solidFill>
          <a:ln w="12700">
            <a:solidFill>
              <a:srgbClr val="19416C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11064240" y="1828800"/>
            <a:ext cx="960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Nightmares</a:t>
            </a:r>
            <a:endParaRPr lang="en-US" sz="1100" dirty="0"/>
          </a:p>
        </p:txBody>
      </p:sp>
      <p:sp>
        <p:nvSpPr>
          <p:cNvPr id="61" name="Text 58"/>
          <p:cNvSpPr/>
          <p:nvPr/>
        </p:nvSpPr>
        <p:spPr>
          <a:xfrm>
            <a:off x="11064240" y="2743200"/>
            <a:ext cx="960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$127M/yr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Functional Architecture — The Four Stories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914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914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Integrations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1417320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E0F2F5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59436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3 Data Sources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94360" y="18105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Declarative Pipeline Projects (8 feeds)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594360" y="21579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Bronze Layer (8 tables)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594360" y="2505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Real-time &amp; Batch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94360" y="28529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Movement Gateway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306324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3383280" y="914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009845"/>
          </a:solidFill>
          <a:ln/>
        </p:spPr>
      </p:sp>
      <p:sp>
        <p:nvSpPr>
          <p:cNvPr id="18" name="Text 15"/>
          <p:cNvSpPr/>
          <p:nvPr/>
        </p:nvSpPr>
        <p:spPr>
          <a:xfrm>
            <a:off x="3383280" y="914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Governance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3383280" y="1417320"/>
            <a:ext cx="2743200" cy="2267712"/>
          </a:xfrm>
          <a:prstGeom prst="roundRect">
            <a:avLst>
              <a:gd name="adj" fmla="val 3226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352044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8 Transformation Routes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3520440" y="18105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Silver Layer (cleansed)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3520440" y="21579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Gold Data Products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3520440" y="2505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Trust Score &amp; Lineage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3520440" y="28529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Glossary (25 terms)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3520440" y="320040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4 Stewardship Campaigns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598932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6309360" y="914400"/>
            <a:ext cx="2743200" cy="411480"/>
          </a:xfrm>
          <a:prstGeom prst="roundRect">
            <a:avLst>
              <a:gd name="adj" fmla="val 13333"/>
            </a:avLst>
          </a:prstGeom>
          <a:solidFill>
            <a:srgbClr val="19416C"/>
          </a:solidFill>
          <a:ln/>
        </p:spPr>
      </p:sp>
      <p:sp>
        <p:nvSpPr>
          <p:cNvPr id="28" name="Text 25"/>
          <p:cNvSpPr/>
          <p:nvPr/>
        </p:nvSpPr>
        <p:spPr>
          <a:xfrm>
            <a:off x="6309360" y="914400"/>
            <a:ext cx="2743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Analytics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309360" y="1417320"/>
            <a:ext cx="2743200" cy="1920240"/>
          </a:xfrm>
          <a:prstGeom prst="roundRect">
            <a:avLst>
              <a:gd name="adj" fmla="val 3810"/>
            </a:avLst>
          </a:prstGeom>
          <a:solidFill>
            <a:srgbClr val="E3EAF3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6446520" y="1463040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Qlik Analytics Apps (10 sheets)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6446520" y="1810512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Agentic Analytics &amp; NLI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6446520" y="2157984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Alerts &amp; Reports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6446520" y="2505456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5 Automations (Teams)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6446520" y="2852928"/>
            <a:ext cx="2468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Dark Theme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8915400" y="25603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600" dirty="0"/>
          </a:p>
        </p:txBody>
      </p:sp>
      <p:sp>
        <p:nvSpPr>
          <p:cNvPr id="36" name="Shape 33"/>
          <p:cNvSpPr/>
          <p:nvPr/>
        </p:nvSpPr>
        <p:spPr>
          <a:xfrm>
            <a:off x="9235440" y="914400"/>
            <a:ext cx="2468880" cy="411480"/>
          </a:xfrm>
          <a:prstGeom prst="roundRect">
            <a:avLst>
              <a:gd name="adj" fmla="val 13333"/>
            </a:avLst>
          </a:prstGeom>
          <a:solidFill>
            <a:srgbClr val="4CB393"/>
          </a:solidFill>
          <a:ln/>
        </p:spPr>
      </p:sp>
      <p:sp>
        <p:nvSpPr>
          <p:cNvPr id="37" name="Text 34"/>
          <p:cNvSpPr/>
          <p:nvPr/>
        </p:nvSpPr>
        <p:spPr>
          <a:xfrm>
            <a:off x="9235440" y="91440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AI &amp; Outcomes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235440" y="141732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E0F5EA"/>
          </a:solidFill>
          <a:ln/>
          <a:effectLst>
            <a:outerShdw sx="100000" sy="100000" kx="0" ky="0" algn="bl" rotWithShape="0" blurRad="38100" dist="12700" dir="16200000">
              <a:srgbClr val="D0D0D0">
                <a:alpha val="25000"/>
              </a:srgbClr>
            </a:outerShdw>
          </a:effectLst>
        </p:spPr>
      </p:sp>
      <p:sp>
        <p:nvSpPr>
          <p:cNvPr id="39" name="Text 36"/>
          <p:cNvSpPr/>
          <p:nvPr/>
        </p:nvSpPr>
        <p:spPr>
          <a:xfrm>
            <a:off x="9372600" y="14630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Predict Models (Spoilage/SLA)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9372600" y="181051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Answers (25 docs)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9372600" y="2157984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Discovery Agent</a:t>
            </a:r>
            <a:endParaRPr lang="en-US" sz="950" dirty="0"/>
          </a:p>
        </p:txBody>
      </p:sp>
      <p:sp>
        <p:nvSpPr>
          <p:cNvPr id="42" name="Text 39"/>
          <p:cNvSpPr/>
          <p:nvPr/>
        </p:nvSpPr>
        <p:spPr>
          <a:xfrm>
            <a:off x="9372600" y="250545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MCP Server (Claude)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9372600" y="2852928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Closed-Loop Automation</a:t>
            </a:r>
            <a:endParaRPr lang="en-US" sz="950" dirty="0"/>
          </a:p>
        </p:txBody>
      </p:sp>
      <p:sp>
        <p:nvSpPr>
          <p:cNvPr id="44" name="Shape 41"/>
          <p:cNvSpPr/>
          <p:nvPr/>
        </p:nvSpPr>
        <p:spPr>
          <a:xfrm>
            <a:off x="457200" y="5394960"/>
            <a:ext cx="11247120" cy="548640"/>
          </a:xfrm>
          <a:prstGeom prst="roundRect">
            <a:avLst>
              <a:gd name="adj" fmla="val 13333"/>
            </a:avLst>
          </a:prstGeom>
          <a:solidFill>
            <a:srgbClr val="F6F7F8"/>
          </a:solidFill>
          <a:ln w="9525">
            <a:solidFill>
              <a:srgbClr val="A9B3B6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640080" y="53949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Total:  3 Sources  →  18 Tables  →  9 Flows  →  2 Products  →  10 Sheets  →  2 Models  →  25 Docs  →  5 Automations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Agenda — Four Stories, One Platform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143000"/>
            <a:ext cx="548640" cy="548640"/>
          </a:xfrm>
          <a:prstGeom prst="ellipse">
            <a:avLst/>
          </a:prstGeom>
          <a:solidFill>
            <a:srgbClr val="006580"/>
          </a:solidFill>
          <a:ln/>
        </p:spPr>
      </p:sp>
      <p:sp>
        <p:nvSpPr>
          <p:cNvPr id="9" name="Text 6"/>
          <p:cNvSpPr/>
          <p:nvPr/>
        </p:nvSpPr>
        <p:spPr>
          <a:xfrm>
            <a:off x="457200" y="1143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188720" y="10058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Integrations Story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188720" y="1417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CDC, Kafka streaming, Salesforce → Open Lakehouse (Bronze/Silver/Gold)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188720" y="17830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• Data Flows • Table Recipes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57200" y="25146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25146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1188720" y="23774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Governance Story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188720" y="27889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Products, Lineage, Impact Analysis, Trust Score, Data Profiling, Stewardship Campaigns, Business Glossary, Data Marketplace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188720" y="31546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• Lineage • Impact Analysis • Trust Score • Profiling • Stewardship • Glossary • Data Marketplace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57200" y="3886200"/>
            <a:ext cx="548640" cy="548640"/>
          </a:xfrm>
          <a:prstGeom prst="ellipse">
            <a:avLst/>
          </a:prstGeom>
          <a:solidFill>
            <a:srgbClr val="009845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38862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188720" y="37490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1188720" y="4160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dashboards, Analytics Engine (associative model), Natural Language Insights, Business Logic, native alerting, reporting &amp; subscriptions, automations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188720" y="45262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• Analytics Engine • Associative Model • NLI • Business Logic • Alerting • Reporting • Automations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57200" y="5257800"/>
            <a:ext cx="548640" cy="548640"/>
          </a:xfrm>
          <a:prstGeom prst="ellipse">
            <a:avLst/>
          </a:prstGeom>
          <a:solidFill>
            <a:srgbClr val="4CB393"/>
          </a:solidFill>
          <a:ln/>
        </p:spPr>
      </p:sp>
      <p:sp>
        <p:nvSpPr>
          <p:cNvPr id="24" name="Text 21"/>
          <p:cNvSpPr/>
          <p:nvPr/>
        </p:nvSpPr>
        <p:spPr>
          <a:xfrm>
            <a:off x="457200" y="52578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188720" y="5120640"/>
            <a:ext cx="4572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&amp; Outcomes Story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1188720" y="55321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(unified conversational AI), Qlik Answers (data + documents), Qlik Predict (AutoML), Discovery Agent, MCP Server, Knowledge Mart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1188720" y="589788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• Qlik Answers • Predict • Discovery Agent • MCP • Knowledge Mart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Integrations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47 fragmented systems to a unified, real-time data fabric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Sources &amp; Connectivity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live data sources feeding the Qlik Open Lakehouse in real-time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35331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(WMS)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029200" y="135331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CDC via Qlik Cloud Connector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173736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103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Real-time Change Data Capture, logical replication, sub-second latency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278892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19416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" y="286207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Kafka (IoT)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5029200" y="286207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Streaming via Kafka Connector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324612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mcg.iot.cold-chain • mcg.iot.carrier-events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31520" y="3611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 IoT telemetry from cold chain sensors + carrier GPS/status events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4297680"/>
            <a:ext cx="11247120" cy="1325880"/>
          </a:xfrm>
          <a:prstGeom prst="roundRect">
            <a:avLst>
              <a:gd name="adj" fmla="val 6897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31520" y="437083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Salesforce (CRM)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029200" y="4370832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Standard Connector (15 min)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731520" y="475488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Contact • MCG_Order__c • MCG_Product__c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31520" y="5120640"/>
            <a:ext cx="10698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addresses, orders, product master — with intentional data quality issues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585216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25" name="Text 22"/>
          <p:cNvSpPr/>
          <p:nvPr/>
        </p:nvSpPr>
        <p:spPr>
          <a:xfrm>
            <a:off x="731520" y="587044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Tip: Run all 3 simulators before the demo. Data flows into Bronze within seconds (PostgreSQL, Kafka) or 15 min (Salesforce).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Lakehouse — Bronze / Silver / Gold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Medallion architecture with automated data flows and table recipes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40080" y="141732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14173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BRONZE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2560320" y="141732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Ingestion  (8 tables)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31520" y="196596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inventory_positions • warehouse_events • shipments • sf_contacts • sf_orders • sf_products • iot_cold_chain • iot_carrier_events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669280" y="2651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7200" y="283464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0F8F7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40080" y="297180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006580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9718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560320" y="297180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Cleaned &amp; Transformed  (8 tables)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731520" y="352044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warehouse_events_clean • inventory_reconciled • addresses_standardized • products_harmonized • shipments_canonical • iot_normalized • suppliers_deduped • order_delivery_timeline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5669280" y="42062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▼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7200" y="4389120"/>
            <a:ext cx="11247120" cy="1371600"/>
          </a:xfrm>
          <a:prstGeom prst="roundRect">
            <a:avLst>
              <a:gd name="adj" fmla="val 6667"/>
            </a:avLst>
          </a:prstGeom>
          <a:solidFill>
            <a:srgbClr val="E3EAF3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0080" y="452628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19416C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52628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GOLD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560320" y="4526280"/>
            <a:ext cx="8686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Business-Ready Data Products  (2 tables)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731520" y="5074920"/>
            <a:ext cx="10698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supply_chain_health • last_mile_performance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Flows — 8 Transformation Routes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Data Integration transforms raw data into trusted, business-ready assets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2926080"/>
                <a:gridCol w="5486400"/>
                <a:gridCol w="22860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Route Name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It Does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58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Timestamp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14 timezone formats → UTC standard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Inventory Reconciliation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WMS-ERP comparison, phantom detection, Trust Score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Standardization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18.4M addresses cleaned, fuzzy match,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Master Harmonization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8,200 SKUs missing weight/dims → enriched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Carrier Status Canonicalization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 carriers × 6 languages → unified lifecycle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IoT Telemetry Normalization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Cold chain sensor data → exceedance flags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Master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80 suppliers with 2-4 duplicates → clean master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Order-to-Delivery Timeline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Cross-source join → end-to-end order visibility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#4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5029200"/>
            <a:ext cx="11247120" cy="457200"/>
          </a:xfrm>
          <a:prstGeom prst="roundRect">
            <a:avLst>
              <a:gd name="adj" fmla="val 16000"/>
            </a:avLst>
          </a:prstGeom>
          <a:solidFill>
            <a:srgbClr val="E0F8F7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5047488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route maps directly to one of the 7 Data Quality Nightmares — show the before/after transformation live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658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Integrations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Live CDC Demo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PostgreSQL simulator running → watch rows appear in bronze.inventory_positions in real-time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Make a manual UPDATE in PostgreSQL → show CDC propagating through Bronze → Silver → Gold in under 60 seconds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Highlight pipeline status in the Qlik Cloud Integration hub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600200"/>
          </a:xfrm>
          <a:prstGeom prst="roundRect">
            <a:avLst>
              <a:gd name="adj" fmla="val 5714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Lakehouse Walk-Through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Navigate Open Lakehouse → show the Bronze/Silver/Gold tier structure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Table Recipe (e.g., gold.supply_chain_health) → show how Gold tables are defined from Silver inputs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Flow Route 2 (Inventory Reconciliation) in Pipeline Designer — the 'phantom inventory' detection logic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22960" y="3621024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Pipelines as code: the whole project is declarative YAML — API import, daily schedules, git round-trip (QTCP preview)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Governance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Trust, transparency, and quality at every layer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Data Products for Analytics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Governed, curated datasets with ownership, quality signals, and API access — the foundation of trusted analytics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377440"/>
                <a:gridCol w="1645920"/>
                <a:gridCol w="1645920"/>
                <a:gridCol w="237744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Product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Refresh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API Shared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Health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Henrik Jansen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Daily 06:00 UTC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4.5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Last Mile Performance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Sophie Muller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Daily 06:00 UTC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4.2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✓ Enabled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4754880"/>
            <a:ext cx="11247120" cy="594360"/>
          </a:xfrm>
          <a:prstGeom prst="roundRect">
            <a:avLst>
              <a:gd name="adj" fmla="val 12308"/>
            </a:avLst>
          </a:prstGeom>
          <a:solidFill>
            <a:srgbClr val="E0F5EA"/>
          </a:solidFill>
          <a:ln/>
        </p:spPr>
      </p:sp>
      <p:sp>
        <p:nvSpPr>
          <p:cNvPr id="11" name="Text 7"/>
          <p:cNvSpPr/>
          <p:nvPr/>
        </p:nvSpPr>
        <p:spPr>
          <a:xfrm>
            <a:off x="731520" y="480060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 are the governed contract between data producers and consumers — ownership, quality, freshness, and access all in one place.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 &amp; Impact Analysis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Visual field-level lineage and downstream dependency analysis across the entire data estate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Lineage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Visual field-level lineage graphs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Source → Transformation → App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Cross-system traceability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flow route integration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3152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content lineage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73152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PostgreSQL → Bronze → Silver → Gold → App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20" name="Text 17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Analysis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6583680" y="21031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Downstream dependency maps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583680" y="26060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"What if I change this field?"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583680" y="310896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Affected apps, tasks, datasets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583680" y="361188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Change risk assessment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583680" y="41148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ML experiment dependencies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6583680" y="461772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silver.inventory_reconciled → 3 Gold + 2 apps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 Score &amp; Data Profiling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Quantified data quality at every layer — from raw ingestion to AI consumption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Trust Score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Aggregated quality score (0-5) across dimensions: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219456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Validity: 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468880" y="21945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values within expected ranges?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542032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Completeness: 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468880" y="2542032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Are required fields populated?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2889504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Discoverability: 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468880" y="2889504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metadata documented?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3236976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Usage: 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468880" y="3236976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the data actively consumed?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" y="3584448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AI-Specific: 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468880" y="3584448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Accuracy, Diversity, Timeliness (new)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217920" y="1280160"/>
            <a:ext cx="548640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Profiling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640080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Automated statistical analysis of datasets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Column-level quality metrics &amp; distributions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Pattern detection (e.g., truncated addresses)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Null/blank/outlier identification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Supports SQL DBs, QVDs, CSV, XLSX, Snowflake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384048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use: Profile bronze.contacts_raw → show 11% format issues, 6% truncation at 30 chars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Stewardship — Human-in-the-Loop Data Quality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Crowdsource data corrections to domain experts with tracked campaigns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743200"/>
                <a:gridCol w="2560320"/>
                <a:gridCol w="2103120"/>
                <a:gridCol w="18288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Campaign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Source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Filter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Owner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Address Cleanup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silver.addresses_standardized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quality_score &lt; 0.7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Customer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Supplier Dedup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silver.suppliers_deduped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confidence &lt; 0.9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Procurement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Missing Weights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silver.products_harmonized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weight_kg IS NULL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Product Data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#3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Lot Number Compliance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silver.inventory_reconciled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perishable AND lot IS NULL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Quality Team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 &amp; Data Security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Glossary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standardized terms across 5 categories: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Inventory &amp; Warehouse (Phantom Inventory, IRA, Cycle Count, ...)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304288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Supply Chain &amp; Logistics (WISMO, SLA Breach, Cold Chain, ...)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88336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Data Quality &amp; Governance (Trust Score, Data Lineage, ...)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3072384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Compliance &amp; Regulatory (Lot Traceability, NVWA, Recall, ...)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456432"/>
            <a:ext cx="5120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Operations (Fill Rate, OTIF, Carrier SLA, ...)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93192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term links to data products, datasets, and nightmare scenarios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5486400" cy="1920240"/>
          </a:xfrm>
          <a:prstGeom prst="roundRect">
            <a:avLst>
              <a:gd name="adj" fmla="val 5714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Access [NEW]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6400800" y="160020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Row-level + column-level data reduction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190195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Based on USER.EMAIL, USERID, groups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20370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Regional VPs see only their DCs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50545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Carrier partners see only their shipments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217920" y="3108960"/>
            <a:ext cx="5486400" cy="2011680"/>
          </a:xfrm>
          <a:prstGeom prst="roundRect">
            <a:avLst>
              <a:gd name="adj" fmla="val 5455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00800" y="32004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Marketplace [NEW]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6400800" y="37033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Self-service portal for data product discovery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400507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Business users browse &amp; request access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430682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Governed access with approval workflows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6400800" y="460857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Reduces shadow data / rogue spreadsheets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400800" y="491032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Analysts find gold.supply_chain_health without asking IT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Data Products Walk-Through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Data Products catalog → show both products with owners, Trust Scores, SLAs, API sharing status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'API Sharing' on Supply Chain Health → copy the endpoint → run a curl command to fetch live data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Data Marketplace → demonstrate self-service data discovery for business users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Lineage + Impact Analysis + Trust Score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gold.supply_chain_health → Lineage view → trace field-level path from PostgreSQL → Bronze → Silver → Gold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Click Impact Analysis → show which apps, reports, and ML models depend on this data product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Trust Score on gold.last_mile_performance → highlight Validity (4.5), Completeness (4.2), Discoverability (5.0)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Stewardship + Glossary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Address Cleanup campaign → show steward's review queue (ambiguous matches &lt; 90% confidence)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'Phantom Inventory' glossary term → show definition, owner, linked datasets, related nightmares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Analytics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stale PowerPoints to real-time, interactive, AI-assisted insights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Analytics — 2 Domain Apps (10 Sheets)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dashboards connected to Gold-layer data products with associative exploration</a:t>
            </a:r>
            <a:endParaRPr lang="en-US" sz="14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5760720"/>
                <a:gridCol w="22860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Dashboard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Key Focus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Nightmares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98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Supply Chain Operations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sheets: Inventory accuracy, cold chain monitoring, quality, compliance, cost impact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#1, #3, #4, #6, #7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Delivery &amp; Customer Exp.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sheets: Last mile performance, order tracking, WISMO analysis, carrier SLAs, addresses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#2, #5, #6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Engine &amp; Intelligent Insights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Qlik Associative Engine — the foundation powering every dashboard, calculation, and AI interaction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Associative Engine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In-memory associative data model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3152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Green/white/gray selection states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Set analysis for complex calculations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3152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Cross-source data associations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152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No pre-defined drill paths or queries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3152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Select Rotterdam → all charts update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29768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20" name="Text 17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Natural Language Insights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457200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Auto-generated narrative summaries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Trend, outlier, and driver detection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457200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Linked directly to chart selections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457200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Plain-English explanations of data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457200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Updated Nov 2025: chart-linked NLI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57200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NLI on Supply Chain Health app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8138160" y="1280160"/>
            <a:ext cx="3566160" cy="4206240"/>
          </a:xfrm>
          <a:prstGeom prst="roundRect">
            <a:avLst>
              <a:gd name="adj" fmla="val 3077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29" name="Text 26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Logic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8412480" y="210312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Logical Model defines relationships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8412480" y="2542032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Vocabulary maps business terms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8412480" y="2980944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Guides analytics + AI behavior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8412480" y="3419856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Calendar &amp; geographic hierarchies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8412480" y="3858768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Measure definitions &amp; formatting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8412480" y="4297680"/>
            <a:ext cx="3108960" cy="3931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"phantom" → inventory_accuracy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</p:sp>
      <p:sp>
        <p:nvSpPr>
          <p:cNvPr id="37" name="Text 34"/>
          <p:cNvSpPr/>
          <p:nvPr/>
        </p:nvSpPr>
        <p:spPr>
          <a:xfrm>
            <a:off x="731520" y="571500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Story 4 — AI &amp; Outcomes: The Agentic Analytics experience layers conversational AI and Qlik Answers on top of this engine. See the full agentic demo flow in Story 4.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Alerting, Reporting &amp; Subscriptions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Data Alerts [NEW]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Condition-based alerts on data reload or schedule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Compare against values, measures, or last evaluation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Web, push, and email notification channels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Shareable alerts across teams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IRA drops below 85% for any DC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Alert when WISMO rate exceeds 40% for a carrier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1005840"/>
            <a:ext cx="5486400" cy="2468880"/>
          </a:xfrm>
          <a:prstGeom prst="roundRect">
            <a:avLst>
              <a:gd name="adj" fmla="val 4444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Reporting Service [NEW]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6400800" y="16459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PixelPerfect: Banded PDF reports (replaces NPrinting)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0" y="196596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Tabular Reports: Excel-based export templates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400800" y="228600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On-Demand: User sets selections → downloads report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400800" y="260604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Subscriptions: Scheduled email delivery of charts/sheets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92608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Weekly compliance report to regulatory affairs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3246120"/>
            <a:ext cx="5120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Daily inventory summary emailed to DC managers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Automations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No-code automation designer for scheduled reloads, alerts, and cross-system workflows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11247120" cy="3840480"/>
          </a:xfrm>
          <a:prstGeom prst="roundRect">
            <a:avLst>
              <a:gd name="adj" fmla="val 285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1463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Block-based automation designer (no code)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31520" y="1920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Daily App Reload (06:00 UTC)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31520" y="23774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Cold Chain Alert → Teams (every 5 min)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731520" y="28346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Pipeline Health Summary → Teams (07:00 UTC)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31520" y="32918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WISMO Rate Alert → Customer Ops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31520" y="3749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Webhook triggers for external events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31520" y="4206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100+ connector blocks (Teams, Slack, SMTP, REST, ...)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57200" y="4023360"/>
            <a:ext cx="11247120" cy="731520"/>
          </a:xfrm>
          <a:prstGeom prst="roundRect">
            <a:avLst>
              <a:gd name="adj" fmla="val 10000"/>
            </a:avLst>
          </a:prstGeom>
          <a:solidFill>
            <a:srgbClr val="E0F8F7"/>
          </a:solidFill>
          <a:ln/>
        </p:spPr>
      </p:sp>
      <p:sp>
        <p:nvSpPr>
          <p:cNvPr id="18" name="Text 15"/>
          <p:cNvSpPr/>
          <p:nvPr/>
        </p:nvSpPr>
        <p:spPr>
          <a:xfrm>
            <a:off x="731520" y="40690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 Themes &amp; Extensions: Apply MCG branding (Navy #1B2A4A, Teal #0D7C8F, Gold #C4922E, Calibri font) as a tenant-level theme. Import custom visualization extensions for specialized supply chain charts.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Analytics Dashboard Tour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Supply Chain Health → show Rotterdam DC's IRA at 74%, drill into phantom inventory by SKU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Cold Chain Monitoring → show live temperature exceedances on São Paulo→Buenos Aires route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Switch to Executive Cost Impact → C-level view of $127M broken down by nightmare category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8F7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Analytics Engine &amp; NLI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associative selections: click Rotterdam DC → green/white/gray state across all charts instantly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NLI object on Supply Chain Health → auto-generated narrative explaining IRA trend and key drivers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Business Logic: Logical Model vocabulary mapping 'phantom' → inventory_accuracy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8F7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Alerting + Reporting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a native alert: IRA &lt; 85% for DC-RTD-01 → triggered, sent via email and push notification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a subscription: weekly compliance PDF emailed to regulatory team every Monday 08:00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 &amp; Outcomes Story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reactive dashboards to proactive, conversational, agentic intelligence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Analytics — Unified AI Experience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single conversational AI that queries data, reads documents, and reasons across both — now GA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4CB393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Conversational Analytics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3152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Ask questions in natural language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3152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Qlik engine powers governed answers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73152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Auto-generates visualizations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73152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"Show IRA by DC"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29768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38912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8" name="Text 15"/>
          <p:cNvSpPr/>
          <p:nvPr/>
        </p:nvSpPr>
        <p:spPr>
          <a:xfrm>
            <a:off x="438912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Reasoning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57200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Chain-of-thought multi-step logic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7200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Blends structured + unstructured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57200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Citations &amp; explainability built in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"Why did Rotterdam IRA drop?"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8138160" y="1280160"/>
            <a:ext cx="3566160" cy="3017520"/>
          </a:xfrm>
          <a:prstGeom prst="roundRect">
            <a:avLst>
              <a:gd name="adj" fmla="val 3636"/>
            </a:avLst>
          </a:prstGeom>
          <a:solidFill>
            <a:srgbClr val="F6F7F8"/>
          </a:solidFill>
          <a:ln w="25400">
            <a:solidFill>
              <a:srgbClr val="19416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229600" y="1371600"/>
            <a:ext cx="3383280" cy="548640"/>
          </a:xfrm>
          <a:prstGeom prst="roundRect">
            <a:avLst>
              <a:gd name="adj" fmla="val 10000"/>
            </a:avLst>
          </a:prstGeom>
          <a:solidFill>
            <a:srgbClr val="19416C"/>
          </a:solidFill>
          <a:ln/>
        </p:spPr>
      </p:sp>
      <p:sp>
        <p:nvSpPr>
          <p:cNvPr id="25" name="Text 22"/>
          <p:cNvSpPr/>
          <p:nvPr/>
        </p:nvSpPr>
        <p:spPr>
          <a:xfrm>
            <a:off x="8229600" y="13716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 Intelligence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412480" y="21031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25 MCG operational documents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8412480" y="25603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SOPs, contracts, incident reports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8412480" y="30175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Cross-document reasoning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412480" y="3474720"/>
            <a:ext cx="3108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"What is Project CLARITY?"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457200" y="448056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452628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 Qlik Answers agentic experience is now GA — replaces legacy Insight Advisor with unified conversational AI across data and documents.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457200" y="512064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8F7"/>
          </a:solidFill>
          <a:ln/>
        </p:spPr>
      </p:sp>
      <p:sp>
        <p:nvSpPr>
          <p:cNvPr id="33" name="Text 30"/>
          <p:cNvSpPr/>
          <p:nvPr/>
        </p:nvSpPr>
        <p:spPr>
          <a:xfrm>
            <a:off x="731520" y="516636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Powered by the Qlik Associative Engine &amp; Business Logic from Story 3 — Analytics. The engine provides governed calculations; Agentic Analytics adds conversational reasoning on top.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Predict — AutoML for Supply Chain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Train, deploy, and share ML models without code — predictions served via API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864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6580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Cold Chain Exceedance  (Classification)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73152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01168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silver.iot_normalized (Open Lakehouse)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73152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01168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alert_flag (Y/N)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73152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01168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temperature_c, humidity_pct, battery_level_pct, battery_low, gps_gap, shock_detected, route_id, warehouse_id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73152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201168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which São Paulo→Buenos Aires readings will breach the cold chain before product spoils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73152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01168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#6 (Carrier Black Hole)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309360" y="1280160"/>
            <a:ext cx="5577840" cy="4114800"/>
          </a:xfrm>
          <a:prstGeom prst="roundRect">
            <a:avLst>
              <a:gd name="adj" fmla="val 2667"/>
            </a:avLst>
          </a:prstGeom>
          <a:solidFill>
            <a:srgbClr val="F6F7F8"/>
          </a:solidFill>
          <a:ln w="25400">
            <a:solidFill>
              <a:srgbClr val="00984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400800" y="1371600"/>
            <a:ext cx="5394960" cy="548640"/>
          </a:xfrm>
          <a:prstGeom prst="roundRect">
            <a:avLst>
              <a:gd name="adj" fmla="val 10000"/>
            </a:avLst>
          </a:prstGeom>
          <a:solidFill>
            <a:srgbClr val="009845"/>
          </a:solidFill>
          <a:ln/>
        </p:spPr>
      </p:sp>
      <p:sp>
        <p:nvSpPr>
          <p:cNvPr id="24" name="Text 21"/>
          <p:cNvSpPr/>
          <p:nvPr/>
        </p:nvSpPr>
        <p:spPr>
          <a:xfrm>
            <a:off x="6400800" y="1371600"/>
            <a:ext cx="539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 Delivery Predictor  (Classification)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6583680" y="20574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7863840" y="205740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silver.order_delivery_timeline (Open Lakehouse)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6583680" y="2697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Target: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863840" y="269748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delivered_late (Y/N)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6583680" y="33375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Features: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7863840" y="3337560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carrier_code, fulfillment_method, tracking_missing, delivery_attempts, exception_code, order_date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6583680" y="39776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Scenario: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863840" y="397764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Predict at ship time which orders will deliver late — enable proactive customer notification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6583680" y="46177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Nightmare: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7863840" y="4617720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#2 / #6 (tracking gaps + carrier reclassification)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Answers — Document Intelligence &amp; Knowledge Base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AI that answers questions from 25 MCG operational documents with citations and reasoning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1280160"/>
            <a:ext cx="50292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371600"/>
            <a:ext cx="4663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Base: 25 Documents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40080" y="1828800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5 SOPs (warehouse, cold chain, returns, ...)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640080" y="2075688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3 Carrier contracts (NinjaVan, FedEx, DPD)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640080" y="2322576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4 Policies (cold chain, data governance, ...)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0080" y="2569464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Purchase orders + 2 Supplier comms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640080" y="2816352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Incident reports + 1 Recall notice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40080" y="3063240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2 Training docs + 1 Meeting minutes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40080" y="3310128"/>
            <a:ext cx="46634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1 Compliance plan + 1 Project brief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760720" y="1280160"/>
            <a:ext cx="5943600" cy="2286000"/>
          </a:xfrm>
          <a:prstGeom prst="roundRect">
            <a:avLst>
              <a:gd name="adj" fmla="val 4800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943600" y="1371600"/>
            <a:ext cx="5577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Demo Scenarios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5943600" y="18288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the goods receiving procedure?"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875520" y="1828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SOP-WH-001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943600" y="2176272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happened at Rotterdam in September?"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875520" y="217627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INC-2025-04872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943600" y="2523744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are cold chain temp requirements?"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875520" y="2523744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SOP-SC-002, MCG-POL-012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943600" y="2871216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is Project CLARITY?"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875520" y="2871216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PROJ-CLARITY-2025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943600" y="3218688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caused the lettuce recall?"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9875520" y="321868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RCL-2025-003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57200" y="3840480"/>
            <a:ext cx="11247120" cy="640080"/>
          </a:xfrm>
          <a:prstGeom prst="roundRect">
            <a:avLst>
              <a:gd name="adj" fmla="val 11429"/>
            </a:avLst>
          </a:prstGeom>
          <a:solidFill>
            <a:srgbClr val="E0F5EA"/>
          </a:solidFill>
          <a:ln/>
        </p:spPr>
      </p:sp>
      <p:sp>
        <p:nvSpPr>
          <p:cNvPr id="31" name="Text 28"/>
          <p:cNvSpPr/>
          <p:nvPr/>
        </p:nvSpPr>
        <p:spPr>
          <a:xfrm>
            <a:off x="731520" y="388620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Mart: Automate the RAG pipeline — structured-to-document transformation, vectorization, and incremental loading to vector stores. Keeps Qlik Answers grounded in fresh data.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 &amp; MCP Server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4CB39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Agent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008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Proactive AI that monitors data products for anomalies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Monitors gold-layer data products continuously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Detects: Trust Score drops, sync lag, volume anomalies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 scenario: TransFrio spoilage detection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Alert thresholds: Trust &lt; 0.70, Lag &gt; 60 min, Volume ±50%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Links to dashboards, contracts, incident reports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4008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"Temp exceedance on GRU-BA route. Spoilage up 4x."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"12 active shipments at risk. Est. $180K exposure."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17920" y="1005840"/>
            <a:ext cx="5486400" cy="3474720"/>
          </a:xfrm>
          <a:prstGeom prst="roundRect">
            <a:avLst>
              <a:gd name="adj" fmla="val 3158"/>
            </a:avLst>
          </a:prstGeom>
          <a:solidFill>
            <a:srgbClr val="F6F7F8"/>
          </a:solidFill>
          <a:ln w="25400">
            <a:solidFill>
              <a:srgbClr val="00658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0" y="109728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MCP Server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6400800" y="15544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AI agents (Claude, GPT) directly to Qlik data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400800" y="192024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Cloud-hosted SSE endpoint: &lt;tenant&gt;/api/ai/mcp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400800" y="225856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71 tools: App Discovery, Lineage, Data Products, Glossary...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400800" y="2596896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Query data products via natural language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6400800" y="2935224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Works with Claude Desktop, Claude Code, others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6400800" y="3273552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MCG: "What is IRA at Rotterdam DC?"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6400800" y="3611880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Response: "74%, 847 phantom units, 143 SKUs"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0" y="3950208"/>
            <a:ext cx="51206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▸  Root cause: "Silent pipeline failure (INC-2025-04872)"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57200" y="4754880"/>
            <a:ext cx="11247120" cy="502920"/>
          </a:xfrm>
          <a:prstGeom prst="roundRect">
            <a:avLst>
              <a:gd name="adj" fmla="val 14545"/>
            </a:avLst>
          </a:prstGeom>
          <a:solidFill>
            <a:srgbClr val="E0F5EA"/>
          </a:solidFill>
          <a:ln/>
        </p:spPr>
      </p:sp>
      <p:sp>
        <p:nvSpPr>
          <p:cNvPr id="29" name="Text 26"/>
          <p:cNvSpPr/>
          <p:nvPr/>
        </p:nvSpPr>
        <p:spPr>
          <a:xfrm>
            <a:off x="731520" y="480060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 tools integrate with the Agentic Analytics experience (see slide above) — Discovery Agent proactively surfaces issues; MCP enables external AI agents to query Qlik data directly.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4CB393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Outcomes Story — What to Show in the Demo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457200" y="100584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051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Agentic Analytics Experience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2960" y="13258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Qlik Answers → ask: "Which distribution centers have the lowest inventory accuracy?" → data agent queries Qlik Analytics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22960" y="161848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Follow up: "What happened at Rotterdam in September?" → document agent pulls INC-2025-04872 with citations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22960" y="191109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Ask: "What does Project CLARITY propose to fix this?" → chain-of-thought reasoning across data + documents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23160"/>
            <a:ext cx="11247120" cy="1280160"/>
          </a:xfrm>
          <a:prstGeom prst="roundRect">
            <a:avLst>
              <a:gd name="adj" fmla="val 7143"/>
            </a:avLst>
          </a:prstGeom>
          <a:solidFill>
            <a:srgbClr val="E0F5EA"/>
          </a:solidFill>
          <a:ln/>
        </p:spPr>
      </p:sp>
      <p:sp>
        <p:nvSpPr>
          <p:cNvPr id="14" name="Text 11"/>
          <p:cNvSpPr/>
          <p:nvPr/>
        </p:nvSpPr>
        <p:spPr>
          <a:xfrm>
            <a:off x="640080" y="24688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Qlik Predict Live Demo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822960" y="2743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Open the Cold Chain Exceedance experiment → show training report, feature importance (temperature_c #1, battery_low #2)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2960" y="30358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Run a prediction on a live GRU-BA reading: 11.2°C, battery 9% → 78% exceedance probability — the TransFrio story in one number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2960" y="33284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prediction API endpoint → demonstrate external system consuming predictions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57200" y="384048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</p:sp>
      <p:sp>
        <p:nvSpPr>
          <p:cNvPr id="19" name="Text 16"/>
          <p:cNvSpPr/>
          <p:nvPr/>
        </p:nvSpPr>
        <p:spPr>
          <a:xfrm>
            <a:off x="640080" y="38862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Discovery Agent Scenario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22960" y="41605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Show Discovery Agent alert: spoilage rate on GRU-BA route spiked 2.1% → 8.8% after fleet change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22960" y="445312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Agent links to: cold chain dashboard, TransFrio carrier contract, incident report INC-2025-05102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457200" y="493776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0F5EA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498348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  MCP Server Demo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22960" y="52578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In Claude Desktop: "What is the current inventory accuracy at Rotterdam DC?"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822960" y="555040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Claude queries gold.supply_chain_health via MCP → returns: 74% IRA, 847 phantom units, root cause analysis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divid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6858000" cy="685800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4" name="Shape 1"/>
          <p:cNvSpPr/>
          <p:nvPr/>
        </p:nvSpPr>
        <p:spPr>
          <a:xfrm>
            <a:off x="731520" y="182880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009845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" y="182880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★</a:t>
            </a:r>
            <a:endParaRPr lang="en-US" sz="3600" dirty="0"/>
          </a:p>
        </p:txBody>
      </p:sp>
      <p:sp>
        <p:nvSpPr>
          <p:cNvPr id="6" name="Shape 3"/>
          <p:cNvSpPr/>
          <p:nvPr/>
        </p:nvSpPr>
        <p:spPr>
          <a:xfrm>
            <a:off x="1828800" y="2606040"/>
            <a:ext cx="2286000" cy="45720"/>
          </a:xfrm>
          <a:prstGeom prst="rect">
            <a:avLst/>
          </a:prstGeom>
          <a:solidFill>
            <a:srgbClr val="009845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283464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Features to Add to Demo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731520" y="384048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CFC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capabilities not yet in the checklist — recommended additions</a:t>
            </a:r>
            <a:endParaRPr lang="en-US" sz="1600" dirty="0"/>
          </a:p>
        </p:txBody>
      </p:sp>
      <p:pic>
        <p:nvPicPr>
          <p:cNvPr id="9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5943600"/>
            <a:ext cx="1371600" cy="603504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19416C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6400800"/>
            <a:ext cx="11274552" cy="9144"/>
          </a:xfrm>
          <a:prstGeom prst="rect">
            <a:avLst/>
          </a:prstGeom>
          <a:solidFill>
            <a:srgbClr val="A9B3B6"/>
          </a:solidFill>
          <a:ln/>
        </p:spPr>
      </p:sp>
      <p:pic>
        <p:nvPicPr>
          <p:cNvPr id="4" name="Image 0" descr="C:\Claude\MCG Full Stack\generators\assets\qlik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6492240"/>
            <a:ext cx="640080" cy="2743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8016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MCG End-to-End Demo  •  Qlik Cloud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972800" y="6492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45720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 Features — Prioritized Additions</a:t>
            </a:r>
            <a:endParaRPr lang="en-US" sz="26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116128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657600"/>
                <a:gridCol w="2011680"/>
                <a:gridCol w="47548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Priority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Feature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Story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Effort to Add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416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Lineage + Impact Analysis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auto-populated from existing data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Trust Score + Data Profiling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Gold-layer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658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Native Data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create 2-3 condition-based alerts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Reporting Service + Subscriptions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build 1-2 report templates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Section Access (Row-Level Security)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for regional VP views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Business Logic / Logical Model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define in app settings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Knowledge Mart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AI &amp; Outcomes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Medium — configure RAG pipeline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Custom MCG Theme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Analytics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upload JSON theme file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984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9416C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Marketplace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Governance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54659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Low — enable on data products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laude\MCG Full Stack\generators\assets\qlik_cover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pic>
        <p:nvPicPr>
          <p:cNvPr id="3" name="Image 1" descr="C:\Claude\MCG Full Stack\generators\assets\qlik_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"/>
            <a:ext cx="12801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57200" y="14630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Meridian Commerce Group</a:t>
            </a:r>
            <a:endParaRPr lang="en-US" sz="1600" dirty="0"/>
          </a:p>
        </p:txBody>
      </p:sp>
      <p:sp>
        <p:nvSpPr>
          <p:cNvPr id="5" name="Text 1"/>
          <p:cNvSpPr/>
          <p:nvPr/>
        </p:nvSpPr>
        <p:spPr>
          <a:xfrm>
            <a:off x="457200" y="2011680"/>
            <a:ext cx="5943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Platform.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Stories.</a:t>
            </a:r>
            <a:endParaRPr lang="en-US" sz="3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941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Complete Data Intelligence.</a:t>
            </a:r>
            <a:endParaRPr lang="en-US" sz="3000" dirty="0"/>
          </a:p>
        </p:txBody>
      </p:sp>
      <p:sp>
        <p:nvSpPr>
          <p:cNvPr id="6" name="Shape 2"/>
          <p:cNvSpPr/>
          <p:nvPr/>
        </p:nvSpPr>
        <p:spPr>
          <a:xfrm>
            <a:off x="4572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4572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Data Sources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237744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658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37744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5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2800" dirty="0"/>
          </a:p>
        </p:txBody>
      </p:sp>
      <p:sp>
        <p:nvSpPr>
          <p:cNvPr id="11" name="Text 7"/>
          <p:cNvSpPr/>
          <p:nvPr/>
        </p:nvSpPr>
        <p:spPr>
          <a:xfrm>
            <a:off x="237744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Lakehouse Tables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429768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29768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0"/>
          <p:cNvSpPr/>
          <p:nvPr/>
        </p:nvSpPr>
        <p:spPr>
          <a:xfrm>
            <a:off x="429768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Products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21792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009845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21792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98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2800" dirty="0"/>
          </a:p>
        </p:txBody>
      </p:sp>
      <p:sp>
        <p:nvSpPr>
          <p:cNvPr id="17" name="Text 13"/>
          <p:cNvSpPr/>
          <p:nvPr/>
        </p:nvSpPr>
        <p:spPr>
          <a:xfrm>
            <a:off x="621792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Sheets (2 Apps)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813816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13816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800" dirty="0"/>
          </a:p>
        </p:txBody>
      </p:sp>
      <p:sp>
        <p:nvSpPr>
          <p:cNvPr id="20" name="Text 16"/>
          <p:cNvSpPr/>
          <p:nvPr/>
        </p:nvSpPr>
        <p:spPr>
          <a:xfrm>
            <a:off x="813816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ML Models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10058400" y="3840480"/>
            <a:ext cx="1645920" cy="1005840"/>
          </a:xfrm>
          <a:prstGeom prst="roundRect">
            <a:avLst>
              <a:gd name="adj" fmla="val 7273"/>
            </a:avLst>
          </a:prstGeom>
          <a:solidFill>
            <a:srgbClr val="F6F7F8"/>
          </a:solidFill>
          <a:ln w="19050">
            <a:solidFill>
              <a:srgbClr val="4CB393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10058400" y="388620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B39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2800" dirty="0"/>
          </a:p>
        </p:txBody>
      </p:sp>
      <p:sp>
        <p:nvSpPr>
          <p:cNvPr id="23" name="Text 19"/>
          <p:cNvSpPr/>
          <p:nvPr/>
        </p:nvSpPr>
        <p:spPr>
          <a:xfrm>
            <a:off x="10058400" y="44348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546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KB Documents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457200" y="53035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9B3B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Qlik Cloud  •  End-to-End Demo  •  Integrations  •  Governance  •  Analytics  •  AI &amp; Outcomes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Qlik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MCG Qlik Cloud Demo — Four Stories</dc:title>
  <dc:subject>PptxGenJS Presentation</dc:subject>
  <dc:creator>Qlik</dc:creator>
  <cp:lastModifiedBy>Qlik</cp:lastModifiedBy>
  <cp:revision>1</cp:revision>
  <dcterms:created xsi:type="dcterms:W3CDTF">2026-06-12T20:23:13Z</dcterms:created>
  <dcterms:modified xsi:type="dcterms:W3CDTF">2026-06-12T20:23:13Z</dcterms:modified>
</cp:coreProperties>
</file>