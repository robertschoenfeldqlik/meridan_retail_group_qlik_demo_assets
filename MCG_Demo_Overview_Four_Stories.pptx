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End-To-End Demo\generators\assets\qlik_cov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pic>
        <p:nvPicPr>
          <p:cNvPr id="3" name="Image 1" descr="C:\Claude\End-To-End Demo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65760"/>
            <a:ext cx="1280160" cy="566928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57200" y="1463040"/>
            <a:ext cx="5943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Meridian Commerce Group</a:t>
            </a:r>
            <a:endParaRPr lang="en-US" sz="1800" dirty="0"/>
          </a:p>
        </p:txBody>
      </p:sp>
      <p:sp>
        <p:nvSpPr>
          <p:cNvPr id="5" name="Text 1"/>
          <p:cNvSpPr/>
          <p:nvPr/>
        </p:nvSpPr>
        <p:spPr>
          <a:xfrm>
            <a:off x="457200" y="2103120"/>
            <a:ext cx="5943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8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</a:t>
            </a:r>
            <a:endParaRPr lang="en-US" sz="38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8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End-to-End Demo</a:t>
            </a:r>
            <a:endParaRPr lang="en-US" sz="3800" dirty="0"/>
          </a:p>
        </p:txBody>
      </p:sp>
      <p:sp>
        <p:nvSpPr>
          <p:cNvPr id="6" name="Text 2"/>
          <p:cNvSpPr/>
          <p:nvPr/>
        </p:nvSpPr>
        <p:spPr>
          <a:xfrm>
            <a:off x="457200" y="365760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Integration  •  Governance  •  Analytics  •  AI</a:t>
            </a:r>
            <a:endParaRPr lang="en-US" sz="1600" dirty="0"/>
          </a:p>
        </p:txBody>
      </p:sp>
      <p:sp>
        <p:nvSpPr>
          <p:cNvPr id="7" name="Text 3"/>
          <p:cNvSpPr/>
          <p:nvPr/>
        </p:nvSpPr>
        <p:spPr>
          <a:xfrm>
            <a:off x="457200" y="429768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47 fragmented systems to a trusted, AI-ready data platform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457200" y="512064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006580"/>
          </a:solidFill>
          <a:ln/>
        </p:spPr>
      </p:sp>
      <p:sp>
        <p:nvSpPr>
          <p:cNvPr id="9" name="Text 5"/>
          <p:cNvSpPr/>
          <p:nvPr/>
        </p:nvSpPr>
        <p:spPr>
          <a:xfrm>
            <a:off x="457200" y="51206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Integration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2743200" y="512064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009845"/>
          </a:solidFill>
          <a:ln/>
        </p:spPr>
      </p:sp>
      <p:sp>
        <p:nvSpPr>
          <p:cNvPr id="11" name="Text 7"/>
          <p:cNvSpPr/>
          <p:nvPr/>
        </p:nvSpPr>
        <p:spPr>
          <a:xfrm>
            <a:off x="2743200" y="51206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Governance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5029200" y="512064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19416C"/>
          </a:solidFill>
          <a:ln/>
        </p:spPr>
      </p:sp>
      <p:sp>
        <p:nvSpPr>
          <p:cNvPr id="13" name="Text 9"/>
          <p:cNvSpPr/>
          <p:nvPr/>
        </p:nvSpPr>
        <p:spPr>
          <a:xfrm>
            <a:off x="5029200" y="51206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7315200" y="512064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93579C"/>
          </a:solidFill>
          <a:ln/>
        </p:spPr>
      </p:sp>
      <p:sp>
        <p:nvSpPr>
          <p:cNvPr id="15" name="Text 11"/>
          <p:cNvSpPr/>
          <p:nvPr/>
        </p:nvSpPr>
        <p:spPr>
          <a:xfrm>
            <a:off x="7315200" y="51206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Demo Agenda — Four Stories, One Platform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143000"/>
            <a:ext cx="548640" cy="548640"/>
          </a:xfrm>
          <a:prstGeom prst="ellipse">
            <a:avLst/>
          </a:prstGeom>
          <a:solidFill>
            <a:srgbClr val="006580"/>
          </a:solidFill>
          <a:ln/>
        </p:spPr>
      </p:sp>
      <p:sp>
        <p:nvSpPr>
          <p:cNvPr id="9" name="Text 6"/>
          <p:cNvSpPr/>
          <p:nvPr/>
        </p:nvSpPr>
        <p:spPr>
          <a:xfrm>
            <a:off x="457200" y="11430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1188720" y="100584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Integration Story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1188720" y="14173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Movement Gateway, CDC, Kafka streaming, Salesforce → Open Lakehouse (Bronze/Silver/Gold) → Direct Query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1188720" y="178308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DMG • CDC • Data Flows • Table Recipes • Direct Query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457200" y="2514600"/>
            <a:ext cx="548640" cy="548640"/>
          </a:xfrm>
          <a:prstGeom prst="ellipse">
            <a:avLst/>
          </a:prstGeom>
          <a:solidFill>
            <a:srgbClr val="009845"/>
          </a:solidFill>
          <a:ln/>
        </p:spPr>
      </p:sp>
      <p:sp>
        <p:nvSpPr>
          <p:cNvPr id="14" name="Text 11"/>
          <p:cNvSpPr/>
          <p:nvPr/>
        </p:nvSpPr>
        <p:spPr>
          <a:xfrm>
            <a:off x="457200" y="25146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1188720" y="237744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Data Governance Story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1188720" y="2788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Products, Catalog &amp; Lineage, Impact Analysis, Trust Score, Data Profiling, Stewardship Campaigns, Business Glossary, Data Marketplace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1188720" y="315468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Products • Catalog • Lineage • Impact Analysis • Trust Score • Profiling • Stewardship • Glossary • Data Marketplace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457200" y="3886200"/>
            <a:ext cx="548640" cy="548640"/>
          </a:xfrm>
          <a:prstGeom prst="ellipse">
            <a:avLst/>
          </a:prstGeom>
          <a:solidFill>
            <a:srgbClr val="009845"/>
          </a:solidFill>
          <a:ln/>
        </p:spPr>
      </p:sp>
      <p:sp>
        <p:nvSpPr>
          <p:cNvPr id="19" name="Text 16"/>
          <p:cNvSpPr/>
          <p:nvPr/>
        </p:nvSpPr>
        <p:spPr>
          <a:xfrm>
            <a:off x="457200" y="38862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1188720" y="374904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Analytics Story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1188720" y="41605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Sense dashboards, Qlik Answers agentic analytics, native alerting, reporting &amp; subscriptions, embedded analytics, mobile, collaboration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1188720" y="452628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Sense • Qlik Answers • Alerting • Reporting • qlik-embed • Mobile • Notes • Bookmarks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457200" y="5257800"/>
            <a:ext cx="548640" cy="548640"/>
          </a:xfrm>
          <a:prstGeom prst="ellipse">
            <a:avLst/>
          </a:prstGeom>
          <a:solidFill>
            <a:srgbClr val="93579C"/>
          </a:solidFill>
          <a:ln/>
        </p:spPr>
      </p:sp>
      <p:sp>
        <p:nvSpPr>
          <p:cNvPr id="24" name="Text 21"/>
          <p:cNvSpPr/>
          <p:nvPr/>
        </p:nvSpPr>
        <p:spPr>
          <a:xfrm>
            <a:off x="457200" y="52578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2200" dirty="0"/>
          </a:p>
        </p:txBody>
      </p:sp>
      <p:sp>
        <p:nvSpPr>
          <p:cNvPr id="25" name="Text 22"/>
          <p:cNvSpPr/>
          <p:nvPr/>
        </p:nvSpPr>
        <p:spPr>
          <a:xfrm>
            <a:off x="1188720" y="512064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9357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AI Story</a:t>
            </a:r>
            <a:endParaRPr lang="en-US" sz="1800" dirty="0"/>
          </a:p>
        </p:txBody>
      </p:sp>
      <p:sp>
        <p:nvSpPr>
          <p:cNvPr id="26" name="Text 23"/>
          <p:cNvSpPr/>
          <p:nvPr/>
        </p:nvSpPr>
        <p:spPr>
          <a:xfrm>
            <a:off x="1188720" y="55321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Predict (AutoML), Qlik Answers (agentic AI), Discovery Agent, MCP Server, Natural Language Insights, Agentic Analytics (GA)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1188720" y="589788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Predict • Qlik Answers • Discovery Agent • MCP • NLI • Knowledge Mart • Agentic Analytics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End-To-End Demo\generators\assets\qlik_divid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858000" cy="6858000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4" name="Shape 1"/>
          <p:cNvSpPr/>
          <p:nvPr/>
        </p:nvSpPr>
        <p:spPr>
          <a:xfrm>
            <a:off x="731520" y="1828800"/>
            <a:ext cx="822960" cy="822960"/>
          </a:xfrm>
          <a:prstGeom prst="roundRect">
            <a:avLst>
              <a:gd name="adj" fmla="val 11111"/>
            </a:avLst>
          </a:prstGeom>
          <a:solidFill>
            <a:srgbClr val="009845"/>
          </a:solidFill>
          <a:ln/>
        </p:spPr>
      </p:sp>
      <p:sp>
        <p:nvSpPr>
          <p:cNvPr id="5" name="Text 2"/>
          <p:cNvSpPr/>
          <p:nvPr/>
        </p:nvSpPr>
        <p:spPr>
          <a:xfrm>
            <a:off x="731520" y="18288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1828800" y="2606040"/>
            <a:ext cx="2286000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283464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Integration Story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731520" y="384048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47 fragmented systems to a unified, real-time data fabric</a:t>
            </a:r>
            <a:endParaRPr lang="en-US" sz="1600" dirty="0"/>
          </a:p>
        </p:txBody>
      </p:sp>
      <p:pic>
        <p:nvPicPr>
          <p:cNvPr id="9" name="Image 1" descr="C:\Claude\End-To-End Demo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5943600"/>
            <a:ext cx="1371600" cy="60350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Sources &amp; Connectivity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live data sources feeding the Qlik Open Lakehouse in real-time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11247120" cy="1325880"/>
          </a:xfrm>
          <a:prstGeom prst="roundRect">
            <a:avLst>
              <a:gd name="adj" fmla="val 6897"/>
            </a:avLst>
          </a:prstGeom>
          <a:solidFill>
            <a:srgbClr val="F6F7F8"/>
          </a:solidFill>
          <a:ln w="19050">
            <a:solidFill>
              <a:srgbClr val="00658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31520" y="1353312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PostgreSQL (WMS)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5029200" y="1353312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CDC via Data Movement Gateway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731520" y="173736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inventory_positions • warehouse_events • shipments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731520" y="210312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Real-time Change Data Capture, logical replication, sub-second latency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2788920"/>
            <a:ext cx="11247120" cy="1325880"/>
          </a:xfrm>
          <a:prstGeom prst="roundRect">
            <a:avLst>
              <a:gd name="adj" fmla="val 6897"/>
            </a:avLst>
          </a:prstGeom>
          <a:solidFill>
            <a:srgbClr val="F6F7F8"/>
          </a:solidFill>
          <a:ln w="19050">
            <a:solidFill>
              <a:srgbClr val="19416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31520" y="2862072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Apache Kafka (IoT)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5029200" y="2862072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Streaming via Kafka Connector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731520" y="324612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mcg.iot.cold-chain • mcg.iot.carrier-events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31520" y="361188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Continuous IoT telemetry from cold chain sensors + carrier GPS/status events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4297680"/>
            <a:ext cx="11247120" cy="1325880"/>
          </a:xfrm>
          <a:prstGeom prst="roundRect">
            <a:avLst>
              <a:gd name="adj" fmla="val 6897"/>
            </a:avLst>
          </a:prstGeom>
          <a:solidFill>
            <a:srgbClr val="F6F7F8"/>
          </a:solidFill>
          <a:ln w="19050">
            <a:solidFill>
              <a:srgbClr val="009845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31520" y="4370832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Salesforce (CRM)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5029200" y="4370832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Standard Connector (15 min)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731520" y="475488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Contact • MCG_Order__c • MCG_Product__c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731520" y="512064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addresses, orders, product master — with intentional data quality issues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5852160"/>
            <a:ext cx="11247120" cy="457200"/>
          </a:xfrm>
          <a:prstGeom prst="roundRect">
            <a:avLst>
              <a:gd name="adj" fmla="val 16000"/>
            </a:avLst>
          </a:prstGeom>
          <a:solidFill>
            <a:srgbClr val="E0F8F7"/>
          </a:solidFill>
          <a:ln/>
        </p:spPr>
      </p:sp>
      <p:sp>
        <p:nvSpPr>
          <p:cNvPr id="25" name="Text 22"/>
          <p:cNvSpPr/>
          <p:nvPr/>
        </p:nvSpPr>
        <p:spPr>
          <a:xfrm>
            <a:off x="731520" y="5870448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Demo Tip: Run all 3 simulators before the demo. Data flows into Bronze within seconds (PostgreSQL, Kafka) or 15 min (Salesforce).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Lakehouse — Bronze / Silver / Gold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Medallion architecture with automated data flows and table recipes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11247120" cy="1371600"/>
          </a:xfrm>
          <a:prstGeom prst="roundRect">
            <a:avLst>
              <a:gd name="adj" fmla="val 6667"/>
            </a:avLst>
          </a:prstGeom>
          <a:solidFill>
            <a:srgbClr val="E0F8F7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40080" y="1417320"/>
            <a:ext cx="1645920" cy="457200"/>
          </a:xfrm>
          <a:prstGeom prst="roundRect">
            <a:avLst>
              <a:gd name="adj" fmla="val 12000"/>
            </a:avLst>
          </a:prstGeom>
          <a:solidFill>
            <a:srgbClr val="009845"/>
          </a:solidFill>
          <a:ln/>
        </p:spPr>
      </p:sp>
      <p:sp>
        <p:nvSpPr>
          <p:cNvPr id="11" name="Text 8"/>
          <p:cNvSpPr/>
          <p:nvPr/>
        </p:nvSpPr>
        <p:spPr>
          <a:xfrm>
            <a:off x="640080" y="141732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BRONZE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2560320" y="1417320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Raw Ingestion  (8 tables)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31520" y="1965960"/>
            <a:ext cx="10698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inventory_positions • warehouse_events • shipments • sf_contacts • sf_orders • sf_products • iot_cold_chain • iot_carrier_events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669280" y="265176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▼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457200" y="2834640"/>
            <a:ext cx="11247120" cy="1371600"/>
          </a:xfrm>
          <a:prstGeom prst="roundRect">
            <a:avLst>
              <a:gd name="adj" fmla="val 6667"/>
            </a:avLst>
          </a:prstGeom>
          <a:solidFill>
            <a:srgbClr val="E0F8F7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40080" y="2971800"/>
            <a:ext cx="1645920" cy="457200"/>
          </a:xfrm>
          <a:prstGeom prst="roundRect">
            <a:avLst>
              <a:gd name="adj" fmla="val 12000"/>
            </a:avLst>
          </a:prstGeom>
          <a:solidFill>
            <a:srgbClr val="006580"/>
          </a:solidFill>
          <a:ln/>
        </p:spPr>
      </p:sp>
      <p:sp>
        <p:nvSpPr>
          <p:cNvPr id="17" name="Text 14"/>
          <p:cNvSpPr/>
          <p:nvPr/>
        </p:nvSpPr>
        <p:spPr>
          <a:xfrm>
            <a:off x="640080" y="297180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SILVER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2560320" y="2971800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Cleaned &amp; Transformed  (8 tables)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731520" y="3520440"/>
            <a:ext cx="10698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warehouse_events_clean • inventory_reconciled • addresses_standardized • products_harmonized • shipments_canonical • iot_telemetry_normalized • suppliers_deduped • order_delivery_timeline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5669280" y="420624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▼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457200" y="4389120"/>
            <a:ext cx="11247120" cy="1371600"/>
          </a:xfrm>
          <a:prstGeom prst="roundRect">
            <a:avLst>
              <a:gd name="adj" fmla="val 6667"/>
            </a:avLst>
          </a:prstGeom>
          <a:solidFill>
            <a:srgbClr val="E3EAF3"/>
          </a:solidFill>
          <a:ln w="25400">
            <a:solidFill>
              <a:srgbClr val="19416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40080" y="4526280"/>
            <a:ext cx="1645920" cy="457200"/>
          </a:xfrm>
          <a:prstGeom prst="roundRect">
            <a:avLst>
              <a:gd name="adj" fmla="val 12000"/>
            </a:avLst>
          </a:prstGeom>
          <a:solidFill>
            <a:srgbClr val="19416C"/>
          </a:solidFill>
          <a:ln/>
        </p:spPr>
      </p:sp>
      <p:sp>
        <p:nvSpPr>
          <p:cNvPr id="23" name="Text 20"/>
          <p:cNvSpPr/>
          <p:nvPr/>
        </p:nvSpPr>
        <p:spPr>
          <a:xfrm>
            <a:off x="640080" y="452628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GOLD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2560320" y="4526280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Business-Ready Data Products  (7 tables)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731520" y="5074920"/>
            <a:ext cx="10698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supply_chain_health • last_mile_performance • cold_chain_compliance • product_master_360 • customer_delivery_experience • compliance_readiness • operational_cost_impact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Flows — 8 Transformation Routes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 Data Integration transforms raw data into trusted, business-ready assets</a:t>
            </a:r>
            <a:endParaRPr lang="en-US" sz="1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2926080"/>
                <a:gridCol w="5486400"/>
                <a:gridCol w="2286000"/>
              </a:tblGrid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58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Route Name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58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What It Does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58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Nightmare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58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Timestamp Normalization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14 timezone formats → UTC standard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#5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Inventory Reconciliation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WMS-ERP comparison, phantom detection, Trust Score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#1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Address Standardization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18.4M addresses cleaned, fuzzy match, dedup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#2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Product Master Harmonization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8,200 SKUs missing weight/dims → enriched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#3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Carrier Status Canonicalization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 carriers × 6 languages → unified lifecycle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#6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IoT Telemetry Normalization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Cold chain sensor data → exceedance flags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#6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Supplier Master Dedup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80 suppliers with 2-4 duplicates → clean master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#3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Order-to-Delivery Timeline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Cross-source join → end-to-end order visibility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#4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457200" y="5029200"/>
            <a:ext cx="11247120" cy="457200"/>
          </a:xfrm>
          <a:prstGeom prst="roundRect">
            <a:avLst>
              <a:gd name="adj" fmla="val 16000"/>
            </a:avLst>
          </a:prstGeom>
          <a:solidFill>
            <a:srgbClr val="E0F8F7"/>
          </a:solidFill>
          <a:ln/>
        </p:spPr>
      </p:sp>
      <p:sp>
        <p:nvSpPr>
          <p:cNvPr id="11" name="Text 7"/>
          <p:cNvSpPr/>
          <p:nvPr/>
        </p:nvSpPr>
        <p:spPr>
          <a:xfrm>
            <a:off x="731520" y="5047488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route maps directly to one of the 7 Data Quality Nightmares — show the before/after transformation live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Integration Story — What to Show in the Demo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0F8F7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10515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Live CDC Demo (5 min)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22960" y="132588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PostgreSQL simulator running → watch rows appear in bronze.inventory_positions in real-time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822960" y="161848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Make a manual UPDATE in PostgreSQL → show CDC propagating through Bronze → Silver → Gold in under 60 seconds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22960" y="191109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Highlight Data Movement Gateway status panel (Administration → Gateways)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242316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0F8F7"/>
          </a:solidFill>
          <a:ln/>
        </p:spPr>
      </p:sp>
      <p:sp>
        <p:nvSpPr>
          <p:cNvPr id="14" name="Text 11"/>
          <p:cNvSpPr/>
          <p:nvPr/>
        </p:nvSpPr>
        <p:spPr>
          <a:xfrm>
            <a:off x="640080" y="24688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Lakehouse Walk-Through (5 min)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822960" y="2743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Navigate Open Lakehouse → show the Bronze/Silver/Gold tier structure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822960" y="303580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a Table Recipe (e.g., gold.supply_chain_health) → show how Gold tables are defined from Silver inputs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822960" y="332841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Data Flow Route 2 (Inventory Reconciliation) in Pipeline Designer — the 'phantom inventory' detection logic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57200" y="3840480"/>
            <a:ext cx="11247120" cy="960120"/>
          </a:xfrm>
          <a:prstGeom prst="roundRect">
            <a:avLst>
              <a:gd name="adj" fmla="val 9524"/>
            </a:avLst>
          </a:prstGeom>
          <a:solidFill>
            <a:srgbClr val="E0F8F7"/>
          </a:solidFill>
          <a:ln/>
        </p:spPr>
      </p:sp>
      <p:sp>
        <p:nvSpPr>
          <p:cNvPr id="19" name="Text 16"/>
          <p:cNvSpPr/>
          <p:nvPr/>
        </p:nvSpPr>
        <p:spPr>
          <a:xfrm>
            <a:off x="640080" y="38862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Direct Query [NEW — add to demo] (2 min)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822960" y="416052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a Direct Query app connecting live to the Lakehouse — no data import, SQL pushdown at query time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822960" y="445312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Great for large dataset scenarios — demonstrate real-time exploration without engine memory load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End-To-End Demo\generators\assets\qlik_divid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858000" cy="6858000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4" name="Shape 1"/>
          <p:cNvSpPr/>
          <p:nvPr/>
        </p:nvSpPr>
        <p:spPr>
          <a:xfrm>
            <a:off x="731520" y="1828800"/>
            <a:ext cx="822960" cy="822960"/>
          </a:xfrm>
          <a:prstGeom prst="roundRect">
            <a:avLst>
              <a:gd name="adj" fmla="val 11111"/>
            </a:avLst>
          </a:prstGeom>
          <a:solidFill>
            <a:srgbClr val="009845"/>
          </a:solidFill>
          <a:ln/>
        </p:spPr>
      </p:sp>
      <p:sp>
        <p:nvSpPr>
          <p:cNvPr id="5" name="Text 2"/>
          <p:cNvSpPr/>
          <p:nvPr/>
        </p:nvSpPr>
        <p:spPr>
          <a:xfrm>
            <a:off x="731520" y="18288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1828800" y="2606040"/>
            <a:ext cx="2286000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283464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Data Governance Story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731520" y="384048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Trust, transparency, and quality at every layer</a:t>
            </a:r>
            <a:endParaRPr lang="en-US" sz="1600" dirty="0"/>
          </a:p>
        </p:txBody>
      </p:sp>
      <p:pic>
        <p:nvPicPr>
          <p:cNvPr id="9" name="Image 1" descr="C:\Claude\End-To-End Demo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5943600"/>
            <a:ext cx="1371600" cy="60350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Data Products for Analytics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Governed, curated datasets with ownership, quality signals, and API access — the foundation of trusted analytics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377440"/>
                <a:gridCol w="1645920"/>
                <a:gridCol w="1645920"/>
                <a:gridCol w="237744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Data Product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Owner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Refresh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Trust Score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API Shared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Supply Chain Health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Henrik Jansen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15 min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4.5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 Enabled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Last Mile Performance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Sophie Muller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30 min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4.2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 Enabled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Cold Chain Compliance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Henrik Jansen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 min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4.8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 Enabled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Product Master 360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Thomas Berger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 hour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3.9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 Enabled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Customer Delivery Experience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Lisa Park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 hour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4.1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2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Compliance Readiness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Maria Santos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 hour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4.6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2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Operational Cost Impact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CFO Office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Daily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4.3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2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457200" y="4754880"/>
            <a:ext cx="11247120" cy="594360"/>
          </a:xfrm>
          <a:prstGeom prst="roundRect">
            <a:avLst>
              <a:gd name="adj" fmla="val 12308"/>
            </a:avLst>
          </a:prstGeom>
          <a:solidFill>
            <a:srgbClr val="D1FAE5"/>
          </a:solidFill>
          <a:ln/>
        </p:spPr>
      </p:sp>
      <p:sp>
        <p:nvSpPr>
          <p:cNvPr id="11" name="Text 7"/>
          <p:cNvSpPr/>
          <p:nvPr/>
        </p:nvSpPr>
        <p:spPr>
          <a:xfrm>
            <a:off x="731520" y="4800600"/>
            <a:ext cx="10789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Products are the governed contract between data producers and consumers — ownership, quality, freshness, and access all in one place.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Catalog, Lineage &amp; Impact Analysis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Unified discovery, visual field-level lineage, and downstream dependency analysis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3566160" cy="3840480"/>
          </a:xfrm>
          <a:prstGeom prst="roundRect">
            <a:avLst>
              <a:gd name="adj" fmla="val 3077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48640" y="1371600"/>
            <a:ext cx="3383280" cy="548640"/>
          </a:xfrm>
          <a:prstGeom prst="roundRect">
            <a:avLst>
              <a:gd name="adj" fmla="val 10000"/>
            </a:avLst>
          </a:prstGeom>
          <a:solidFill>
            <a:srgbClr val="009845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13716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Catalog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731520" y="21031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Auto-discover all data assets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731520" y="25603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Technical + business metadata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731520" y="30175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Search &amp; filter across spaces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731520" y="34747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Asset classification &amp; tagging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731520" y="39319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Custom semantic types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297680" y="1280160"/>
            <a:ext cx="3566160" cy="3840480"/>
          </a:xfrm>
          <a:prstGeom prst="roundRect">
            <a:avLst>
              <a:gd name="adj" fmla="val 3077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389120" y="1371600"/>
            <a:ext cx="3383280" cy="548640"/>
          </a:xfrm>
          <a:prstGeom prst="roundRect">
            <a:avLst>
              <a:gd name="adj" fmla="val 10000"/>
            </a:avLst>
          </a:prstGeom>
          <a:solidFill>
            <a:srgbClr val="006580"/>
          </a:solidFill>
          <a:ln/>
        </p:spPr>
      </p:sp>
      <p:sp>
        <p:nvSpPr>
          <p:cNvPr id="19" name="Text 16"/>
          <p:cNvSpPr/>
          <p:nvPr/>
        </p:nvSpPr>
        <p:spPr>
          <a:xfrm>
            <a:off x="4389120" y="13716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Lineage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4572000" y="21031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Visual field-level lineage graphs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4572000" y="25603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Source → Transformation → App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4572000" y="30175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Cross-system traceability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4572000" y="34747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Data flow route integration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4572000" y="39319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ML content lineage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8138160" y="1280160"/>
            <a:ext cx="3566160" cy="3840480"/>
          </a:xfrm>
          <a:prstGeom prst="roundRect">
            <a:avLst>
              <a:gd name="adj" fmla="val 3077"/>
            </a:avLst>
          </a:prstGeom>
          <a:solidFill>
            <a:srgbClr val="F6F7F8"/>
          </a:solidFill>
          <a:ln w="25400">
            <a:solidFill>
              <a:srgbClr val="19416C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8229600" y="1371600"/>
            <a:ext cx="3383280" cy="548640"/>
          </a:xfrm>
          <a:prstGeom prst="roundRect">
            <a:avLst>
              <a:gd name="adj" fmla="val 10000"/>
            </a:avLst>
          </a:prstGeom>
          <a:solidFill>
            <a:srgbClr val="19416C"/>
          </a:solidFill>
          <a:ln/>
        </p:spPr>
      </p:sp>
      <p:sp>
        <p:nvSpPr>
          <p:cNvPr id="27" name="Text 24"/>
          <p:cNvSpPr/>
          <p:nvPr/>
        </p:nvSpPr>
        <p:spPr>
          <a:xfrm>
            <a:off x="8229600" y="13716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Impact Analysis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8412480" y="21031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Downstream dependency maps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8412480" y="25603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"What if I change this field?"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412480" y="30175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Affected apps, tasks, datasets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412480" y="34747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Change risk assessment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8412480" y="39319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ML experiment dependencies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 Score &amp; Data Profiling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Quantified data quality at every layer — from raw ingestion to AI consumption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5486400" cy="3017520"/>
          </a:xfrm>
          <a:prstGeom prst="roundRect">
            <a:avLst>
              <a:gd name="adj" fmla="val 3636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" y="137160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Trust Score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640080" y="182880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Aggregated quality score (0-5) across dimensions: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0080" y="219456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Validity: 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2468880" y="219456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 values within expected ranges?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2542032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Completeness: 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2468880" y="2542032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 required fields populated?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40080" y="2889504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Discoverability: 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2468880" y="2889504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Is metadata documented?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640080" y="3236976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Usage: 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2468880" y="3236976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Is the data actively consumed?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40080" y="3584448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AI-Specific: 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2468880" y="3584448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Accuracy, Diversity, Timeliness (new)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6217920" y="1280160"/>
            <a:ext cx="5486400" cy="3017520"/>
          </a:xfrm>
          <a:prstGeom prst="roundRect">
            <a:avLst>
              <a:gd name="adj" fmla="val 3636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400800" y="137160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Profiling</a:t>
            </a:r>
            <a:endParaRPr lang="en-US" sz="1800" dirty="0"/>
          </a:p>
        </p:txBody>
      </p:sp>
      <p:sp>
        <p:nvSpPr>
          <p:cNvPr id="24" name="Text 21"/>
          <p:cNvSpPr/>
          <p:nvPr/>
        </p:nvSpPr>
        <p:spPr>
          <a:xfrm>
            <a:off x="6400800" y="1920240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Automated statistical analysis of datasets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6400800" y="2304288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Column-level quality metrics &amp; distributions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6400800" y="2688336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Pattern detection (e.g., truncated addresses)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6400800" y="3072384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Null/blank/outlier identification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6400800" y="3456432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Supports SQL DBs, QVDs, CSV, XLSX, Snowflake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6400800" y="3840480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 use: Profile bronze.contacts_raw → show 11% format issues, 6% truncation at 30 chars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Stewardship — Human-in-the-Loop Data Quality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Crowdsource data corrections to domain experts with tracked campaigns</a:t>
            </a:r>
            <a:endParaRPr lang="en-US" sz="1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743200"/>
                <a:gridCol w="2560320"/>
                <a:gridCol w="2103120"/>
                <a:gridCol w="182880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Campaign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Data Source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Filter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Owner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Nightmare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Address Cleanup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silver.addresses_standardized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quality_score &lt; 0.7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Customer Data Team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#2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Supplier Dedup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silver.suppliers_deduped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confidence &lt; 0.9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Procurement Team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#3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Missing Weights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silver.products_harmonized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weight_kg IS NULL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Product Data Team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#3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Lot Number Compliance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silver.inventory_reconciled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perishable AND lot IS NULL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Quality Team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#7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 Glossary &amp; Data Security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5486400" cy="4114800"/>
          </a:xfrm>
          <a:prstGeom prst="roundRect">
            <a:avLst>
              <a:gd name="adj" fmla="val 2667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1097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 Glossary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640080" y="155448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standardized terms across 5 categories: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1920240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Inventory &amp; Warehouse (Phantom Inventory, IRA, Cycle Count, ...)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2304288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Supply Chain &amp; Logistics (WISMO, SLA Breach, Cold Chain, ...)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2688336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Data Quality &amp; Governance (Trust Score, Data Lineage, ...)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3072384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Compliance &amp; Regulatory (Lot Traceability, NVWA, Recall, ...)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3456432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Business Operations (Fill Rate, OTIF, Carrier SLA, ...)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40080" y="393192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term links to data products, datasets, and nightmare scenarios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217920" y="1005840"/>
            <a:ext cx="5486400" cy="1920240"/>
          </a:xfrm>
          <a:prstGeom prst="roundRect">
            <a:avLst>
              <a:gd name="adj" fmla="val 5714"/>
            </a:avLst>
          </a:prstGeom>
          <a:solidFill>
            <a:srgbClr val="F6F7F8"/>
          </a:solidFill>
          <a:ln w="25400">
            <a:solidFill>
              <a:srgbClr val="19416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400800" y="1097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Access [NEW]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6400800" y="160020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Row-level + column-level data reduction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400800" y="1901952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Based on USER.EMAIL, USERID, groups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6400800" y="2203704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Regional VPs see only their DCs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400800" y="2505456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Carrier partners see only their shipments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6217920" y="3108960"/>
            <a:ext cx="5486400" cy="2011680"/>
          </a:xfrm>
          <a:prstGeom prst="roundRect">
            <a:avLst>
              <a:gd name="adj" fmla="val 5455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400800" y="320040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Marketplace [NEW]</a:t>
            </a:r>
            <a:endParaRPr lang="en-US" sz="1800" dirty="0"/>
          </a:p>
        </p:txBody>
      </p:sp>
      <p:sp>
        <p:nvSpPr>
          <p:cNvPr id="25" name="Text 22"/>
          <p:cNvSpPr/>
          <p:nvPr/>
        </p:nvSpPr>
        <p:spPr>
          <a:xfrm>
            <a:off x="6400800" y="37033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Self-service portal for data product discovery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6400800" y="4005072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Business users browse &amp; request access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6400800" y="4306824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Governed access with approval workflows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6400800" y="4608576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Reduces shadow data / rogue spreadsheets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6400800" y="4910328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Analysts find gold.supply_chain_health without asking IT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Governance Story — What to Show in the Demo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D1FAE5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10515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Data Products Walk-Through (4 min)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22960" y="132588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Data Products catalog → show 7 products with owners, Trust Scores, SLAs, API sharing status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822960" y="161848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Click 'API Sharing' on Supply Chain Health → copy the endpoint → run a curl command to fetch live data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22960" y="191109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Data Marketplace → demonstrate self-service data discovery for business users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242316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D1FAE5"/>
          </a:solidFill>
          <a:ln/>
        </p:spPr>
      </p:sp>
      <p:sp>
        <p:nvSpPr>
          <p:cNvPr id="14" name="Text 11"/>
          <p:cNvSpPr/>
          <p:nvPr/>
        </p:nvSpPr>
        <p:spPr>
          <a:xfrm>
            <a:off x="640080" y="24688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Catalog + Lineage + Trust Score (5 min)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822960" y="2743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Catalog → search 'inventory' → show auto-discovered assets across Bronze/Silver/Gold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822960" y="303580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Click gold.supply_chain_health → Lineage view → trace field-level path from PostgreSQL → Bronze → Silver → Gold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822960" y="332841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Trust Score on gold.cold_chain_compliance → highlight Validity (4.2), Completeness (3.8), Discoverability (5.0)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57200" y="3840480"/>
            <a:ext cx="11247120" cy="960120"/>
          </a:xfrm>
          <a:prstGeom prst="roundRect">
            <a:avLst>
              <a:gd name="adj" fmla="val 9524"/>
            </a:avLst>
          </a:prstGeom>
          <a:solidFill>
            <a:srgbClr val="D1FAE5"/>
          </a:solidFill>
          <a:ln/>
        </p:spPr>
      </p:sp>
      <p:sp>
        <p:nvSpPr>
          <p:cNvPr id="19" name="Text 16"/>
          <p:cNvSpPr/>
          <p:nvPr/>
        </p:nvSpPr>
        <p:spPr>
          <a:xfrm>
            <a:off x="640080" y="38862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Stewardship + Glossary (4 min)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822960" y="416052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Address Cleanup campaign → show steward's review queue (ambiguous matches &lt; 90% confidence)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822960" y="445312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'Phantom Inventory' glossary term → show definition, owner, linked datasets, related nightmares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End-To-End Demo\generators\assets\qlik_divid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858000" cy="6858000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4" name="Shape 1"/>
          <p:cNvSpPr/>
          <p:nvPr/>
        </p:nvSpPr>
        <p:spPr>
          <a:xfrm>
            <a:off x="731520" y="1828800"/>
            <a:ext cx="822960" cy="822960"/>
          </a:xfrm>
          <a:prstGeom prst="roundRect">
            <a:avLst>
              <a:gd name="adj" fmla="val 11111"/>
            </a:avLst>
          </a:prstGeom>
          <a:solidFill>
            <a:srgbClr val="009845"/>
          </a:solidFill>
          <a:ln/>
        </p:spPr>
      </p:sp>
      <p:sp>
        <p:nvSpPr>
          <p:cNvPr id="5" name="Text 2"/>
          <p:cNvSpPr/>
          <p:nvPr/>
        </p:nvSpPr>
        <p:spPr>
          <a:xfrm>
            <a:off x="731520" y="18288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1828800" y="2606040"/>
            <a:ext cx="2286000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283464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Analytics Story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731520" y="384048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stale PowerPoints to real-time, interactive, AI-assisted insights</a:t>
            </a:r>
            <a:endParaRPr lang="en-US" sz="1600" dirty="0"/>
          </a:p>
        </p:txBody>
      </p:sp>
      <p:pic>
        <p:nvPicPr>
          <p:cNvPr id="9" name="Image 1" descr="C:\Claude\End-To-End Demo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5943600"/>
            <a:ext cx="1371600" cy="603504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Sense — 7 Analytics Apps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Interactive dashboards connected to Gold-layer data products with associative exploration</a:t>
            </a:r>
            <a:endParaRPr lang="en-US" sz="14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5760720"/>
                <a:gridCol w="228600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Dashboard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Key Focus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Nightmares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Supply Chain Health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Inventory accuracy, pipeline status, DC-level KPIs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#1, #4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Last Mile Performance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Carrier SLAs, rejection rates, WISMO by region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#2, #6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Cold Chain Monitoring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Temperature exceedances, spoilage risk, real-time alerts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#6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Product Master 360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SKU completeness, weight/dims gaps, supplier mapping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#3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Customer Delivery Experience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WISMO rates, delivery promises vs actuals, NPS impact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#2, #6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Compliance &amp; Recall Readiness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Lot traceability, recall simulation, NVWA readiness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#7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Executive Cost Impact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C-level view: $127M cost breakdown by nightmare, ROI tracking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All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Answers — Agentic Conversational Analytics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Unified agentic interface: ask questions in natural language, get governed answers from data and documents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3566160" cy="3200400"/>
          </a:xfrm>
          <a:prstGeom prst="roundRect">
            <a:avLst>
              <a:gd name="adj" fmla="val 3429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48640" y="1371600"/>
            <a:ext cx="3383280" cy="548640"/>
          </a:xfrm>
          <a:prstGeom prst="roundRect">
            <a:avLst>
              <a:gd name="adj" fmla="val 10000"/>
            </a:avLst>
          </a:prstGeom>
          <a:solidFill>
            <a:srgbClr val="009845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13716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Conversational Analytics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731520" y="21031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Ask questions in natural language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731520" y="25603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Qlik engine powers governed calculations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731520" y="30175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Auto-generates visualizations &amp; narratives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731520" y="34747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"Show inventory accuracy by DC"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4297680" y="1280160"/>
            <a:ext cx="3566160" cy="3200400"/>
          </a:xfrm>
          <a:prstGeom prst="roundRect">
            <a:avLst>
              <a:gd name="adj" fmla="val 3429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389120" y="1371600"/>
            <a:ext cx="3383280" cy="548640"/>
          </a:xfrm>
          <a:prstGeom prst="roundRect">
            <a:avLst>
              <a:gd name="adj" fmla="val 10000"/>
            </a:avLst>
          </a:prstGeom>
          <a:solidFill>
            <a:srgbClr val="006580"/>
          </a:solidFill>
          <a:ln/>
        </p:spPr>
      </p:sp>
      <p:sp>
        <p:nvSpPr>
          <p:cNvPr id="18" name="Text 15"/>
          <p:cNvSpPr/>
          <p:nvPr/>
        </p:nvSpPr>
        <p:spPr>
          <a:xfrm>
            <a:off x="4389120" y="13716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Agentic Reasoning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4572000" y="21031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Chain-of-thought multi-step reasoning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4572000" y="25603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Blends structured data + documents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4572000" y="30175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Citations &amp; explainability built in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4572000" y="34747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"Why did Rotterdam IRA drop?"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8138160" y="1280160"/>
            <a:ext cx="3566160" cy="3200400"/>
          </a:xfrm>
          <a:prstGeom prst="roundRect">
            <a:avLst>
              <a:gd name="adj" fmla="val 3429"/>
            </a:avLst>
          </a:prstGeom>
          <a:solidFill>
            <a:srgbClr val="F6F7F8"/>
          </a:solidFill>
          <a:ln w="25400">
            <a:solidFill>
              <a:srgbClr val="19416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8229600" y="1371600"/>
            <a:ext cx="3383280" cy="548640"/>
          </a:xfrm>
          <a:prstGeom prst="roundRect">
            <a:avLst>
              <a:gd name="adj" fmla="val 10000"/>
            </a:avLst>
          </a:prstGeom>
          <a:solidFill>
            <a:srgbClr val="19416C"/>
          </a:solidFill>
          <a:ln/>
        </p:spPr>
      </p:sp>
      <p:sp>
        <p:nvSpPr>
          <p:cNvPr id="25" name="Text 22"/>
          <p:cNvSpPr/>
          <p:nvPr/>
        </p:nvSpPr>
        <p:spPr>
          <a:xfrm>
            <a:off x="8229600" y="13716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 Logic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8412480" y="21031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Logical Model defines data relationships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8412480" y="25603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Vocabulary maps business terms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8412480" y="30175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Guides Qlik Answers behavior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8412480" y="34747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"phantom" → inventory_accuracy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457200" y="4663440"/>
            <a:ext cx="11247120" cy="731520"/>
          </a:xfrm>
          <a:prstGeom prst="roundRect">
            <a:avLst>
              <a:gd name="adj" fmla="val 10000"/>
            </a:avLst>
          </a:prstGeom>
          <a:solidFill>
            <a:srgbClr val="E0F8F7"/>
          </a:solidFill>
          <a:ln/>
        </p:spPr>
      </p:sp>
      <p:sp>
        <p:nvSpPr>
          <p:cNvPr id="31" name="Text 28"/>
          <p:cNvSpPr/>
          <p:nvPr/>
        </p:nvSpPr>
        <p:spPr>
          <a:xfrm>
            <a:off x="731520" y="4709160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Natural Language Insights (NLI): Add NLI objects to dashboards — auto-generated narrative summaries of trends, outliers, and drivers in plain English. Updated Nov 2025 to link directly to selected charts.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457200" y="5577840"/>
            <a:ext cx="11247120" cy="457200"/>
          </a:xfrm>
          <a:prstGeom prst="roundRect">
            <a:avLst>
              <a:gd name="adj" fmla="val 16000"/>
            </a:avLst>
          </a:prstGeom>
          <a:solidFill>
            <a:srgbClr val="D1FAE5"/>
          </a:solidFill>
          <a:ln/>
        </p:spPr>
      </p:sp>
      <p:sp>
        <p:nvSpPr>
          <p:cNvPr id="33" name="Text 30"/>
          <p:cNvSpPr/>
          <p:nvPr/>
        </p:nvSpPr>
        <p:spPr>
          <a:xfrm>
            <a:off x="731520" y="5623560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 Qlik Answers agentic experience reached GA in February 2026 — replaces legacy Insight Advisor with unified conversational AI.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Alerting, Reporting &amp; Subscriptions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5486400" cy="2468880"/>
          </a:xfrm>
          <a:prstGeom prst="roundRect">
            <a:avLst>
              <a:gd name="adj" fmla="val 4444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1097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Native Data Alerts [NEW]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640080" y="164592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Condition-based alerts on data reload or schedule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196596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Compare against values, measures, or last evaluation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228600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Web, push, and email notification channels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260604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Shareable alerts across teams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292608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Alert when IRA drops below 85% for any DC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324612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Alert when WISMO rate exceeds 40% for a carrier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217920" y="1005840"/>
            <a:ext cx="5486400" cy="2468880"/>
          </a:xfrm>
          <a:prstGeom prst="roundRect">
            <a:avLst>
              <a:gd name="adj" fmla="val 4444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400800" y="1097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Reporting Service [NEW]</a:t>
            </a:r>
            <a:endParaRPr lang="en-US" sz="1800" dirty="0"/>
          </a:p>
        </p:txBody>
      </p:sp>
      <p:sp>
        <p:nvSpPr>
          <p:cNvPr id="18" name="Text 15"/>
          <p:cNvSpPr/>
          <p:nvPr/>
        </p:nvSpPr>
        <p:spPr>
          <a:xfrm>
            <a:off x="6400800" y="164592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PixelPerfect: Banded PDF reports (replaces NPrinting)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6400800" y="196596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Tabular Reports: Excel-based export templates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400800" y="228600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On-Demand: User sets selections → downloads report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6400800" y="260604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Subscriptions: Scheduled email delivery of charts/sheets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400800" y="292608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Weekly compliance report to regulatory affairs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6400800" y="324612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Daily inventory summary emailed to DC managers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749040"/>
            <a:ext cx="11247120" cy="1828800"/>
          </a:xfrm>
          <a:prstGeom prst="roundRect">
            <a:avLst>
              <a:gd name="adj" fmla="val 6000"/>
            </a:avLst>
          </a:prstGeom>
          <a:solidFill>
            <a:srgbClr val="F6F7F8"/>
          </a:solidFill>
          <a:ln w="25400">
            <a:solidFill>
              <a:srgbClr val="19416C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40080" y="3840480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Collaboration &amp; User Experience [NEW]</a:t>
            </a:r>
            <a:endParaRPr lang="en-US" sz="1800" dirty="0"/>
          </a:p>
        </p:txBody>
      </p:sp>
      <p:sp>
        <p:nvSpPr>
          <p:cNvPr id="26" name="Text 23"/>
          <p:cNvSpPr/>
          <p:nvPr/>
        </p:nvSpPr>
        <p:spPr>
          <a:xfrm>
            <a:off x="640080" y="429768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Notes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640080" y="4617720"/>
            <a:ext cx="2651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In-app commentary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640080" y="4892040"/>
            <a:ext cx="2651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Chart snapshots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640080" y="5166360"/>
            <a:ext cx="2651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Tag team members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3474720" y="429768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Bookmarks</a:t>
            </a:r>
            <a:endParaRPr lang="en-US" sz="1300" dirty="0"/>
          </a:p>
        </p:txBody>
      </p:sp>
      <p:sp>
        <p:nvSpPr>
          <p:cNvPr id="31" name="Text 28"/>
          <p:cNvSpPr/>
          <p:nvPr/>
        </p:nvSpPr>
        <p:spPr>
          <a:xfrm>
            <a:off x="3474720" y="4617720"/>
            <a:ext cx="2651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Save selection states</a:t>
            </a:r>
            <a:endParaRPr lang="en-US" sz="1000" dirty="0"/>
          </a:p>
        </p:txBody>
      </p:sp>
      <p:sp>
        <p:nvSpPr>
          <p:cNvPr id="32" name="Text 29"/>
          <p:cNvSpPr/>
          <p:nvPr/>
        </p:nvSpPr>
        <p:spPr>
          <a:xfrm>
            <a:off x="3474720" y="4892040"/>
            <a:ext cx="2651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Share with team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3474720" y="5166360"/>
            <a:ext cx="2651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Public grouping</a:t>
            </a:r>
            <a:endParaRPr lang="en-US" sz="1000" dirty="0"/>
          </a:p>
        </p:txBody>
      </p:sp>
      <p:sp>
        <p:nvSpPr>
          <p:cNvPr id="34" name="Text 31"/>
          <p:cNvSpPr/>
          <p:nvPr/>
        </p:nvSpPr>
        <p:spPr>
          <a:xfrm>
            <a:off x="6309360" y="429768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Collections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6309360" y="4617720"/>
            <a:ext cx="2651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Organize apps/charts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6309360" y="4892040"/>
            <a:ext cx="2651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Personal curations</a:t>
            </a:r>
            <a:endParaRPr lang="en-US" sz="1000" dirty="0"/>
          </a:p>
        </p:txBody>
      </p:sp>
      <p:sp>
        <p:nvSpPr>
          <p:cNvPr id="37" name="Text 34"/>
          <p:cNvSpPr/>
          <p:nvPr/>
        </p:nvSpPr>
        <p:spPr>
          <a:xfrm>
            <a:off x="6309360" y="5166360"/>
            <a:ext cx="2651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Quick access</a:t>
            </a:r>
            <a:endParaRPr lang="en-US" sz="1000" dirty="0"/>
          </a:p>
        </p:txBody>
      </p:sp>
      <p:sp>
        <p:nvSpPr>
          <p:cNvPr id="38" name="Text 35"/>
          <p:cNvSpPr/>
          <p:nvPr/>
        </p:nvSpPr>
        <p:spPr>
          <a:xfrm>
            <a:off x="9144000" y="429768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Mobile</a:t>
            </a:r>
            <a:endParaRPr lang="en-US" sz="1300" dirty="0"/>
          </a:p>
        </p:txBody>
      </p:sp>
      <p:sp>
        <p:nvSpPr>
          <p:cNvPr id="39" name="Text 36"/>
          <p:cNvSpPr/>
          <p:nvPr/>
        </p:nvSpPr>
        <p:spPr>
          <a:xfrm>
            <a:off x="9144000" y="4617720"/>
            <a:ext cx="2651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iOS/Android app</a:t>
            </a:r>
            <a:endParaRPr lang="en-US" sz="1000" dirty="0"/>
          </a:p>
        </p:txBody>
      </p:sp>
      <p:sp>
        <p:nvSpPr>
          <p:cNvPr id="40" name="Text 37"/>
          <p:cNvSpPr/>
          <p:nvPr/>
        </p:nvSpPr>
        <p:spPr>
          <a:xfrm>
            <a:off x="9144000" y="4892040"/>
            <a:ext cx="2651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Offline exploration</a:t>
            </a:r>
            <a:endParaRPr lang="en-US" sz="1000" dirty="0"/>
          </a:p>
        </p:txBody>
      </p:sp>
      <p:sp>
        <p:nvSpPr>
          <p:cNvPr id="41" name="Text 38"/>
          <p:cNvSpPr/>
          <p:nvPr/>
        </p:nvSpPr>
        <p:spPr>
          <a:xfrm>
            <a:off x="9144000" y="5166360"/>
            <a:ext cx="2651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Push notifications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Embedded Analytics &amp; Automations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5486400" cy="2743200"/>
          </a:xfrm>
          <a:prstGeom prst="roundRect">
            <a:avLst>
              <a:gd name="adj" fmla="val 4000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1097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Embedded Analytics [NEW]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640080" y="164592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qlik-embed: Modern web component framework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196596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&lt;qlik-embed&gt; HTML elements with OAuth2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228600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React support via @qlik/embed-react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260604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Embed charts, sheets, or full apps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292608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Nebula.js for custom rendering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324612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Embed cold chain dashboard in carrier portal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40080" y="356616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Embed inventory KPIs in store manager intranet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217920" y="1005840"/>
            <a:ext cx="5486400" cy="2743200"/>
          </a:xfrm>
          <a:prstGeom prst="roundRect">
            <a:avLst>
              <a:gd name="adj" fmla="val 4000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400800" y="1097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Automations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6400800" y="164592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Block-based automation designer (no code)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400800" y="196596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 Daily App Reload (06:00 UTC)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6400800" y="228600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Cold Chain Alert → Teams (every 5 min)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400800" y="260604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Pipeline Health Summary → Teams (07:00 UTC)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6400800" y="292608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WISMO Rate Alert → Customer Ops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6400800" y="324612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Webhook triggers for external events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6400800" y="356616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100+ connector blocks (Teams, Slack, SMTP, REST, ...)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457200" y="4023360"/>
            <a:ext cx="11247120" cy="731520"/>
          </a:xfrm>
          <a:prstGeom prst="roundRect">
            <a:avLst>
              <a:gd name="adj" fmla="val 10000"/>
            </a:avLst>
          </a:prstGeom>
          <a:solidFill>
            <a:srgbClr val="E0F8F7"/>
          </a:solidFill>
          <a:ln/>
        </p:spPr>
      </p:sp>
      <p:sp>
        <p:nvSpPr>
          <p:cNvPr id="27" name="Text 24"/>
          <p:cNvSpPr/>
          <p:nvPr/>
        </p:nvSpPr>
        <p:spPr>
          <a:xfrm>
            <a:off x="731520" y="4069080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 Themes &amp; Extensions: Apply MCG branding (Navy #1B2A4A, Teal #0D7C8F, Gold #C4922E, Calibri font) as a tenant-level theme. Import custom visualization extensions for specialized supply chain charts.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 Story — What to Show in the Demo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0F8F7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10515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Qlik Sense Dashboard Tour (8 min)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22960" y="132588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Supply Chain Health → show Rotterdam DC's IRA at 74%, drill into phantom inventory by SKU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822960" y="161848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Cold Chain Monitoring → show live temperature exceedances on São Paulo→Buenos Aires route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22960" y="191109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Switch to Executive Cost Impact → C-level view of $127M broken down by nightmare category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242316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0F8F7"/>
          </a:solidFill>
          <a:ln/>
        </p:spPr>
      </p:sp>
      <p:sp>
        <p:nvSpPr>
          <p:cNvPr id="14" name="Text 11"/>
          <p:cNvSpPr/>
          <p:nvPr/>
        </p:nvSpPr>
        <p:spPr>
          <a:xfrm>
            <a:off x="640080" y="24688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Qlik Answers Agentic Demo (4 min)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822960" y="2743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Qlik Answers → ask: "Which distribution centers have the lowest inventory accuracy?"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822960" y="303580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Follow up: "Show me the trend for Rotterdam over the last 3 months" — demonstrate chain-of-thought reasoning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822960" y="332841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Business Logic: vocabulary mapping 'phantom' → inventory_accuracy, 'WISMO' → customer_delivery_experience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57200" y="3840480"/>
            <a:ext cx="11247120" cy="960120"/>
          </a:xfrm>
          <a:prstGeom prst="roundRect">
            <a:avLst>
              <a:gd name="adj" fmla="val 9524"/>
            </a:avLst>
          </a:prstGeom>
          <a:solidFill>
            <a:srgbClr val="E0F8F7"/>
          </a:solidFill>
          <a:ln/>
        </p:spPr>
      </p:sp>
      <p:sp>
        <p:nvSpPr>
          <p:cNvPr id="19" name="Text 16"/>
          <p:cNvSpPr/>
          <p:nvPr/>
        </p:nvSpPr>
        <p:spPr>
          <a:xfrm>
            <a:off x="640080" y="38862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Alerting + Reporting (3 min)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822960" y="416052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a native alert: IRA &lt; 85% for DC-RTD-01 → triggered, sent via email and push notification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822960" y="445312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a subscription: weekly compliance PDF emailed to regulatory team every Monday 08:00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457200" y="4937760"/>
            <a:ext cx="11247120" cy="640080"/>
          </a:xfrm>
          <a:prstGeom prst="roundRect">
            <a:avLst>
              <a:gd name="adj" fmla="val 14286"/>
            </a:avLst>
          </a:prstGeom>
          <a:solidFill>
            <a:srgbClr val="E0F8F7"/>
          </a:solidFill>
          <a:ln/>
        </p:spPr>
      </p:sp>
      <p:sp>
        <p:nvSpPr>
          <p:cNvPr id="23" name="Text 20"/>
          <p:cNvSpPr/>
          <p:nvPr/>
        </p:nvSpPr>
        <p:spPr>
          <a:xfrm>
            <a:off x="640080" y="49834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Embedded Analytics [NEW] (2 min)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822960" y="52578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a qlik-embed code snippet → demo a cold chain chart embedded in a mock carrier portal page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End-To-End Demo\generators\assets\qlik_divid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858000" cy="6858000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4" name="Shape 1"/>
          <p:cNvSpPr/>
          <p:nvPr/>
        </p:nvSpPr>
        <p:spPr>
          <a:xfrm>
            <a:off x="731520" y="1828800"/>
            <a:ext cx="822960" cy="822960"/>
          </a:xfrm>
          <a:prstGeom prst="roundRect">
            <a:avLst>
              <a:gd name="adj" fmla="val 11111"/>
            </a:avLst>
          </a:prstGeom>
          <a:solidFill>
            <a:srgbClr val="009845"/>
          </a:solidFill>
          <a:ln/>
        </p:spPr>
      </p:sp>
      <p:sp>
        <p:nvSpPr>
          <p:cNvPr id="5" name="Text 2"/>
          <p:cNvSpPr/>
          <p:nvPr/>
        </p:nvSpPr>
        <p:spPr>
          <a:xfrm>
            <a:off x="731520" y="18288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1828800" y="2606040"/>
            <a:ext cx="2286000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283464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AI Story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731520" y="384048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reactive dashboards to proactive, conversational, agentic intelligence</a:t>
            </a:r>
            <a:endParaRPr lang="en-US" sz="1600" dirty="0"/>
          </a:p>
        </p:txBody>
      </p:sp>
      <p:pic>
        <p:nvPicPr>
          <p:cNvPr id="9" name="Image 1" descr="C:\Claude\End-To-End Demo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5943600"/>
            <a:ext cx="1371600" cy="603504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93579C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Predict — AutoML for Supply Chain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Train, deploy, and share ML models without code — predictions served via API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5577840" cy="4114800"/>
          </a:xfrm>
          <a:prstGeom prst="roundRect">
            <a:avLst>
              <a:gd name="adj" fmla="val 2667"/>
            </a:avLst>
          </a:prstGeom>
          <a:solidFill>
            <a:srgbClr val="F6F7F8"/>
          </a:solidFill>
          <a:ln w="25400">
            <a:solidFill>
              <a:srgbClr val="DC262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48640" y="1371600"/>
            <a:ext cx="5394960" cy="548640"/>
          </a:xfrm>
          <a:prstGeom prst="roundRect">
            <a:avLst>
              <a:gd name="adj" fmla="val 10000"/>
            </a:avLst>
          </a:prstGeom>
          <a:solidFill>
            <a:srgbClr val="DC2626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1371600"/>
            <a:ext cx="5394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Spoilage Risk Predictor  (Regression)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731520" y="20574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2011680" y="205740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gold.cold_chain_compliance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731520" y="26974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Target: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2011680" y="269748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spoilage_risk_score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731520" y="33375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Features: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2011680" y="333756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max_temp_celsius, exceedance_minutes, humidity_avg, product_category, route_id, season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731520" y="39776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Scenario: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2011680" y="397764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Predict which São Paulo→Buenos Aires shipments will spoil before arrival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731520" y="46177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Nightmare: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2011680" y="461772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#6 (Carrier Black Hole)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6309360" y="1280160"/>
            <a:ext cx="5577840" cy="4114800"/>
          </a:xfrm>
          <a:prstGeom prst="roundRect">
            <a:avLst>
              <a:gd name="adj" fmla="val 2667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400800" y="1371600"/>
            <a:ext cx="5394960" cy="548640"/>
          </a:xfrm>
          <a:prstGeom prst="roundRect">
            <a:avLst>
              <a:gd name="adj" fmla="val 10000"/>
            </a:avLst>
          </a:prstGeom>
          <a:solidFill>
            <a:srgbClr val="009845"/>
          </a:solidFill>
          <a:ln/>
        </p:spPr>
      </p:sp>
      <p:sp>
        <p:nvSpPr>
          <p:cNvPr id="24" name="Text 21"/>
          <p:cNvSpPr/>
          <p:nvPr/>
        </p:nvSpPr>
        <p:spPr>
          <a:xfrm>
            <a:off x="6400800" y="1371600"/>
            <a:ext cx="5394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Delivery SLA Predictor  (Classification)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6583680" y="20574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7863840" y="205740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gold.last_mile_performance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6583680" y="26974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Target: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7863840" y="269748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sla_met (Y/N)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6583680" y="33375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Features: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7863840" y="333756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carrier, destination_region, address_quality_score, weight_kg, promised_sla_hours, day_of_week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6583680" y="39776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Scenario: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7863840" y="397764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Predict which APAC shipments will miss SLA — enable proactive customer notification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6583680" y="46177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Nightmare: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7863840" y="461772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#2 (Address Catastrophe)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93579C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Answers — Document Intelligence &amp; Knowledge Base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Agentic AI that answers questions from 25 MCG operational documents with citations and reasoning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5029200" cy="2286000"/>
          </a:xfrm>
          <a:prstGeom prst="roundRect">
            <a:avLst>
              <a:gd name="adj" fmla="val 4800"/>
            </a:avLst>
          </a:prstGeom>
          <a:solidFill>
            <a:srgbClr val="F6F7F8"/>
          </a:solidFill>
          <a:ln w="25400">
            <a:solidFill>
              <a:srgbClr val="93579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" y="1371600"/>
            <a:ext cx="4663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357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Knowledge Base: 25 Documents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640080" y="1828800"/>
            <a:ext cx="4663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5 SOPs (warehouse, cold chain, returns, ...)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640080" y="2075688"/>
            <a:ext cx="4663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3 Carrier contracts (NinjaVan, FedEx, DPD)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640080" y="2322576"/>
            <a:ext cx="4663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4 Policies (cold chain, data governance, ...)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640080" y="2569464"/>
            <a:ext cx="4663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2 Purchase orders + 2 Supplier comms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640080" y="2816352"/>
            <a:ext cx="4663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2 Incident reports + 1 Recall notice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640080" y="3063240"/>
            <a:ext cx="4663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2 Training docs + 1 Meeting minutes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640080" y="3310128"/>
            <a:ext cx="4663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1 Compliance plan + 1 Project brief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5760720" y="1280160"/>
            <a:ext cx="5943600" cy="2286000"/>
          </a:xfrm>
          <a:prstGeom prst="roundRect">
            <a:avLst>
              <a:gd name="adj" fmla="val 4800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943600" y="1371600"/>
            <a:ext cx="5577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Demo Scenarios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5943600" y="182880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"What is the goods receiving procedure?"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9875520" y="182880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SOP-WH-001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5943600" y="2176272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"What happened at Rotterdam in September?"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9875520" y="2176272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INC-2025-04872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5943600" y="2523744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"What are cold chain temp requirements?"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9875520" y="2523744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SOP-SC-002, MCG-POL-012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5943600" y="2871216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"What is Project CLARITY?"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9875520" y="2871216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PROJ-CLARITY-2025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5943600" y="3218688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"What caused the lettuce recall?"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9875520" y="321868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RCL-2025-003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457200" y="3840480"/>
            <a:ext cx="11247120" cy="640080"/>
          </a:xfrm>
          <a:prstGeom prst="roundRect">
            <a:avLst>
              <a:gd name="adj" fmla="val 11429"/>
            </a:avLst>
          </a:prstGeom>
          <a:solidFill>
            <a:srgbClr val="EDE9FE"/>
          </a:solidFill>
          <a:ln/>
        </p:spPr>
      </p:sp>
      <p:sp>
        <p:nvSpPr>
          <p:cNvPr id="31" name="Text 28"/>
          <p:cNvSpPr/>
          <p:nvPr/>
        </p:nvSpPr>
        <p:spPr>
          <a:xfrm>
            <a:off x="731520" y="388620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57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Knowledge Mart [NEW]: Automate the RAG pipeline — structured-to-document transformation, vectorization, and incremental loading to vector stores. Keeps Qlik Answers grounded in fresh data. GA July 2025.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93579C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Discovery Agent &amp; MCP Server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5486400" cy="3474720"/>
          </a:xfrm>
          <a:prstGeom prst="roundRect">
            <a:avLst>
              <a:gd name="adj" fmla="val 3158"/>
            </a:avLst>
          </a:prstGeom>
          <a:solidFill>
            <a:srgbClr val="F6F7F8"/>
          </a:solidFill>
          <a:ln w="25400">
            <a:solidFill>
              <a:srgbClr val="93579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1097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9357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Discovery Agent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640080" y="155448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Proactive AI that monitors data products for anomalies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1920240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Monitors gold-layer data products continuously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2258568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Detects: Trust Score drops, sync lag, volume anomalies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2596896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 scenario: TransFrio spoilage detection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2935224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Alert thresholds: Trust &lt; 0.70, Lag &gt; 60 min, Volume ±50%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3273552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Links to dashboards, contracts, incident reports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40080" y="3611880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"Temp exceedance on GRU-BA route. Spoilage up 4x."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640080" y="3950208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"12 active shipments at risk. Est. $180K exposure."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217920" y="1005840"/>
            <a:ext cx="5486400" cy="3474720"/>
          </a:xfrm>
          <a:prstGeom prst="roundRect">
            <a:avLst>
              <a:gd name="adj" fmla="val 3158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400800" y="1097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MCP Server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6400800" y="155448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Connect AI agents (Claude, GPT) directly to Qlik data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6400800" y="1920240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npx @qlik/mcp-server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400800" y="2258568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Query data products via natural language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6400800" y="2596896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List spaces, apps, connections programmatically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6400800" y="2935224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Works with Claude Desktop, Claude Code, others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6400800" y="3273552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"What is IRA at Rotterdam DC?"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6400800" y="3611880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Response: "74%, 847 phantom units, 143 SKUs"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6400800" y="3950208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Root cause: "Silent pipeline failure (INC-2025-04872)"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457200" y="4754880"/>
            <a:ext cx="11247120" cy="640080"/>
          </a:xfrm>
          <a:prstGeom prst="roundRect">
            <a:avLst>
              <a:gd name="adj" fmla="val 11429"/>
            </a:avLst>
          </a:prstGeom>
          <a:solidFill>
            <a:srgbClr val="EDE9FE"/>
          </a:solidFill>
          <a:ln/>
        </p:spPr>
      </p:sp>
      <p:sp>
        <p:nvSpPr>
          <p:cNvPr id="29" name="Text 26"/>
          <p:cNvSpPr/>
          <p:nvPr/>
        </p:nvSpPr>
        <p:spPr>
          <a:xfrm>
            <a:off x="731520" y="480060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57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Agentic Analytics [GA Feb 2026]: Unified conversational interface combining structured analytics (Qlik Sense) + unstructured documents (Qlik Answers) + LLM reasoning. A single AI assistant that can query data, read documents, and reason across both.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93579C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Story — What to Show in the Demo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DE9FE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10515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Qlik Predict Live Demo (5 min)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22960" y="132588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Spoilage Risk experiment → show training report, feature importance (temperature is #1 driver)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822960" y="161848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Run a prediction on a live shipment: São Paulo→Buenos Aires, 32°C outside temp, Correios carrier → 87% spoilage risk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22960" y="191109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prediction API endpoint → demonstrate external system consuming predictions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242316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DE9FE"/>
          </a:solidFill>
          <a:ln/>
        </p:spPr>
      </p:sp>
      <p:sp>
        <p:nvSpPr>
          <p:cNvPr id="14" name="Text 11"/>
          <p:cNvSpPr/>
          <p:nvPr/>
        </p:nvSpPr>
        <p:spPr>
          <a:xfrm>
            <a:off x="640080" y="24688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Qlik Answers Conversation (5 min)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822960" y="2743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Ask: "What happened at Rotterdam DC in September?" → Answers pulls from INC-2025-04872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822960" y="303580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Follow up: "What was the root cause?" → TLS certificate expired, batch job failed silently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822960" y="332841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Ask: "What does Project CLARITY propose to fix this?" → cross-document reasoning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57200" y="3840480"/>
            <a:ext cx="11247120" cy="960120"/>
          </a:xfrm>
          <a:prstGeom prst="roundRect">
            <a:avLst>
              <a:gd name="adj" fmla="val 9524"/>
            </a:avLst>
          </a:prstGeom>
          <a:solidFill>
            <a:srgbClr val="EDE9FE"/>
          </a:solidFill>
          <a:ln/>
        </p:spPr>
      </p:sp>
      <p:sp>
        <p:nvSpPr>
          <p:cNvPr id="19" name="Text 16"/>
          <p:cNvSpPr/>
          <p:nvPr/>
        </p:nvSpPr>
        <p:spPr>
          <a:xfrm>
            <a:off x="640080" y="38862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Discovery Agent Scenario (3 min)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822960" y="416052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Discovery Agent alert: spoilage rate on GRU-BA route spiked 2.1% → 8.8% after fleet change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822960" y="445312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Agent links to: cold chain dashboard, TransFrio carrier contract, incident report INC-2025-05102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457200" y="4937760"/>
            <a:ext cx="11247120" cy="960120"/>
          </a:xfrm>
          <a:prstGeom prst="roundRect">
            <a:avLst>
              <a:gd name="adj" fmla="val 9524"/>
            </a:avLst>
          </a:prstGeom>
          <a:solidFill>
            <a:srgbClr val="EDE9FE"/>
          </a:solidFill>
          <a:ln/>
        </p:spPr>
      </p:sp>
      <p:sp>
        <p:nvSpPr>
          <p:cNvPr id="23" name="Text 20"/>
          <p:cNvSpPr/>
          <p:nvPr/>
        </p:nvSpPr>
        <p:spPr>
          <a:xfrm>
            <a:off x="640080" y="49834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MCP Server Demo (3 min)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822960" y="52578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In Claude Desktop: "What is the current inventory accuracy at Rotterdam DC?"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822960" y="555040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Claude queries gold.supply_chain_health via MCP → returns: 74% IRA, 847 phantom units, root cause analysis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End-To-End Demo\generators\assets\qlik_divid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858000" cy="6858000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4" name="Shape 1"/>
          <p:cNvSpPr/>
          <p:nvPr/>
        </p:nvSpPr>
        <p:spPr>
          <a:xfrm>
            <a:off x="731520" y="1828800"/>
            <a:ext cx="822960" cy="822960"/>
          </a:xfrm>
          <a:prstGeom prst="roundRect">
            <a:avLst>
              <a:gd name="adj" fmla="val 11111"/>
            </a:avLst>
          </a:prstGeom>
          <a:solidFill>
            <a:srgbClr val="009845"/>
          </a:solidFill>
          <a:ln/>
        </p:spPr>
      </p:sp>
      <p:sp>
        <p:nvSpPr>
          <p:cNvPr id="5" name="Text 2"/>
          <p:cNvSpPr/>
          <p:nvPr/>
        </p:nvSpPr>
        <p:spPr>
          <a:xfrm>
            <a:off x="731520" y="18288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1828800" y="2606040"/>
            <a:ext cx="2286000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283464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Features to Add to Demo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731520" y="384048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 capabilities not yet in the checklist — recommended additions</a:t>
            </a:r>
            <a:endParaRPr lang="en-US" sz="1600" dirty="0"/>
          </a:p>
        </p:txBody>
      </p:sp>
      <p:pic>
        <p:nvPicPr>
          <p:cNvPr id="9" name="Image 1" descr="C:\Claude\End-To-End Demo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5943600"/>
            <a:ext cx="1371600" cy="603504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Missing Features — Prioritized Additions</a:t>
            </a:r>
            <a:endParaRPr lang="en-US" sz="26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914400"/>
          <a:ext cx="116128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3657600"/>
                <a:gridCol w="2011680"/>
                <a:gridCol w="47548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Priority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26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Feature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26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Story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26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Effort to Add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262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HIGH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Data Catalog + Lineage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Governance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 — auto-populated from existing data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HIGH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Trust Score + Data Profiling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Governance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 — enable on Gold-layer products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HIGH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Native Data Alerts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Analytics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 — create 2-3 condition-based alerts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Reporting Service + Subscriptions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Analytics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Medium — build 1-2 report templates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Section Access (Row-Level Security)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Governance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Medium — configure for regional VP views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Embedded Analytics (qlik-embed)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Analytics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Medium — build a sample HTML page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Business Logic / Logical Model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Analytics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 — define in app settings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Direct Query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Integration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 — create one Direct Query app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Notes / Bookmarks / Collections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Analytics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 — create during demo walk-through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Knowledge Mart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AI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Medium — configure RAG pipeline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Custom MCG Theme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Analytics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 — upload JSON theme file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Data Marketplace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Governance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 — enable on data products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Mobile Analytics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Analytics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 — install app, log in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End-To-End Demo\generators\assets\qlik_cov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pic>
        <p:nvPicPr>
          <p:cNvPr id="3" name="Image 1" descr="C:\Claude\End-To-End Demo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65760"/>
            <a:ext cx="1280160" cy="566928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57200" y="146304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Meridian Commerce Group</a:t>
            </a:r>
            <a:endParaRPr lang="en-US" sz="1600" dirty="0"/>
          </a:p>
        </p:txBody>
      </p:sp>
      <p:sp>
        <p:nvSpPr>
          <p:cNvPr id="5" name="Text 1"/>
          <p:cNvSpPr/>
          <p:nvPr/>
        </p:nvSpPr>
        <p:spPr>
          <a:xfrm>
            <a:off x="457200" y="2011680"/>
            <a:ext cx="5943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Platform.</a:t>
            </a:r>
            <a:endParaRPr lang="en-US" sz="3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Four Stories.</a:t>
            </a:r>
            <a:endParaRPr lang="en-US" sz="3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Complete Data Intelligence.</a:t>
            </a:r>
            <a:endParaRPr lang="en-US" sz="3000" dirty="0"/>
          </a:p>
        </p:txBody>
      </p:sp>
      <p:sp>
        <p:nvSpPr>
          <p:cNvPr id="6" name="Shape 2"/>
          <p:cNvSpPr/>
          <p:nvPr/>
        </p:nvSpPr>
        <p:spPr>
          <a:xfrm>
            <a:off x="457200" y="384048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006580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457200" y="388620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44348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Live Data Sources</a:t>
            </a:r>
            <a:endParaRPr lang="en-US" sz="900" dirty="0"/>
          </a:p>
        </p:txBody>
      </p:sp>
      <p:sp>
        <p:nvSpPr>
          <p:cNvPr id="9" name="Shape 5"/>
          <p:cNvSpPr/>
          <p:nvPr/>
        </p:nvSpPr>
        <p:spPr>
          <a:xfrm>
            <a:off x="2377440" y="384048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006580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2377440" y="388620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2800" dirty="0"/>
          </a:p>
        </p:txBody>
      </p:sp>
      <p:sp>
        <p:nvSpPr>
          <p:cNvPr id="11" name="Text 7"/>
          <p:cNvSpPr/>
          <p:nvPr/>
        </p:nvSpPr>
        <p:spPr>
          <a:xfrm>
            <a:off x="2377440" y="44348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Lakehouse Tables</a:t>
            </a:r>
            <a:endParaRPr lang="en-US" sz="900" dirty="0"/>
          </a:p>
        </p:txBody>
      </p:sp>
      <p:sp>
        <p:nvSpPr>
          <p:cNvPr id="12" name="Shape 8"/>
          <p:cNvSpPr/>
          <p:nvPr/>
        </p:nvSpPr>
        <p:spPr>
          <a:xfrm>
            <a:off x="4297680" y="384048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009845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4297680" y="388620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2800" dirty="0"/>
          </a:p>
        </p:txBody>
      </p:sp>
      <p:sp>
        <p:nvSpPr>
          <p:cNvPr id="14" name="Text 10"/>
          <p:cNvSpPr/>
          <p:nvPr/>
        </p:nvSpPr>
        <p:spPr>
          <a:xfrm>
            <a:off x="4297680" y="44348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Products</a:t>
            </a:r>
            <a:endParaRPr lang="en-US" sz="900" dirty="0"/>
          </a:p>
        </p:txBody>
      </p:sp>
      <p:sp>
        <p:nvSpPr>
          <p:cNvPr id="15" name="Shape 11"/>
          <p:cNvSpPr/>
          <p:nvPr/>
        </p:nvSpPr>
        <p:spPr>
          <a:xfrm>
            <a:off x="6217920" y="384048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009845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217920" y="388620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2800" dirty="0"/>
          </a:p>
        </p:txBody>
      </p:sp>
      <p:sp>
        <p:nvSpPr>
          <p:cNvPr id="17" name="Text 13"/>
          <p:cNvSpPr/>
          <p:nvPr/>
        </p:nvSpPr>
        <p:spPr>
          <a:xfrm>
            <a:off x="6217920" y="44348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Dashboards</a:t>
            </a:r>
            <a:endParaRPr lang="en-US" sz="900" dirty="0"/>
          </a:p>
        </p:txBody>
      </p:sp>
      <p:sp>
        <p:nvSpPr>
          <p:cNvPr id="18" name="Shape 14"/>
          <p:cNvSpPr/>
          <p:nvPr/>
        </p:nvSpPr>
        <p:spPr>
          <a:xfrm>
            <a:off x="8138160" y="384048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93579C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8138160" y="388620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357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800" dirty="0"/>
          </a:p>
        </p:txBody>
      </p:sp>
      <p:sp>
        <p:nvSpPr>
          <p:cNvPr id="20" name="Text 16"/>
          <p:cNvSpPr/>
          <p:nvPr/>
        </p:nvSpPr>
        <p:spPr>
          <a:xfrm>
            <a:off x="8138160" y="44348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ML Models</a:t>
            </a:r>
            <a:endParaRPr lang="en-US" sz="900" dirty="0"/>
          </a:p>
        </p:txBody>
      </p:sp>
      <p:sp>
        <p:nvSpPr>
          <p:cNvPr id="21" name="Shape 17"/>
          <p:cNvSpPr/>
          <p:nvPr/>
        </p:nvSpPr>
        <p:spPr>
          <a:xfrm>
            <a:off x="10058400" y="384048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93579C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10058400" y="388620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357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2800" dirty="0"/>
          </a:p>
        </p:txBody>
      </p:sp>
      <p:sp>
        <p:nvSpPr>
          <p:cNvPr id="23" name="Text 19"/>
          <p:cNvSpPr/>
          <p:nvPr/>
        </p:nvSpPr>
        <p:spPr>
          <a:xfrm>
            <a:off x="10058400" y="44348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KB Documents</a:t>
            </a:r>
            <a:endParaRPr lang="en-US" sz="900" dirty="0"/>
          </a:p>
        </p:txBody>
      </p:sp>
      <p:sp>
        <p:nvSpPr>
          <p:cNvPr id="24" name="Text 20"/>
          <p:cNvSpPr/>
          <p:nvPr/>
        </p:nvSpPr>
        <p:spPr>
          <a:xfrm>
            <a:off x="457200" y="53035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  •  End-to-End Demo  •  Integration  •  Governance  •  Analytics  •  AI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Qlik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MCG Qlik Cloud Demo — Four Stories</dc:title>
  <dc:subject>PptxGenJS Presentation</dc:subject>
  <dc:creator>Qlik</dc:creator>
  <cp:lastModifiedBy>Qlik</cp:lastModifiedBy>
  <cp:revision>1</cp:revision>
  <dcterms:created xsi:type="dcterms:W3CDTF">2026-02-27T04:12:23Z</dcterms:created>
  <dcterms:modified xsi:type="dcterms:W3CDTF">2026-02-27T04:12:23Z</dcterms:modified>
</cp:coreProperties>
</file>