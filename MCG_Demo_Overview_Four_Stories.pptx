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·  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Architecture — Qlik Cloud Full Stack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274320" y="11887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69164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80136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12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660" y="1281440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42316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242316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— Change Data Capture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80060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491032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17" name="Image 2" descr="C:\Claude\MCG Full Stack\generators\assets\icons\str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7620" y="1281440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53212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553212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— Cold Chain &amp; Carrier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790956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801928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22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6580" y="1281440"/>
            <a:ext cx="317480" cy="317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4108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864108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— Contacts, Orders, Products</a:t>
            </a:r>
            <a:endParaRPr lang="en-US" sz="800" dirty="0"/>
          </a:p>
        </p:txBody>
      </p:sp>
      <p:sp>
        <p:nvSpPr>
          <p:cNvPr id="25" name="Text 19"/>
          <p:cNvSpPr/>
          <p:nvPr/>
        </p:nvSpPr>
        <p:spPr>
          <a:xfrm>
            <a:off x="5577840" y="19019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274320" y="26517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274320" y="26517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1691640" y="2331720"/>
            <a:ext cx="9144000" cy="1234440"/>
          </a:xfrm>
          <a:prstGeom prst="roundRect">
            <a:avLst>
              <a:gd name="adj" fmla="val 7407"/>
            </a:avLst>
          </a:prstGeom>
          <a:solidFill>
            <a:srgbClr val="E0F5EA"/>
          </a:solidFill>
          <a:ln/>
          <a:effectLst>
            <a:outerShdw sx="100000" sy="100000" kx="0" ky="0" algn="bl" rotWithShape="0" blurRad="50800" dist="12700" dir="16200000">
              <a:srgbClr val="D0D0D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9" name="Shape 23"/>
          <p:cNvSpPr/>
          <p:nvPr/>
        </p:nvSpPr>
        <p:spPr>
          <a:xfrm>
            <a:off x="187452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198424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31" name="Image 4" descr="C:\Claude\MCG Full Stack\generators\assets\icons\lakehou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1540" y="2653040"/>
            <a:ext cx="317480" cy="31748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606040" y="249631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2606040" y="28254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→ Silver → Gold</a:t>
            </a:r>
            <a:endParaRPr lang="en-US" sz="800" dirty="0"/>
          </a:p>
        </p:txBody>
      </p:sp>
      <p:sp>
        <p:nvSpPr>
          <p:cNvPr id="34" name="Shape 27"/>
          <p:cNvSpPr/>
          <p:nvPr/>
        </p:nvSpPr>
        <p:spPr>
          <a:xfrm>
            <a:off x="489204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5" name="Shape 28"/>
          <p:cNvSpPr/>
          <p:nvPr/>
        </p:nvSpPr>
        <p:spPr>
          <a:xfrm>
            <a:off x="500176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36" name="Image 5" descr="C:\Claude\MCG Full Stack\generators\assets\icons\pipel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9060" y="2653040"/>
            <a:ext cx="317480" cy="31748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5623560" y="249631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5623560" y="28254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projects (YAML)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7909560" y="24231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0" name="Shape 32"/>
          <p:cNvSpPr/>
          <p:nvPr/>
        </p:nvSpPr>
        <p:spPr>
          <a:xfrm>
            <a:off x="801928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41" name="Image 6" descr="C:\Claude\MCG Full Stack\generators\assets\icons\transfor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6580" y="2653040"/>
            <a:ext cx="317480" cy="317480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8641080" y="2496312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000" dirty="0"/>
          </a:p>
        </p:txBody>
      </p:sp>
      <p:sp>
        <p:nvSpPr>
          <p:cNvPr id="43" name="Text 34"/>
          <p:cNvSpPr/>
          <p:nvPr/>
        </p:nvSpPr>
        <p:spPr>
          <a:xfrm>
            <a:off x="8641080" y="2825496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 &amp; Cleansing</a:t>
            </a:r>
            <a:endParaRPr lang="en-US" sz="800" dirty="0"/>
          </a:p>
        </p:txBody>
      </p:sp>
      <p:sp>
        <p:nvSpPr>
          <p:cNvPr id="44" name="Text 35"/>
          <p:cNvSpPr/>
          <p:nvPr/>
        </p:nvSpPr>
        <p:spPr>
          <a:xfrm>
            <a:off x="5577840" y="35844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45" name="Shape 36"/>
          <p:cNvSpPr/>
          <p:nvPr/>
        </p:nvSpPr>
        <p:spPr>
          <a:xfrm>
            <a:off x="274320" y="411480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  <p:txBody>
          <a:bodyPr/>
          <a:p/>
        </p:txBody>
      </p:sp>
      <p:sp>
        <p:nvSpPr>
          <p:cNvPr id="46" name="Text 37"/>
          <p:cNvSpPr/>
          <p:nvPr/>
        </p:nvSpPr>
        <p:spPr>
          <a:xfrm>
            <a:off x="274320" y="411480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00" dirty="0"/>
          </a:p>
        </p:txBody>
      </p:sp>
      <p:sp>
        <p:nvSpPr>
          <p:cNvPr id="47" name="Shape 38"/>
          <p:cNvSpPr/>
          <p:nvPr/>
        </p:nvSpPr>
        <p:spPr>
          <a:xfrm>
            <a:off x="169164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8" name="Shape 39"/>
          <p:cNvSpPr/>
          <p:nvPr/>
        </p:nvSpPr>
        <p:spPr>
          <a:xfrm>
            <a:off x="180136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49" name="Image 7" descr="C:\Claude\MCG Full Stack\generators\assets\icons\analytic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98660" y="4207520"/>
            <a:ext cx="317480" cy="317480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242316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000" dirty="0"/>
          </a:p>
        </p:txBody>
      </p:sp>
      <p:sp>
        <p:nvSpPr>
          <p:cNvPr id="51" name="Text 41"/>
          <p:cNvSpPr/>
          <p:nvPr/>
        </p:nvSpPr>
        <p:spPr>
          <a:xfrm>
            <a:off x="242316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 •  10 Sheets</a:t>
            </a:r>
            <a:endParaRPr lang="en-US" sz="800" dirty="0"/>
          </a:p>
        </p:txBody>
      </p:sp>
      <p:sp>
        <p:nvSpPr>
          <p:cNvPr id="52" name="Shape 42"/>
          <p:cNvSpPr/>
          <p:nvPr/>
        </p:nvSpPr>
        <p:spPr>
          <a:xfrm>
            <a:off x="480060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3" name="Shape 43"/>
          <p:cNvSpPr/>
          <p:nvPr/>
        </p:nvSpPr>
        <p:spPr>
          <a:xfrm>
            <a:off x="491032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54" name="Image 8" descr="C:\Claude\MCG Full Stack\generators\assets\icons\predic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7620" y="4207520"/>
            <a:ext cx="317480" cy="317480"/>
          </a:xfrm>
          <a:prstGeom prst="rect">
            <a:avLst/>
          </a:prstGeom>
        </p:spPr>
      </p:pic>
      <p:sp>
        <p:nvSpPr>
          <p:cNvPr id="55" name="Text 44"/>
          <p:cNvSpPr/>
          <p:nvPr/>
        </p:nvSpPr>
        <p:spPr>
          <a:xfrm>
            <a:off x="553212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000" dirty="0"/>
          </a:p>
        </p:txBody>
      </p:sp>
      <p:sp>
        <p:nvSpPr>
          <p:cNvPr id="56" name="Text 45"/>
          <p:cNvSpPr/>
          <p:nvPr/>
        </p:nvSpPr>
        <p:spPr>
          <a:xfrm>
            <a:off x="553212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</a:t>
            </a:r>
            <a:endParaRPr lang="en-US" sz="800" dirty="0"/>
          </a:p>
        </p:txBody>
      </p:sp>
      <p:sp>
        <p:nvSpPr>
          <p:cNvPr id="57" name="Shape 46"/>
          <p:cNvSpPr/>
          <p:nvPr/>
        </p:nvSpPr>
        <p:spPr>
          <a:xfrm>
            <a:off x="790956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8" name="Shape 47"/>
          <p:cNvSpPr/>
          <p:nvPr/>
        </p:nvSpPr>
        <p:spPr>
          <a:xfrm>
            <a:off x="801928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59" name="Image 9" descr="C:\Claude\MCG Full Stack\generators\assets\icons\governan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16580" y="4207520"/>
            <a:ext cx="317480" cy="317480"/>
          </a:xfrm>
          <a:prstGeom prst="rect">
            <a:avLst/>
          </a:prstGeom>
        </p:spPr>
      </p:pic>
      <p:sp>
        <p:nvSpPr>
          <p:cNvPr id="60" name="Text 48"/>
          <p:cNvSpPr/>
          <p:nvPr/>
        </p:nvSpPr>
        <p:spPr>
          <a:xfrm>
            <a:off x="864108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61" name="Text 49"/>
          <p:cNvSpPr/>
          <p:nvPr/>
        </p:nvSpPr>
        <p:spPr>
          <a:xfrm>
            <a:off x="864108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• Lineage • Glossary • Stewardship</a:t>
            </a:r>
            <a:endParaRPr lang="en-US" sz="800" dirty="0"/>
          </a:p>
        </p:txBody>
      </p:sp>
      <p:sp>
        <p:nvSpPr>
          <p:cNvPr id="62" name="Text 50"/>
          <p:cNvSpPr/>
          <p:nvPr/>
        </p:nvSpPr>
        <p:spPr>
          <a:xfrm>
            <a:off x="5577840" y="48280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63" name="Shape 51"/>
          <p:cNvSpPr/>
          <p:nvPr/>
        </p:nvSpPr>
        <p:spPr>
          <a:xfrm>
            <a:off x="274320" y="53949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64" name="Text 52"/>
          <p:cNvSpPr/>
          <p:nvPr/>
        </p:nvSpPr>
        <p:spPr>
          <a:xfrm>
            <a:off x="274320" y="53949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800" dirty="0"/>
          </a:p>
        </p:txBody>
      </p:sp>
      <p:sp>
        <p:nvSpPr>
          <p:cNvPr id="65" name="Shape 53"/>
          <p:cNvSpPr/>
          <p:nvPr/>
        </p:nvSpPr>
        <p:spPr>
          <a:xfrm>
            <a:off x="1691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66" name="Shape 54"/>
          <p:cNvSpPr/>
          <p:nvPr/>
        </p:nvSpPr>
        <p:spPr>
          <a:xfrm>
            <a:off x="1801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67" name="Image 10" descr="C:\Claude\MCG Full Stack\generators\assets\icons\answer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98660" y="5487680"/>
            <a:ext cx="317480" cy="317480"/>
          </a:xfrm>
          <a:prstGeom prst="rect">
            <a:avLst/>
          </a:prstGeom>
        </p:spPr>
      </p:pic>
      <p:sp>
        <p:nvSpPr>
          <p:cNvPr id="68" name="Text 55"/>
          <p:cNvSpPr/>
          <p:nvPr/>
        </p:nvSpPr>
        <p:spPr>
          <a:xfrm>
            <a:off x="2423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000" dirty="0"/>
          </a:p>
        </p:txBody>
      </p:sp>
      <p:sp>
        <p:nvSpPr>
          <p:cNvPr id="69" name="Text 56"/>
          <p:cNvSpPr/>
          <p:nvPr/>
        </p:nvSpPr>
        <p:spPr>
          <a:xfrm>
            <a:off x="2423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Documents</a:t>
            </a:r>
            <a:endParaRPr lang="en-US" sz="800" dirty="0"/>
          </a:p>
        </p:txBody>
      </p:sp>
      <p:sp>
        <p:nvSpPr>
          <p:cNvPr id="70" name="Shape 57"/>
          <p:cNvSpPr/>
          <p:nvPr/>
        </p:nvSpPr>
        <p:spPr>
          <a:xfrm>
            <a:off x="3977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1" name="Shape 58"/>
          <p:cNvSpPr/>
          <p:nvPr/>
        </p:nvSpPr>
        <p:spPr>
          <a:xfrm>
            <a:off x="4087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72" name="Image 11" descr="C:\Claude\MCG Full Stack\generators\assets\icons\ag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84660" y="5487680"/>
            <a:ext cx="317480" cy="317480"/>
          </a:xfrm>
          <a:prstGeom prst="rect">
            <a:avLst/>
          </a:prstGeom>
        </p:spPr>
      </p:pic>
      <p:sp>
        <p:nvSpPr>
          <p:cNvPr id="73" name="Text 59"/>
          <p:cNvSpPr/>
          <p:nvPr/>
        </p:nvSpPr>
        <p:spPr>
          <a:xfrm>
            <a:off x="4709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000" dirty="0"/>
          </a:p>
        </p:txBody>
      </p:sp>
      <p:sp>
        <p:nvSpPr>
          <p:cNvPr id="74" name="Text 60"/>
          <p:cNvSpPr/>
          <p:nvPr/>
        </p:nvSpPr>
        <p:spPr>
          <a:xfrm>
            <a:off x="4709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Analysis</a:t>
            </a:r>
            <a:endParaRPr lang="en-US" sz="800" dirty="0"/>
          </a:p>
        </p:txBody>
      </p:sp>
      <p:sp>
        <p:nvSpPr>
          <p:cNvPr id="75" name="Shape 61"/>
          <p:cNvSpPr/>
          <p:nvPr/>
        </p:nvSpPr>
        <p:spPr>
          <a:xfrm>
            <a:off x="6263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6" name="Shape 62"/>
          <p:cNvSpPr/>
          <p:nvPr/>
        </p:nvSpPr>
        <p:spPr>
          <a:xfrm>
            <a:off x="6373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77" name="Image 12" descr="C:\Claude\MCG Full Stack\generators\assets\icons\mc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0660" y="5487680"/>
            <a:ext cx="317480" cy="317480"/>
          </a:xfrm>
          <a:prstGeom prst="rect">
            <a:avLst/>
          </a:prstGeom>
        </p:spPr>
      </p:pic>
      <p:sp>
        <p:nvSpPr>
          <p:cNvPr id="78" name="Text 63"/>
          <p:cNvSpPr/>
          <p:nvPr/>
        </p:nvSpPr>
        <p:spPr>
          <a:xfrm>
            <a:off x="6995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79" name="Text 64"/>
          <p:cNvSpPr/>
          <p:nvPr/>
        </p:nvSpPr>
        <p:spPr>
          <a:xfrm>
            <a:off x="6995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800" dirty="0"/>
          </a:p>
        </p:txBody>
      </p:sp>
      <p:sp>
        <p:nvSpPr>
          <p:cNvPr id="80" name="Shape 65"/>
          <p:cNvSpPr/>
          <p:nvPr/>
        </p:nvSpPr>
        <p:spPr>
          <a:xfrm>
            <a:off x="8549640" y="521208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1" name="Shape 66"/>
          <p:cNvSpPr/>
          <p:nvPr/>
        </p:nvSpPr>
        <p:spPr>
          <a:xfrm>
            <a:off x="8659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82" name="Image 13" descr="C:\Claude\MCG Full Stack\generators\assets\icons\automati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6660" y="5487680"/>
            <a:ext cx="317480" cy="317480"/>
          </a:xfrm>
          <a:prstGeom prst="rect">
            <a:avLst/>
          </a:prstGeom>
        </p:spPr>
      </p:pic>
      <p:sp>
        <p:nvSpPr>
          <p:cNvPr id="83" name="Text 67"/>
          <p:cNvSpPr/>
          <p:nvPr/>
        </p:nvSpPr>
        <p:spPr>
          <a:xfrm>
            <a:off x="9281160" y="5285232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000" dirty="0"/>
          </a:p>
        </p:txBody>
      </p:sp>
      <p:sp>
        <p:nvSpPr>
          <p:cNvPr id="84" name="Text 68"/>
          <p:cNvSpPr/>
          <p:nvPr/>
        </p:nvSpPr>
        <p:spPr>
          <a:xfrm>
            <a:off x="9281160" y="5614416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Notifications</a:t>
            </a:r>
            <a:endParaRPr lang="en-US" sz="800" dirty="0"/>
          </a:p>
        </p:txBody>
      </p:sp>
      <p:sp>
        <p:nvSpPr>
          <p:cNvPr id="85" name="Shape 69"/>
          <p:cNvSpPr/>
          <p:nvPr/>
        </p:nvSpPr>
        <p:spPr>
          <a:xfrm>
            <a:off x="11064240" y="1005840"/>
            <a:ext cx="960120" cy="5074920"/>
          </a:xfrm>
          <a:prstGeom prst="roundRect">
            <a:avLst>
              <a:gd name="adj" fmla="val 9524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  <p:txBody>
          <a:bodyPr/>
          <a:p/>
        </p:txBody>
      </p:sp>
      <p:sp>
        <p:nvSpPr>
          <p:cNvPr id="86" name="Text 70"/>
          <p:cNvSpPr/>
          <p:nvPr/>
        </p:nvSpPr>
        <p:spPr>
          <a:xfrm>
            <a:off x="11064240" y="1828800"/>
            <a:ext cx="960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1100" dirty="0"/>
          </a:p>
        </p:txBody>
      </p:sp>
      <p:sp>
        <p:nvSpPr>
          <p:cNvPr id="87" name="Text 71"/>
          <p:cNvSpPr/>
          <p:nvPr/>
        </p:nvSpPr>
        <p:spPr>
          <a:xfrm>
            <a:off x="11064240" y="274320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Architecture — The Four Stories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4864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10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10" y="1023762"/>
            <a:ext cx="192756" cy="1927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Integrations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59436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Sources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9436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Declarative Pipeline Projects (8 feeds)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9436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Bronze Layer (8 tables)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9436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Real-time &amp; Batch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59436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Movement Gateway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063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338328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347472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21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3790" y="1023762"/>
            <a:ext cx="192756" cy="1927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38328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Governance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383280" y="1417320"/>
            <a:ext cx="2743200" cy="2267712"/>
          </a:xfrm>
          <a:prstGeom prst="roundRect">
            <a:avLst>
              <a:gd name="adj" fmla="val 3226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352044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Transformation Routes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352044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 Layer (cleansed)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352044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</a:t>
            </a:r>
            <a:endParaRPr lang="en-US" sz="950" dirty="0"/>
          </a:p>
        </p:txBody>
      </p:sp>
      <p:sp>
        <p:nvSpPr>
          <p:cNvPr id="27" name="Text 22"/>
          <p:cNvSpPr/>
          <p:nvPr/>
        </p:nvSpPr>
        <p:spPr>
          <a:xfrm>
            <a:off x="352044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 &amp; Lineage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352044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Glossary (25 terms)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3520440" y="3200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Stewardship Campaigns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59893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630936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  <p:txBody>
          <a:bodyPr/>
          <a:p/>
        </p:txBody>
      </p:sp>
      <p:sp>
        <p:nvSpPr>
          <p:cNvPr id="32" name="Shape 27"/>
          <p:cNvSpPr/>
          <p:nvPr/>
        </p:nvSpPr>
        <p:spPr>
          <a:xfrm>
            <a:off x="640080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33" name="Image 3" descr="C:\Claude\MCG Full Stack\generators\assets\icons\analy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9870" y="1023762"/>
            <a:ext cx="192756" cy="192756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30936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Analytics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30936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36" name="Text 30"/>
          <p:cNvSpPr/>
          <p:nvPr/>
        </p:nvSpPr>
        <p:spPr>
          <a:xfrm>
            <a:off x="644652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Qlik Analytics Apps (10 sheets)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644652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Analytics &amp; NLI</a:t>
            </a:r>
            <a:endParaRPr lang="en-US" sz="950" dirty="0"/>
          </a:p>
        </p:txBody>
      </p:sp>
      <p:sp>
        <p:nvSpPr>
          <p:cNvPr id="38" name="Text 32"/>
          <p:cNvSpPr/>
          <p:nvPr/>
        </p:nvSpPr>
        <p:spPr>
          <a:xfrm>
            <a:off x="644652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Alerts &amp; Reports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644652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Automations (Teams)</a:t>
            </a:r>
            <a:endParaRPr lang="en-US" sz="950" dirty="0"/>
          </a:p>
        </p:txBody>
      </p:sp>
      <p:sp>
        <p:nvSpPr>
          <p:cNvPr id="40" name="Text 34"/>
          <p:cNvSpPr/>
          <p:nvPr/>
        </p:nvSpPr>
        <p:spPr>
          <a:xfrm>
            <a:off x="644652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Dark Theme</a:t>
            </a:r>
            <a:endParaRPr lang="en-US" sz="950" dirty="0"/>
          </a:p>
        </p:txBody>
      </p:sp>
      <p:sp>
        <p:nvSpPr>
          <p:cNvPr id="41" name="Text 35"/>
          <p:cNvSpPr/>
          <p:nvPr/>
        </p:nvSpPr>
        <p:spPr>
          <a:xfrm>
            <a:off x="89154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42" name="Shape 36"/>
          <p:cNvSpPr/>
          <p:nvPr/>
        </p:nvSpPr>
        <p:spPr>
          <a:xfrm>
            <a:off x="9235440" y="914400"/>
            <a:ext cx="246888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43" name="Shape 37"/>
          <p:cNvSpPr/>
          <p:nvPr/>
        </p:nvSpPr>
        <p:spPr>
          <a:xfrm>
            <a:off x="932688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44" name="Image 4" descr="C:\Claude\MCG Full Stack\generators\assets\icons\ag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5950" y="1023762"/>
            <a:ext cx="192756" cy="192756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9235440" y="914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AI &amp; Outcomes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9235440" y="14173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47" name="Text 40"/>
          <p:cNvSpPr/>
          <p:nvPr/>
        </p:nvSpPr>
        <p:spPr>
          <a:xfrm>
            <a:off x="9372600" y="14630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Predict Models (Spoilage/SLA)</a:t>
            </a:r>
            <a:endParaRPr lang="en-US" sz="950" dirty="0"/>
          </a:p>
        </p:txBody>
      </p:sp>
      <p:sp>
        <p:nvSpPr>
          <p:cNvPr id="48" name="Text 41"/>
          <p:cNvSpPr/>
          <p:nvPr/>
        </p:nvSpPr>
        <p:spPr>
          <a:xfrm>
            <a:off x="9372600" y="18105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(25 docs)</a:t>
            </a:r>
            <a:endParaRPr lang="en-US" sz="950" dirty="0"/>
          </a:p>
        </p:txBody>
      </p:sp>
      <p:sp>
        <p:nvSpPr>
          <p:cNvPr id="49" name="Text 42"/>
          <p:cNvSpPr/>
          <p:nvPr/>
        </p:nvSpPr>
        <p:spPr>
          <a:xfrm>
            <a:off x="9372600" y="21579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</a:t>
            </a:r>
            <a:endParaRPr lang="en-US" sz="950" dirty="0"/>
          </a:p>
        </p:txBody>
      </p:sp>
      <p:sp>
        <p:nvSpPr>
          <p:cNvPr id="50" name="Text 43"/>
          <p:cNvSpPr/>
          <p:nvPr/>
        </p:nvSpPr>
        <p:spPr>
          <a:xfrm>
            <a:off x="9372600" y="25054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MCP Server (Claude)</a:t>
            </a:r>
            <a:endParaRPr lang="en-US" sz="950" dirty="0"/>
          </a:p>
        </p:txBody>
      </p:sp>
      <p:sp>
        <p:nvSpPr>
          <p:cNvPr id="51" name="Text 44"/>
          <p:cNvSpPr/>
          <p:nvPr/>
        </p:nvSpPr>
        <p:spPr>
          <a:xfrm>
            <a:off x="9372600" y="2852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Closed-Loop Automation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6F7F8"/>
          </a:solidFill>
          <a:ln w="9525">
            <a:solidFill>
              <a:srgbClr val="A9B3B6"/>
            </a:solidFill>
            <a:prstDash val="solid"/>
          </a:ln>
        </p:spPr>
        <p:txBody>
          <a:bodyPr/>
          <a:p/>
        </p:txBody>
      </p:sp>
      <p:sp>
        <p:nvSpPr>
          <p:cNvPr id="53" name="Text 46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Total:  3 Sources  →  18 Tables  →  9 Flows  →  2 Products  →  10 Sheets  →  2 Models  →  25 Docs  →  5 Automations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proof points behind Project Qlarity's business case — MCG's unified Qlik data platform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Consumption-side AI (Agentic Analytics, Qlik Answers, Qlik Predict, Discovery Agent, MCP Server) plus build-side agentic engineering — declarative pipelines as code, the governance agents, and Talend agentic routes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Declarative Pipelines • Governance Agents • Talend Agentic Routes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Data Movement gateway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Data Gateway - Streaming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Connecting the Sources — Data Movement Gateway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gateway: one-time registration, then a connection per source created in a Data Integration project.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08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(or run agentctl in the mcg-qlik-dmg container) to print the token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008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Cloud → Administration → Data Gateways → Register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008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Paste the token, then wait for status Connected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1792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your project → Create connection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Choose PostgreSQL / MySQL / SQL Server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40080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Select the mcg-qlik-dmg gateway from the dropdown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0080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40080" y="4434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Gateway types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2960" y="47091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Movement gateway → database CDC sources (Postgres / MySQL / SQL Server) — used here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22960" y="500176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Gateway - Streaming → required for Kafka sources (a separate gateway type)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29437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Salesforce / S3 / Athena → credentialed connectors created in Data → Create connection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Note: a Data Movement gateway connection is created in the Data Integration UI by selecting the gateway — the public REST API cannot create it, so the deploy script skips these sources with on-screen guidance.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(2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600200"/>
          </a:xfrm>
          <a:prstGeom prst="roundRect">
            <a:avLst>
              <a:gd name="adj" fmla="val 5714"/>
            </a:avLst>
          </a:prstGeom>
          <a:solidFill>
            <a:srgbClr val="E0F8F7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362102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Pipelines as code: the whole project is declarative YAML — API import, daily schedules, git round-trip (QTCP preview)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both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gold.last_mile_performance → highlight Validity (4.5), Completeness (4.2),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 (10 Sheets)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Operations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Inventory accuracy, cold chain monitoring, quality, compliance, cost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#3, #4, #6, 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Delivery &amp; Customer Exp.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Last mile performance, order tracking, WISMO analysis, carrier SLAs, addresses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#5,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Analytics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now GA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Qlarity?"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is now GA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  (Classification)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silver.iot_normalized (Open Lakehouse)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alert_flag (Y/N)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temperature_c, humidity_pct, battery_level_pct, battery_low, gps_gap, shock_detected, route_id, warehouse_id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readings will breach the cold chain before product spoils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silver.order_delivery_timeline (Open Lakehouse)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delivered_late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carrier_code, fulfillment_method, tracking_missing, delivery_attempts, exception_code, order_date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at ship time which orders will deliver late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/ #6 (tracking gaps + carrier reclassification)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Qlarity?"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Mart: Automate the RAG pipeline — structured-to-document transformation, vectorization, and incremental loading to vector stores. Keeps Qlik Answers grounded in fresh data.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Cloud-hosted SSE endpoint: &lt;tenant&gt;/api/ai/mcp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71 tools: App Discovery, Lineage, Data Products, Glossary...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Pipelines &amp; the VS Code Template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build side of AI: one underlying pipeline YAML — editable visually, programmatically, or with an AI coding agent — on a single path from raw data to a trusted, AI-ready data product.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8640" y="141732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48640" y="14173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(UI)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Talend Cloud pipeline canvas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242316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Point-and-click transforms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31520" y="27889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Business-user friendly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97680" y="13258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4389120" y="141732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19416C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4389120" y="14173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 (IDE)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572000" y="20574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Declarative YAML definition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572000" y="242316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VS Code + third-party IDEs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0" y="27889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Git version control + CI/CD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72000" y="31546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Export / import, schema-validated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38160" y="13258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8229600" y="141732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229600" y="14173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(AI)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8412480" y="20574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 coding agent authors the YAML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12480" y="242316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"Agent-friendly" schema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8412480" y="27889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Prompt → Generate → Validate → Review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412480" y="31546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Developer approves every change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57200" y="370332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640080" y="3767328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today — the whole pipeline is code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0080" y="4133088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QTCP DATA_PIPELINE projects on Open Lakehouse — mcg-batch-pipeline (4 tasks) + mcg-streaming-pipeline (2 tasks) = 6 tasks authored as YAML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40080" y="4462272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Shipped as a VS Code template: deploy/pipelines/ with .vscode/settings.json, CLAUDE.md, .github/copilot-instructions.md per project (schema kit via "npm run pipeline:template")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640080" y="4791456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Demo edit: change "MCG CRM Landing" schedule FREQ=MINUTELY;INTERVAL=15 → INTERVAL=30 — a one-line git diff, then Apply-from-Remote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57200" y="521208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5EA"/>
          </a:solidFill>
          <a:ln/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640080" y="5239512"/>
            <a:ext cx="10881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from raw → trusted: design in IDE + agent → Git / CI-CD deploy → quality → packaging → catalog &amp; glossary → AI-ready output with trust scores.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457200" y="576072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640080" y="5788152"/>
            <a:ext cx="10881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/ roadmap: Qlik declarative-pipeline tooling is a Qlik internal preview (June 2026). Forward-looking — capabilities and timing may change.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Agents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conversational agents keep human expertise in the loop while packaging, validating, and cataloging data — Qlik frames these as Qlik Answers capabilities, not separate products.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8640" y="14173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0080" y="14173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2860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 &amp; manage data products by chat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85292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CRUD + conversational discovery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41985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Review &amp; improve quality / completeness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98678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package Supply Chain Health &amp; Last Mile Performance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9768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4389120" y="14173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4480560" y="14173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0" y="22860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Helps stewards define &amp; enforce DQ rules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572000" y="285292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Assess quality across datasets by chat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0" y="341985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 / map rules, run DQ metrics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398678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rules on silver.addresses_standardized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13816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8229600" y="14173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19416C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8321040" y="14173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Business Glossary Agent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412480" y="22860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NL queries over Qlik Cloud Catalog metadata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412480" y="285292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 glossaries from apps, data products, a domain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412480" y="341985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Standardize terms &amp; synonyms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8412480" y="398678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extend the 25-term business glossary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640080" y="4956048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by design: agent-generated glossary terms land as DRAFT and require human review before they become official. These are Qlik Answers capabilities, not standalone products — they bridge business and technical users.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AI-native workflows inside pipeline tasks — call LLMs, build RAG pipelines, and orchestrate agents, with MCP client support.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8640" y="132588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48640" y="1325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integration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19659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Call LLMs from data tasks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251460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Cloud: OpenAI, Anthropic Claude, Google Gemini, Amazon Bedrock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31520" y="30632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On-prem: Ollama, Mistral, Gemma 3, Phi 4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Sentiment, entity extraction, classification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297680" y="12344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4389120" y="132588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19416C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4389120" y="1325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 pipelines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0" y="19659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Build retrieval-augmented pipelines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0" y="251460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Vector targets: Pinecone, MongoDB, Snowflake, Databricks, Milvus, Oracle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72000" y="30632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AI-assisted data quality in-task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38160" y="12344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8229600" y="132588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229600" y="1325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orchestration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412480" y="19659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Event-driven agent orchestration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12480" y="251460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Conversational AI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8412480" y="30632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Extensible tools + MCP client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57200" y="438912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640080" y="4453128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surface — the Salesforce address job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47548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Talend job validates Salesforce addresses, geocodes via Nominatim, and routes exceptions to Qlik Stewardship. An agentic route adds an LLM-assisted address-correction step inside the same job — the model proposes a fix, a steward approves it.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544068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640080" y="5468112"/>
            <a:ext cx="10881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Forward-looking: agentic-engineering capabilities are emerging across Qlik Talend Cloud; MCP-server tooling is in Qlik preview (June 2026). Timing and scope may change.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Analytics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Qlarity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the Cold Chain Exceedance experiment → show training report, feature importance (temperature_c #1, battery_low #2)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GRU-BA reading: 11.2°C, battery 9% → 78% exceedance probability — the TransFrio story in one number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p/>
        </p:txBody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&amp; Outcomes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(2 Apps)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  <p:txBody>
          <a:bodyPr/>
          <a:p/>
        </p:txBody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4983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Plus build-side AI — pipelines as code, governance agents, and agentic data engineering (preview)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Full Stack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Qlik Cloud Demo — Four Stories</dc:title>
  <dc:subject>PptxGenJS Presentation</dc:subject>
  <dc:creator>Qlik</dc:creator>
  <cp:lastModifiedBy>Qlik</cp:lastModifiedBy>
  <cp:revision>1</cp:revision>
  <dcterms:created xsi:type="dcterms:W3CDTF">2026-07-14T19:22:14Z</dcterms:created>
  <dcterms:modified xsi:type="dcterms:W3CDTF">2026-07-14T19:22:14Z</dcterms:modified>
</cp:coreProperties>
</file>