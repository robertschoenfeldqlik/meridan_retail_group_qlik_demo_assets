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024128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800" dirty="0"/>
          </a:p>
        </p:txBody>
      </p:sp>
      <p:sp>
        <p:nvSpPr>
          <p:cNvPr id="5" name="Text 1"/>
          <p:cNvSpPr/>
          <p:nvPr/>
        </p:nvSpPr>
        <p:spPr>
          <a:xfrm>
            <a:off x="457200" y="210312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Stack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457200" y="36576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·  Integrations  •  Governance  •  Analytics  •  AI &amp; Outcomes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457200" y="4297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trusted, AI-ready data platform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457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2743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7"/>
          <p:cNvSpPr/>
          <p:nvPr/>
        </p:nvSpPr>
        <p:spPr>
          <a:xfrm>
            <a:off x="2743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029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13" name="Text 9"/>
          <p:cNvSpPr/>
          <p:nvPr/>
        </p:nvSpPr>
        <p:spPr>
          <a:xfrm>
            <a:off x="5029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7315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/>
        </p:spPr>
      </p:sp>
      <p:sp>
        <p:nvSpPr>
          <p:cNvPr id="15" name="Text 11"/>
          <p:cNvSpPr/>
          <p:nvPr/>
        </p:nvSpPr>
        <p:spPr>
          <a:xfrm>
            <a:off x="7315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Technical Architecture — Qlik Cloud Full Stack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274320" y="118872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274320" y="118872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1691640" y="10058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801368" y="118414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2" name="Image 1" descr="C:\Claude\MCG Full Stack\generators\assets\icons\datab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8660" y="1281440"/>
            <a:ext cx="317480" cy="317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423160" y="1078992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2423160" y="1408176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— Change Data Capture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4800600" y="10058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910328" y="118414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7" name="Image 2" descr="C:\Claude\MCG Full Stack\generators\assets\icons\strea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7620" y="1281440"/>
            <a:ext cx="317480" cy="317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532120" y="1078992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5532120" y="1408176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— Cold Chain &amp; Carrier</a:t>
            </a:r>
            <a:endParaRPr lang="en-US" sz="800" dirty="0"/>
          </a:p>
        </p:txBody>
      </p:sp>
      <p:sp>
        <p:nvSpPr>
          <p:cNvPr id="20" name="Shape 15"/>
          <p:cNvSpPr/>
          <p:nvPr/>
        </p:nvSpPr>
        <p:spPr>
          <a:xfrm>
            <a:off x="7909560" y="10058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019288" y="118414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2" name="Image 3" descr="C:\Claude\MCG Full Stack\generators\assets\icons\clou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6580" y="1281440"/>
            <a:ext cx="317480" cy="31748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641080" y="1078992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8641080" y="1408176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— Contacts, Orders, Products</a:t>
            </a:r>
            <a:endParaRPr lang="en-US" sz="800" dirty="0"/>
          </a:p>
        </p:txBody>
      </p:sp>
      <p:sp>
        <p:nvSpPr>
          <p:cNvPr id="25" name="Text 19"/>
          <p:cNvSpPr/>
          <p:nvPr/>
        </p:nvSpPr>
        <p:spPr>
          <a:xfrm>
            <a:off x="5577840" y="190195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274320" y="265176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27" name="Text 21"/>
          <p:cNvSpPr/>
          <p:nvPr/>
        </p:nvSpPr>
        <p:spPr>
          <a:xfrm>
            <a:off x="274320" y="265176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800" dirty="0"/>
          </a:p>
        </p:txBody>
      </p:sp>
      <p:sp>
        <p:nvSpPr>
          <p:cNvPr id="28" name="Shape 22"/>
          <p:cNvSpPr/>
          <p:nvPr/>
        </p:nvSpPr>
        <p:spPr>
          <a:xfrm>
            <a:off x="1691640" y="2331720"/>
            <a:ext cx="9144000" cy="1234440"/>
          </a:xfrm>
          <a:prstGeom prst="roundRect">
            <a:avLst>
              <a:gd name="adj" fmla="val 7407"/>
            </a:avLst>
          </a:prstGeom>
          <a:solidFill>
            <a:srgbClr val="E0F5EA"/>
          </a:solidFill>
          <a:ln/>
          <a:effectLst>
            <a:outerShdw sx="100000" sy="100000" kx="0" ky="0" algn="bl" rotWithShape="0" blurRad="50800" dist="12700" dir="16200000">
              <a:srgbClr val="D0D0D0">
                <a:alpha val="25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1874520" y="2423160"/>
            <a:ext cx="28346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1984248" y="255574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1" name="Image 4" descr="C:\Claude\MCG Full Stack\generators\assets\icons\lakehous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81540" y="2653040"/>
            <a:ext cx="317480" cy="317480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2606040" y="249631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</a:t>
            </a:r>
            <a:endParaRPr lang="en-US" sz="1000" dirty="0"/>
          </a:p>
        </p:txBody>
      </p:sp>
      <p:sp>
        <p:nvSpPr>
          <p:cNvPr id="33" name="Text 26"/>
          <p:cNvSpPr/>
          <p:nvPr/>
        </p:nvSpPr>
        <p:spPr>
          <a:xfrm>
            <a:off x="2606040" y="282549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 → Silver → Gold</a:t>
            </a:r>
            <a:endParaRPr lang="en-US" sz="800" dirty="0"/>
          </a:p>
        </p:txBody>
      </p:sp>
      <p:sp>
        <p:nvSpPr>
          <p:cNvPr id="34" name="Shape 27"/>
          <p:cNvSpPr/>
          <p:nvPr/>
        </p:nvSpPr>
        <p:spPr>
          <a:xfrm>
            <a:off x="4892040" y="2423160"/>
            <a:ext cx="28346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5001768" y="255574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6" name="Image 5" descr="C:\Claude\MCG Full Stack\generators\assets\icons\pipelin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9060" y="2653040"/>
            <a:ext cx="317480" cy="317480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5623560" y="249631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Pipelines</a:t>
            </a:r>
            <a:endParaRPr lang="en-US" sz="1000" dirty="0"/>
          </a:p>
        </p:txBody>
      </p:sp>
      <p:sp>
        <p:nvSpPr>
          <p:cNvPr id="38" name="Text 30"/>
          <p:cNvSpPr/>
          <p:nvPr/>
        </p:nvSpPr>
        <p:spPr>
          <a:xfrm>
            <a:off x="5623560" y="282549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declarative projects (YAML)</a:t>
            </a:r>
            <a:endParaRPr lang="en-US" sz="800" dirty="0"/>
          </a:p>
        </p:txBody>
      </p:sp>
      <p:sp>
        <p:nvSpPr>
          <p:cNvPr id="39" name="Shape 31"/>
          <p:cNvSpPr/>
          <p:nvPr/>
        </p:nvSpPr>
        <p:spPr>
          <a:xfrm>
            <a:off x="7909560" y="242316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40" name="Shape 32"/>
          <p:cNvSpPr/>
          <p:nvPr/>
        </p:nvSpPr>
        <p:spPr>
          <a:xfrm>
            <a:off x="8019288" y="255574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41" name="Image 6" descr="C:\Claude\MCG Full Stack\generators\assets\icons\transform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6580" y="2653040"/>
            <a:ext cx="317480" cy="317480"/>
          </a:xfrm>
          <a:prstGeom prst="rect">
            <a:avLst/>
          </a:prstGeom>
        </p:spPr>
      </p:pic>
      <p:sp>
        <p:nvSpPr>
          <p:cNvPr id="42" name="Text 33"/>
          <p:cNvSpPr/>
          <p:nvPr/>
        </p:nvSpPr>
        <p:spPr>
          <a:xfrm>
            <a:off x="8641080" y="2496312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</a:t>
            </a:r>
            <a:endParaRPr lang="en-US" sz="1000" dirty="0"/>
          </a:p>
        </p:txBody>
      </p:sp>
      <p:sp>
        <p:nvSpPr>
          <p:cNvPr id="43" name="Text 34"/>
          <p:cNvSpPr/>
          <p:nvPr/>
        </p:nvSpPr>
        <p:spPr>
          <a:xfrm>
            <a:off x="8641080" y="2825496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Validation &amp; Cleansing</a:t>
            </a:r>
            <a:endParaRPr lang="en-US" sz="800" dirty="0"/>
          </a:p>
        </p:txBody>
      </p:sp>
      <p:sp>
        <p:nvSpPr>
          <p:cNvPr id="44" name="Text 35"/>
          <p:cNvSpPr/>
          <p:nvPr/>
        </p:nvSpPr>
        <p:spPr>
          <a:xfrm>
            <a:off x="5577840" y="3584448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45" name="Shape 36"/>
          <p:cNvSpPr/>
          <p:nvPr/>
        </p:nvSpPr>
        <p:spPr>
          <a:xfrm>
            <a:off x="274320" y="411480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46" name="Text 37"/>
          <p:cNvSpPr/>
          <p:nvPr/>
        </p:nvSpPr>
        <p:spPr>
          <a:xfrm>
            <a:off x="274320" y="411480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800" dirty="0"/>
          </a:p>
        </p:txBody>
      </p:sp>
      <p:sp>
        <p:nvSpPr>
          <p:cNvPr id="47" name="Shape 38"/>
          <p:cNvSpPr/>
          <p:nvPr/>
        </p:nvSpPr>
        <p:spPr>
          <a:xfrm>
            <a:off x="1691640" y="393192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48" name="Shape 39"/>
          <p:cNvSpPr/>
          <p:nvPr/>
        </p:nvSpPr>
        <p:spPr>
          <a:xfrm>
            <a:off x="1801368" y="411022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49" name="Image 7" descr="C:\Claude\MCG Full Stack\generators\assets\icons\analytic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98660" y="4207520"/>
            <a:ext cx="317480" cy="317480"/>
          </a:xfrm>
          <a:prstGeom prst="rect">
            <a:avLst/>
          </a:prstGeom>
        </p:spPr>
      </p:pic>
      <p:sp>
        <p:nvSpPr>
          <p:cNvPr id="50" name="Text 40"/>
          <p:cNvSpPr/>
          <p:nvPr/>
        </p:nvSpPr>
        <p:spPr>
          <a:xfrm>
            <a:off x="2423160" y="4005072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</a:t>
            </a:r>
            <a:endParaRPr lang="en-US" sz="1000" dirty="0"/>
          </a:p>
        </p:txBody>
      </p:sp>
      <p:sp>
        <p:nvSpPr>
          <p:cNvPr id="51" name="Text 41"/>
          <p:cNvSpPr/>
          <p:nvPr/>
        </p:nvSpPr>
        <p:spPr>
          <a:xfrm>
            <a:off x="2423160" y="4334256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Apps  •  10 Sheets</a:t>
            </a:r>
            <a:endParaRPr lang="en-US" sz="800" dirty="0"/>
          </a:p>
        </p:txBody>
      </p:sp>
      <p:sp>
        <p:nvSpPr>
          <p:cNvPr id="52" name="Shape 42"/>
          <p:cNvSpPr/>
          <p:nvPr/>
        </p:nvSpPr>
        <p:spPr>
          <a:xfrm>
            <a:off x="4800600" y="393192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53" name="Shape 43"/>
          <p:cNvSpPr/>
          <p:nvPr/>
        </p:nvSpPr>
        <p:spPr>
          <a:xfrm>
            <a:off x="4910328" y="411022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54" name="Image 8" descr="C:\Claude\MCG Full Stack\generators\assets\icons\predic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07620" y="4207520"/>
            <a:ext cx="317480" cy="317480"/>
          </a:xfrm>
          <a:prstGeom prst="rect">
            <a:avLst/>
          </a:prstGeom>
        </p:spPr>
      </p:pic>
      <p:sp>
        <p:nvSpPr>
          <p:cNvPr id="55" name="Text 44"/>
          <p:cNvSpPr/>
          <p:nvPr/>
        </p:nvSpPr>
        <p:spPr>
          <a:xfrm>
            <a:off x="5532120" y="4005072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</a:t>
            </a:r>
            <a:endParaRPr lang="en-US" sz="1000" dirty="0"/>
          </a:p>
        </p:txBody>
      </p:sp>
      <p:sp>
        <p:nvSpPr>
          <p:cNvPr id="56" name="Text 45"/>
          <p:cNvSpPr/>
          <p:nvPr/>
        </p:nvSpPr>
        <p:spPr>
          <a:xfrm>
            <a:off x="5532120" y="4334256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AutoML Models</a:t>
            </a:r>
            <a:endParaRPr lang="en-US" sz="800" dirty="0"/>
          </a:p>
        </p:txBody>
      </p:sp>
      <p:sp>
        <p:nvSpPr>
          <p:cNvPr id="57" name="Shape 46"/>
          <p:cNvSpPr/>
          <p:nvPr/>
        </p:nvSpPr>
        <p:spPr>
          <a:xfrm>
            <a:off x="7909560" y="393192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58" name="Shape 47"/>
          <p:cNvSpPr/>
          <p:nvPr/>
        </p:nvSpPr>
        <p:spPr>
          <a:xfrm>
            <a:off x="8019288" y="411022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59" name="Image 9" descr="C:\Claude\MCG Full Stack\generators\assets\icons\governanc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16580" y="4207520"/>
            <a:ext cx="317480" cy="317480"/>
          </a:xfrm>
          <a:prstGeom prst="rect">
            <a:avLst/>
          </a:prstGeom>
        </p:spPr>
      </p:pic>
      <p:sp>
        <p:nvSpPr>
          <p:cNvPr id="60" name="Text 48"/>
          <p:cNvSpPr/>
          <p:nvPr/>
        </p:nvSpPr>
        <p:spPr>
          <a:xfrm>
            <a:off x="8641080" y="4005072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000" dirty="0"/>
          </a:p>
        </p:txBody>
      </p:sp>
      <p:sp>
        <p:nvSpPr>
          <p:cNvPr id="61" name="Text 49"/>
          <p:cNvSpPr/>
          <p:nvPr/>
        </p:nvSpPr>
        <p:spPr>
          <a:xfrm>
            <a:off x="8641080" y="4334256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• Lineage • Glossary • Stewardship</a:t>
            </a:r>
            <a:endParaRPr lang="en-US" sz="800" dirty="0"/>
          </a:p>
        </p:txBody>
      </p:sp>
      <p:sp>
        <p:nvSpPr>
          <p:cNvPr id="62" name="Text 50"/>
          <p:cNvSpPr/>
          <p:nvPr/>
        </p:nvSpPr>
        <p:spPr>
          <a:xfrm>
            <a:off x="5577840" y="482803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63" name="Shape 51"/>
          <p:cNvSpPr/>
          <p:nvPr/>
        </p:nvSpPr>
        <p:spPr>
          <a:xfrm>
            <a:off x="274320" y="539496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4CB393"/>
          </a:solidFill>
          <a:ln/>
        </p:spPr>
      </p:sp>
      <p:sp>
        <p:nvSpPr>
          <p:cNvPr id="64" name="Text 52"/>
          <p:cNvSpPr/>
          <p:nvPr/>
        </p:nvSpPr>
        <p:spPr>
          <a:xfrm>
            <a:off x="274320" y="539496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800" dirty="0"/>
          </a:p>
        </p:txBody>
      </p:sp>
      <p:sp>
        <p:nvSpPr>
          <p:cNvPr id="65" name="Shape 53"/>
          <p:cNvSpPr/>
          <p:nvPr/>
        </p:nvSpPr>
        <p:spPr>
          <a:xfrm>
            <a:off x="1691640" y="5212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66" name="Shape 54"/>
          <p:cNvSpPr/>
          <p:nvPr/>
        </p:nvSpPr>
        <p:spPr>
          <a:xfrm>
            <a:off x="1801368" y="539038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67" name="Image 10" descr="C:\Claude\MCG Full Stack\generators\assets\icons\answers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98660" y="5487680"/>
            <a:ext cx="317480" cy="317480"/>
          </a:xfrm>
          <a:prstGeom prst="rect">
            <a:avLst/>
          </a:prstGeom>
        </p:spPr>
      </p:pic>
      <p:sp>
        <p:nvSpPr>
          <p:cNvPr id="68" name="Text 55"/>
          <p:cNvSpPr/>
          <p:nvPr/>
        </p:nvSpPr>
        <p:spPr>
          <a:xfrm>
            <a:off x="2423160" y="5285232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000" dirty="0"/>
          </a:p>
        </p:txBody>
      </p:sp>
      <p:sp>
        <p:nvSpPr>
          <p:cNvPr id="69" name="Text 56"/>
          <p:cNvSpPr/>
          <p:nvPr/>
        </p:nvSpPr>
        <p:spPr>
          <a:xfrm>
            <a:off x="2423160" y="5614416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Documents</a:t>
            </a:r>
            <a:endParaRPr lang="en-US" sz="800" dirty="0"/>
          </a:p>
        </p:txBody>
      </p:sp>
      <p:sp>
        <p:nvSpPr>
          <p:cNvPr id="70" name="Shape 57"/>
          <p:cNvSpPr/>
          <p:nvPr/>
        </p:nvSpPr>
        <p:spPr>
          <a:xfrm>
            <a:off x="3977640" y="5212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71" name="Shape 58"/>
          <p:cNvSpPr/>
          <p:nvPr/>
        </p:nvSpPr>
        <p:spPr>
          <a:xfrm>
            <a:off x="4087368" y="539038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72" name="Image 11" descr="C:\Claude\MCG Full Stack\generators\assets\icons\agen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84660" y="5487680"/>
            <a:ext cx="317480" cy="317480"/>
          </a:xfrm>
          <a:prstGeom prst="rect">
            <a:avLst/>
          </a:prstGeom>
        </p:spPr>
      </p:pic>
      <p:sp>
        <p:nvSpPr>
          <p:cNvPr id="73" name="Text 59"/>
          <p:cNvSpPr/>
          <p:nvPr/>
        </p:nvSpPr>
        <p:spPr>
          <a:xfrm>
            <a:off x="4709160" y="5285232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000" dirty="0"/>
          </a:p>
        </p:txBody>
      </p:sp>
      <p:sp>
        <p:nvSpPr>
          <p:cNvPr id="74" name="Text 60"/>
          <p:cNvSpPr/>
          <p:nvPr/>
        </p:nvSpPr>
        <p:spPr>
          <a:xfrm>
            <a:off x="4709160" y="5614416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Autonomous Analysis</a:t>
            </a:r>
            <a:endParaRPr lang="en-US" sz="800" dirty="0"/>
          </a:p>
        </p:txBody>
      </p:sp>
      <p:sp>
        <p:nvSpPr>
          <p:cNvPr id="75" name="Shape 61"/>
          <p:cNvSpPr/>
          <p:nvPr/>
        </p:nvSpPr>
        <p:spPr>
          <a:xfrm>
            <a:off x="6263640" y="5212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76" name="Shape 62"/>
          <p:cNvSpPr/>
          <p:nvPr/>
        </p:nvSpPr>
        <p:spPr>
          <a:xfrm>
            <a:off x="6373368" y="539038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77" name="Image 12" descr="C:\Claude\MCG Full Stack\generators\assets\icons\mcp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70660" y="5487680"/>
            <a:ext cx="317480" cy="317480"/>
          </a:xfrm>
          <a:prstGeom prst="rect">
            <a:avLst/>
          </a:prstGeom>
        </p:spPr>
      </p:pic>
      <p:sp>
        <p:nvSpPr>
          <p:cNvPr id="78" name="Text 63"/>
          <p:cNvSpPr/>
          <p:nvPr/>
        </p:nvSpPr>
        <p:spPr>
          <a:xfrm>
            <a:off x="6995160" y="5285232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000" dirty="0"/>
          </a:p>
        </p:txBody>
      </p:sp>
      <p:sp>
        <p:nvSpPr>
          <p:cNvPr id="79" name="Text 64"/>
          <p:cNvSpPr/>
          <p:nvPr/>
        </p:nvSpPr>
        <p:spPr>
          <a:xfrm>
            <a:off x="6995160" y="5614416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800" dirty="0"/>
          </a:p>
        </p:txBody>
      </p:sp>
      <p:sp>
        <p:nvSpPr>
          <p:cNvPr id="80" name="Shape 65"/>
          <p:cNvSpPr/>
          <p:nvPr/>
        </p:nvSpPr>
        <p:spPr>
          <a:xfrm>
            <a:off x="8549640" y="5212080"/>
            <a:ext cx="228600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81" name="Shape 66"/>
          <p:cNvSpPr/>
          <p:nvPr/>
        </p:nvSpPr>
        <p:spPr>
          <a:xfrm>
            <a:off x="8659368" y="539038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82" name="Image 13" descr="C:\Claude\MCG Full Stack\generators\assets\icons\automation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56660" y="5487680"/>
            <a:ext cx="317480" cy="317480"/>
          </a:xfrm>
          <a:prstGeom prst="rect">
            <a:avLst/>
          </a:prstGeom>
        </p:spPr>
      </p:pic>
      <p:sp>
        <p:nvSpPr>
          <p:cNvPr id="83" name="Text 67"/>
          <p:cNvSpPr/>
          <p:nvPr/>
        </p:nvSpPr>
        <p:spPr>
          <a:xfrm>
            <a:off x="9281160" y="5285232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000" dirty="0"/>
          </a:p>
        </p:txBody>
      </p:sp>
      <p:sp>
        <p:nvSpPr>
          <p:cNvPr id="84" name="Text 68"/>
          <p:cNvSpPr/>
          <p:nvPr/>
        </p:nvSpPr>
        <p:spPr>
          <a:xfrm>
            <a:off x="9281160" y="5614416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Notifications</a:t>
            </a:r>
            <a:endParaRPr lang="en-US" sz="800" dirty="0"/>
          </a:p>
        </p:txBody>
      </p:sp>
      <p:sp>
        <p:nvSpPr>
          <p:cNvPr id="85" name="Shape 69"/>
          <p:cNvSpPr/>
          <p:nvPr/>
        </p:nvSpPr>
        <p:spPr>
          <a:xfrm>
            <a:off x="11064240" y="1005840"/>
            <a:ext cx="960120" cy="5074920"/>
          </a:xfrm>
          <a:prstGeom prst="roundRect">
            <a:avLst>
              <a:gd name="adj" fmla="val 9524"/>
            </a:avLst>
          </a:prstGeom>
          <a:solidFill>
            <a:srgbClr val="E3EAF3"/>
          </a:solidFill>
          <a:ln w="12700">
            <a:solidFill>
              <a:srgbClr val="19416C"/>
            </a:solidFill>
            <a:prstDash val="solid"/>
          </a:ln>
        </p:spPr>
      </p:sp>
      <p:sp>
        <p:nvSpPr>
          <p:cNvPr id="86" name="Text 70"/>
          <p:cNvSpPr/>
          <p:nvPr/>
        </p:nvSpPr>
        <p:spPr>
          <a:xfrm>
            <a:off x="11064240" y="1828800"/>
            <a:ext cx="960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Nightmares</a:t>
            </a:r>
            <a:endParaRPr lang="en-US" sz="1100" dirty="0"/>
          </a:p>
        </p:txBody>
      </p:sp>
      <p:sp>
        <p:nvSpPr>
          <p:cNvPr id="87" name="Text 71"/>
          <p:cNvSpPr/>
          <p:nvPr/>
        </p:nvSpPr>
        <p:spPr>
          <a:xfrm>
            <a:off x="11064240" y="2743200"/>
            <a:ext cx="960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$127M/yr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Functional Architecture — The Four Stories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914400"/>
            <a:ext cx="2743200" cy="411480"/>
          </a:xfrm>
          <a:prstGeom prst="roundRect">
            <a:avLst>
              <a:gd name="adj" fmla="val 13333"/>
            </a:avLst>
          </a:prstGeom>
          <a:solidFill>
            <a:srgbClr val="006580"/>
          </a:solidFill>
          <a:ln/>
        </p:spPr>
      </p:sp>
      <p:sp>
        <p:nvSpPr>
          <p:cNvPr id="9" name="Shape 6"/>
          <p:cNvSpPr/>
          <p:nvPr/>
        </p:nvSpPr>
        <p:spPr>
          <a:xfrm>
            <a:off x="548640" y="96469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C:\Claude\MCG Full Stack\generators\assets\icons\pipe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710" y="1023762"/>
            <a:ext cx="192756" cy="1927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914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Integrations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57200" y="1417320"/>
            <a:ext cx="2743200" cy="1920240"/>
          </a:xfrm>
          <a:prstGeom prst="roundRect">
            <a:avLst>
              <a:gd name="adj" fmla="val 3810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594360" y="14630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3 Data Sources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594360" y="18105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Declarative Pipeline Projects (8 feeds)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594360" y="21579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Bronze Layer (8 tables)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594360" y="250545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Real-time &amp; Batch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594360" y="28529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Movement Gateway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306324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3383280" y="914400"/>
            <a:ext cx="2743200" cy="41148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20" name="Shape 16"/>
          <p:cNvSpPr/>
          <p:nvPr/>
        </p:nvSpPr>
        <p:spPr>
          <a:xfrm>
            <a:off x="3474720" y="96469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1" name="Image 2" descr="C:\Claude\MCG Full Stack\generators\assets\icons\governa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3790" y="1023762"/>
            <a:ext cx="192756" cy="19275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3383280" y="914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Governance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3383280" y="1417320"/>
            <a:ext cx="2743200" cy="2267712"/>
          </a:xfrm>
          <a:prstGeom prst="roundRect">
            <a:avLst>
              <a:gd name="adj" fmla="val 3226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24" name="Text 19"/>
          <p:cNvSpPr/>
          <p:nvPr/>
        </p:nvSpPr>
        <p:spPr>
          <a:xfrm>
            <a:off x="3520440" y="14630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8 Transformation Routes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3520440" y="18105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Silver Layer (cleansed)</a:t>
            </a:r>
            <a:endParaRPr lang="en-US" sz="950" dirty="0"/>
          </a:p>
        </p:txBody>
      </p:sp>
      <p:sp>
        <p:nvSpPr>
          <p:cNvPr id="26" name="Text 21"/>
          <p:cNvSpPr/>
          <p:nvPr/>
        </p:nvSpPr>
        <p:spPr>
          <a:xfrm>
            <a:off x="3520440" y="21579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Gold Data Products</a:t>
            </a:r>
            <a:endParaRPr lang="en-US" sz="950" dirty="0"/>
          </a:p>
        </p:txBody>
      </p:sp>
      <p:sp>
        <p:nvSpPr>
          <p:cNvPr id="27" name="Text 22"/>
          <p:cNvSpPr/>
          <p:nvPr/>
        </p:nvSpPr>
        <p:spPr>
          <a:xfrm>
            <a:off x="3520440" y="250545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Trust Score &amp; Lineage</a:t>
            </a:r>
            <a:endParaRPr lang="en-US" sz="950" dirty="0"/>
          </a:p>
        </p:txBody>
      </p:sp>
      <p:sp>
        <p:nvSpPr>
          <p:cNvPr id="28" name="Text 23"/>
          <p:cNvSpPr/>
          <p:nvPr/>
        </p:nvSpPr>
        <p:spPr>
          <a:xfrm>
            <a:off x="3520440" y="28529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Glossary (25 terms)</a:t>
            </a:r>
            <a:endParaRPr lang="en-US" sz="950" dirty="0"/>
          </a:p>
        </p:txBody>
      </p:sp>
      <p:sp>
        <p:nvSpPr>
          <p:cNvPr id="29" name="Text 24"/>
          <p:cNvSpPr/>
          <p:nvPr/>
        </p:nvSpPr>
        <p:spPr>
          <a:xfrm>
            <a:off x="3520440" y="320040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4 Stewardship Sprints</a:t>
            </a:r>
            <a:endParaRPr lang="en-US" sz="950" dirty="0"/>
          </a:p>
        </p:txBody>
      </p:sp>
      <p:sp>
        <p:nvSpPr>
          <p:cNvPr id="30" name="Text 25"/>
          <p:cNvSpPr/>
          <p:nvPr/>
        </p:nvSpPr>
        <p:spPr>
          <a:xfrm>
            <a:off x="598932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600" dirty="0"/>
          </a:p>
        </p:txBody>
      </p:sp>
      <p:sp>
        <p:nvSpPr>
          <p:cNvPr id="31" name="Shape 26"/>
          <p:cNvSpPr/>
          <p:nvPr/>
        </p:nvSpPr>
        <p:spPr>
          <a:xfrm>
            <a:off x="6309360" y="914400"/>
            <a:ext cx="2743200" cy="41148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32" name="Shape 27"/>
          <p:cNvSpPr/>
          <p:nvPr/>
        </p:nvSpPr>
        <p:spPr>
          <a:xfrm>
            <a:off x="6400800" y="96469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3" name="Image 3" descr="C:\Claude\MCG Full Stack\generators\assets\icons\analytic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9870" y="1023762"/>
            <a:ext cx="192756" cy="192756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6309360" y="914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Analytics</a:t>
            </a:r>
            <a:endParaRPr lang="en-US" sz="1100" dirty="0"/>
          </a:p>
        </p:txBody>
      </p:sp>
      <p:sp>
        <p:nvSpPr>
          <p:cNvPr id="35" name="Shape 29"/>
          <p:cNvSpPr/>
          <p:nvPr/>
        </p:nvSpPr>
        <p:spPr>
          <a:xfrm>
            <a:off x="6309360" y="1417320"/>
            <a:ext cx="2743200" cy="1920240"/>
          </a:xfrm>
          <a:prstGeom prst="roundRect">
            <a:avLst>
              <a:gd name="adj" fmla="val 3810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36" name="Text 30"/>
          <p:cNvSpPr/>
          <p:nvPr/>
        </p:nvSpPr>
        <p:spPr>
          <a:xfrm>
            <a:off x="6446520" y="14630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Qlik Analytics Apps (10 sheets)</a:t>
            </a:r>
            <a:endParaRPr lang="en-US" sz="950" dirty="0"/>
          </a:p>
        </p:txBody>
      </p:sp>
      <p:sp>
        <p:nvSpPr>
          <p:cNvPr id="37" name="Text 31"/>
          <p:cNvSpPr/>
          <p:nvPr/>
        </p:nvSpPr>
        <p:spPr>
          <a:xfrm>
            <a:off x="6446520" y="18105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Agentic Analytics &amp; NLI</a:t>
            </a:r>
            <a:endParaRPr lang="en-US" sz="950" dirty="0"/>
          </a:p>
        </p:txBody>
      </p:sp>
      <p:sp>
        <p:nvSpPr>
          <p:cNvPr id="38" name="Text 32"/>
          <p:cNvSpPr/>
          <p:nvPr/>
        </p:nvSpPr>
        <p:spPr>
          <a:xfrm>
            <a:off x="6446520" y="21579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Alerts &amp; Reports</a:t>
            </a:r>
            <a:endParaRPr lang="en-US" sz="950" dirty="0"/>
          </a:p>
        </p:txBody>
      </p:sp>
      <p:sp>
        <p:nvSpPr>
          <p:cNvPr id="39" name="Text 33"/>
          <p:cNvSpPr/>
          <p:nvPr/>
        </p:nvSpPr>
        <p:spPr>
          <a:xfrm>
            <a:off x="6446520" y="250545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5 Automations (Teams)</a:t>
            </a:r>
            <a:endParaRPr lang="en-US" sz="950" dirty="0"/>
          </a:p>
        </p:txBody>
      </p:sp>
      <p:sp>
        <p:nvSpPr>
          <p:cNvPr id="40" name="Text 34"/>
          <p:cNvSpPr/>
          <p:nvPr/>
        </p:nvSpPr>
        <p:spPr>
          <a:xfrm>
            <a:off x="6446520" y="28529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Dark Theme</a:t>
            </a:r>
            <a:endParaRPr lang="en-US" sz="950" dirty="0"/>
          </a:p>
        </p:txBody>
      </p:sp>
      <p:sp>
        <p:nvSpPr>
          <p:cNvPr id="41" name="Text 35"/>
          <p:cNvSpPr/>
          <p:nvPr/>
        </p:nvSpPr>
        <p:spPr>
          <a:xfrm>
            <a:off x="891540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600" dirty="0"/>
          </a:p>
        </p:txBody>
      </p:sp>
      <p:sp>
        <p:nvSpPr>
          <p:cNvPr id="42" name="Shape 36"/>
          <p:cNvSpPr/>
          <p:nvPr/>
        </p:nvSpPr>
        <p:spPr>
          <a:xfrm>
            <a:off x="9235440" y="914400"/>
            <a:ext cx="2468880" cy="411480"/>
          </a:xfrm>
          <a:prstGeom prst="roundRect">
            <a:avLst>
              <a:gd name="adj" fmla="val 13333"/>
            </a:avLst>
          </a:prstGeom>
          <a:solidFill>
            <a:srgbClr val="4CB393"/>
          </a:solidFill>
          <a:ln/>
        </p:spPr>
      </p:sp>
      <p:sp>
        <p:nvSpPr>
          <p:cNvPr id="43" name="Shape 37"/>
          <p:cNvSpPr/>
          <p:nvPr/>
        </p:nvSpPr>
        <p:spPr>
          <a:xfrm>
            <a:off x="9326880" y="96469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44" name="Image 4" descr="C:\Claude\MCG Full Stack\generators\assets\icons\age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85950" y="1023762"/>
            <a:ext cx="192756" cy="192756"/>
          </a:xfrm>
          <a:prstGeom prst="rect">
            <a:avLst/>
          </a:prstGeom>
        </p:spPr>
      </p:pic>
      <p:sp>
        <p:nvSpPr>
          <p:cNvPr id="45" name="Text 38"/>
          <p:cNvSpPr/>
          <p:nvPr/>
        </p:nvSpPr>
        <p:spPr>
          <a:xfrm>
            <a:off x="9235440" y="91440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AI &amp; Outcomes</a:t>
            </a:r>
            <a:endParaRPr lang="en-US" sz="1100" dirty="0"/>
          </a:p>
        </p:txBody>
      </p:sp>
      <p:sp>
        <p:nvSpPr>
          <p:cNvPr id="46" name="Shape 39"/>
          <p:cNvSpPr/>
          <p:nvPr/>
        </p:nvSpPr>
        <p:spPr>
          <a:xfrm>
            <a:off x="9235440" y="141732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47" name="Text 40"/>
          <p:cNvSpPr/>
          <p:nvPr/>
        </p:nvSpPr>
        <p:spPr>
          <a:xfrm>
            <a:off x="9372600" y="14630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Predict Models (Spoilage/SLA)</a:t>
            </a:r>
            <a:endParaRPr lang="en-US" sz="950" dirty="0"/>
          </a:p>
        </p:txBody>
      </p:sp>
      <p:sp>
        <p:nvSpPr>
          <p:cNvPr id="48" name="Text 41"/>
          <p:cNvSpPr/>
          <p:nvPr/>
        </p:nvSpPr>
        <p:spPr>
          <a:xfrm>
            <a:off x="9372600" y="181051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Answers (25 docs)</a:t>
            </a:r>
            <a:endParaRPr lang="en-US" sz="950" dirty="0"/>
          </a:p>
        </p:txBody>
      </p:sp>
      <p:sp>
        <p:nvSpPr>
          <p:cNvPr id="49" name="Text 42"/>
          <p:cNvSpPr/>
          <p:nvPr/>
        </p:nvSpPr>
        <p:spPr>
          <a:xfrm>
            <a:off x="9372600" y="2157984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Discovery Agent</a:t>
            </a:r>
            <a:endParaRPr lang="en-US" sz="950" dirty="0"/>
          </a:p>
        </p:txBody>
      </p:sp>
      <p:sp>
        <p:nvSpPr>
          <p:cNvPr id="50" name="Text 43"/>
          <p:cNvSpPr/>
          <p:nvPr/>
        </p:nvSpPr>
        <p:spPr>
          <a:xfrm>
            <a:off x="9372600" y="250545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MCP Server (Claude)</a:t>
            </a:r>
            <a:endParaRPr lang="en-US" sz="950" dirty="0"/>
          </a:p>
        </p:txBody>
      </p:sp>
      <p:sp>
        <p:nvSpPr>
          <p:cNvPr id="51" name="Text 44"/>
          <p:cNvSpPr/>
          <p:nvPr/>
        </p:nvSpPr>
        <p:spPr>
          <a:xfrm>
            <a:off x="9372600" y="2852928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Closed-Loop Automation</a:t>
            </a:r>
            <a:endParaRPr lang="en-US" sz="950" dirty="0"/>
          </a:p>
        </p:txBody>
      </p:sp>
      <p:sp>
        <p:nvSpPr>
          <p:cNvPr id="52" name="Shape 45"/>
          <p:cNvSpPr/>
          <p:nvPr/>
        </p:nvSpPr>
        <p:spPr>
          <a:xfrm>
            <a:off x="457200" y="539496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F6F7F8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640080" y="53949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Total:  3 Sources  →  18 Tables  →  9 Flows  →  2 Products  →  10 Sheets  →  2 Models  →  25 Docs  →  5 Automations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Agenda — Four Stories, One Platform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proof points behind Project Qlarity's business case — MCG's unified Qlik data platform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1143000"/>
            <a:ext cx="548640" cy="54864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1143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1188720" y="10058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Integrations Story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188720" y="1417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CDC, Kafka streaming, Salesforce → Open Lakehouse (Bronze/Silver/Gold)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188720" y="17830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• Data Flows • Table Recipes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57200" y="25146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5" name="Text 12"/>
          <p:cNvSpPr/>
          <p:nvPr/>
        </p:nvSpPr>
        <p:spPr>
          <a:xfrm>
            <a:off x="457200" y="2514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188720" y="23774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Governance Story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188720" y="2788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Products, Lineage, Impact Analysis, Trust Score, Data Profiling, Stewardship Sprints, Business Glossary, Data Marketplace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188720" y="31546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• Lineage • Impact Analysis • Trust Score • Profiling • Stewardship • Glossary • Data Marketplace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7200" y="38862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20" name="Text 17"/>
          <p:cNvSpPr/>
          <p:nvPr/>
        </p:nvSpPr>
        <p:spPr>
          <a:xfrm>
            <a:off x="457200" y="3886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1188720" y="37490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188720" y="4160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dashboards, Analytics Engine (associative model), Natural Language Insights, Business Logic, native alerting, reporting &amp; subscriptions, automations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1188720" y="45262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• Analytics Engine • Associative Model • NLI • Business Logic • Alerting • Reporting • Automations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57200" y="5257800"/>
            <a:ext cx="548640" cy="548640"/>
          </a:xfrm>
          <a:prstGeom prst="ellipse">
            <a:avLst/>
          </a:prstGeom>
          <a:solidFill>
            <a:srgbClr val="4CB393"/>
          </a:solidFill>
          <a:ln/>
        </p:spPr>
      </p:sp>
      <p:sp>
        <p:nvSpPr>
          <p:cNvPr id="25" name="Text 22"/>
          <p:cNvSpPr/>
          <p:nvPr/>
        </p:nvSpPr>
        <p:spPr>
          <a:xfrm>
            <a:off x="457200" y="5257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1188720" y="51206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&amp; Outcomes Story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1188720" y="5532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Consumption-side AI (Agentic Analytics, Qlik Answers, Qlik Predict, Discovery Agent, MCP Server) plus build-side agentic engineering — declarative pipelines as code, the governance agents, and Talend agentic routes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1188720" y="58978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• Qlik Answers • Predict • Discovery Agent • MCP • Declarative Pipelines • Governance Agents • Talend Agentic Routes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>
              <a:alpha val="85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unified, real-time data fabric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088136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&amp; Connectivity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live data sources feeding the Qlik Open Lakehouse in real-time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35331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029200" y="135331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via Data Movement gateway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103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Change Data Capture, logical replication, sub-second latency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78892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520" y="286207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029200" y="28620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via Data Gateway - Streaming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3246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mcg.iot.cold-chain • mcg.iot.carrier-events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31520" y="3611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IoT telemetry from cold chain sensors + carrier GPS/status events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429768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1520" y="43708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(CRM)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029200" y="437083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Connector (15 min)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31520" y="4754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 • MCG_Order__c • MCG_Product__c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31520" y="5120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addresses, orders, product master — with intentional data quality issues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585216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25" name="Text 22"/>
          <p:cNvSpPr/>
          <p:nvPr/>
        </p:nvSpPr>
        <p:spPr>
          <a:xfrm>
            <a:off x="731520" y="587044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Tip: Run all 3 simulators before the demo. Data flows into Bronze within seconds (PostgreSQL, Kafka) or 15 min (Salesforce).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Connecting the Sources — Data Movement Gateway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 databases reach Qlik Cloud through a registered gateway: one-time registration, then a connection per source created in a Data Integration project.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371600"/>
            <a:ext cx="5486400" cy="2788920"/>
          </a:xfrm>
          <a:prstGeom prst="roundRect">
            <a:avLst>
              <a:gd name="adj" fmla="val 3279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4630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Register the gateway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9659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Deploy UI → Local Stack &amp; Gateway → Register Gateway / Get Token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40080" y="24231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(or run agentctl in the mcg-qlik-dmg container) to print the token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40080" y="28803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Cloud → Administration → Data Gateways → Register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40080" y="33375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Paste the token, then wait for status Connected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217920" y="1371600"/>
            <a:ext cx="5486400" cy="2788920"/>
          </a:xfrm>
          <a:prstGeom prst="roundRect">
            <a:avLst>
              <a:gd name="adj" fmla="val 3279"/>
            </a:avLst>
          </a:prstGeom>
          <a:solidFill>
            <a:srgbClr val="F6F7F8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0" y="14630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Create source connections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400800" y="19659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Integration → your project → Create connection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6400800" y="24231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Choose PostgreSQL / MySQL / SQL Server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6400800" y="28803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Select the mcg-qlik-dmg gateway from the dropdown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6400800" y="33375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Enter host/port/db/credentials → Test → Save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" y="438912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22" name="Text 19"/>
          <p:cNvSpPr/>
          <p:nvPr/>
        </p:nvSpPr>
        <p:spPr>
          <a:xfrm>
            <a:off x="640080" y="44348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Gateway types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822960" y="47091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Data Movement gateway → database CDC sources (Postgres / MySQL / SQL Server) — used here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22960" y="500176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Data Gateway - Streaming → required for Kafka sources (a separate gateway type)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22960" y="529437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Salesforce / S3 / Athena → credentialed connectors created in Data → Create connection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585216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27" name="Text 24"/>
          <p:cNvSpPr/>
          <p:nvPr/>
        </p:nvSpPr>
        <p:spPr>
          <a:xfrm>
            <a:off x="731520" y="587044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Note: a Data Movement gateway connection is created in the Data Integration UI by selecting the gateway — the public REST API cannot create it, so the deploy script skips these sources with on-screen guidance.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 — Bronze / Silver / Gold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Medallion architecture with automated data flows and table recipes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141732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14173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560320" y="141732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  (8 tables)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31520" y="196596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 • sf_contacts • sf_orders • sf_products • iot_cold_chain • iot_carrier_events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669280" y="2651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7200" y="283464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0080" y="297180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9718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2560320" y="29718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Cleaned &amp; Transformed  (8 tables)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31520" y="35204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warehouse_events_clean • inventory_reconciled • addresses_standardized • products_harmonized • shipments_canonical • iot_normalized • suppliers_deduped • order_delivery_timeline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669280" y="42062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7200" y="438912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3EAF3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0080" y="452628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19416C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5262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560320" y="452628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Business-Ready Data Products  (2 tables)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731520" y="507492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supply_chain_health • last_mile_performance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Flows — 8 Transformation Routes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Data Integration transforms raw data into trusted, business-ready assets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5486400"/>
                <a:gridCol w="22860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Route Name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It Does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Timestamp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 timezone formats → UTC standard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Inventory Reconciliation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WMS-ERP comparison, phantom detection, Trust Score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Standardization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18.4M addresses cleaned, fuzzy match,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Harmonization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8,200 SKUs missing weight/dims → enriched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Carrier Status Canonicalization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 carriers × 6 languages → unified lifecycle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IoT Telemetry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sensor data → exceedance flags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Master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80 suppliers with 2-4 duplicates → clean master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Order-to-Delivery Timeline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Cross-source join → end-to-end order visibility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502920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504748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route maps directly to one of the 7 Data Quality Nightmares — show the before/after transformation live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Live CDC Demo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PostgreSQL simulator running → watch rows appear in bronze.inventory_positions in real-time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Make a manual UPDATE in PostgreSQL → show CDC propagating through Bronze → Silver → Gold in under 60 seconds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Highlight pipeline status in the Qlik Cloud Integration hub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600200"/>
          </a:xfrm>
          <a:prstGeom prst="roundRect">
            <a:avLst>
              <a:gd name="adj" fmla="val 5714"/>
            </a:avLst>
          </a:prstGeom>
          <a:solidFill>
            <a:srgbClr val="E0F8F7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Lakehouse Walk-Through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Navigate Open Lakehouse → show the Bronze/Silver/Gold tier structure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Table Recipe (e.g., gold.supply_chain_health) → show how Gold tables are defined from Silver inputs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Flow Route 2 (Inventory Reconciliation) in Pipeline Designer — the 'phantom inventory' detection logic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22960" y="3621024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Pipelines as code: the whole project is declarative YAML — API import, daily schedules, git round-trip (QTCP preview)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>
              <a:alpha val="85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Governance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Trust, transparency, and quality at every layer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088136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Data Products for Analytics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Governed, curated datasets with ownership, quality signals, and API access — the foundation of trusted analytics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377440"/>
                <a:gridCol w="1645920"/>
                <a:gridCol w="1645920"/>
                <a:gridCol w="23774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Product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Refresh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API Shared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Health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Henrik Jansen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Daily 06:00 UTC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4.5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Last Mile Performance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Sophie Muller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Daily 06:00 UTC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4.2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4754880"/>
            <a:ext cx="11247120" cy="594360"/>
          </a:xfrm>
          <a:prstGeom prst="roundRect">
            <a:avLst>
              <a:gd name="adj" fmla="val 12308"/>
            </a:avLst>
          </a:prstGeom>
          <a:solidFill>
            <a:srgbClr val="E0F5EA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480060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are the governed contract between data producers and consumers — ownership, quality, freshness, and access all in one place.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 &amp; Impact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 field-level lineage and downstream dependency analysis across the entire data estate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Visual field-level lineage graphs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606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Source → Transformation → App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Cross-system traceability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flow route integration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31520" y="4114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content lineage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4617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PostgreSQL → Bronze → Silver → Gold → App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Analysis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58368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Downstream dependency maps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583680" y="2606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"What if I change this field?"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Affected apps, tasks, datasets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58368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Change risk assessment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583680" y="4114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experiment dependencies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583680" y="4617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silver.inventory_reconciled → 3 Gold + 2 apps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&amp; Data Profiling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Quantified data quality at every layer — from raw ingestion to AI consumption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Trust Score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Aggregated quality score (0-5) across dimensions: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2194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Validity: 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468880" y="21945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values within expected ranges?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54203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Completeness: 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468880" y="254203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required fields populated?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2889504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Discoverability: 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468880" y="2889504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metadata documented?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" y="323697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Usage: 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468880" y="323697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the data actively consumed?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" y="358444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AI-Specific: 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468880" y="35844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Accuracy, Diversity, Timeliness (new)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21792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Profiling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640080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Automated statistical analysis of datasets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Column-level quality metrics &amp; distributions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Pattern detection (e.g., truncated addresses)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Null/blank/outlier identification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Supports SQL DBs, CSV, XLSX, Snowflake, Iceberg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384048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use: Profile bronze.contacts_raw → show 11% format issues, 6% truncation at 30 chars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Stewardship — Human-in-the-Loop Data Quality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Crowdsource data corrections to domain experts with tracked sprints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743200"/>
                <a:gridCol w="2560320"/>
                <a:gridCol w="2103120"/>
                <a:gridCol w="18288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Sprint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Source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Filter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Cleanup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mcg_sf_address_validate_bulk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 GPS resolved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silver.suppliers_deduped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confidence &lt; 0.9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Procurement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Missing Weights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silver.products_harmonized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weight_kg IS NULL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Lot Number Compliance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silver.inventory_reconciled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perishable AND lot IS NULL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 &amp; Data Security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standardized terms across 5 categories: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Inventory &amp; Warehouse (Phantom Inventory, IRA, Cycle Count, ...)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Supply Chain &amp; Logistics (WISMO, SLA Breach, Cold Chain, ...)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Quality &amp; Governance (Trust Score, Data Lineage, ...)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Compliance &amp; Regulatory (Lot Traceability, NVWA, Recall, ...)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Operations (Fill Rate, OTIF, Carrier SLA, ...)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9319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term links to data products, datasets, and nightmare scenarios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1920240"/>
          </a:xfrm>
          <a:prstGeom prst="roundRect">
            <a:avLst>
              <a:gd name="adj" fmla="val 5714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Access [NEW]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400800" y="16002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Row-level + column-level data reduction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Based on USER.EMAIL, USERID, groups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20370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Regional VPs see only their DCs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50545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Carrier partners see only their shipments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17920" y="3108960"/>
            <a:ext cx="5486400" cy="2011680"/>
          </a:xfrm>
          <a:prstGeom prst="roundRect">
            <a:avLst>
              <a:gd name="adj" fmla="val 5455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0" y="32004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Marketplace [NEW]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6400800" y="37033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Self-service portal for data product discovery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400507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users browse &amp; request access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430682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Governed access with approval workflows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460857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Reduces shadow data / rogue spreadsheets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491032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Analysts find gold.supply_chain_health without asking IT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Data Products Walk-Through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Data Products catalog → show both products with owners, Trust Scores, SLAs, API sharing status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'API Sharing' on Supply Chain Health → copy the endpoint → run a curl command to fetch live data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Marketplace → demonstrate self-service data discovery for business users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Lineage + Impact Analysis + Trust Score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gold.supply_chain_health → Lineage view → trace field-level path from PostgreSQL → Bronze → Silver → Gold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Impact Analysis → show which apps, reports, and ML models depend on this data product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Trust Score on gold.last_mile_performance → highlight Validity (4.5), Completeness (4.2), Discoverability (5.0)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Stewardship + Glossary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Address Cleanup sprint → show the steward's queue (rows the bulk geocoder could not resolve to GPS)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'Phantom Inventory' glossary term → show definition, owner, linked datasets, related nightmares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>
              <a:alpha val="85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stale PowerPoints to real-time, interactive, AI-assisted insights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088136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— 2 Domain Apps (10 Sheets)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dashboards connected to Gold-layer data products with associative exploration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5760720"/>
                <a:gridCol w="22860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Dashboard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Key Focus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Operations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sheets: Inventory accuracy, cold chain monitoring, quality, compliance, cost impact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#1, #3, #4, #6, 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Delivery &amp; Customer Exp.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sheets: Last mile performance, order tracking, WISMO analysis, carrier SLAs, addresses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#2, #5, 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Engine &amp; Intelligent Insights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Qlik Associative Engine — the foundation powering every dashboard, calculation, and AI interaction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Associative Engine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In-memory associative data model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3152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Green/white/gray selection states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3152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Set analysis for complex calculations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3152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Cross-source data associations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3152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No pre-defined drill paths or queries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3152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Select Rotterdam → all charts update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29768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38912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20" name="Text 17"/>
          <p:cNvSpPr/>
          <p:nvPr/>
        </p:nvSpPr>
        <p:spPr>
          <a:xfrm>
            <a:off x="438912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Natural Language Insights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457200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Auto-generated narrative summaries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Trend, outlier, and driver detection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57200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Linked directly to chart selections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57200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Plain-English explanations of data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457200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Updated Nov 2025: chart-linked NLI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57200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NLI on Supply Chain Health app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813816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22960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29" name="Text 26"/>
          <p:cNvSpPr/>
          <p:nvPr/>
        </p:nvSpPr>
        <p:spPr>
          <a:xfrm>
            <a:off x="822960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Logic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841248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Logical Model defines relationships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841248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Vocabulary maps business terms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41248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Guides analytics + AI behavior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841248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Calendar &amp; geographic hierarchies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841248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Measure definitions &amp; formatting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841248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"phantom" → inventory_accuracy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</p:sp>
      <p:sp>
        <p:nvSpPr>
          <p:cNvPr id="37" name="Text 34"/>
          <p:cNvSpPr/>
          <p:nvPr/>
        </p:nvSpPr>
        <p:spPr>
          <a:xfrm>
            <a:off x="731520" y="571500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Story 4 — AI &amp; Outcomes: The Agentic Analytics experience layers conversational AI and Qlik Answers on top of this engine. See the full agentic demo flow in Story 4.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Alerting, Reporting &amp; Subscriptions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 Data Alerts [NEW]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Condition-based alerts on data reload or schedule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Compare against values, measures, or last evaluation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Web, push, and email notification channels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Shareable alerts across teams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IRA drops below 85% for any DC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WISMO rate exceeds 40% for a carrier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1792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Reporting Service [NEW]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40080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PixelPerfect: Banded PDF reports (replaces NPrinting)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Tabular Reports: Excel-based export templates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On-Demand: User sets selections → downloads report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Subscriptions: Scheduled email delivery of charts/sheets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Weekly compliance report to regulatory affairs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Daily inventory summary emailed to DC managers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Automations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No-code automation designer for scheduled reloads, alerts, and cross-system workflows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3840480"/>
          </a:xfrm>
          <a:prstGeom prst="roundRect">
            <a:avLst>
              <a:gd name="adj" fmla="val 285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4630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Block-based automation designer (no code)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31520" y="19202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Daily App Reload (06:00 UTC)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31520" y="23774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Cold Chain Alert → Teams (every 5 min)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31520" y="28346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Pipeline Health Summary → Teams (07:00 UTC)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31520" y="32918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Stewardship Sprint Summary → daily digest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31520" y="37490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Webhook triggers for external events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31520" y="42062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100+ connector blocks (Teams, Slack, SMTP, REST, ...)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57200" y="402336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E0F8F7"/>
          </a:solidFill>
          <a:ln/>
        </p:spPr>
      </p:sp>
      <p:sp>
        <p:nvSpPr>
          <p:cNvPr id="18" name="Text 15"/>
          <p:cNvSpPr/>
          <p:nvPr/>
        </p:nvSpPr>
        <p:spPr>
          <a:xfrm>
            <a:off x="731520" y="40690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Themes &amp; Extensions: Apply MCG branding (Navy #1B2A4A, Teal #0D7C8F, Gold #C4922E, Calibri font) as a tenant-level theme. Import custom visualization extensions for specialized supply chain charts.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Analytics Dashboard Tour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Supply Chain Health → show Rotterdam DC's IRA at 74%, drill into phantom inventory by SKU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Cold Chain Monitoring → show live temperature exceedances on São Paulo→Buenos Aires route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Switch to Executive Cost Impact → C-level view of $127M broken down by nightmare category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Analytics Engine &amp; NLI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associative selections: click Rotterdam DC → green/white/gray state across all charts instantly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NLI object on Supply Chain Health → auto-generated narrative explaining IRA trend and key drivers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Business Logic: Logical Model vocabulary mapping 'phantom' → inventory_accuracy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8F7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Alerting + Reporting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 native alert: IRA &lt; 85% for DC-RTD-01 → triggered, sent via email and push notification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subscription: weekly compliance PDF emailed to regulatory team every Monday 08:00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>
              <a:alpha val="85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&amp; Outcomes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reactive dashboards to proactive, conversational, agentic intelligence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088136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— Unified AI Experience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single conversational AI that queries data, reads documents, and reasons across both — now GA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Conversational Analytics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Ask questions in natural language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engine powers governed answers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Auto-generates visualizations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"Show IRA by DC"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29768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8912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8" name="Text 15"/>
          <p:cNvSpPr/>
          <p:nvPr/>
        </p:nvSpPr>
        <p:spPr>
          <a:xfrm>
            <a:off x="438912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Reasoning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57200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Chain-of-thought multi-step logic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57200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Blends structured + unstructured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7200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Citations &amp; explainability built in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"Why did Rotterdam IRA drop?"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813816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22960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25" name="Text 22"/>
          <p:cNvSpPr/>
          <p:nvPr/>
        </p:nvSpPr>
        <p:spPr>
          <a:xfrm>
            <a:off x="822960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 Intelligence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41248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25 MCG operational documents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41248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SOPs, contracts, incident reports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841248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Cross-document reasoning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41248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"What is Project Qlarity?"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57200" y="448056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452628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Qlik Answers agentic experience is now GA — replaces legacy Insight Advisor with unified conversational AI across data and documents.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457200" y="512064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8F7"/>
          </a:solidFill>
          <a:ln/>
        </p:spPr>
      </p:sp>
      <p:sp>
        <p:nvSpPr>
          <p:cNvPr id="33" name="Text 30"/>
          <p:cNvSpPr/>
          <p:nvPr/>
        </p:nvSpPr>
        <p:spPr>
          <a:xfrm>
            <a:off x="731520" y="516636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Powered by the Qlik Associative Engine &amp; Business Logic from Story 3 — Analytics. The engine provides governed calculations; Agentic Analytics adds conversational reasoning on top.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— AutoML for Supply Chain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Train, deploy, and share ML models without code — predictions served via API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Cold Chain Exceedance  (Classification)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3152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01168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silver.iot_normalized (Open Lakehouse)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3152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01168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alert_flag (Y/N)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3152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01168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temperature_c, humidity_pct, battery_level_pct, battery_low, gps_gap, shock_detected, route_id, warehouse_id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152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01168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which São Paulo→Buenos Aires readings will breach the cold chain before product spoils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152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01168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#6 (Carrier Black Hole)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24" name="Text 21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Late Delivery Predictor  (Classification)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58368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86384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silver.order_delivery_timeline (Open Lakehouse)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58368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786384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delivered_late (Y/N)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58368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786384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carrier_code, fulfillment_method, tracking_missing, delivery_attempts, exception_code, order_date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58368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86384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at ship time which orders will deliver late — enable proactive customer notification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658368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786384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 / #6 (tracking gaps + carrier reclassification)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— Document Intelligence &amp; Knowledge Base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AI that answers questions from 25 MCG operational documents with citations and reasoning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0292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37160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Base: 25 Documents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5 SOPs (warehouse, cold chain, returns, ...)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0080" y="2075688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3 Carrier contracts (NinjaVan, FedEx, DPD)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40080" y="2322576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4 Policies (cold chain, data governance, ...)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0080" y="2569464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Purchase orders + 2 Supplier comms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40080" y="2816352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Incident reports + 1 Recall notice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0080" y="3063240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Training docs + 1 Meeting minutes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" y="3310128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 Compliance plan + 1 Project brief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760720" y="1280160"/>
            <a:ext cx="59436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0" y="1371600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Scenarios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5943600" y="18288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the goods receiving procedure?"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875520" y="1828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SOP-WH-001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943600" y="217627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happened at Rotterdam in September?"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875520" y="217627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INC-2025-04872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943600" y="2523744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are cold chain temp requirements?"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875520" y="2523744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SOP-SC-002, MCG-POL-012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943600" y="2871216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Project Qlarity?"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875520" y="2871216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PROJ-CLARITY-2025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943600" y="3218688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caused the lettuce recall?"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9875520" y="321868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RCL-2025-003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3840480"/>
            <a:ext cx="11247120" cy="640080"/>
          </a:xfrm>
          <a:prstGeom prst="roundRect">
            <a:avLst>
              <a:gd name="adj" fmla="val 11429"/>
            </a:avLst>
          </a:prstGeom>
          <a:solidFill>
            <a:srgbClr val="E0F5EA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3886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Mart: Automate the RAG pipeline — structured-to-document transformation, vectorization, and incremental loading to vector stores. Keeps Qlik Answers grounded in fresh data.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 &amp; MCP Server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AI that monitors data products for anomalies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Monitors gold-layer data products continuously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Detects: Trust Score drops, sync lag, volume anomalies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scenario: TransFrio spoilage detection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Alert thresholds: Trust &lt; 0.70, Lag &gt; 60 min, Volume ±50%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Links to dashboards, contracts, incident reports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"Temp exceedance on GRU-BA route. Spoilage up 4x."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"12 active shipments at risk. Est. $180K exposure."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1792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MCP Server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40080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 AI agents (Claude, GPT) directly to Qlik data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40080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Cloud-hosted SSE endpoint: &lt;tenant&gt;/api/ai/mcp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71 tools: App Discovery, Lineage, Data Products, Glossary...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Query data products via natural language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40080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Works with Claude Desktop, Claude Code, others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"What is IRA at Rotterdam DC?"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Response: "74%, 847 phantom units, 143 SKUs"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Root cause: "Silent pipeline failure (INC-2025-04872)"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475488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</p:sp>
      <p:sp>
        <p:nvSpPr>
          <p:cNvPr id="29" name="Text 26"/>
          <p:cNvSpPr/>
          <p:nvPr/>
        </p:nvSpPr>
        <p:spPr>
          <a:xfrm>
            <a:off x="731520" y="480060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tools integrate with the Agentic Analytics experience (see slide above) — Discovery Agent proactively surfaces issues; MCP enables external AI agents to query Qlik data directly.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Declarative Pipelines &amp; the VS Code Template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build side of AI: one underlying pipeline YAML — editable visually, programmatically, or with an AI coding agent — on a single path from raw data to a trusted, AI-ready data product.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325880"/>
            <a:ext cx="3566160" cy="2240280"/>
          </a:xfrm>
          <a:prstGeom prst="roundRect">
            <a:avLst>
              <a:gd name="adj" fmla="val 4898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417320"/>
            <a:ext cx="3383280" cy="502920"/>
          </a:xfrm>
          <a:prstGeom prst="roundRect">
            <a:avLst>
              <a:gd name="adj" fmla="val 10909"/>
            </a:avLst>
          </a:prstGeom>
          <a:solidFill>
            <a:srgbClr val="006580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41732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 (UI)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05740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Talend Cloud pipeline canvas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31520" y="242316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Point-and-click transforms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31520" y="27889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Business-user friendly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297680" y="1325880"/>
            <a:ext cx="3566160" cy="2240280"/>
          </a:xfrm>
          <a:prstGeom prst="roundRect">
            <a:avLst>
              <a:gd name="adj" fmla="val 4898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389120" y="1417320"/>
            <a:ext cx="3383280" cy="502920"/>
          </a:xfrm>
          <a:prstGeom prst="roundRect">
            <a:avLst>
              <a:gd name="adj" fmla="val 10909"/>
            </a:avLst>
          </a:prstGeom>
          <a:solidFill>
            <a:srgbClr val="19416C"/>
          </a:solidFill>
          <a:ln/>
        </p:spPr>
      </p:sp>
      <p:sp>
        <p:nvSpPr>
          <p:cNvPr id="17" name="Text 14"/>
          <p:cNvSpPr/>
          <p:nvPr/>
        </p:nvSpPr>
        <p:spPr>
          <a:xfrm>
            <a:off x="4389120" y="141732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Code (IDE)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4572000" y="205740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Declarative YAML definition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4572000" y="242316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VS Code + third-party IDEs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4572000" y="27889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Git version control + CI/CD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4572000" y="31546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Export / import, schema-validated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138160" y="1325880"/>
            <a:ext cx="3566160" cy="2240280"/>
          </a:xfrm>
          <a:prstGeom prst="roundRect">
            <a:avLst>
              <a:gd name="adj" fmla="val 4898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229600" y="1417320"/>
            <a:ext cx="3383280" cy="502920"/>
          </a:xfrm>
          <a:prstGeom prst="roundRect">
            <a:avLst>
              <a:gd name="adj" fmla="val 10909"/>
            </a:avLst>
          </a:prstGeom>
          <a:solidFill>
            <a:srgbClr val="4CB393"/>
          </a:solidFill>
          <a:ln/>
        </p:spPr>
      </p:sp>
      <p:sp>
        <p:nvSpPr>
          <p:cNvPr id="24" name="Text 21"/>
          <p:cNvSpPr/>
          <p:nvPr/>
        </p:nvSpPr>
        <p:spPr>
          <a:xfrm>
            <a:off x="8229600" y="141732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(AI)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8412480" y="205740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AI coding agent authors the YAML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8412480" y="242316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"Agent-friendly" schema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8412480" y="27889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Prompt → Generate → Validate → Review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8412480" y="31546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Developer approves every change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457200" y="3703320"/>
            <a:ext cx="11247120" cy="1417320"/>
          </a:xfrm>
          <a:prstGeom prst="roundRect">
            <a:avLst>
              <a:gd name="adj" fmla="val 6452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0080" y="3767328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today — the whole pipeline is code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640080" y="4133088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QTCP DATA_PIPELINE projects on Open Lakehouse — mcg-batch-pipeline (4 tasks) + mcg-streaming-pipeline (2 tasks) = 6 tasks authored as YAML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40080" y="4462272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Shipped as a VS Code template: deploy/pipelines/ with .vscode/settings.json, CLAUDE.md, .github/copilot-instructions.md per project (schema kit via "npm run pipeline:template")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640080" y="4791456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Demo edit: change "MCG CRM Landing" schedule FREQ=MINUTELY;INTERVAL=15 → INTERVAL=30 — a one-line git diff, then Apply-from-Remote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457200" y="521208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5EA"/>
          </a:solidFill>
          <a:ln/>
        </p:spPr>
      </p:sp>
      <p:sp>
        <p:nvSpPr>
          <p:cNvPr id="35" name="Text 32"/>
          <p:cNvSpPr/>
          <p:nvPr/>
        </p:nvSpPr>
        <p:spPr>
          <a:xfrm>
            <a:off x="640080" y="5239512"/>
            <a:ext cx="10881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Human-in-the-loop from raw → trusted: design in IDE + agent → Git / CI-CD deploy → quality → packaging → catalog &amp; glossary → AI-ready output with trust scores.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457200" y="576072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37" name="Text 34"/>
          <p:cNvSpPr/>
          <p:nvPr/>
        </p:nvSpPr>
        <p:spPr>
          <a:xfrm>
            <a:off x="640080" y="5788152"/>
            <a:ext cx="10881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Preview / roadmap: Qlik declarative-pipeline tooling is a Qlik internal preview (June 2026). Forward-looking — capabilities and timing may change.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Governance Agents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conversational agents keep human expertise in the loop while packaging, validating, and cataloging data — Qlik frames these as Qlik Answers capabilities, not separate products.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325880"/>
            <a:ext cx="3566160" cy="3383280"/>
          </a:xfrm>
          <a:prstGeom prst="roundRect">
            <a:avLst>
              <a:gd name="adj" fmla="val 3243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417320"/>
            <a:ext cx="3383280" cy="685800"/>
          </a:xfrm>
          <a:prstGeom prst="roundRect">
            <a:avLst>
              <a:gd name="adj" fmla="val 8000"/>
            </a:avLst>
          </a:prstGeom>
          <a:solidFill>
            <a:srgbClr val="4CB393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1417320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 Agent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31520" y="2286000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Create &amp; manage data products by chat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31520" y="2852928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CRUD + conversational discovery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31520" y="3419856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Review &amp; improve quality / completeness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31520" y="3986784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package Supply Chain Health &amp; Last Mile Performance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297680" y="1325880"/>
            <a:ext cx="3566160" cy="3383280"/>
          </a:xfrm>
          <a:prstGeom prst="roundRect">
            <a:avLst>
              <a:gd name="adj" fmla="val 3243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89120" y="1417320"/>
            <a:ext cx="3383280" cy="685800"/>
          </a:xfrm>
          <a:prstGeom prst="roundRect">
            <a:avLst>
              <a:gd name="adj" fmla="val 8000"/>
            </a:avLst>
          </a:prstGeom>
          <a:solidFill>
            <a:srgbClr val="006580"/>
          </a:solidFill>
          <a:ln/>
        </p:spPr>
      </p:sp>
      <p:sp>
        <p:nvSpPr>
          <p:cNvPr id="18" name="Text 15"/>
          <p:cNvSpPr/>
          <p:nvPr/>
        </p:nvSpPr>
        <p:spPr>
          <a:xfrm>
            <a:off x="4480560" y="1417320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Agent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572000" y="2286000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Helps stewards define &amp; enforce DQ rules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4572000" y="2852928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Assess quality across datasets by chat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572000" y="3419856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Create / map rules, run DQ metrics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0" y="3986784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rules on silver.addresses_standardized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8138160" y="1325880"/>
            <a:ext cx="3566160" cy="3383280"/>
          </a:xfrm>
          <a:prstGeom prst="roundRect">
            <a:avLst>
              <a:gd name="adj" fmla="val 3243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229600" y="1417320"/>
            <a:ext cx="3383280" cy="685800"/>
          </a:xfrm>
          <a:prstGeom prst="roundRect">
            <a:avLst>
              <a:gd name="adj" fmla="val 8000"/>
            </a:avLst>
          </a:prstGeom>
          <a:solidFill>
            <a:srgbClr val="19416C"/>
          </a:solidFill>
          <a:ln/>
        </p:spPr>
      </p:sp>
      <p:sp>
        <p:nvSpPr>
          <p:cNvPr id="25" name="Text 22"/>
          <p:cNvSpPr/>
          <p:nvPr/>
        </p:nvSpPr>
        <p:spPr>
          <a:xfrm>
            <a:off x="8321040" y="1417320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Catalog &amp; Business Glossary Agent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8412480" y="2286000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NL queries over Qlik Cloud Catalog metadata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412480" y="2852928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Generate glossaries from apps, data products, a domain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8412480" y="3419856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Standardize terms &amp; synonyms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8412480" y="3986784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extend the 25-term business glossary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</p:spPr>
      </p:sp>
      <p:sp>
        <p:nvSpPr>
          <p:cNvPr id="31" name="Text 28"/>
          <p:cNvSpPr/>
          <p:nvPr/>
        </p:nvSpPr>
        <p:spPr>
          <a:xfrm>
            <a:off x="640080" y="4956048"/>
            <a:ext cx="108813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Human-in-the-loop by design: agent-generated glossary terms land as DRAFT and require human review before they become official. These are Qlik Answers capabilities, not standalone products — they bridge business and technical users.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Agentic Routes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AI-native workflows inside pipeline tasks — call LLMs, build RAG pipelines, and orchestrate agents, with MCP client support.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25880"/>
            <a:ext cx="3383280" cy="502920"/>
          </a:xfrm>
          <a:prstGeom prst="roundRect">
            <a:avLst>
              <a:gd name="adj" fmla="val 10909"/>
            </a:avLst>
          </a:prstGeom>
          <a:solidFill>
            <a:srgbClr val="006580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2588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LLM integration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31520" y="196596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Call LLMs from data tasks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31520" y="251460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Cloud: OpenAI, Anthropic Claude, Google Gemini, Amazon Bedrock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31520" y="306324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On-prem: Ollama, Mistral, Gemma 3, Phi 4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31520" y="361188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Sentiment, entity extraction, classification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297680" y="123444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89120" y="1325880"/>
            <a:ext cx="3383280" cy="502920"/>
          </a:xfrm>
          <a:prstGeom prst="roundRect">
            <a:avLst>
              <a:gd name="adj" fmla="val 10909"/>
            </a:avLst>
          </a:prstGeom>
          <a:solidFill>
            <a:srgbClr val="19416C"/>
          </a:solidFill>
          <a:ln/>
        </p:spPr>
      </p:sp>
      <p:sp>
        <p:nvSpPr>
          <p:cNvPr id="18" name="Text 15"/>
          <p:cNvSpPr/>
          <p:nvPr/>
        </p:nvSpPr>
        <p:spPr>
          <a:xfrm>
            <a:off x="4389120" y="132588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RAG pipelines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572000" y="196596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Build retrieval-augmented pipelines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4572000" y="251460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Vector targets: Pinecone, MongoDB, Snowflake, Databricks, Milvus, Oracle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4572000" y="306324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AI-assisted data quality in-task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138160" y="123444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229600" y="1325880"/>
            <a:ext cx="3383280" cy="502920"/>
          </a:xfrm>
          <a:prstGeom prst="roundRect">
            <a:avLst>
              <a:gd name="adj" fmla="val 10909"/>
            </a:avLst>
          </a:prstGeom>
          <a:solidFill>
            <a:srgbClr val="4CB393"/>
          </a:solidFill>
          <a:ln/>
        </p:spPr>
      </p:sp>
      <p:sp>
        <p:nvSpPr>
          <p:cNvPr id="24" name="Text 21"/>
          <p:cNvSpPr/>
          <p:nvPr/>
        </p:nvSpPr>
        <p:spPr>
          <a:xfrm>
            <a:off x="8229600" y="132588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orchestration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8412480" y="196596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Event-driven agent orchestration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8412480" y="251460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Conversational AI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8412480" y="306324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Extensible tools + MCP client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457200" y="4389120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40080" y="4453128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surface — the Salesforce address job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640080" y="47548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Today's Talend job repairs and scores every Salesforce address, bulk-geocodes the batch against OSM Nominatim, and routes on one gate — GPS resolved goes to Iceberg, the rest to a Qlik Stewardship sprint. An agentic route adds an LLM-assisted correction step inside the same job, before the record ever reaches that queue.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544068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32" name="Text 29"/>
          <p:cNvSpPr/>
          <p:nvPr/>
        </p:nvSpPr>
        <p:spPr>
          <a:xfrm>
            <a:off x="640080" y="5468112"/>
            <a:ext cx="10881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Forward-looking: agentic-engineering capabilities are emerging across Qlik Talend Cloud; MCP-server tooling is in Qlik preview (June 2026). Timing and scope may change.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Agentic Analytics Experience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Qlik Answers → ask: "Which distribution centers have the lowest inventory accuracy?" → data agent queries Qlik Analytics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Follow up: "What happened at Rotterdam in September?" → document agent pulls INC-2025-04872 with citations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Ask: "What does Project Qlarity propose to fix this?" → chain-of-thought reasoning across data + documents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Predict Live Demo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the Cold Chain Exceedance experiment → show training report, feature importance (temperature_c #1, battery_low #2)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Run a prediction on a live GRU-BA reading: 11.2°C, battery 9% → 78% exceedance probability — the TransFrio story in one number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prediction API endpoint → demonstrate external system consuming predictions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Discovery Agent Scenario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Discovery Agent alert: spoilage rate on GRU-BA route spiked 2.1% → 8.8% after fleet change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Agent links to: cold chain dashboard, TransFrio carrier contract, incident report INC-2025-05102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93776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983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MCP Server Demo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822960" y="52578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In Claude Desktop: "What is the current inventory accuracy at Rotterdam DC?"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22960" y="55504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Claude queries gold.supply_chain_health via MCP → returns: 74% IRA, 847 phantom units, root cause analysis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>
              <a:alpha val="85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 to Add to Demo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capabilities not yet in the checklist — recommended additions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088136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 Features — Prioritized Additions</a:t>
            </a:r>
            <a:endParaRPr lang="en-US" sz="26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116128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657600"/>
                <a:gridCol w="2011680"/>
                <a:gridCol w="47548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Priority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Feature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Effort to Add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Lineage + Impact Analysis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auto-populated from existing data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 + Data Profiling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Gold-layer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Native Data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create 2-3 condition-based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Reporting Service + Subscriptions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build 1-2 report templates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Section Access (Row-Level Security)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for regional VP views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Business Logic / Logical Model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define in app settings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Knowledge Mart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 &amp; Outcomes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RAG pipeline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 MCG Theme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upload JSON theme file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Marketplace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data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024128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600" dirty="0"/>
          </a:p>
        </p:txBody>
      </p:sp>
      <p:sp>
        <p:nvSpPr>
          <p:cNvPr id="5" name="Text 1"/>
          <p:cNvSpPr/>
          <p:nvPr/>
        </p:nvSpPr>
        <p:spPr>
          <a:xfrm>
            <a:off x="457200" y="201168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Platform.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Stories.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 Data Intelligence.</a:t>
            </a:r>
            <a:endParaRPr lang="en-US" sz="3000" dirty="0"/>
          </a:p>
        </p:txBody>
      </p:sp>
      <p:sp>
        <p:nvSpPr>
          <p:cNvPr id="6" name="Shape 2"/>
          <p:cNvSpPr/>
          <p:nvPr/>
        </p:nvSpPr>
        <p:spPr>
          <a:xfrm>
            <a:off x="4572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4572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Data Sources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237744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37744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2800" dirty="0"/>
          </a:p>
        </p:txBody>
      </p:sp>
      <p:sp>
        <p:nvSpPr>
          <p:cNvPr id="11" name="Text 7"/>
          <p:cNvSpPr/>
          <p:nvPr/>
        </p:nvSpPr>
        <p:spPr>
          <a:xfrm>
            <a:off x="237744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Lakehouse Tables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429768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29768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429768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21792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21792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21792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Sheets (2 Apps)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813816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13816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813816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Models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100584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00584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2800" dirty="0"/>
          </a:p>
        </p:txBody>
      </p:sp>
      <p:sp>
        <p:nvSpPr>
          <p:cNvPr id="23" name="Text 19"/>
          <p:cNvSpPr/>
          <p:nvPr/>
        </p:nvSpPr>
        <p:spPr>
          <a:xfrm>
            <a:off x="100584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KB Documents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457200" y="49834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Plus build-side AI — pipelines as code, governance agents, and agentic data engineering (preview)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457200" y="5303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 •  Full Stack  •  Integrations  •  Governance  •  Analytics  •  AI &amp; Outcomes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 Console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48640" y="7498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repository, one command - or 11 guided steps.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344168" y="1133856"/>
            <a:ext cx="7754112" cy="4901184"/>
          </a:xfrm>
          <a:prstGeom prst="roundRect">
            <a:avLst>
              <a:gd name="adj" fmla="val 746"/>
            </a:avLst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18000"/>
              </a:srgbClr>
            </a:outerShdw>
          </a:effectLst>
        </p:spPr>
      </p:sp>
      <p:pic>
        <p:nvPicPr>
          <p:cNvPr id="10" name="Image 1" descr="C:\Claude\MCG Full Stack\generators\assets\screenshots\deploy-ui-wiz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07008"/>
            <a:ext cx="7607808" cy="47548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44168" y="6089904"/>
            <a:ext cx="775411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MCG deploy console — 11 setup steps, Stewardship at step 11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Qlik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Qlarity — MCG Qlik Cloud Demo — Four Stories</dc:title>
  <dc:subject>PptxGenJS Presentation</dc:subject>
  <dc:creator>Qlik</dc:creator>
  <cp:lastModifiedBy>Qlik</cp:lastModifiedBy>
  <cp:revision>1</cp:revision>
  <dcterms:created xsi:type="dcterms:W3CDTF">2026-08-27T22:56:17Z</dcterms:created>
  <dcterms:modified xsi:type="dcterms:W3CDTF">2026-08-27T22:56:17Z</dcterms:modified>
</cp:coreProperties>
</file>