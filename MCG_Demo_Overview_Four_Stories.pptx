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210312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Demo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457200" y="36576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  •  Governance  •  Analytics  •  AI &amp; Outcomes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4297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trusted, AI-ready data platform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743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7"/>
          <p:cNvSpPr/>
          <p:nvPr/>
        </p:nvSpPr>
        <p:spPr>
          <a:xfrm>
            <a:off x="2743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029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029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315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315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Agenda — Four Stories, One Platform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188720" y="10058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188720" y="1417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CDC, Kafka streaming, Salesforce → Open Lakehouse (Bronze/Silver/Gold)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1783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Data Flows • Table Recipes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188720" y="23774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188720" y="2788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Products, Lineage, Impact Analysis, Trust Score, Data Profiling, Stewardship Campaigns, Business Glossary, Data Marketplace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188720" y="31546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• Lineage • Impact Analysis • Trust Score • Profiling • Stewardship • Glossary • Data Marketplace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8862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188720" y="37490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188720" y="4160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dashboards, Analytics Engine (associative model), Natural Language Insights, Business Logic, native alerting, reporting &amp; subscriptions, automations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88720" y="45262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• Analytics Engine • Associative Model • NLI • Business Logic • Alerting • Reporting • Automations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57200" y="5257800"/>
            <a:ext cx="548640" cy="548640"/>
          </a:xfrm>
          <a:prstGeom prst="ellipse">
            <a:avLst/>
          </a:prstGeom>
          <a:solidFill>
            <a:srgbClr val="4CB393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5257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188720" y="5120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1188720" y="5532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(unified conversational AI), Qlik Answers (data + documents), Qlik Predict (AutoML), Discovery Agent, MCP Server, Knowledge Mart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188720" y="5897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• Qlik Answers • Predict • Discovery Agent • MCP • Knowledge Mart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unified, real-time data fabric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&amp; Connectivity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live data sources feeding the Qlik Open Lakehouse in real-time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3533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0" y="135331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via Qlik Cloud Connector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103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Change Data Capture, logical replication, sub-second latency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78892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28620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28620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via Kafka Connector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 • mcg.iot.carrier-events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" y="3611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IoT telemetry from cold chain sensors + carrier GPS/status events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9768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4370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(CRM)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029200" y="437083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(15 min)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1520" y="4754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 • MCG_Order__c • MCG_Product__c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31520" y="5120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addresses, orders, product master — with intentional data quality issues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25" name="Text 22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Tip: Run all 3 simulators before the demo. Data flows into Bronze within seconds (PostgreSQL, Kafka) or 15 min (Salesforce).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Bronze / Silver / Gold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Medallion architecture with automated data flows and table recipes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4173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560320" y="14173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  (8 tables)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196596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 • sf_contacts • sf_orders • sf_products • iot_cold_chain • iot_carrier_events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669280" y="2651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" y="297180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9718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56032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Cleaned &amp; Transformed  (8 tables)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" y="3520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warehouse_events_clean • inventory_reconciled • addresses_standardized • products_harmonized • shipments_canonical • iot_telemetry_normalized • suppliers_deduped • order_delivery_timeline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669280" y="42062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3EAF3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" y="452628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19416C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5262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560320" y="45262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Business-Ready Data Products  (7 tables)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31520" y="50749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 • last_mile_performance • cold_chain_compliance • product_master_360 • customer_delivery_experience • compliance_readiness • operational_cost_impact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Flows — 8 Transformation Routes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Integration transforms raw data into trusted, business-ready assets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5486400"/>
                <a:gridCol w="2286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 Name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Does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Timestamp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 timezone formats → UTC standard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Reconciliation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WMS-ERP comparison, phantom detection, Trust Score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Standardization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18.4M addresses cleaned, fuzzy match,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Harmonization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8,200 SKUs missing weight/dims → enriched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Status Canonicalization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carriers × 6 languages → unified lifecycle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IoT Telemetry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sensor data → exceedance flags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Master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80 suppliers with 2-4 duplicates → clean master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Order-to-Delivery Timeline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Cross-source join → end-to-end order visibility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02920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504748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route maps directly to one of the 7 Data Quality Nightmares — show the before/after transformation live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Live CDC Demo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PostgreSQL simulator running → watch rows appear in bronze.inventory_positions in real-time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Make a manual UPDATE in PostgreSQL → show CDC propagating through Bronze → Silver → Gold in under 60 seconds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Highlight pipeline status in the Qlik Cloud Integration hub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Lakehouse Walk-Through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Navigate Open Lakehouse → show the Bronze/Silver/Gold tier structure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Table Recipe (e.g., gold.supply_chain_health) → show how Gold tables are defined from Silver inputs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Flow Route 2 (Inventory Reconciliation) in Pipeline Designer — the 'phantom inventory' detection logic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Trust, transparency, and quality at every layer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Data Products for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Governed, curated datasets with ownership, quality signals, and API access — the foundation of trusted analytics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377440"/>
                <a:gridCol w="1645920"/>
                <a:gridCol w="1645920"/>
                <a:gridCol w="23774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Product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Refresh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Shared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4.5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Sophie Muller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4.2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Compliance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4.8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360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Thomas Berger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3.9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Delivery Experience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Lisa Park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4.1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Compliance Readiness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Maria Santos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4.6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Operational Cost Impact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CFO Office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4.3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754880"/>
            <a:ext cx="11247120" cy="594360"/>
          </a:xfrm>
          <a:prstGeom prst="roundRect">
            <a:avLst>
              <a:gd name="adj" fmla="val 12308"/>
            </a:avLst>
          </a:prstGeom>
          <a:solidFill>
            <a:srgbClr val="E0F5EA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4800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are the governed contract between data producers and consumers — ownership, quality, freshness, and access all in one place.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 &amp; Impact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field-level lineage and downstream dependency analysis across the entire data estate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Visual field-level lineage graphs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Source → Transformation → App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Cross-system traceability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flow route integration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content lineage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PostgreSQL → Bronze → Silver → Gold → App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Analysis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8368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Downstream dependency maps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58368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"What if I change this field?"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Affected apps, tasks, datasets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58368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Change risk assessment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58368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experiment dependencies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58368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silver.inventory_reconciled → 3 Gold + 2 apps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&amp; Data Profiling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Quantified data quality at every layer — from raw ingestion to AI consumption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Trust Score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quality score (0-5) across dimensions: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Validity: 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468880" y="2194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values within expected ranges?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54203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Completeness: 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468880" y="2542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required fields populated?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288950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Discoverability: 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468880" y="288950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metadata documented?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2369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Usage: 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468880" y="32369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data actively consumed?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35844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AI-Specific: 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468880" y="35844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Accuracy, Diversity, Timeliness (new)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1792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Profiling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40080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Automated statistical analysis of datasets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Column-level quality metrics &amp; distributions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Pattern detection (e.g., truncated addresses)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Null/blank/outlier identification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Supports SQL DBs, QVDs, CSV, XLSX, Snowflake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384048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use: Profile bronze.contacts_raw → show 11% format issues, 6% truncation at 30 chars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— Human-in-the-Loop Data Quality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Crowdsource data corrections to domain experts with tracked campaigns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2560320"/>
                <a:gridCol w="2103120"/>
                <a:gridCol w="1828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Campaign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Source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Filter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Cleanup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silver.addresses_standardized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quality_score &lt; 0.7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silver.suppliers_deduped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confidence &lt; 0.9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Procurement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Missing Weights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silver.products_harmonized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weight_kg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Number Compliance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silver.inventory_reconciled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perishable AND lot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 &amp; Data Security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standardized terms across 5 categories: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Inventory &amp; Warehouse (Phantom Inventory, IRA, Cycle Count, ...)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Supply Chain &amp; Logistics (WISMO, SLA Breach, Cold Chain, ...)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Quality &amp; Governance (Trust Score, Data Lineage, ...)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Compliance &amp; Regulatory (Lot Traceability, NVWA, Recall, ...)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Operations (Fill Rate, OTIF, Carrier SLA, ...)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term links to data products, datasets, and nightmare scenarios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Access [NEW]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Row-level + column-level data reduction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Based on USER.EMAIL, USERID, groups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0370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Regional VPs see only their DCs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5054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Carrier partners see only their shipments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17920" y="310896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Marketplace [NEW]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400800" y="37033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Self-service portal for data product discovery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400507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users browse &amp; request access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43068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Governed access with approval workflows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460857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Reduces shadow data / rogue spreadsheets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49103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Analysts find gold.supply_chain_health without asking IT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Data Products Walk-Through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Data Products catalog → show 7 products with owners, Trust Scores, SLAs, API sharing status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'API Sharing' on Supply Chain Health → copy the endpoint → run a curl command to fetch live data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Marketplace → demonstrate self-service data discovery for business users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Lineage + Impact Analysis + Trust Score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gold.supply_chain_health → Lineage view → trace field-level path from PostgreSQL → Bronze → Silver → Gold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Impact Analysis → show which apps, reports, and ML models depend on this data product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Trust Score on gold.cold_chain_compliance → highlight Validity (4.2), Completeness (3.8), Discoverability (5.0)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Stewardship + Glossary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Address Cleanup campaign → show steward's review queue (ambiguous matches &lt; 90% confidence)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'Phantom Inventory' glossary term → show definition, owner, linked datasets, related nightmares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stale PowerPoints to real-time, interactive, AI-assisted insights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— 7 Analytics Apps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dashboards connected to Gold-layer data products with associative exploration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5760720"/>
                <a:gridCol w="22860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Key Focus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accuracy, pipeline status, DC-level KPIs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#1, 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SLAs, rejection rates, WISMO by region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Monitoring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Temperature exceedances, spoilage risk, real-time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360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SKU completeness, weight/dims gaps, supplier mapping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Delivery Experience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WISMO rates, delivery promises vs actuals, NPS impact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Compliance &amp; Recall Readiness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traceability, recall simulation, NVWA readiness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Executive Cost Impact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C-level view: $127M cost breakdown by nightmare, ROI tracking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Engine &amp; Intelligent Insights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Qlik Associative Engine — the foundation powering every dashboard, calculation, and AI interaction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Associative Engine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In-memory associative data model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3152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Green/white/gray selection states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Set analysis for complex calculations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3152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Cross-source data associations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No pre-defined drill paths or queries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152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Select Rotterdam → all charts update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29768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 Language Insights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457200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Auto-generated narrative summaries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Trend, outlier, and driver detection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Linked directly to chart selections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57200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Plain-English explanations of data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57200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Updated Nov 2025: chart-linked NLI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57200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NLI on Supply Chain Health app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13816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9" name="Text 26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Logic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841248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Logical Model defines relationships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41248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Vocabulary maps business terms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41248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Guides analytics + AI behavior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41248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Calendar &amp; geographic hierarchies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841248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Measure definitions &amp; formatting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41248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"phantom" → inventory_accuracy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37" name="Text 34"/>
          <p:cNvSpPr/>
          <p:nvPr/>
        </p:nvSpPr>
        <p:spPr>
          <a:xfrm>
            <a:off x="731520" y="57150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Story 4 — AI &amp; Outcomes: The Agentic Analytics experience layers conversational AI and Qlik Answers on top of this engine. See the full agentic demo flow in Story 4.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Alerting, Reporting &amp; Subscriptions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Data Alerts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Condition-based alerts on data reload or schedule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Compare against values, measures, or last evaluation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Web, push, and email notification channels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Shareable alerts across teams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IRA drops below 85% for any DC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WISMO rate exceeds 40% for a carrier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Reporting Service [NEW]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PixelPerfect: Banded PDF reports (replaces NPrinting)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Tabular Reports: Excel-based export templates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On-Demand: User sets selections → downloads report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Subscriptions: Scheduled email delivery of charts/sheets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Weekly compliance report to regulatory affairs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Daily inventory summary emailed to DC managers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Automations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No-code automation designer for scheduled reloads, alerts, and cross-system workflows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3840480"/>
          </a:xfrm>
          <a:prstGeom prst="roundRect">
            <a:avLst>
              <a:gd name="adj" fmla="val 285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463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Block-based automation designer (no code)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31520" y="1920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Daily App Reload (06:00 UTC)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2377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Cold Chain Alert → Teams (every 5 min)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31520" y="28346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Pipeline Health Summary → Teams (07:00 UTC)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31520" y="32918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WISMO Rate Alert → Customer Ops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3749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Webhook triggers for external events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31520" y="4206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100+ connector blocks (Teams, Slack, SMTP, REST, ...)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40233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" y="40690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Themes &amp; Extensions: Apply MCG branding (Navy #1B2A4A, Teal #0D7C8F, Gold #C4922E, Calibri font) as a tenant-level theme. Import custom visualization extensions for specialized supply chain charts.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Sense Dashboard Tour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Supply Chain Health → show Rotterdam DC's IRA at 74%, drill into phantom inventory by SKU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Cold Chain Monitoring → show live temperature exceedances on São Paulo→Buenos Aires route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Switch to Executive Cost Impact → C-level view of $127M broken down by nightmare category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Analytics Engine &amp; NLI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associative selections: click Rotterdam DC → green/white/gray state across all charts instantly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NLI object on Supply Chain Health → auto-generated narrative explaining IRA trend and key drivers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Business Logic: Logical Model vocabulary mapping 'phantom' → inventory_accuracy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Alerting + Reporting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native alert: IRA &lt; 85% for DC-RTD-01 → triggered, sent via email and push notification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subscription: weekly compliance PDF emailed to regulatory team every Monday 08:00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reactive dashboards to proactive, conversational, agentic intelligence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— Unified AI Experience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conversational AI that queries data, reads documents, and reasons across both — GA February 2026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Conversational Analytics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Ask questions in natural language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engine powers governed answers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Auto-generates visualizations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"Show IRA by DC"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9768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Reasoning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7200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Chain-of-thought multi-step logic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Blends structured + unstructured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Citations &amp; explainability built in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"Why did Rotterdam IRA drop?"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13816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 Intelligence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41248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25 MCG operational documents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41248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SOPs, contracts, incident reports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Cross-document reasoning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Project CLARITY?"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57200" y="448056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452628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Qlik Answers agentic experience reached GA in February 2026 — replaces legacy Insight Advisor with unified conversational AI across data and documents.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57200" y="512064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8F7"/>
          </a:solidFill>
          <a:ln/>
        </p:spPr>
      </p:sp>
      <p:sp>
        <p:nvSpPr>
          <p:cNvPr id="33" name="Text 30"/>
          <p:cNvSpPr/>
          <p:nvPr/>
        </p:nvSpPr>
        <p:spPr>
          <a:xfrm>
            <a:off x="731520" y="516636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Powered by the Qlik Associative Engine &amp; Business Logic from Story 3 — Analytics. The engine provides governed calculations; Agentic Analytics adds conversational reasoning on top.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AutoML for Supply Chain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Train, deploy, and share ML models without code — predictions served via API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Predictor  (Regression)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01168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gold.cold_chain_compliance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152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01168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spoilage_risk_score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3152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01168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max_temp_celsius, exceedance_minutes, humidity_avg, product_category, route_id, season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01168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São Paulo→Buenos Aires shipments will spoil before arrival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01168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(Carrier Black Hole)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SLA Predictor  (Classification)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58368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86384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gold.last_mile_performance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86384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sla_met (Y/N)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58368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86384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carrier, destination_region, address_quality_score, weight_kg, promised_sla_hours, day_of_week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86384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APAC shipments will miss SLA — enable proactive customer notification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58368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86384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(Address Catastrophe)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Document Intelligence &amp; Knowledge Base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 that answers questions from 25 MCG operational documents with citations and reasoning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0292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Base: 25 Documents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SOPs (warehouse, cold chain, returns, ...)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207568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Carrier contracts (NinjaVan, FedEx, DPD)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322576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Policies (cold chain, data governance, ...)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2569464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Purchase orders + 2 Supplier comms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080" y="2816352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Incident reports + 1 Recall notice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306324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Training docs + 1 Meeting minutes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331012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 Compliance plan + 1 Project brief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760720" y="1280160"/>
            <a:ext cx="59436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0" y="137160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Scenarios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943600" y="1828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the goods receiving procedure?"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87552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SOP-WH-001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943600" y="21762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happened at Rotterdam in September?"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875520" y="21762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INC-2025-04872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943600" y="2523744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are cold chain temp requirements?"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875520" y="252374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SOP-SC-002, MCG-POL-012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0" y="2871216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Project CLARITY?"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875520" y="287121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PROJ-CLARITY-2025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943600" y="321868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caused the lettuce recall?"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875520" y="3218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RCL-2025-003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8404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0F5EA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3886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 [NEW]: Automate the RAG pipeline — structured-to-document transformation, vectorization, and incremental loading to vector stores. Keeps Qlik Answers grounded in fresh data. GA July 2025.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 &amp; MCP Server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AI that monitors data products for anomalies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Monitors gold-layer data products continuously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Detects: Trust Score drops, sync lag, volume anomalies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scenario: TransFrio spoilage detection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Alert thresholds: Trust &lt; 0.70, Lag &gt; 60 min, Volume ±50%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Links to dashboards, contracts, incident reports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"Temp exceedance on GRU-BA route. Spoilage up 4x."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"12 active shipments at risk. Est. $180K exposure."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1792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0080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AI agents (Claude, GPT) directly to Qlik data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npx @qlik/mcp-server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Query data products via natural language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List spaces, apps, connections programmatically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Works with Claude Desktop, Claude Code, others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IRA at Rotterdam DC?"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Response: "74%, 847 phantom units, 143 SKUs"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Root cause: "Silent pipeline failure (INC-2025-04872)"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29" name="Text 26"/>
          <p:cNvSpPr/>
          <p:nvPr/>
        </p:nvSpPr>
        <p:spPr>
          <a:xfrm>
            <a:off x="731520" y="48006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tools integrate with the Agentic Analytics experience (see slide above) — Discovery Agent proactively surfaces issues; MCP enables external AI agents to query Qlik data directly.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Agentic Analytics Experience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Qlik Answers → ask: "Which distribution centers have the lowest inventory accuracy?" → data agent queries Qlik Sense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"What happened at Rotterdam in September?" → document agent pulls INC-2025-04872 with citations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does Project CLARITY propose to fix this?" → chain-of-thought reasoning across data + documents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Predict Live Demo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Spoilage Risk experiment → show training report, feature importance (temperature is #1 driver)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Run a prediction on a live shipment: São Paulo→Buenos Aires, 32°C outside temp, Correios carrier → 87% spoilage risk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prediction API endpoint → demonstrate external system consuming predictions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Discovery Agent Scenario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Discovery Agent alert: spoilage rate on GRU-BA route spiked 2.1% → 8.8% after fleet change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Agent links to: cold chain dashboard, TransFrio carrier contract, incident report INC-2025-05102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MCP Server Demo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In Claude Desktop: "What is the current inventory accuracy at Rotterdam DC?"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5504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Claude queries gold.supply_chain_health via MCP → returns: 74% IRA, 847 phantom units, root cause analysis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 to Add to Demo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capabilities not yet in the checklist — recommended additions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Features — Prioritized Additions</a:t>
            </a:r>
            <a:endParaRPr lang="en-US" sz="26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116128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657600"/>
                <a:gridCol w="2011680"/>
                <a:gridCol w="47548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Feature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Effort to Add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Lineage + Impact Analysis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auto-populated from existing data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 + Data Profiling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Gold-layer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Native Data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2-3 condition-based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Reporting Service + Subscriptions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build 1-2 report templates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Section Access (Row-Level Security)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for regional VP views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Business Logic / Logical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define in app settings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Knowledge Mart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&amp; Outcomes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RAG pipeline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MCG Theme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upload JSON theme file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Marketplace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data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201168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Platform.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Stories.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Data Intelligence.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572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Data Sources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37744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37744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2800" dirty="0"/>
          </a:p>
        </p:txBody>
      </p:sp>
      <p:sp>
        <p:nvSpPr>
          <p:cNvPr id="11" name="Text 7"/>
          <p:cNvSpPr/>
          <p:nvPr/>
        </p:nvSpPr>
        <p:spPr>
          <a:xfrm>
            <a:off x="237744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Lakehouse Tables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29768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29768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429768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21792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1792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21792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Dashboards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813816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13816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813816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Models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100584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00584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2800" dirty="0"/>
          </a:p>
        </p:txBody>
      </p:sp>
      <p:sp>
        <p:nvSpPr>
          <p:cNvPr id="23" name="Text 19"/>
          <p:cNvSpPr/>
          <p:nvPr/>
        </p:nvSpPr>
        <p:spPr>
          <a:xfrm>
            <a:off x="100584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KB Documents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457200" y="5303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 •  End-to-End Demo  •  Integrations  •  Governance  •  Analytics  •  AI &amp; Outcomes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Qlik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Qlik Cloud Demo — Four Stories</dc:title>
  <dc:subject>PptxGenJS Presentation</dc:subject>
  <dc:creator>Qlik</dc:creator>
  <cp:lastModifiedBy>Qlik</cp:lastModifiedBy>
  <cp:revision>1</cp:revision>
  <dcterms:created xsi:type="dcterms:W3CDTF">2026-02-27T20:58:36Z</dcterms:created>
  <dcterms:modified xsi:type="dcterms:W3CDTF">2026-02-27T20:58:36Z</dcterms:modified>
</cp:coreProperties>
</file>