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241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457200" y="21031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45720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·  Integrations  •  Governance  •  Analytics  •  AI &amp; Outcomes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297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47 fragmented systems to a trusted, AI-ready data platform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5120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74320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0" y="5120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0" y="5120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0" y="5120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Outcomes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 — Qlik Cloud Full Stack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887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69164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0F2F5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01368" y="11841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C:\Claude\MCG Full Stack\generators\assets\icons\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60" y="1281440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1078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423160" y="14081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— Change Data Capture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80060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0F2F5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10328" y="11841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C:\Claude\MCG Full Stack\generators\assets\icons\st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620" y="1281440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1078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 (IoT)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532120" y="14081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— Cold Chain &amp; Carrier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790956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0F2F5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19288" y="11841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2" name="Image 3" descr="C:\Claude\MCG Full Stack\generators\assets\icons\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580" y="1281440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41080" y="1078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CRM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641080" y="14081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— Contacts, Orders, Products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577840" y="1901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274320" y="265176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27" name="Text 21"/>
          <p:cNvSpPr/>
          <p:nvPr/>
        </p:nvSpPr>
        <p:spPr>
          <a:xfrm>
            <a:off x="274320" y="26517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1691640" y="2331720"/>
            <a:ext cx="9144000" cy="1234440"/>
          </a:xfrm>
          <a:prstGeom prst="roundRect">
            <a:avLst>
              <a:gd name="adj" fmla="val 7407"/>
            </a:avLst>
          </a:prstGeom>
          <a:solidFill>
            <a:srgbClr val="E0F5EA"/>
          </a:solidFill>
          <a:ln/>
          <a:effectLst>
            <a:outerShdw sx="100000" sy="100000" kx="0" ky="0" algn="bl" rotWithShape="0" blurRad="50800" dist="12700" dir="16200000">
              <a:srgbClr val="D0D0D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874520" y="24231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984248" y="25557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31" name="Image 4" descr="C:\Claude\MCG Full Stack\generators\assets\icons\lak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540" y="2653040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606040" y="24963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2606040" y="2825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→ Silver → Gold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4892040" y="24231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001768" y="25557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36" name="Image 5" descr="C:\Claude\MCG Full Stack\generators\assets\icons\pipe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060" y="2653040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623560" y="24963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Pipelines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623560" y="2825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declarative projects (YAML)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7909560" y="24231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19288" y="25557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41" name="Image 6" descr="C:\Claude\MCG Full Stack\generators\assets\icons\transfor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580" y="2653040"/>
            <a:ext cx="317480" cy="31748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641080" y="24963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8641080" y="28254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Validation &amp; Cleansing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5577840" y="3584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45" name="Shape 36"/>
          <p:cNvSpPr/>
          <p:nvPr/>
        </p:nvSpPr>
        <p:spPr>
          <a:xfrm>
            <a:off x="274320" y="411480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46" name="Text 37"/>
          <p:cNvSpPr/>
          <p:nvPr/>
        </p:nvSpPr>
        <p:spPr>
          <a:xfrm>
            <a:off x="274320" y="41148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1691640" y="39319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3EAF3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1801368" y="41102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49" name="Image 7" descr="C:\Claude\MCG Full Stack\generators\assets\icons\analytic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8660" y="4207520"/>
            <a:ext cx="317480" cy="3174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2423160" y="40050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2423160" y="433425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Apps  •  10 Sheets</a:t>
            </a:r>
            <a:endParaRPr lang="en-US" sz="800" dirty="0"/>
          </a:p>
        </p:txBody>
      </p:sp>
      <p:sp>
        <p:nvSpPr>
          <p:cNvPr id="52" name="Shape 42"/>
          <p:cNvSpPr/>
          <p:nvPr/>
        </p:nvSpPr>
        <p:spPr>
          <a:xfrm>
            <a:off x="4800600" y="39319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3EAF3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4910328" y="41102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54" name="Image 8" descr="C:\Claude\MCG Full Stack\generators\assets\icons\predic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7620" y="4207520"/>
            <a:ext cx="317480" cy="31748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532120" y="40050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5532120" y="433425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AutoML Models</a:t>
            </a:r>
            <a:endParaRPr lang="en-US" sz="800" dirty="0"/>
          </a:p>
        </p:txBody>
      </p:sp>
      <p:sp>
        <p:nvSpPr>
          <p:cNvPr id="57" name="Shape 46"/>
          <p:cNvSpPr/>
          <p:nvPr/>
        </p:nvSpPr>
        <p:spPr>
          <a:xfrm>
            <a:off x="7909560" y="39319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3EAF3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8019288" y="41102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59" name="Image 9" descr="C:\Claude\MCG Full Stack\generators\assets\icons\governanc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6580" y="4207520"/>
            <a:ext cx="317480" cy="31748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8641080" y="400507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61" name="Text 49"/>
          <p:cNvSpPr/>
          <p:nvPr/>
        </p:nvSpPr>
        <p:spPr>
          <a:xfrm>
            <a:off x="8641080" y="433425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• Lineage • Glossary • Stewardship</a:t>
            </a:r>
            <a:endParaRPr lang="en-US" sz="800" dirty="0"/>
          </a:p>
        </p:txBody>
      </p:sp>
      <p:sp>
        <p:nvSpPr>
          <p:cNvPr id="62" name="Text 50"/>
          <p:cNvSpPr/>
          <p:nvPr/>
        </p:nvSpPr>
        <p:spPr>
          <a:xfrm>
            <a:off x="5577840" y="4828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63" name="Shape 51"/>
          <p:cNvSpPr/>
          <p:nvPr/>
        </p:nvSpPr>
        <p:spPr>
          <a:xfrm>
            <a:off x="274320" y="539496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4CB393"/>
          </a:solidFill>
          <a:ln/>
        </p:spPr>
      </p:sp>
      <p:sp>
        <p:nvSpPr>
          <p:cNvPr id="64" name="Text 52"/>
          <p:cNvSpPr/>
          <p:nvPr/>
        </p:nvSpPr>
        <p:spPr>
          <a:xfrm>
            <a:off x="274320" y="53949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OUTCOMES</a:t>
            </a:r>
            <a:endParaRPr lang="en-US" sz="800" dirty="0"/>
          </a:p>
        </p:txBody>
      </p:sp>
      <p:sp>
        <p:nvSpPr>
          <p:cNvPr id="65" name="Shape 53"/>
          <p:cNvSpPr/>
          <p:nvPr/>
        </p:nvSpPr>
        <p:spPr>
          <a:xfrm>
            <a:off x="1691640" y="5212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1801368" y="53903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67" name="Image 10" descr="C:\Claude\MCG Full Stack\generators\assets\icons\answer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8660" y="5487680"/>
            <a:ext cx="317480" cy="31748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2423160" y="5285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1000" dirty="0"/>
          </a:p>
        </p:txBody>
      </p:sp>
      <p:sp>
        <p:nvSpPr>
          <p:cNvPr id="69" name="Text 56"/>
          <p:cNvSpPr/>
          <p:nvPr/>
        </p:nvSpPr>
        <p:spPr>
          <a:xfrm>
            <a:off x="2423160" y="56144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Documents</a:t>
            </a:r>
            <a:endParaRPr lang="en-US" sz="800" dirty="0"/>
          </a:p>
        </p:txBody>
      </p:sp>
      <p:sp>
        <p:nvSpPr>
          <p:cNvPr id="70" name="Shape 57"/>
          <p:cNvSpPr/>
          <p:nvPr/>
        </p:nvSpPr>
        <p:spPr>
          <a:xfrm>
            <a:off x="3977640" y="5212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4087368" y="53903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72" name="Image 11" descr="C:\Claude\MCG Full Stack\generators\assets\icons\ag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4660" y="5487680"/>
            <a:ext cx="317480" cy="317480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4709160" y="5285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000" dirty="0"/>
          </a:p>
        </p:txBody>
      </p:sp>
      <p:sp>
        <p:nvSpPr>
          <p:cNvPr id="74" name="Text 60"/>
          <p:cNvSpPr/>
          <p:nvPr/>
        </p:nvSpPr>
        <p:spPr>
          <a:xfrm>
            <a:off x="4709160" y="56144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Analysis</a:t>
            </a:r>
            <a:endParaRPr lang="en-US" sz="800" dirty="0"/>
          </a:p>
        </p:txBody>
      </p:sp>
      <p:sp>
        <p:nvSpPr>
          <p:cNvPr id="75" name="Shape 61"/>
          <p:cNvSpPr/>
          <p:nvPr/>
        </p:nvSpPr>
        <p:spPr>
          <a:xfrm>
            <a:off x="6263640" y="52120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76" name="Shape 62"/>
          <p:cNvSpPr/>
          <p:nvPr/>
        </p:nvSpPr>
        <p:spPr>
          <a:xfrm>
            <a:off x="6373368" y="53903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77" name="Image 12" descr="C:\Claude\MCG Full Stack\generators\assets\icons\mc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0660" y="5487680"/>
            <a:ext cx="317480" cy="317480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6995160" y="5285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79" name="Text 64"/>
          <p:cNvSpPr/>
          <p:nvPr/>
        </p:nvSpPr>
        <p:spPr>
          <a:xfrm>
            <a:off x="6995160" y="56144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Integration</a:t>
            </a:r>
            <a:endParaRPr lang="en-US" sz="800" dirty="0"/>
          </a:p>
        </p:txBody>
      </p:sp>
      <p:sp>
        <p:nvSpPr>
          <p:cNvPr id="80" name="Shape 65"/>
          <p:cNvSpPr/>
          <p:nvPr/>
        </p:nvSpPr>
        <p:spPr>
          <a:xfrm>
            <a:off x="8549640" y="5212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30000"/>
              </a:srgbClr>
            </a:outerShdw>
          </a:effectLst>
        </p:spPr>
      </p:sp>
      <p:sp>
        <p:nvSpPr>
          <p:cNvPr id="81" name="Shape 66"/>
          <p:cNvSpPr/>
          <p:nvPr/>
        </p:nvSpPr>
        <p:spPr>
          <a:xfrm>
            <a:off x="8659368" y="53903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82" name="Image 13" descr="C:\Claude\MCG Full Stack\generators\assets\icons\autom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6660" y="5487680"/>
            <a:ext cx="317480" cy="31748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9281160" y="5285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</a:t>
            </a:r>
            <a:endParaRPr lang="en-US" sz="1000" dirty="0"/>
          </a:p>
        </p:txBody>
      </p:sp>
      <p:sp>
        <p:nvSpPr>
          <p:cNvPr id="84" name="Text 68"/>
          <p:cNvSpPr/>
          <p:nvPr/>
        </p:nvSpPr>
        <p:spPr>
          <a:xfrm>
            <a:off x="9281160" y="561441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Notifications</a:t>
            </a:r>
            <a:endParaRPr lang="en-US" sz="800" dirty="0"/>
          </a:p>
        </p:txBody>
      </p:sp>
      <p:sp>
        <p:nvSpPr>
          <p:cNvPr id="85" name="Shape 69"/>
          <p:cNvSpPr/>
          <p:nvPr/>
        </p:nvSpPr>
        <p:spPr>
          <a:xfrm>
            <a:off x="11064240" y="1005840"/>
            <a:ext cx="960120" cy="5074920"/>
          </a:xfrm>
          <a:prstGeom prst="roundRect">
            <a:avLst>
              <a:gd name="adj" fmla="val 9524"/>
            </a:avLst>
          </a:prstGeom>
          <a:solidFill>
            <a:srgbClr val="E3EAF3"/>
          </a:solidFill>
          <a:ln w="12700">
            <a:solidFill>
              <a:srgbClr val="19416C"/>
            </a:solidFill>
            <a:prstDash val="solid"/>
          </a:ln>
        </p:spPr>
      </p:sp>
      <p:sp>
        <p:nvSpPr>
          <p:cNvPr id="86" name="Text 70"/>
          <p:cNvSpPr/>
          <p:nvPr/>
        </p:nvSpPr>
        <p:spPr>
          <a:xfrm>
            <a:off x="11064240" y="182880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Nightmares</a:t>
            </a:r>
            <a:endParaRPr lang="en-US" sz="1100" dirty="0"/>
          </a:p>
        </p:txBody>
      </p:sp>
      <p:sp>
        <p:nvSpPr>
          <p:cNvPr id="87" name="Text 71"/>
          <p:cNvSpPr/>
          <p:nvPr/>
        </p:nvSpPr>
        <p:spPr>
          <a:xfrm>
            <a:off x="11064240" y="27432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$127M/yr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Architecture — The Four Stories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914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00658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9646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C:\Claude\MCG Full Stack\generators\assets\icons\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10" y="1023762"/>
            <a:ext cx="192756" cy="192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Integrations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14173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E0F2F5"/>
          </a:solidFill>
          <a:ln/>
          <a:effectLst>
            <a:outerShdw sx="100000" sy="100000" kx="0" ky="0" algn="bl" rotWithShape="0" blurRad="38100" dist="12700" dir="16200000">
              <a:srgbClr val="D0D0D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3 Data Sources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4360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Declarative Pipeline Projects (8 feeds)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4360" y="2157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Bronze Layer (8 tables)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94360" y="25054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Real-time &amp; Batch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94360" y="2852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Movement Gateway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0632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383280" y="914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20" name="Shape 16"/>
          <p:cNvSpPr/>
          <p:nvPr/>
        </p:nvSpPr>
        <p:spPr>
          <a:xfrm>
            <a:off x="3474720" y="9646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C:\Claude\MCG Full Stack\generators\assets\icons\gover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90" y="1023762"/>
            <a:ext cx="192756" cy="192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832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Governance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383280" y="1417320"/>
            <a:ext cx="2743200" cy="2267712"/>
          </a:xfrm>
          <a:prstGeom prst="roundRect">
            <a:avLst>
              <a:gd name="adj" fmla="val 3226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352044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8 Transformation Routes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520440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Silver Layer (cleansed)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520440" y="2157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Gold Data Products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520440" y="25054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Trust Score &amp; Lineage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520440" y="2852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Business Glossary (25 terms)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520440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4 Stewardship Sprints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9893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309360" y="914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19416C"/>
          </a:solidFill>
          <a:ln/>
        </p:spPr>
      </p:sp>
      <p:sp>
        <p:nvSpPr>
          <p:cNvPr id="32" name="Shape 27"/>
          <p:cNvSpPr/>
          <p:nvPr/>
        </p:nvSpPr>
        <p:spPr>
          <a:xfrm>
            <a:off x="6400800" y="9646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33" name="Image 3" descr="C:\Claude\MCG Full Stack\generators\assets\icons\analy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870" y="1023762"/>
            <a:ext cx="192756" cy="1927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30936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Analytics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309360" y="141732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E3EAF3"/>
          </a:solidFill>
          <a:ln/>
          <a:effectLst>
            <a:outerShdw sx="100000" sy="100000" kx="0" ky="0" algn="bl" rotWithShape="0" blurRad="38100" dist="12700" dir="16200000">
              <a:srgbClr val="D0D0D0">
                <a:alpha val="2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644652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Qlik Analytics Apps (10 sheets)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446520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Agentic Analytics &amp; NLI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446520" y="2157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Alerts &amp; Reports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446520" y="25054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5 Automations (Teams)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6446520" y="2852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 Dark Theme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8915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9235440" y="914400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4CB393"/>
          </a:solidFill>
          <a:ln/>
        </p:spPr>
      </p:sp>
      <p:sp>
        <p:nvSpPr>
          <p:cNvPr id="43" name="Shape 37"/>
          <p:cNvSpPr/>
          <p:nvPr/>
        </p:nvSpPr>
        <p:spPr>
          <a:xfrm>
            <a:off x="9326880" y="9646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44" name="Image 4" descr="C:\Claude\MCG Full Stack\generators\assets\icons\ag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950" y="1023762"/>
            <a:ext cx="192756" cy="19275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23544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AI &amp; Outcomes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9235440" y="14173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E0F5EA"/>
          </a:solidFill>
          <a:ln/>
          <a:effectLst>
            <a:outerShdw sx="100000" sy="100000" kx="0" ky="0" algn="bl" rotWithShape="0" blurRad="38100" dist="12700" dir="16200000">
              <a:srgbClr val="D0D0D0">
                <a:alpha val="25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93726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Predict Models (Spoilage/SLA)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9372600" y="18105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Qlik Answers (25 docs)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9372600" y="21579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Discovery Agent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9372600" y="25054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MCP Server (Claude)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9372600" y="2852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Closed-Loop Automation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457200" y="53949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6F7F8"/>
          </a:solidFill>
          <a:ln w="9525">
            <a:solidFill>
              <a:srgbClr val="A9B3B6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 3 Sources  →  18 Tables  →  9 Flows  →  2 Products  →  10 Sheets  →  2 Models  →  25 Docs  →  5 Automations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Agenda — Four Stories, One Platform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proof points behind Project Qlarity's business case — MCG's unified Qlik data platform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Integrations Story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8872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CDC, Kafka streaming, Meridian CRM → Open Lakehouse (Bronze/Silver/Gold)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• Data Flows • Table Recipes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8872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Governance Story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88720" y="2788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Products, Lineage, Impact Analysis, Trust Score, Data Profiling, Stewardship Sprints, Business Glossary, Data Marketplace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88720" y="3154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Products • Lineage • Impact Analysis • Trust Score • Profiling • Stewardship • Glossary • Data Marketplace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88720" y="3749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Analytics Story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8872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 dashboards, Analytics Engine (associative model), Natural Language Insights, Business Logic, native alerting, reporting &amp; subscriptions, automations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8720" y="4526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 • Analytics Engine • Associative Model • NLI • Business Logic • Alerting • Reporting • Automations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257800"/>
            <a:ext cx="548640" cy="548640"/>
          </a:xfrm>
          <a:prstGeom prst="ellipse">
            <a:avLst/>
          </a:prstGeom>
          <a:solidFill>
            <a:srgbClr val="4CB393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188720" y="5120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&amp; Outcomes Story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8872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Consumption-side AI (Agentic Analytics, Qlik Answers, Qlik Predict, Discovery Agent, MCP Server) plus build-side agentic engineering — declarative pipelines as code, the governance agents, and Talend agentic routes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88720" y="5897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Analytics • Qlik Answers • Predict • Discovery Agent • MCP • Declarative Pipelines • Governance Agents • Talend Agentic Routes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9416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984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828800" y="2606040"/>
            <a:ext cx="2286000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Integrations Story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47 fragmented systems to a unified, real-time data fabric</a:t>
            </a:r>
            <a:endParaRPr lang="en-US" sz="1600" dirty="0"/>
          </a:p>
        </p:txBody>
      </p:sp>
      <p:pic>
        <p:nvPicPr>
          <p:cNvPr id="9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0881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&amp; Connectivity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live data sources feeding the Qlik Open Lakehouse in real-time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353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(WMS)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13533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via Data Movement gateway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 • warehouse_events • shipments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Change Data Capture, logical replication, sub-second latency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 (IoT)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28620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via Data Gateway - Streaming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mcg.iot.cold-chain • mcg.iot.carrier-events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3611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IoT telemetry from cold chain sensors + carrier GPS/status events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976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370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CRM (MySQL)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0" y="43708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Connector (15 min)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• crm_orders • crm_products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5120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addresses, orders, product master — with intentional data quality issues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585216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8F7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8704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Tip: Run all 3 simulators before the demo. Data flows into Bronze within seconds (PostgreSQL, Kafka) or 15 min (Meridian CRM).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the Sources — Data Movement Gateway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databases reach Qlik Cloud through a registered gateway: one-time registration, then a connection per source created in a Data Integration project.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Register the gateway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965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Deploy UI → Local Stack &amp; Gateway → Register Gateway / Get Token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2423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(or run agentctl in the mcg-qlik-dmg container) to print the token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Qlik Cloud → Administration → Data Gateways → Register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33375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Paste the token, then wait for status Connected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6F7F8"/>
          </a:solidFill>
          <a:ln w="19050">
            <a:solidFill>
              <a:srgbClr val="1941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Create source connections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0" y="1965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Integration → your project → Create connection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0" y="2423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Choose PostgreSQL / MySQL / SQL Server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0" y="2880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Select the mcg-qlik-dmg gateway from the dropdown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0" y="33375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Enter host/port/db/credentials → Test → Save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5EA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Gateway types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4709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Data Movement gateway → database CDC sources (Postgres / MySQL / SQL Server) — used here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50017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Data Gateway - Streaming → required for Kafka sources (a separate gateway type)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529437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S3 / Athena → credentialed connectors created in Data → Create connection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85216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8F7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87044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a Data Movement gateway connection is created in the Data Integration UI by selecting the gateway — the public REST API cannot create it, so the deploy script skips these sources with on-screen guidance.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 — Bronze / Silver / Gold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Medallion architecture with automated data flows and table recipes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0F8F7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417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6032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  (8 tables)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inventory_positions • warehouse_events • shipments • crm_contacts • crm_orders • crm_products • iot_cold_chain • iot_carrier_events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0" y="2651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0F8F7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9718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658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6032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&amp; Transformed  (8 tables)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warehouse_events_clean • inventory_reconciled • addresses_standardized • products_harmonized • shipments_canonical • iot_normalized • suppliers_deduped • order_delivery_timeline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3EAF3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5262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9416C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526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56032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Business-Ready Data Products  (2 tables)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" y="5074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supply_chain_health • last_mile_performance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Flows — 8 Transformation Routes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Data Integration transforms raw data into trusted, business-ready assets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5486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 Name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Nightmare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Timestamp Normalization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 timezone formats → UTC standard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Inventory Reconciliation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WMS-ERP comparison, phantom detection, Trust Score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Address Standardization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18.4M addresses cleaned, fuzzy match, dedup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Master Harmonization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8,200 SKUs missing weight/dims → enriched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Carrier Status Canonicalization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carriers × 6 languages → unified lifecycle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IoT Telemetry Normalization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Cold chain sensor data → exceedance flags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Master Dedup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 suppliers with 2-4 duplicates → clean master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Order-to-Delivery Timeline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Cross-source join → end-to-end order visibility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02920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8F7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04748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route maps directly to one of the 7 Data Quality Nightmares — show the before/after transformation live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 Story — What to Show in the Demo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8F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Live CDC Demo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PostgreSQL simulator running → watch rows appear in bronze.inventory_positions in real-time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6184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Make a manual UPDATE in PostgreSQL → show CDC propagating through Bronze → Silver → Gold in under 60 seconds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9110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Highlight pipeline status in the Qlik Cloud Integration hub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E0F8F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Lakehouse Walk-Through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Navigate Open Lakehouse → show the Bronze/Silver/Gold tier structure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035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a Table Recipe (e.g., gold.supply_chain_health) → show how Gold tables are defined from Silver inputs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284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Data Flow Route 2 (Inventory Reconciliation) in Pipeline Designer — the 'phantom inventory' detection logic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362102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Pipelines as code: the whole project is declarative YAML — API import, daily schedules, git round-trip (QTCP preview)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9416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984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828800" y="2606040"/>
            <a:ext cx="2286000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Governance Story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transparency, and quality at every layer</a:t>
            </a:r>
            <a:endParaRPr lang="en-US" sz="1600" dirty="0"/>
          </a:p>
        </p:txBody>
      </p:sp>
      <p:pic>
        <p:nvPicPr>
          <p:cNvPr id="9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0881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Data Products for Analytics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Governed, curated datasets with ownership, quality signals, and API access — the foundation of trusted analytics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377440"/>
                <a:gridCol w="1645920"/>
                <a:gridCol w="164592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Product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Refresh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Trust Score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Shared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Supply Chain Health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Henrik Jansen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06:00 UTC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Enabled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Last Mile Performance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Sophie Muller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06:00 UTC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Enabled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754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E0F5E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4800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Products are the governed contract between data producers and consumers — ownership, quality, freshness, and access all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Lineage &amp; Impact Analysis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field-level lineage and downstream dependency analysis across the entire data estate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3716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Lineage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Visual field-level lineage graphs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Source → Transformation → App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Cross-system traceability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flow route integration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ML content lineage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4617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PostgreSQL → Bronze → Silver → Gold → App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2801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3716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8368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Downstream dependency maps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"What if I change this field?"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Affected apps, tasks, datasets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Change risk assessment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8368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ML experiment dependencies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83680" y="4617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silver.inventory_reconciled → 3 Gold + 2 apps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&amp; Data Profiling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data quality at every layer — from raw ingestion to AI consumption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Trust Score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quality score (0-5) across dimensions: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Validity: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688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values within expected ranges?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542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Completeness: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required fields populated?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28895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Discoverability: 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2889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metadata documented?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236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Usage: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data actively consumed?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584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AI-Specific: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68880" y="3584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Diversity, Timeliness (new)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17920" y="128016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Profiling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00800" y="1920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Automated statistical analysis of datasets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2304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Column-level quality metrics &amp; distributions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26883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Pattern detection (e.g., truncated addresses)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30723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Null/blank/outlier identification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0" y="34564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Supports SQL DBs, CSV, XLSX, Snowflake, Iceberg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3840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 use: Profile bronze.contacts_raw → show 11% format issues, 6% truncation at 30 chars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Stewardship — Human-in-the-Loop Data Quality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Crowdsource data corrections to domain experts with tracked sprints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560320"/>
                <a:gridCol w="210312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Sprint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Source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Nightmare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Address Cleanup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mcg_crm_address_validate_bulk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GPS resolved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Data Team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Dedup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silver.suppliers_deduped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confidence &lt; 0.9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 Team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Weights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silver.products_harmonized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weight_kg IS NULL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Data Team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Lot Number Compliance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silver.inventory_reconciled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perishable AND lot IS NULL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Quality Team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Glossary &amp; Data Security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Glossary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standardized terms across 5 categories: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Inventory &amp; Warehouse (Phantom Inventory, IRA, Cycle Count, ...)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304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Supply Chain &amp; Logistics (WISMO, SLA Breach, Cold Chain, ...)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6883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Quality &amp; Governance (Trust Score, Data Lineage, ...)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0723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Compliance &amp; Regulatory (Lot Traceability, NVWA, Recall, ...)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4564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Business Operations (Fill Rate, OTIF, Carrier SLA, ...)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term links to data products, datasets, and nightmare scenarios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Access [NEW]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Row-level + column-level data reduction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Based on USER.EMAIL, USERID, groups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2037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Regional VPs see only their DCs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25054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Carrier partners see only their shipments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1089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Marketplace [NEW]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0800" y="3703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Self-service portal for data product discovery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40050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Business users browse &amp; request access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43068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Governed access with approval workflows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0" y="46085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Reduces shadow data / rogue spreadsheets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4910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Analysts find gold.supply_chain_health without asking IT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Story — What to Show in the Demo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5E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Data Products Walk-Through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Data Products catalog → show both products with owners, Trust Scores, SLAs, API sharing status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6184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Click 'API Sharing' on Supply Chain Health → copy the endpoint → run a curl command to fetch live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9110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Data Marketplace → demonstrate self-service data discovery for business users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5E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Lineage + Impact Analysis + Trust Score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Click gold.supply_chain_health → Lineage view → trace field-level path from PostgreSQL → Bronze → Silver → Gold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035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Click Impact Analysis → show which apps, reports, and ML models depend on this data product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284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Trust Score on gold.last_mile_performance → highlight Validity (4.5), Completeness (4.2), Discoverability (5.0)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0F5E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Stewardship + Glossary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Address Cleanup sprint → show the steward's queue (rows the bulk geocoder could not resolve to GPS)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453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'Phantom Inventory' glossary term → show definition, owner, linked datasets, related nightmares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9416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984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828800" y="2606040"/>
            <a:ext cx="2286000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Analytics Story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stale PowerPoints to real-time, interactive, AI-assisted insights</a:t>
            </a:r>
            <a:endParaRPr lang="en-US" sz="1600" dirty="0"/>
          </a:p>
        </p:txBody>
      </p:sp>
      <p:pic>
        <p:nvPicPr>
          <p:cNvPr id="9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0881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Analytics — 2 Domain Apps (10 Sheets)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dashboards connected to Gold-layer data products with associative exploration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7607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Focus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Nightmares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Supply Chain Operations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sheets: Inventory accuracy, cold chain monitoring, quality, compliance, cost impact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#1, #3, #4, #6, #7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Delivery &amp; Customer Exp.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sheets: Last mile performance, order tracking, WISMO analysis, carrier SLAs, addresses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#2, #5, #6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Engine &amp; Intelligent Insights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Qlik Associative Engine — the foundation powering every dashboard, calculation, and AI interaction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Associative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10312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In-memory associative data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2542032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Green/white/gray selection states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980944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Set analysis for complex calculations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419856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Cross-source data associations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858768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No pre-defined drill paths or queries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429768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Select Rotterdam → all charts update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9768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20" name="Text 17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Insights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0" y="210312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Auto-generated narrative summaries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0" y="2542032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Trend, outlier, and driver detection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0" y="2980944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Linked directly to chart selections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0" y="3419856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Plain-English explanations of data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0" y="3858768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Updated Nov 2025: chart-linked NLI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0" y="429768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NLI on Supply Chain Health app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38160" y="12801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412480" y="210312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Logical Model defines relationships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412480" y="2542032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Vocabulary maps business terms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12480" y="2980944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Guides analytics + AI behavior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412480" y="3419856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Calendar &amp; geographic hierarchies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12480" y="3858768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Measure definitions &amp; formatting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412480" y="4297680"/>
            <a:ext cx="31089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"phantom" → inventory_accuracy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0F5EA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Story 4 — AI &amp; Outcomes: The Agentic Analytics experience layers conversational AI and Qlik Answers on top of this engine. See the full agentic demo flow in Story 4.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Alerting, Reporting &amp; Subscriptions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Data Alerts [NEW]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Condition-based alerts on data reload or schedule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965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Compare against values, measures, or last evaluation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Web, push, and email notification channels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606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Shareable alerts across teams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926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Alert when IRA drops below 85% for any DC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Alert when WISMO rate exceeds 40% for a carrier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00584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Service [NEW]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16459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PixelPerfect: Banded PDF reports (replaces NPrinting)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965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Tabular Reports: Excel-based export templates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22860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On-Demand: User sets selections → downloads report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606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Subscriptions: Scheduled email delivery of charts/sheets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2926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Weekly compliance report to regulatory affairs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32461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Daily inventory summary emailed to DC managers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Automations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No-code automation designer for scheduled reloads, alerts, and cross-system workflows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1247120" cy="3840480"/>
          </a:xfrm>
          <a:prstGeom prst="roundRect">
            <a:avLst>
              <a:gd name="adj" fmla="val 2857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Block-based automation designer (no code)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1920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 Daily App Reload (06:00 UTC)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Cold Chain Alert → Teams (every 5 min)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834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Pipeline Health Summary → Teams (07:00 UTC)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Stewardship Sprint Summary → daily digest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3749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Webhook triggers for external events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4206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100+ connector blocks (Teams, Slack, SMTP, REST, ...)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0F8F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069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Themes &amp; Extensions: Apply MCG branding (Navy #1B2A4A, Teal #0D7C8F, Gold #C4922E, Calibri font) as a tenant-level theme. Import custom visualization extensions for specialized supply chain charts.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Story — What to Show in the Demo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8F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Qlik Analytics Dashboard Tour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Supply Chain Health → show Rotterdam DC's IRA at 74%, drill into phantom inventory by SKU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6184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Cold Chain Monitoring → show live temperature exceedances on São Paulo→Buenos Aires route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9110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Switch to Executive Cost Impact → C-level view of $127M broken down by nightmare category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8F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Analytics Engine &amp; NLI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associative selections: click Rotterdam DC → green/white/gray state across all charts instantly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035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NLI object on Supply Chain Health → auto-generated narrative explaining IRA trend and key drivers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284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Business Logic: Logical Model vocabulary mapping 'phantom' → inventory_accuracy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0F8F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Alerting + Reporting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a native alert: IRA &lt; 85% for DC-RTD-01 → triggered, sent via email and push notification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453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a subscription: weekly compliance PDF emailed to regulatory team every Monday 08:00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9416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984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828800" y="2606040"/>
            <a:ext cx="2286000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&amp; Outcomes Story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reactive dashboards to proactive, conversational, agentic intelligence</a:t>
            </a:r>
            <a:endParaRPr lang="en-US" sz="1600" dirty="0"/>
          </a:p>
        </p:txBody>
      </p:sp>
      <p:pic>
        <p:nvPicPr>
          <p:cNvPr id="9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0881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Analytics — Unified AI Experience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conversational AI that queries data, reads documents, and reasons across both — now GA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4CB393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Analytics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Ask questions in natural language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Qlik engine powers governed answers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Auto-generates visualizations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"Show IRA by DC"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12801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Reasoning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Chain-of-thought multi-step logic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Blends structured + unstructured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Citations &amp; explainability built 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"Why did Rotterdam IRA drop?"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0" y="12801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1371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19416C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4124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25 MCG operational documents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SOPs, contracts, incident reports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Cross-document reasoning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"What is Project Qlarity?"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448056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0F5EA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4526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Qlik Answers agentic experience is now GA — replaces legacy Insight Advisor with unified conversational AI across data and documents.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51206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0F8F7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Powered by the Qlik Associative Engine &amp; Business Logic from Story 3 — Analytics. The engine provides governed calculations; Agentic Analytics adds conversational reasoning on top.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 — AutoML for Supply Chain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Train, deploy, and share ML models without code — predictions served via API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3716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00658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Chain Exceedance  (Classification)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116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silver.iot_normalized (Open Lakehouse)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1168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alert_flag (Y/N)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11680" y="3337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temperature_c, humidity_pct, battery_level_pct, battery_low, gps_gap, shock_detected, route_id, warehouse_id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1168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which São Paulo→Buenos Aires readings will breach the cold chain before product spoils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1168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 (Carrier Black Hole)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12801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13716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009845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Delivery Predictor  (Classification)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58368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6384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silver.order_delivery_timeline (Open Lakehouse)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86384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delivered_late (Y/N)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8368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863840" y="3337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carrier_code, fulfillment_method, tracking_missing, delivery_attempts, exception_code, order_date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86384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at ship time which orders will deliver late — enable proactive customer notification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8368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Nightmare: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863840" y="4617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 / #6 (tracking gaps + carrier reclassification)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 — Document Intelligence &amp; Knowledge Base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that answers questions from 25 MCG operational documents with citations and reasoning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Base: 25 Documents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5 SOPs (warehouse, cold chain, returns, ...)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07568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3 Carrier contracts (NinjaVan, FedEx, DPD)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322576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4 Policies (cold chain, data governance, ...)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569464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Purchase orders + 2 Supplier comms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2816352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Incident reports + 1 Recall notice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06324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Training docs + 1 Meeting minutes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310128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1 Compliance plan + 1 Project brief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1280160"/>
            <a:ext cx="5943600" cy="22860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1371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Scenarios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4360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is the goods receiving procedure?"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755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SOP-WH-001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2176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happened at Rotterdam in September?"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87552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INC-2025-04872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2523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are cold chain temp requirements?"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87552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SOP-SC-002, MCG-POL-012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2871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is Project Qlarity?"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875520" y="2871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PROJ-CLARITY-2025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0" y="3218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caused the lettuce recall?"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875520" y="3218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RCL-2025-003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84048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0F5EA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3886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Mart: Automate the RAG pipeline — structured-to-document transformation, vectorization, and incremental loading to vector stores. Keeps Qlik Answers grounded in fresh data.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 &amp; MCP Server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AI that monitors data products for anomalies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Monitors gold-layer data products continuously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5856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Detects: Trust Score drops, sync lag, volume anomalies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59689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 scenario: TransFrio spoilage detection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93522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Alert thresholds: Trust &lt; 0.70, Lag &gt; 60 min, Volume ±50%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2735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Links to dashboards, contracts, incident reports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61188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"Temp exceedance on GRU-BA route. Spoilage up 4x."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"12 active shipments at risk. Est. $180K exposure."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00584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MCP Server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AI agents (Claude, GPT) directly to Qlik data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19202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Cloud-hosted SSE endpoint: &lt;tenant&gt;/api/ai/mcp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225856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71 tools: App Discovery, Lineage, Data Products, Glossary...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59689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Query data products via natural language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293522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Works with Claude Desktop, Claude Code, others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32735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"What is IRA at Rotterdam DC?"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361188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Response: "74%, 847 phantom units, 143 SKUs"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395020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Root cause: "Silent pipeline failure (INC-2025-04872)"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0F5EA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800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tools integrate with the Agentic Analytics experience (see slide above) — Discovery Agent proactively surfaces issues; MCP enables external AI agents to query Qlik data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Pipelines &amp; the VS Code Template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 side of AI: one underlying pipeline YAML — editable visually, programmatically, or with an AI coding agent — on a single path from raw data to a trusted, AI-ready data product.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4173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00658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(UI)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0574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Qlik Talend Cloud pipeline canvas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231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Point-and-click transforms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2788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Business-user friendly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97680" y="132588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0" y="14173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19416C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(IDE)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0" y="20574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Declarative YAML definition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0" y="24231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VS Code + third-party IDEs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0" y="2788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Git version control + CI/CD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0" y="31546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Export / import, schema-validated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138160" y="132588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4173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4CB393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(AI)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412480" y="20574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AI coding agent authors the YAML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12480" y="24231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"Agent-friendly" schema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0" y="2788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Prompt → Generate → Validate → Review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12480" y="31546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Developer approves every change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70332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6F7F8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767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today — the whole pipeline is code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" y="413308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QTCP DATA_PIPELINE projects on Open Lakehouse — mcg-batch-pipeline (4 tasks) + mcg-streaming-pipeline (2 tasks) = 6 tasks authored as YAML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0080" y="44622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Shipped as a VS Code template: deploy/pipelines/ with .vscode/settings.json, CLAUDE.md, .github/copilot-instructions.md per project (schema kit via "npm run pipeline:template")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080" y="479145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Demo edit: change "MCG CRM Landing" schedule FREQ=MINUTELY;INTERVAL=15 → INTERVAL=30 — a one-line git diff, then Apply-from-Remote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52120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5EA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" y="5239512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from raw → trusted: design in IDE + agent → Git / CI-CD deploy → quality → packaging → catalog &amp; glossary → AI-ready output with trust scores.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57200" y="576072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8F7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5788152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/ roadmap: Qlik declarative-pipeline tooling is a Qlik internal preview (June 2026). Forward-looking — capabilities and timing may change.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Governance Agents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conversational agents keep human expertise in the loop while packaging, validating, and cataloging data — Qlik frames these as Qlik Answers capabilities, not separate products.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41732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4CB39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417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 Agent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2860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Create &amp; manage data products by chat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285292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CRUD + conversational discovery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4198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Review &amp; improve quality / completeness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98678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package Supply Chain Health &amp; Last Mile Performance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141732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006580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1417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Agent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0" y="22860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Helps stewards define &amp; enforce DQ rules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285292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Assess quality across datasets by chat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34198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Create / map rules, run DQ metrics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0" y="398678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rules on silver.addresses_standardized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8160" y="132588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141732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9416C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417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&amp; Business Glossary Agent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0" y="228600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NL queries over Qlik Cloud Catalog metadata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412480" y="285292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Generate glossaries from apps, data products, a domain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12480" y="34198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Standardize terms &amp; synonyms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412480" y="398678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MCG: extend the 25-term business glossary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0F5EA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956048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by design: agent-generated glossary terms land as DRAFT and require human review before they become official. These are Qlik Answers capabilities, not standalone products — they bridge business and technical users.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Agentic Routes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workflows inside pipeline tasks — call LLMs, build RAG pipelines, and orchestrate agents, with MCP client support.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3258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00658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integration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19659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Call LLMs from data tasks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51460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Cloud: OpenAI, Anthropic Claude, Google Gemini, Amazon Bedrock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On-prem: Ollama, Mistral, Gemma 3, Phi 4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361188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Sentiment, entity extraction, classification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97680" y="1234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13258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19416C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pipelines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0" y="19659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Build retrieval-augmented pipelines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0" y="251460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Vector targets: Pinecone, MongoDB, Snowflake, Databricks, Milvus, Oracle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0" y="306324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AI-assisted data quality in-task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138160" y="12344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3258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4CB393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orchestration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412480" y="19659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Event-driven agent orchestration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12480" y="251460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Conversational AI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0" y="306324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Extensible tools + MCP client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3891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45312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surface — the CRM address job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4754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Talend job repairs and scores every CRM address, bulk-geocodes the batch against OSM Nominatim, and routes on one gate — GPS resolved goes to Iceberg, the rest to a Qlik Stewardship sprint. An agentic route adds an LLM-assisted correction step inside the same job, before the record ever reaches that queue.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4406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0F8F7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5468112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Forward-looking: agentic-engineering capabilities are emerging across Qlik Talend Cloud; MCP-server tooling is in Qlik preview (June 2026). Timing and scope may change.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B3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Outcomes Story — What to Show in the Demo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5E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Agentic Analytics Experience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Qlik Answers → ask: "Which distribution centers have the lowest inventory accuracy?" → data agent queries Qlik Analytics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6184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Follow up: "What happened at Rotterdam in September?" → document agent pulls INC-2025-04872 with citations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9110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Ask: "What does Project Qlarity propose to fix this?" → chain-of-thought reasoning across data + documents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E0F5E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Qlik Predict Live Demo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Open the Cold Chain Exceedance experiment → show training report, feature importance (temperature_c #1, battery_low #2)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0358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Run a prediction on a live GRU-BA reading: 11.2°C, battery 9% → 78% exceedance probability — the TransFrio story in one number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3284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prediction API endpoint → demonstrate external system consuming predictions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0F5E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Discovery Agent Scenario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Show Discovery Agent alert: spoilage rate on GRU-BA route spiked 2.1% → 8.8% after fleet change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453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Agent links to: cold chain dashboard, TransFrio carrier contract, incident report INC-2025-05102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93776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0F5E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MCP Server Demo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5257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In Claude Desktop: "What is the current inventory accuracy at Rotterdam DC?"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5550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Claude queries gold.supply_chain_health via MCP → returns: 74% IRA, 847 phantom units, root cause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divid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9416C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0984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828800" y="2606040"/>
            <a:ext cx="2286000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to Add to Demo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capabilities not yet in the checklist — recommended additions</a:t>
            </a:r>
            <a:endParaRPr lang="en-US" sz="1600" dirty="0"/>
          </a:p>
        </p:txBody>
      </p:sp>
      <p:pic>
        <p:nvPicPr>
          <p:cNvPr id="9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943600"/>
            <a:ext cx="10881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Features — Prioritized Additions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2011680"/>
                <a:gridCol w="47548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Effort to Add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1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Lineage + Impact Analysis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Governance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auto-populated from existing data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Trust Score + Data Profiling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Governance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enable on Gold-layer products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5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Data Alerts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create 2-3 condition-based alerts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Reporting Service + Subscriptions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 — build 1-2 report templates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Section Access (Row-Level Security)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Governance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 — configure for regional VP views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Logic / Logical Model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define in app settings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 Mart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&amp; Outcomes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 — configure RAG pipeline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MCG Theme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upload JSON theme file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8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416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Marketplace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Governance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5465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— enable on data products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241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57200" y="20116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Stories.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Data Intelligence.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5720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 Sources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37744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7744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37744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Tables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9768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9768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2976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62179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Sheets (2 Apps)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816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3816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81381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0058400" y="38404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05840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0584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KB Documents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4983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build-side AI — pipelines as code, governance agents, and agentic data engineering (preview)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 •  Full Stack  •  Integrations  •  Governance  •  Analytics  •  AI &amp; Outcomes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Qlarity  •  MCG Full Stack  •  Qlik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Console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7498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repository, one command - or 11 guided steps.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44168" y="1133856"/>
            <a:ext cx="7754112" cy="4901184"/>
          </a:xfrm>
          <a:prstGeom prst="roundRect">
            <a:avLst>
              <a:gd name="adj" fmla="val 746"/>
            </a:avLst>
          </a:prstGeom>
          <a:solidFill>
            <a:srgbClr val="FFFFFF"/>
          </a:solidFill>
          <a:ln w="12700">
            <a:solidFill>
              <a:srgbClr val="A9B3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C:\Claude\MCG Full Stack\generators\assets\screenshots\deploy-ui-wiz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07008"/>
            <a:ext cx="7607808" cy="4754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6089904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MCG deploy console — 11 setup steps, Stewardship at step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Qlik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Qlarity — MCG Qlik Cloud Demo — Four Stories</dc:title>
  <dc:subject>PptxGenJS Presentation</dc:subject>
  <dc:creator>Qlik</dc:creator>
  <cp:lastModifiedBy>Qlik</cp:lastModifiedBy>
  <cp:revision>1</cp:revision>
  <dcterms:created xsi:type="dcterms:W3CDTF">2026-09-21T20:26:56Z</dcterms:created>
  <dcterms:modified xsi:type="dcterms:W3CDTF">2026-09-21T20:26:56Z</dcterms:modified>
</cp:coreProperties>
</file>