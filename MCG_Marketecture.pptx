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 · 60 SECONDS
Meridian Commerce Group runs on three systems that never talked: a PostgreSQL warehouse database, cold-chain IoT sensors streaming through Kafka, and Salesforce. Seven data-quality nightmares cost them $127M a year.
The fix is efficiency by design. Two declarative Qlik Cloud Pipelines — version-controlled YAML, imported through the API — land every feed in the Open Lakehouse: Iceberg tables on S3, bronze to silver to gold. Eight transformation routes canonicalize six carrier vocabularies, standardize units, and score trust. Talend validates and geocodes every Salesforce address on a 15-minute cycle, routing the unfixable to Stewardship.
Two governed data products serve the business — read straight from the lakehouse through Amazon Athena, no copies. On top: two analytics apps whose sheets are authored by an AI agent over MCP, Predict models for exceedance and late-delivery risk, Answers grounded on 25 operational documents, and a Discovery Agent watching it all.
One command deploys the whole stack. That's pipelines as code, and AI that actually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 — From Three Silos to Trusted AI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65760" y="53035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MCG lands WMS, IoT, and CRM data in the Open Lakehouse and turns it into governed analytics, prediction, and agents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274320" y="8595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COMMERCE HAPPENS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880360" y="85953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OF RECORD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800600" y="8595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60920" y="8595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DECISION-READY FOUNDATION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012680" y="859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 THAT SELL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" y="120700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4320" y="120700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08735"/>
            <a:ext cx="777240" cy="5829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07008" y="1243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07008" y="14813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 system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207008" y="166420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· Shipments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207008" y="184708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real-time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74320" y="2048256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74320" y="2048256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9983"/>
            <a:ext cx="777240" cy="5829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07008" y="2084832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Cold-chain IoT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207008" y="232257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Tive/Sensitech feeds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207008" y="250545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 · GPS · Battery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07008" y="2688336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274320" y="2889504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4320" y="2889504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991231"/>
            <a:ext cx="777240" cy="5829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207008" y="292608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events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207008" y="316382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 webhooks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207008" y="334670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languages, 1 stream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207008" y="3529584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274320" y="3730752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74320" y="3730752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32479"/>
            <a:ext cx="777240" cy="58293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07008" y="376732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207008" y="400507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Contacts + orders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207008" y="418795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207008" y="4370832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15 min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274320" y="4572000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274320" y="4572000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676" y="4645152"/>
            <a:ext cx="597408" cy="64008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207008" y="4608576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docs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1207008" y="484632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SOPs + contracts</a:t>
            </a:r>
            <a:endParaRPr lang="en-US" sz="900" dirty="0"/>
          </a:p>
        </p:txBody>
      </p:sp>
      <p:sp>
        <p:nvSpPr>
          <p:cNvPr id="43" name="Text 35"/>
          <p:cNvSpPr/>
          <p:nvPr/>
        </p:nvSpPr>
        <p:spPr>
          <a:xfrm>
            <a:off x="1207008" y="502920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knowledge base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1207008" y="5212080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274320" y="541324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274320" y="541324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" y="5486400"/>
            <a:ext cx="640080" cy="640080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1207008" y="544982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Validated addresses</a:t>
            </a:r>
            <a:endParaRPr lang="en-US" sz="1200" dirty="0"/>
          </a:p>
        </p:txBody>
      </p:sp>
      <p:sp>
        <p:nvSpPr>
          <p:cNvPr id="49" name="Text 40"/>
          <p:cNvSpPr/>
          <p:nvPr/>
        </p:nvSpPr>
        <p:spPr>
          <a:xfrm>
            <a:off x="1207008" y="5687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+ Nominatim</a:t>
            </a:r>
            <a:endParaRPr lang="en-US" sz="900" dirty="0"/>
          </a:p>
        </p:txBody>
      </p:sp>
      <p:sp>
        <p:nvSpPr>
          <p:cNvPr id="50" name="Text 41"/>
          <p:cNvSpPr/>
          <p:nvPr/>
        </p:nvSpPr>
        <p:spPr>
          <a:xfrm>
            <a:off x="1207008" y="587044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Geocoded QVD, 15 min</a:t>
            </a:r>
            <a:endParaRPr lang="en-US" sz="900" dirty="0"/>
          </a:p>
        </p:txBody>
      </p:sp>
      <p:sp>
        <p:nvSpPr>
          <p:cNvPr id="51" name="Text 42"/>
          <p:cNvSpPr/>
          <p:nvPr/>
        </p:nvSpPr>
        <p:spPr>
          <a:xfrm>
            <a:off x="1207008" y="605332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loop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2880360" y="1207008"/>
            <a:ext cx="1783080" cy="4983480"/>
          </a:xfrm>
          <a:prstGeom prst="rect">
            <a:avLst/>
          </a:prstGeom>
          <a:solidFill>
            <a:srgbClr val="19416C"/>
          </a:solidFill>
          <a:ln w="12700">
            <a:solidFill>
              <a:srgbClr val="0F2A47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2880360" y="1207008"/>
            <a:ext cx="178308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2880360" y="161848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</a:t>
            </a:r>
            <a:endParaRPr lang="en-US" sz="3600" dirty="0"/>
          </a:p>
        </p:txBody>
      </p:sp>
      <p:sp>
        <p:nvSpPr>
          <p:cNvPr id="55" name="Text 46"/>
          <p:cNvSpPr/>
          <p:nvPr/>
        </p:nvSpPr>
        <p:spPr>
          <a:xfrm>
            <a:off x="2880360" y="22860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2624328"/>
            <a:ext cx="868680" cy="1280160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2971800" y="4041648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Iceberg open tables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silver · gold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feed captured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+ streaming + SaaS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via Athena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Glue catalog · any engine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native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· Lineage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2971800" y="5806440"/>
            <a:ext cx="1600200" cy="274320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9" name="Text 49"/>
          <p:cNvSpPr/>
          <p:nvPr/>
        </p:nvSpPr>
        <p:spPr>
          <a:xfrm>
            <a:off x="2971800" y="5806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OPEN STORE ON S3</a:t>
            </a:r>
            <a:endParaRPr lang="en-US" sz="900" dirty="0"/>
          </a:p>
        </p:txBody>
      </p:sp>
      <p:sp>
        <p:nvSpPr>
          <p:cNvPr id="60" name="Shape 50"/>
          <p:cNvSpPr/>
          <p:nvPr/>
        </p:nvSpPr>
        <p:spPr>
          <a:xfrm>
            <a:off x="476402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 rot="16200000">
            <a:off x="443484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</a:t>
            </a:r>
            <a:endParaRPr lang="en-US" sz="1200" dirty="0"/>
          </a:p>
        </p:txBody>
      </p:sp>
      <p:sp>
        <p:nvSpPr>
          <p:cNvPr id="62" name="Shape 52"/>
          <p:cNvSpPr/>
          <p:nvPr/>
        </p:nvSpPr>
        <p:spPr>
          <a:xfrm>
            <a:off x="5029200" y="1207008"/>
            <a:ext cx="23317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5029200" y="1207008"/>
            <a:ext cx="233172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64" name="Text 54"/>
          <p:cNvSpPr/>
          <p:nvPr/>
        </p:nvSpPr>
        <p:spPr>
          <a:xfrm>
            <a:off x="5029200" y="1371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600" dirty="0"/>
          </a:p>
        </p:txBody>
      </p:sp>
      <p:sp>
        <p:nvSpPr>
          <p:cNvPr id="65" name="Text 55"/>
          <p:cNvSpPr/>
          <p:nvPr/>
        </p:nvSpPr>
        <p:spPr>
          <a:xfrm>
            <a:off x="5120640" y="16824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declarative projects land three feeds as code</a:t>
            </a:r>
            <a:endParaRPr lang="en-US" sz="1000" dirty="0"/>
          </a:p>
        </p:txBody>
      </p:sp>
      <p:sp>
        <p:nvSpPr>
          <p:cNvPr id="66" name="Shape 56"/>
          <p:cNvSpPr/>
          <p:nvPr/>
        </p:nvSpPr>
        <p:spPr>
          <a:xfrm>
            <a:off x="5166360" y="1993392"/>
            <a:ext cx="2057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7" name="Text 57"/>
          <p:cNvSpPr/>
          <p:nvPr/>
        </p:nvSpPr>
        <p:spPr>
          <a:xfrm>
            <a:off x="5257800" y="2066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Ingest as Code</a:t>
            </a:r>
            <a:endParaRPr lang="en-US" sz="1300" dirty="0"/>
          </a:p>
        </p:txBody>
      </p:sp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540" y="2377440"/>
            <a:ext cx="1463040" cy="365760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5257800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</a:t>
            </a:r>
            <a:endParaRPr lang="en-US" sz="1000" dirty="0"/>
          </a:p>
        </p:txBody>
      </p:sp>
      <p:sp>
        <p:nvSpPr>
          <p:cNvPr id="70" name="Text 59"/>
          <p:cNvSpPr/>
          <p:nvPr/>
        </p:nvSpPr>
        <p:spPr>
          <a:xfrm>
            <a:off x="5257800" y="296265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YAML, via API</a:t>
            </a:r>
            <a:endParaRPr lang="en-US" sz="1000" dirty="0"/>
          </a:p>
        </p:txBody>
      </p:sp>
      <p:sp>
        <p:nvSpPr>
          <p:cNvPr id="71" name="Shape 60"/>
          <p:cNvSpPr/>
          <p:nvPr/>
        </p:nvSpPr>
        <p:spPr>
          <a:xfrm>
            <a:off x="5166360" y="3273552"/>
            <a:ext cx="2057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2" name="Text 61"/>
          <p:cNvSpPr/>
          <p:nvPr/>
        </p:nvSpPr>
        <p:spPr>
          <a:xfrm>
            <a:off x="5257800" y="33467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Cleanse + Conform</a:t>
            </a:r>
            <a:endParaRPr lang="en-US" sz="1200" dirty="0"/>
          </a:p>
        </p:txBody>
      </p:sp>
      <p:pic>
        <p:nvPicPr>
          <p:cNvPr id="7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9512" y="3731323"/>
            <a:ext cx="502920" cy="565785"/>
          </a:xfrm>
          <a:prstGeom prst="rect">
            <a:avLst/>
          </a:prstGeom>
        </p:spPr>
      </p:pic>
      <p:sp>
        <p:nvSpPr>
          <p:cNvPr id="74" name="Text 62"/>
          <p:cNvSpPr/>
          <p:nvPr/>
        </p:nvSpPr>
        <p:spPr>
          <a:xfrm>
            <a:off x="5806440" y="363931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silver routes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+ UoM fixes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geo checks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the rest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5166360" y="4645152"/>
            <a:ext cx="2057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6" name="Text 64"/>
          <p:cNvSpPr/>
          <p:nvPr/>
        </p:nvSpPr>
        <p:spPr>
          <a:xfrm>
            <a:off x="5257800" y="47183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Serve Gold Products</a:t>
            </a:r>
            <a:endParaRPr lang="en-US" sz="1200" dirty="0"/>
          </a:p>
        </p:txBody>
      </p:sp>
      <p:pic>
        <p:nvPicPr>
          <p:cNvPr id="7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9512" y="5166360"/>
            <a:ext cx="502920" cy="502920"/>
          </a:xfrm>
          <a:prstGeom prst="rect">
            <a:avLst/>
          </a:prstGeom>
        </p:spPr>
      </p:pic>
      <p:sp>
        <p:nvSpPr>
          <p:cNvPr id="78" name="Text 65"/>
          <p:cNvSpPr/>
          <p:nvPr/>
        </p:nvSpPr>
        <p:spPr>
          <a:xfrm>
            <a:off x="5806440" y="5010912"/>
            <a:ext cx="1325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data products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API-attached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06:00 UTC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to any engine</a:t>
            </a:r>
            <a:endParaRPr lang="en-US" sz="950" dirty="0"/>
          </a:p>
        </p:txBody>
      </p:sp>
      <p:sp>
        <p:nvSpPr>
          <p:cNvPr id="79" name="Shape 66"/>
          <p:cNvSpPr/>
          <p:nvPr/>
        </p:nvSpPr>
        <p:spPr>
          <a:xfrm>
            <a:off x="746150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80" name="Text 67"/>
          <p:cNvSpPr/>
          <p:nvPr/>
        </p:nvSpPr>
        <p:spPr>
          <a:xfrm rot="16200000">
            <a:off x="713232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</a:t>
            </a:r>
            <a:endParaRPr lang="en-US" sz="1200" dirty="0"/>
          </a:p>
        </p:txBody>
      </p:sp>
      <p:sp>
        <p:nvSpPr>
          <p:cNvPr id="81" name="Shape 68"/>
          <p:cNvSpPr/>
          <p:nvPr/>
        </p:nvSpPr>
        <p:spPr>
          <a:xfrm>
            <a:off x="7726680" y="1207008"/>
            <a:ext cx="219456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7726680" y="1207008"/>
            <a:ext cx="219456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83" name="Text 70"/>
          <p:cNvSpPr/>
          <p:nvPr/>
        </p:nvSpPr>
        <p:spPr>
          <a:xfrm>
            <a:off x="7726680" y="13716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Workload</a:t>
            </a:r>
            <a:endParaRPr lang="en-US" sz="1600" dirty="0"/>
          </a:p>
        </p:txBody>
      </p:sp>
      <p:sp>
        <p:nvSpPr>
          <p:cNvPr id="84" name="Text 71"/>
          <p:cNvSpPr/>
          <p:nvPr/>
        </p:nvSpPr>
        <p:spPr>
          <a:xfrm>
            <a:off x="7726680" y="16824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Curated · Governed · Always-on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7863840" y="1993392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8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6992" y="2193646"/>
            <a:ext cx="420624" cy="294437"/>
          </a:xfrm>
          <a:prstGeom prst="rect">
            <a:avLst/>
          </a:prstGeom>
        </p:spPr>
      </p:pic>
      <p:sp>
        <p:nvSpPr>
          <p:cNvPr id="87" name="Text 73"/>
          <p:cNvSpPr/>
          <p:nvPr/>
        </p:nvSpPr>
        <p:spPr>
          <a:xfrm>
            <a:off x="8394192" y="21396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Platform</a:t>
            </a:r>
            <a:endParaRPr lang="en-US" sz="1100" dirty="0"/>
          </a:p>
        </p:txBody>
      </p:sp>
      <p:sp>
        <p:nvSpPr>
          <p:cNvPr id="88" name="Text 74"/>
          <p:cNvSpPr/>
          <p:nvPr/>
        </p:nvSpPr>
        <p:spPr>
          <a:xfrm>
            <a:off x="8394192" y="2395728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Scales with the business</a:t>
            </a:r>
            <a:endParaRPr lang="en-US" sz="850" dirty="0"/>
          </a:p>
        </p:txBody>
      </p:sp>
      <p:sp>
        <p:nvSpPr>
          <p:cNvPr id="89" name="Shape 75"/>
          <p:cNvSpPr/>
          <p:nvPr/>
        </p:nvSpPr>
        <p:spPr>
          <a:xfrm>
            <a:off x="7863840" y="2843784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9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6992" y="3008376"/>
            <a:ext cx="420624" cy="420624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8412480" y="3008376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Metrics</a:t>
            </a:r>
            <a:endParaRPr lang="en-US" sz="1100" dirty="0"/>
          </a:p>
        </p:txBody>
      </p:sp>
      <p:sp>
        <p:nvSpPr>
          <p:cNvPr id="92" name="Text 77"/>
          <p:cNvSpPr/>
          <p:nvPr/>
        </p:nvSpPr>
        <p:spPr>
          <a:xfrm>
            <a:off x="8412480" y="326440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Powered by Qlik Trust Score</a:t>
            </a:r>
            <a:endParaRPr lang="en-US" sz="900" dirty="0"/>
          </a:p>
        </p:txBody>
      </p:sp>
      <p:sp>
        <p:nvSpPr>
          <p:cNvPr id="93" name="Shape 78"/>
          <p:cNvSpPr/>
          <p:nvPr/>
        </p:nvSpPr>
        <p:spPr>
          <a:xfrm>
            <a:off x="7863840" y="3694176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4" name="Text 79"/>
          <p:cNvSpPr/>
          <p:nvPr/>
        </p:nvSpPr>
        <p:spPr>
          <a:xfrm>
            <a:off x="7955280" y="3767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 Foundation</a:t>
            </a:r>
            <a:endParaRPr lang="en-US" sz="1200" dirty="0"/>
          </a:p>
        </p:txBody>
      </p:sp>
      <p:pic>
        <p:nvPicPr>
          <p:cNvPr id="9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6992" y="4104513"/>
            <a:ext cx="420624" cy="368046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8394192" y="4059936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trained 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datasets</a:t>
            </a:r>
            <a:endParaRPr lang="en-US" sz="9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+ late-delivery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models on governed data</a:t>
            </a:r>
            <a:endParaRPr lang="en-US" sz="900" dirty="0"/>
          </a:p>
        </p:txBody>
      </p:sp>
      <p:sp>
        <p:nvSpPr>
          <p:cNvPr id="97" name="Shape 81"/>
          <p:cNvSpPr/>
          <p:nvPr/>
        </p:nvSpPr>
        <p:spPr>
          <a:xfrm>
            <a:off x="7863840" y="4956048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8" name="Text 82"/>
          <p:cNvSpPr/>
          <p:nvPr/>
        </p:nvSpPr>
        <p:spPr>
          <a:xfrm>
            <a:off x="7955280" y="50292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Security</a:t>
            </a:r>
            <a:endParaRPr lang="en-US" sz="1200" dirty="0"/>
          </a:p>
        </p:txBody>
      </p:sp>
      <p:pic>
        <p:nvPicPr>
          <p:cNvPr id="9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73568" y="5257800"/>
            <a:ext cx="219456" cy="219456"/>
          </a:xfrm>
          <a:prstGeom prst="rect">
            <a:avLst/>
          </a:prstGeom>
        </p:spPr>
      </p:pic>
      <p:sp>
        <p:nvSpPr>
          <p:cNvPr id="100" name="Text 83"/>
          <p:cNvSpPr/>
          <p:nvPr/>
        </p:nvSpPr>
        <p:spPr>
          <a:xfrm>
            <a:off x="8229600" y="52760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Lineage</a:t>
            </a:r>
            <a:endParaRPr lang="en-US" sz="950" dirty="0"/>
          </a:p>
        </p:txBody>
      </p:sp>
      <p:pic>
        <p:nvPicPr>
          <p:cNvPr id="10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73568" y="5468112"/>
            <a:ext cx="219456" cy="219456"/>
          </a:xfrm>
          <a:prstGeom prst="rect">
            <a:avLst/>
          </a:prstGeom>
        </p:spPr>
      </p:pic>
      <p:sp>
        <p:nvSpPr>
          <p:cNvPr id="102" name="Text 84"/>
          <p:cNvSpPr/>
          <p:nvPr/>
        </p:nvSpPr>
        <p:spPr>
          <a:xfrm>
            <a:off x="8229600" y="54864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950" dirty="0"/>
          </a:p>
        </p:txBody>
      </p:sp>
      <p:pic>
        <p:nvPicPr>
          <p:cNvPr id="10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73568" y="5678424"/>
            <a:ext cx="219456" cy="219456"/>
          </a:xfrm>
          <a:prstGeom prst="rect">
            <a:avLst/>
          </a:prstGeom>
        </p:spPr>
      </p:pic>
      <p:sp>
        <p:nvSpPr>
          <p:cNvPr id="104" name="Text 85"/>
          <p:cNvSpPr/>
          <p:nvPr/>
        </p:nvSpPr>
        <p:spPr>
          <a:xfrm>
            <a:off x="8229600" y="56967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access</a:t>
            </a:r>
            <a:endParaRPr lang="en-US" sz="950" dirty="0"/>
          </a:p>
        </p:txBody>
      </p:sp>
      <p:pic>
        <p:nvPicPr>
          <p:cNvPr id="10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73568" y="5888736"/>
            <a:ext cx="219456" cy="219456"/>
          </a:xfrm>
          <a:prstGeom prst="rect">
            <a:avLst/>
          </a:prstGeom>
        </p:spPr>
      </p:pic>
      <p:sp>
        <p:nvSpPr>
          <p:cNvPr id="106" name="Text 86"/>
          <p:cNvSpPr/>
          <p:nvPr/>
        </p:nvSpPr>
        <p:spPr>
          <a:xfrm>
            <a:off x="8229600" y="590702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built-in</a:t>
            </a:r>
            <a:endParaRPr lang="en-US" sz="950" dirty="0"/>
          </a:p>
        </p:txBody>
      </p:sp>
      <p:sp>
        <p:nvSpPr>
          <p:cNvPr id="107" name="Shape 87"/>
          <p:cNvSpPr/>
          <p:nvPr/>
        </p:nvSpPr>
        <p:spPr>
          <a:xfrm>
            <a:off x="993038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108" name="Text 88"/>
          <p:cNvSpPr/>
          <p:nvPr/>
        </p:nvSpPr>
        <p:spPr>
          <a:xfrm rot="16200000">
            <a:off x="960120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</a:t>
            </a:r>
            <a:endParaRPr lang="en-US" sz="1200" dirty="0"/>
          </a:p>
        </p:txBody>
      </p:sp>
      <p:sp>
        <p:nvSpPr>
          <p:cNvPr id="109" name="Shape 89"/>
          <p:cNvSpPr/>
          <p:nvPr/>
        </p:nvSpPr>
        <p:spPr>
          <a:xfrm>
            <a:off x="10104120" y="1207008"/>
            <a:ext cx="18745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0" name="Shape 90"/>
          <p:cNvSpPr/>
          <p:nvPr/>
        </p:nvSpPr>
        <p:spPr>
          <a:xfrm>
            <a:off x="10104120" y="1207008"/>
            <a:ext cx="1874520" cy="73152"/>
          </a:xfrm>
          <a:prstGeom prst="rect">
            <a:avLst/>
          </a:prstGeom>
          <a:solidFill>
            <a:srgbClr val="93579C"/>
          </a:solidFill>
          <a:ln w="12700">
            <a:solidFill>
              <a:srgbClr val="93579C"/>
            </a:solidFill>
            <a:prstDash val="solid"/>
          </a:ln>
        </p:spPr>
      </p:sp>
      <p:sp>
        <p:nvSpPr>
          <p:cNvPr id="111" name="Text 91"/>
          <p:cNvSpPr/>
          <p:nvPr/>
        </p:nvSpPr>
        <p:spPr>
          <a:xfrm>
            <a:off x="10104120" y="13716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600" dirty="0"/>
          </a:p>
        </p:txBody>
      </p:sp>
      <p:sp>
        <p:nvSpPr>
          <p:cNvPr id="112" name="Text 92"/>
          <p:cNvSpPr/>
          <p:nvPr/>
        </p:nvSpPr>
        <p:spPr>
          <a:xfrm>
            <a:off x="10104120" y="168249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your customer is buying</a:t>
            </a:r>
            <a:endParaRPr lang="en-US" sz="1000" dirty="0"/>
          </a:p>
        </p:txBody>
      </p:sp>
      <p:sp>
        <p:nvSpPr>
          <p:cNvPr id="113" name="Shape 93"/>
          <p:cNvSpPr/>
          <p:nvPr/>
        </p:nvSpPr>
        <p:spPr>
          <a:xfrm>
            <a:off x="10213848" y="199339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59568" y="2257654"/>
            <a:ext cx="365760" cy="274320"/>
          </a:xfrm>
          <a:prstGeom prst="rect">
            <a:avLst/>
          </a:prstGeom>
        </p:spPr>
      </p:pic>
      <p:sp>
        <p:nvSpPr>
          <p:cNvPr id="115" name="Text 94"/>
          <p:cNvSpPr/>
          <p:nvPr/>
        </p:nvSpPr>
        <p:spPr>
          <a:xfrm>
            <a:off x="10652760" y="206654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1050" dirty="0"/>
          </a:p>
        </p:txBody>
      </p:sp>
      <p:sp>
        <p:nvSpPr>
          <p:cNvPr id="116" name="Text 95"/>
          <p:cNvSpPr/>
          <p:nvPr/>
        </p:nvSpPr>
        <p:spPr>
          <a:xfrm>
            <a:off x="10652760" y="230428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· 10 sheets</a:t>
            </a:r>
            <a:endParaRPr lang="en-US" sz="850" dirty="0"/>
          </a:p>
        </p:txBody>
      </p:sp>
      <p:sp>
        <p:nvSpPr>
          <p:cNvPr id="117" name="Text 96"/>
          <p:cNvSpPr/>
          <p:nvPr/>
        </p:nvSpPr>
        <p:spPr>
          <a:xfrm>
            <a:off x="10652760" y="250545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via Qlik MCP</a:t>
            </a:r>
            <a:endParaRPr lang="en-US" sz="750" dirty="0"/>
          </a:p>
        </p:txBody>
      </p:sp>
      <p:sp>
        <p:nvSpPr>
          <p:cNvPr id="118" name="Shape 97"/>
          <p:cNvSpPr/>
          <p:nvPr/>
        </p:nvSpPr>
        <p:spPr>
          <a:xfrm>
            <a:off x="10213848" y="284195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59568" y="3094787"/>
            <a:ext cx="365760" cy="297180"/>
          </a:xfrm>
          <a:prstGeom prst="rect">
            <a:avLst/>
          </a:prstGeom>
        </p:spPr>
      </p:pic>
      <p:sp>
        <p:nvSpPr>
          <p:cNvPr id="120" name="Text 98"/>
          <p:cNvSpPr/>
          <p:nvPr/>
        </p:nvSpPr>
        <p:spPr>
          <a:xfrm>
            <a:off x="10652760" y="291510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</a:t>
            </a:r>
            <a:endParaRPr lang="en-US" sz="1050" dirty="0"/>
          </a:p>
        </p:txBody>
      </p:sp>
      <p:sp>
        <p:nvSpPr>
          <p:cNvPr id="121" name="Text 99"/>
          <p:cNvSpPr/>
          <p:nvPr/>
        </p:nvSpPr>
        <p:spPr>
          <a:xfrm>
            <a:off x="10652760" y="315285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 · On-time · WISMO</a:t>
            </a:r>
            <a:endParaRPr lang="en-US" sz="850" dirty="0"/>
          </a:p>
        </p:txBody>
      </p:sp>
      <p:sp>
        <p:nvSpPr>
          <p:cNvPr id="122" name="Text 100"/>
          <p:cNvSpPr/>
          <p:nvPr/>
        </p:nvSpPr>
        <p:spPr>
          <a:xfrm>
            <a:off x="10652760" y="335401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data products</a:t>
            </a:r>
            <a:endParaRPr lang="en-US" sz="750" dirty="0"/>
          </a:p>
        </p:txBody>
      </p:sp>
      <p:sp>
        <p:nvSpPr>
          <p:cNvPr id="123" name="Shape 101"/>
          <p:cNvSpPr/>
          <p:nvPr/>
        </p:nvSpPr>
        <p:spPr>
          <a:xfrm>
            <a:off x="10213848" y="3690518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59568" y="3909060"/>
            <a:ext cx="365760" cy="365760"/>
          </a:xfrm>
          <a:prstGeom prst="rect">
            <a:avLst/>
          </a:prstGeom>
        </p:spPr>
      </p:pic>
      <p:sp>
        <p:nvSpPr>
          <p:cNvPr id="125" name="Text 102"/>
          <p:cNvSpPr/>
          <p:nvPr/>
        </p:nvSpPr>
        <p:spPr>
          <a:xfrm>
            <a:off x="10652760" y="3763670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Agentic</a:t>
            </a:r>
            <a:endParaRPr lang="en-US" sz="1050" dirty="0"/>
          </a:p>
        </p:txBody>
      </p:sp>
      <p:sp>
        <p:nvSpPr>
          <p:cNvPr id="126" name="Text 103"/>
          <p:cNvSpPr/>
          <p:nvPr/>
        </p:nvSpPr>
        <p:spPr>
          <a:xfrm>
            <a:off x="10652760" y="4001414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+ MCP</a:t>
            </a:r>
            <a:endParaRPr lang="en-US" sz="850" dirty="0"/>
          </a:p>
        </p:txBody>
      </p:sp>
      <p:sp>
        <p:nvSpPr>
          <p:cNvPr id="127" name="Text 104"/>
          <p:cNvSpPr/>
          <p:nvPr/>
        </p:nvSpPr>
        <p:spPr>
          <a:xfrm>
            <a:off x="10652760" y="4202582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on live data</a:t>
            </a:r>
            <a:endParaRPr lang="en-US" sz="750" dirty="0"/>
          </a:p>
        </p:txBody>
      </p:sp>
      <p:sp>
        <p:nvSpPr>
          <p:cNvPr id="128" name="Shape 105"/>
          <p:cNvSpPr/>
          <p:nvPr/>
        </p:nvSpPr>
        <p:spPr>
          <a:xfrm>
            <a:off x="10213848" y="453908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59568" y="4744560"/>
            <a:ext cx="365760" cy="391886"/>
          </a:xfrm>
          <a:prstGeom prst="rect">
            <a:avLst/>
          </a:prstGeom>
        </p:spPr>
      </p:pic>
      <p:sp>
        <p:nvSpPr>
          <p:cNvPr id="130" name="Text 106"/>
          <p:cNvSpPr/>
          <p:nvPr/>
        </p:nvSpPr>
        <p:spPr>
          <a:xfrm>
            <a:off x="10652760" y="461223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Generative</a:t>
            </a:r>
            <a:endParaRPr lang="en-US" sz="1050" dirty="0"/>
          </a:p>
        </p:txBody>
      </p:sp>
      <p:sp>
        <p:nvSpPr>
          <p:cNvPr id="131" name="Text 107"/>
          <p:cNvSpPr/>
          <p:nvPr/>
        </p:nvSpPr>
        <p:spPr>
          <a:xfrm>
            <a:off x="10652760" y="484997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on 25 docs</a:t>
            </a:r>
            <a:endParaRPr lang="en-US" sz="850" dirty="0"/>
          </a:p>
        </p:txBody>
      </p:sp>
      <p:sp>
        <p:nvSpPr>
          <p:cNvPr id="132" name="Text 108"/>
          <p:cNvSpPr/>
          <p:nvPr/>
        </p:nvSpPr>
        <p:spPr>
          <a:xfrm>
            <a:off x="10652760" y="505114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Cited, grounded RAG</a:t>
            </a:r>
            <a:endParaRPr lang="en-US" sz="750" dirty="0"/>
          </a:p>
        </p:txBody>
      </p:sp>
      <p:sp>
        <p:nvSpPr>
          <p:cNvPr id="133" name="Shape 109"/>
          <p:cNvSpPr/>
          <p:nvPr/>
        </p:nvSpPr>
        <p:spPr>
          <a:xfrm>
            <a:off x="10213848" y="538764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34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59568" y="5606186"/>
            <a:ext cx="365760" cy="365760"/>
          </a:xfrm>
          <a:prstGeom prst="rect">
            <a:avLst/>
          </a:prstGeom>
        </p:spPr>
      </p:pic>
      <p:sp>
        <p:nvSpPr>
          <p:cNvPr id="135" name="Text 110"/>
          <p:cNvSpPr/>
          <p:nvPr/>
        </p:nvSpPr>
        <p:spPr>
          <a:xfrm>
            <a:off x="10652760" y="546079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Predictive</a:t>
            </a:r>
            <a:endParaRPr lang="en-US" sz="1050" dirty="0"/>
          </a:p>
        </p:txBody>
      </p:sp>
      <p:sp>
        <p:nvSpPr>
          <p:cNvPr id="136" name="Text 111"/>
          <p:cNvSpPr/>
          <p:nvPr/>
        </p:nvSpPr>
        <p:spPr>
          <a:xfrm>
            <a:off x="10652760" y="569854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models</a:t>
            </a:r>
            <a:endParaRPr lang="en-US" sz="850" dirty="0"/>
          </a:p>
        </p:txBody>
      </p:sp>
      <p:sp>
        <p:nvSpPr>
          <p:cNvPr id="137" name="Text 112"/>
          <p:cNvSpPr/>
          <p:nvPr/>
        </p:nvSpPr>
        <p:spPr>
          <a:xfrm>
            <a:off x="10652760" y="589970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· SLA risk</a:t>
            </a:r>
            <a:endParaRPr lang="en-US" sz="750" dirty="0"/>
          </a:p>
        </p:txBody>
      </p:sp>
      <p:sp>
        <p:nvSpPr>
          <p:cNvPr id="138" name="Shape 113"/>
          <p:cNvSpPr/>
          <p:nvPr/>
        </p:nvSpPr>
        <p:spPr>
          <a:xfrm>
            <a:off x="228600" y="6291072"/>
            <a:ext cx="11750040" cy="365760"/>
          </a:xfrm>
          <a:prstGeom prst="rect">
            <a:avLst/>
          </a:prstGeom>
          <a:solidFill>
            <a:srgbClr val="19416C"/>
          </a:solidFill>
          <a:ln w="12700">
            <a:solidFill>
              <a:srgbClr val="19416C"/>
            </a:solidFill>
            <a:prstDash val="solid"/>
          </a:ln>
        </p:spPr>
      </p:sp>
      <p:pic>
        <p:nvPicPr>
          <p:cNvPr id="13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9184" y="6345936"/>
            <a:ext cx="219456" cy="256032"/>
          </a:xfrm>
          <a:prstGeom prst="rect">
            <a:avLst/>
          </a:prstGeom>
        </p:spPr>
      </p:pic>
      <p:sp>
        <p:nvSpPr>
          <p:cNvPr id="140" name="Text 114"/>
          <p:cNvSpPr/>
          <p:nvPr/>
        </p:nvSpPr>
        <p:spPr>
          <a:xfrm>
            <a:off x="640080" y="63642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HIPAA · HITRUST · SOC 2 · ISO 27001</a:t>
            </a:r>
            <a:endParaRPr lang="en-US" sz="1000" dirty="0"/>
          </a:p>
        </p:txBody>
      </p:sp>
      <p:sp>
        <p:nvSpPr>
          <p:cNvPr id="141" name="Text 115"/>
          <p:cNvSpPr/>
          <p:nvPr/>
        </p:nvSpPr>
        <p:spPr>
          <a:xfrm>
            <a:off x="4114800" y="6345936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customers buy this story:  </a:t>
            </a:r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 · 15-minute freshness · trusted data products · AI that ships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Marketecture</dc:title>
  <dc:subject>PptxGenJS Presentation</dc:subject>
  <dc:creator>Sales Enablement</dc:creator>
  <cp:lastModifiedBy>Sales Enablement</cp:lastModifiedBy>
  <cp:revision>1</cp:revision>
  <dcterms:created xsi:type="dcterms:W3CDTF">2026-06-12T20:33:59Z</dcterms:created>
  <dcterms:modified xsi:type="dcterms:W3CDTF">2026-06-12T20:33:59Z</dcterms:modified>
</cp:coreProperties>
</file>