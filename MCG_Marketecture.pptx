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· 60 SECONDS
Meridian Commerce Group runs on three systems that never talked: a PostgreSQL warehouse database, cold-chain IoT sensors streaming through Kafka, and Salesforce. Seven data-quality nightmares cost them $127M a year.
The fix is efficiency by design. Two declarative Qlik Cloud Pipelines — version-controlled YAML, imported through the API — land every feed in the Open Lakehouse: Iceberg tables on S3, bronze to silver to gold. Eight transformation routes canonicalize six carrier vocabularies, standardize units, and score trust. Talend validates and geocodes every Salesforce address on a 15-minute cycle, routing the unfixable to Stewardship.
Two governed data products serve the business — read straight from the lakehouse through Amazon Athena, no copies. On top: two analytics apps whose sheets are authored by an AI agent over MCP, Predict models for exceedance and late-delivery risk, Answers grounded on 25 operational documents, and a Discovery Agent watching it all.
One command deploys the whole stack. That's pipelines as code, and AI that actually 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5760" y="10972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 — From Three Silos to Trusted AI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65760" y="53035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— DEMO ENABLEMENT  ·  How MCG lands WMS, IoT, and CRM in the Open Lakehouse for governed analytics and AI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859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COMMERCE HAPPENS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92140" y="8595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OF RECORD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880360" y="859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PIPELINES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60920" y="8595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DECISION-READY FOUNDATION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12680" y="859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THAT SELL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207008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207008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08735"/>
            <a:ext cx="777240" cy="5829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124358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WMS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07008" y="148132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207008" y="166420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 · Shipments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207008" y="1847088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real-time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74320" y="2048256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048256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49983"/>
            <a:ext cx="777240" cy="5829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208483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Cold-chain IoT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07008" y="232257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Tive/Sensitech feeds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207008" y="2505456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 · GPS · Battery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207008" y="2688336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streaming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74320" y="2889504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74320" y="2889504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91231"/>
            <a:ext cx="777240" cy="58293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07008" y="29260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events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207008" y="316382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carrier webhooks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207008" y="334670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languages, 1 stream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207008" y="3529584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streaming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74320" y="3730752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274320" y="3730752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832479"/>
            <a:ext cx="777240" cy="58293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07008" y="37673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CRM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1207008" y="400507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Contacts + orders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207008" y="4187952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master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207008" y="4370832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15 min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274320" y="4572000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274320" y="4572000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73727"/>
            <a:ext cx="777240" cy="58293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207008" y="460857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master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1207008" y="484632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Salesforce objects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207008" y="5029200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· suppliers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207008" y="521208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15 min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274320" y="5413248"/>
            <a:ext cx="24688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274320" y="5413248"/>
            <a:ext cx="54864" cy="786384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76" y="5486400"/>
            <a:ext cx="597408" cy="64008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207008" y="544982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docs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1207008" y="56875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SOPs + contracts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207008" y="587044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DOCX knowledge base</a:t>
            </a:r>
            <a:endParaRPr lang="en-US" sz="900" dirty="0"/>
          </a:p>
        </p:txBody>
      </p:sp>
      <p:sp>
        <p:nvSpPr>
          <p:cNvPr id="51" name="Text 42"/>
          <p:cNvSpPr/>
          <p:nvPr/>
        </p:nvSpPr>
        <p:spPr>
          <a:xfrm>
            <a:off x="1207008" y="6053328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</a:t>
            </a:r>
            <a:endParaRPr lang="en-US" sz="850" dirty="0"/>
          </a:p>
        </p:txBody>
      </p:sp>
      <p:sp>
        <p:nvSpPr>
          <p:cNvPr id="52" name="Shape 43"/>
          <p:cNvSpPr/>
          <p:nvPr/>
        </p:nvSpPr>
        <p:spPr>
          <a:xfrm>
            <a:off x="5692140" y="1207008"/>
            <a:ext cx="1783080" cy="4983480"/>
          </a:xfrm>
          <a:prstGeom prst="rect">
            <a:avLst/>
          </a:prstGeom>
          <a:solidFill>
            <a:srgbClr val="19416C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5692140" y="1207008"/>
            <a:ext cx="1783080" cy="73152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5692140" y="16184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</a:t>
            </a:r>
            <a:endParaRPr lang="en-US" sz="3600" dirty="0"/>
          </a:p>
        </p:txBody>
      </p:sp>
      <p:sp>
        <p:nvSpPr>
          <p:cNvPr id="55" name="Text 46"/>
          <p:cNvSpPr/>
          <p:nvPr/>
        </p:nvSpPr>
        <p:spPr>
          <a:xfrm>
            <a:off x="5692140" y="22860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LAKEHOUSE</a:t>
            </a:r>
            <a:endParaRPr lang="en-US" sz="100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2624328"/>
            <a:ext cx="868680" cy="128016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783580" y="4041648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Iceberg open tables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· silver · gold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feed captured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CDC + streaming + SaaS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via Athena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Glue catalog · any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native</a:t>
            </a:r>
            <a:endParaRPr lang="en-US" sz="9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 · Lineage</a:t>
            </a:r>
            <a:endParaRPr lang="en-US" sz="950" dirty="0"/>
          </a:p>
        </p:txBody>
      </p:sp>
      <p:sp>
        <p:nvSpPr>
          <p:cNvPr id="58" name="Shape 48"/>
          <p:cNvSpPr/>
          <p:nvPr/>
        </p:nvSpPr>
        <p:spPr>
          <a:xfrm>
            <a:off x="5783580" y="5806440"/>
            <a:ext cx="1600200" cy="274320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5783580" y="5806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OPEN STORE ON S3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5486400" y="3602736"/>
            <a:ext cx="164592" cy="192024"/>
          </a:xfrm>
          <a:prstGeom prst="rightArrow">
            <a:avLst/>
          </a:prstGeom>
          <a:solidFill>
            <a:srgbClr val="545659"/>
          </a:solidFill>
          <a:ln w="12700">
            <a:solidFill>
              <a:srgbClr val="545659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 rot="16200000">
            <a:off x="2514600" y="25557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</a:t>
            </a:r>
            <a:endParaRPr lang="en-US" sz="1200" dirty="0"/>
          </a:p>
        </p:txBody>
      </p:sp>
      <p:sp>
        <p:nvSpPr>
          <p:cNvPr id="62" name="Shape 52"/>
          <p:cNvSpPr/>
          <p:nvPr/>
        </p:nvSpPr>
        <p:spPr>
          <a:xfrm>
            <a:off x="3108960" y="1207008"/>
            <a:ext cx="233172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3108960" y="1207008"/>
            <a:ext cx="2331720" cy="73152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3108960" y="1371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Integration</a:t>
            </a:r>
            <a:endParaRPr lang="en-US" sz="1600" dirty="0"/>
          </a:p>
        </p:txBody>
      </p:sp>
      <p:sp>
        <p:nvSpPr>
          <p:cNvPr id="65" name="Text 55"/>
          <p:cNvSpPr/>
          <p:nvPr/>
        </p:nvSpPr>
        <p:spPr>
          <a:xfrm>
            <a:off x="3200400" y="168249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declarative projects land three feeds as code</a:t>
            </a:r>
            <a:endParaRPr lang="en-US" sz="1000" dirty="0"/>
          </a:p>
        </p:txBody>
      </p:sp>
      <p:sp>
        <p:nvSpPr>
          <p:cNvPr id="66" name="Shape 56"/>
          <p:cNvSpPr/>
          <p:nvPr/>
        </p:nvSpPr>
        <p:spPr>
          <a:xfrm>
            <a:off x="3246120" y="1993392"/>
            <a:ext cx="205740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3337560" y="206654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Ingest as Code</a:t>
            </a:r>
            <a:endParaRPr lang="en-US" sz="1300" dirty="0"/>
          </a:p>
        </p:txBody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2377440"/>
            <a:ext cx="1463040" cy="365760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3337560" y="27980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as code</a:t>
            </a:r>
            <a:endParaRPr lang="en-US" sz="1000" dirty="0"/>
          </a:p>
        </p:txBody>
      </p:sp>
      <p:sp>
        <p:nvSpPr>
          <p:cNvPr id="70" name="Text 59"/>
          <p:cNvSpPr/>
          <p:nvPr/>
        </p:nvSpPr>
        <p:spPr>
          <a:xfrm>
            <a:off x="3337560" y="2962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YAML, via API</a:t>
            </a:r>
            <a:endParaRPr lang="en-US" sz="1000" dirty="0"/>
          </a:p>
        </p:txBody>
      </p:sp>
      <p:sp>
        <p:nvSpPr>
          <p:cNvPr id="71" name="Shape 60"/>
          <p:cNvSpPr/>
          <p:nvPr/>
        </p:nvSpPr>
        <p:spPr>
          <a:xfrm>
            <a:off x="3246120" y="3273552"/>
            <a:ext cx="2057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3337560" y="33467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Cleanse + Conform</a:t>
            </a:r>
            <a:endParaRPr lang="en-US" sz="1200" dirty="0"/>
          </a:p>
        </p:txBody>
      </p:sp>
      <p:pic>
        <p:nvPicPr>
          <p:cNvPr id="7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9272" y="3731323"/>
            <a:ext cx="502920" cy="565785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3886200" y="363931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silver routes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+ UoM fixes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+ Nominatim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validation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Stewardship the rest</a:t>
            </a:r>
            <a:endParaRPr lang="en-US" sz="950" dirty="0"/>
          </a:p>
        </p:txBody>
      </p:sp>
      <p:sp>
        <p:nvSpPr>
          <p:cNvPr id="75" name="Shape 63"/>
          <p:cNvSpPr/>
          <p:nvPr/>
        </p:nvSpPr>
        <p:spPr>
          <a:xfrm>
            <a:off x="3246120" y="4645152"/>
            <a:ext cx="2057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76" name="Text 64"/>
          <p:cNvSpPr/>
          <p:nvPr/>
        </p:nvSpPr>
        <p:spPr>
          <a:xfrm>
            <a:off x="3337560" y="471830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Serve Gold Products</a:t>
            </a:r>
            <a:endParaRPr lang="en-US" sz="1200" dirty="0"/>
          </a:p>
        </p:txBody>
      </p:sp>
      <p:pic>
        <p:nvPicPr>
          <p:cNvPr id="7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9272" y="5166360"/>
            <a:ext cx="502920" cy="502920"/>
          </a:xfrm>
          <a:prstGeom prst="rect">
            <a:avLst/>
          </a:prstGeom>
        </p:spPr>
      </p:pic>
      <p:sp>
        <p:nvSpPr>
          <p:cNvPr id="78" name="Text 65"/>
          <p:cNvSpPr/>
          <p:nvPr/>
        </p:nvSpPr>
        <p:spPr>
          <a:xfrm>
            <a:off x="3886200" y="5010912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data products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API-attached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06:00 UTC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to any engine</a:t>
            </a:r>
            <a:endParaRPr lang="en-US" sz="950" dirty="0"/>
          </a:p>
        </p:txBody>
      </p:sp>
      <p:sp>
        <p:nvSpPr>
          <p:cNvPr id="79" name="Shape 66"/>
          <p:cNvSpPr/>
          <p:nvPr/>
        </p:nvSpPr>
        <p:spPr>
          <a:xfrm>
            <a:off x="7516368" y="3602736"/>
            <a:ext cx="164592" cy="192024"/>
          </a:xfrm>
          <a:prstGeom prst="rightArrow">
            <a:avLst/>
          </a:prstGeom>
          <a:solidFill>
            <a:srgbClr val="545659"/>
          </a:solidFill>
          <a:ln w="12700">
            <a:solidFill>
              <a:srgbClr val="545659"/>
            </a:solidFill>
            <a:prstDash val="solid"/>
          </a:ln>
        </p:spPr>
      </p:sp>
      <p:sp>
        <p:nvSpPr>
          <p:cNvPr id="80" name="Text 67"/>
          <p:cNvSpPr/>
          <p:nvPr/>
        </p:nvSpPr>
        <p:spPr>
          <a:xfrm rot="16200000">
            <a:off x="5157216" y="25557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</a:t>
            </a:r>
            <a:endParaRPr lang="en-US" sz="1200" dirty="0"/>
          </a:p>
        </p:txBody>
      </p:sp>
      <p:sp>
        <p:nvSpPr>
          <p:cNvPr id="81" name="Shape 68"/>
          <p:cNvSpPr/>
          <p:nvPr/>
        </p:nvSpPr>
        <p:spPr>
          <a:xfrm>
            <a:off x="7726680" y="1207008"/>
            <a:ext cx="219456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7726680" y="1207008"/>
            <a:ext cx="2194560" cy="73152"/>
          </a:xfrm>
          <a:prstGeom prst="rect">
            <a:avLst/>
          </a:prstGeom>
          <a:solidFill>
            <a:srgbClr val="006580"/>
          </a:solidFill>
          <a:ln w="12700">
            <a:solidFill>
              <a:srgbClr val="006580"/>
            </a:solidFill>
            <a:prstDash val="solid"/>
          </a:ln>
        </p:spPr>
      </p:sp>
      <p:sp>
        <p:nvSpPr>
          <p:cNvPr id="83" name="Text 70"/>
          <p:cNvSpPr/>
          <p:nvPr/>
        </p:nvSpPr>
        <p:spPr>
          <a:xfrm>
            <a:off x="7726680" y="1371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Workload</a:t>
            </a:r>
            <a:endParaRPr lang="en-US" sz="1600" dirty="0"/>
          </a:p>
        </p:txBody>
      </p:sp>
      <p:sp>
        <p:nvSpPr>
          <p:cNvPr id="84" name="Text 71"/>
          <p:cNvSpPr/>
          <p:nvPr/>
        </p:nvSpPr>
        <p:spPr>
          <a:xfrm>
            <a:off x="7726680" y="1682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Curated · Governed · Always-on</a:t>
            </a:r>
            <a:endParaRPr lang="en-US" sz="1000" dirty="0"/>
          </a:p>
        </p:txBody>
      </p:sp>
      <p:sp>
        <p:nvSpPr>
          <p:cNvPr id="85" name="Shape 72"/>
          <p:cNvSpPr/>
          <p:nvPr/>
        </p:nvSpPr>
        <p:spPr>
          <a:xfrm>
            <a:off x="7863840" y="1993392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8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6992" y="2193646"/>
            <a:ext cx="420624" cy="294437"/>
          </a:xfrm>
          <a:prstGeom prst="rect">
            <a:avLst/>
          </a:prstGeom>
        </p:spPr>
      </p:pic>
      <p:sp>
        <p:nvSpPr>
          <p:cNvPr id="87" name="Text 73"/>
          <p:cNvSpPr/>
          <p:nvPr/>
        </p:nvSpPr>
        <p:spPr>
          <a:xfrm>
            <a:off x="8394192" y="213969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Platform</a:t>
            </a:r>
            <a:endParaRPr lang="en-US" sz="1100" dirty="0"/>
          </a:p>
        </p:txBody>
      </p:sp>
      <p:sp>
        <p:nvSpPr>
          <p:cNvPr id="88" name="Text 74"/>
          <p:cNvSpPr/>
          <p:nvPr/>
        </p:nvSpPr>
        <p:spPr>
          <a:xfrm>
            <a:off x="8394192" y="23957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Scales with the business</a:t>
            </a:r>
            <a:endParaRPr lang="en-US" sz="850" dirty="0"/>
          </a:p>
        </p:txBody>
      </p:sp>
      <p:sp>
        <p:nvSpPr>
          <p:cNvPr id="89" name="Shape 75"/>
          <p:cNvSpPr/>
          <p:nvPr/>
        </p:nvSpPr>
        <p:spPr>
          <a:xfrm>
            <a:off x="7863840" y="2843784"/>
            <a:ext cx="1920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6992" y="3008376"/>
            <a:ext cx="420624" cy="420624"/>
          </a:xfrm>
          <a:prstGeom prst="rect">
            <a:avLst/>
          </a:prstGeom>
        </p:spPr>
      </p:pic>
      <p:sp>
        <p:nvSpPr>
          <p:cNvPr id="91" name="Text 76"/>
          <p:cNvSpPr/>
          <p:nvPr/>
        </p:nvSpPr>
        <p:spPr>
          <a:xfrm>
            <a:off x="8412480" y="300837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Metrics</a:t>
            </a:r>
            <a:endParaRPr lang="en-US" sz="1100" dirty="0"/>
          </a:p>
        </p:txBody>
      </p:sp>
      <p:sp>
        <p:nvSpPr>
          <p:cNvPr id="92" name="Text 77"/>
          <p:cNvSpPr/>
          <p:nvPr/>
        </p:nvSpPr>
        <p:spPr>
          <a:xfrm>
            <a:off x="8412480" y="32644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Qlik Trust Score</a:t>
            </a:r>
            <a:endParaRPr lang="en-US" sz="900" dirty="0"/>
          </a:p>
        </p:txBody>
      </p:sp>
      <p:sp>
        <p:nvSpPr>
          <p:cNvPr id="93" name="Shape 78"/>
          <p:cNvSpPr/>
          <p:nvPr/>
        </p:nvSpPr>
        <p:spPr>
          <a:xfrm>
            <a:off x="7863840" y="3694176"/>
            <a:ext cx="1920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94" name="Text 79"/>
          <p:cNvSpPr/>
          <p:nvPr/>
        </p:nvSpPr>
        <p:spPr>
          <a:xfrm>
            <a:off x="795528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Foundation</a:t>
            </a:r>
            <a:endParaRPr lang="en-US" sz="1200" dirty="0"/>
          </a:p>
        </p:txBody>
      </p:sp>
      <p:pic>
        <p:nvPicPr>
          <p:cNvPr id="9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6992" y="4104513"/>
            <a:ext cx="420624" cy="368046"/>
          </a:xfrm>
          <a:prstGeom prst="rect">
            <a:avLst/>
          </a:prstGeom>
        </p:spPr>
      </p:pic>
      <p:sp>
        <p:nvSpPr>
          <p:cNvPr id="96" name="Text 80"/>
          <p:cNvSpPr/>
          <p:nvPr/>
        </p:nvSpPr>
        <p:spPr>
          <a:xfrm>
            <a:off x="8394192" y="4059936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trained 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lakehouse datasets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Exceedance + late-delivery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on governed data</a:t>
            </a:r>
            <a:endParaRPr lang="en-US" sz="900" dirty="0"/>
          </a:p>
        </p:txBody>
      </p:sp>
      <p:sp>
        <p:nvSpPr>
          <p:cNvPr id="97" name="Shape 81"/>
          <p:cNvSpPr/>
          <p:nvPr/>
        </p:nvSpPr>
        <p:spPr>
          <a:xfrm>
            <a:off x="7863840" y="4956048"/>
            <a:ext cx="1920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98" name="Text 82"/>
          <p:cNvSpPr/>
          <p:nvPr/>
        </p:nvSpPr>
        <p:spPr>
          <a:xfrm>
            <a:off x="7955280" y="5029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 &amp; Security</a:t>
            </a:r>
            <a:endParaRPr lang="en-US" sz="1200" dirty="0"/>
          </a:p>
        </p:txBody>
      </p:sp>
      <p:pic>
        <p:nvPicPr>
          <p:cNvPr id="9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3568" y="5257800"/>
            <a:ext cx="219456" cy="219456"/>
          </a:xfrm>
          <a:prstGeom prst="rect">
            <a:avLst/>
          </a:prstGeom>
        </p:spPr>
      </p:pic>
      <p:sp>
        <p:nvSpPr>
          <p:cNvPr id="100" name="Text 83"/>
          <p:cNvSpPr/>
          <p:nvPr/>
        </p:nvSpPr>
        <p:spPr>
          <a:xfrm>
            <a:off x="8229600" y="5276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</a:t>
            </a:r>
            <a:endParaRPr lang="en-US" sz="950" dirty="0"/>
          </a:p>
        </p:txBody>
      </p:sp>
      <p:pic>
        <p:nvPicPr>
          <p:cNvPr id="10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3568" y="5468112"/>
            <a:ext cx="219456" cy="219456"/>
          </a:xfrm>
          <a:prstGeom prst="rect">
            <a:avLst/>
          </a:prstGeom>
        </p:spPr>
      </p:pic>
      <p:sp>
        <p:nvSpPr>
          <p:cNvPr id="102" name="Text 84"/>
          <p:cNvSpPr/>
          <p:nvPr/>
        </p:nvSpPr>
        <p:spPr>
          <a:xfrm>
            <a:off x="8229600" y="5486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analysis</a:t>
            </a:r>
            <a:endParaRPr lang="en-US" sz="950" dirty="0"/>
          </a:p>
        </p:txBody>
      </p:sp>
      <p:pic>
        <p:nvPicPr>
          <p:cNvPr id="10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3568" y="5678424"/>
            <a:ext cx="219456" cy="219456"/>
          </a:xfrm>
          <a:prstGeom prst="rect">
            <a:avLst/>
          </a:prstGeom>
        </p:spPr>
      </p:pic>
      <p:sp>
        <p:nvSpPr>
          <p:cNvPr id="104" name="Text 85"/>
          <p:cNvSpPr/>
          <p:nvPr/>
        </p:nvSpPr>
        <p:spPr>
          <a:xfrm>
            <a:off x="8229600" y="5696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access</a:t>
            </a:r>
            <a:endParaRPr lang="en-US" sz="950" dirty="0"/>
          </a:p>
        </p:txBody>
      </p:sp>
      <p:pic>
        <p:nvPicPr>
          <p:cNvPr id="10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73568" y="5888736"/>
            <a:ext cx="219456" cy="219456"/>
          </a:xfrm>
          <a:prstGeom prst="rect">
            <a:avLst/>
          </a:prstGeom>
        </p:spPr>
      </p:pic>
      <p:sp>
        <p:nvSpPr>
          <p:cNvPr id="106" name="Text 86"/>
          <p:cNvSpPr/>
          <p:nvPr/>
        </p:nvSpPr>
        <p:spPr>
          <a:xfrm>
            <a:off x="8229600" y="59070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built-in</a:t>
            </a:r>
            <a:endParaRPr lang="en-US" sz="950" dirty="0"/>
          </a:p>
        </p:txBody>
      </p:sp>
      <p:sp>
        <p:nvSpPr>
          <p:cNvPr id="107" name="Shape 87"/>
          <p:cNvSpPr/>
          <p:nvPr/>
        </p:nvSpPr>
        <p:spPr>
          <a:xfrm>
            <a:off x="9930384" y="3602736"/>
            <a:ext cx="164592" cy="192024"/>
          </a:xfrm>
          <a:prstGeom prst="rightArrow">
            <a:avLst/>
          </a:prstGeom>
          <a:solidFill>
            <a:srgbClr val="545659"/>
          </a:solidFill>
          <a:ln w="12700">
            <a:solidFill>
              <a:srgbClr val="545659"/>
            </a:solidFill>
            <a:prstDash val="solid"/>
          </a:ln>
        </p:spPr>
      </p:sp>
      <p:sp>
        <p:nvSpPr>
          <p:cNvPr id="108" name="Text 88"/>
          <p:cNvSpPr/>
          <p:nvPr/>
        </p:nvSpPr>
        <p:spPr>
          <a:xfrm rot="16200000">
            <a:off x="7187184" y="25557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</a:t>
            </a:r>
            <a:endParaRPr lang="en-US" sz="1200" dirty="0"/>
          </a:p>
        </p:txBody>
      </p:sp>
      <p:sp>
        <p:nvSpPr>
          <p:cNvPr id="109" name="Shape 89"/>
          <p:cNvSpPr/>
          <p:nvPr/>
        </p:nvSpPr>
        <p:spPr>
          <a:xfrm>
            <a:off x="10104120" y="1207008"/>
            <a:ext cx="187452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sp>
        <p:nvSpPr>
          <p:cNvPr id="110" name="Shape 90"/>
          <p:cNvSpPr/>
          <p:nvPr/>
        </p:nvSpPr>
        <p:spPr>
          <a:xfrm>
            <a:off x="10104120" y="1207008"/>
            <a:ext cx="1874520" cy="73152"/>
          </a:xfrm>
          <a:prstGeom prst="rect">
            <a:avLst/>
          </a:prstGeom>
          <a:solidFill>
            <a:srgbClr val="93579C"/>
          </a:solidFill>
          <a:ln w="12700">
            <a:solidFill>
              <a:srgbClr val="93579C"/>
            </a:solidFill>
            <a:prstDash val="solid"/>
          </a:ln>
        </p:spPr>
      </p:sp>
      <p:sp>
        <p:nvSpPr>
          <p:cNvPr id="111" name="Text 91"/>
          <p:cNvSpPr/>
          <p:nvPr/>
        </p:nvSpPr>
        <p:spPr>
          <a:xfrm>
            <a:off x="10104120" y="13716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Outcomes</a:t>
            </a:r>
            <a:endParaRPr lang="en-US" sz="1600" dirty="0"/>
          </a:p>
        </p:txBody>
      </p:sp>
      <p:sp>
        <p:nvSpPr>
          <p:cNvPr id="112" name="Text 92"/>
          <p:cNvSpPr/>
          <p:nvPr/>
        </p:nvSpPr>
        <p:spPr>
          <a:xfrm>
            <a:off x="10104120" y="16824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your customer is buying</a:t>
            </a:r>
            <a:endParaRPr lang="en-US" sz="1000" dirty="0"/>
          </a:p>
        </p:txBody>
      </p:sp>
      <p:sp>
        <p:nvSpPr>
          <p:cNvPr id="113" name="Shape 93"/>
          <p:cNvSpPr/>
          <p:nvPr/>
        </p:nvSpPr>
        <p:spPr>
          <a:xfrm>
            <a:off x="10213848" y="1993392"/>
            <a:ext cx="1655064" cy="802843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11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59568" y="2257654"/>
            <a:ext cx="365760" cy="274320"/>
          </a:xfrm>
          <a:prstGeom prst="rect">
            <a:avLst/>
          </a:prstGeom>
        </p:spPr>
      </p:pic>
      <p:sp>
        <p:nvSpPr>
          <p:cNvPr id="115" name="Text 94"/>
          <p:cNvSpPr/>
          <p:nvPr/>
        </p:nvSpPr>
        <p:spPr>
          <a:xfrm>
            <a:off x="10652760" y="2066544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</a:t>
            </a:r>
            <a:endParaRPr lang="en-US" sz="1050" dirty="0"/>
          </a:p>
        </p:txBody>
      </p:sp>
      <p:sp>
        <p:nvSpPr>
          <p:cNvPr id="116" name="Text 95"/>
          <p:cNvSpPr/>
          <p:nvPr/>
        </p:nvSpPr>
        <p:spPr>
          <a:xfrm>
            <a:off x="10652760" y="230428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apps · 10 sheets</a:t>
            </a:r>
            <a:endParaRPr lang="en-US" sz="850" dirty="0"/>
          </a:p>
        </p:txBody>
      </p:sp>
      <p:sp>
        <p:nvSpPr>
          <p:cNvPr id="117" name="Text 96"/>
          <p:cNvSpPr/>
          <p:nvPr/>
        </p:nvSpPr>
        <p:spPr>
          <a:xfrm>
            <a:off x="10652760" y="250545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57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Sheets via Qlik MCP</a:t>
            </a:r>
            <a:endParaRPr lang="en-US" sz="750" dirty="0"/>
          </a:p>
        </p:txBody>
      </p:sp>
      <p:sp>
        <p:nvSpPr>
          <p:cNvPr id="118" name="Shape 97"/>
          <p:cNvSpPr/>
          <p:nvPr/>
        </p:nvSpPr>
        <p:spPr>
          <a:xfrm>
            <a:off x="10213848" y="2841955"/>
            <a:ext cx="1655064" cy="802843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11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59568" y="3094787"/>
            <a:ext cx="365760" cy="297180"/>
          </a:xfrm>
          <a:prstGeom prst="rect">
            <a:avLst/>
          </a:prstGeom>
        </p:spPr>
      </p:pic>
      <p:sp>
        <p:nvSpPr>
          <p:cNvPr id="120" name="Text 98"/>
          <p:cNvSpPr/>
          <p:nvPr/>
        </p:nvSpPr>
        <p:spPr>
          <a:xfrm>
            <a:off x="10652760" y="2915107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</a:t>
            </a:r>
            <a:endParaRPr lang="en-US" sz="1050" dirty="0"/>
          </a:p>
        </p:txBody>
      </p:sp>
      <p:sp>
        <p:nvSpPr>
          <p:cNvPr id="121" name="Text 99"/>
          <p:cNvSpPr/>
          <p:nvPr/>
        </p:nvSpPr>
        <p:spPr>
          <a:xfrm>
            <a:off x="10652760" y="3152851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 · On-time · WISMO</a:t>
            </a:r>
            <a:endParaRPr lang="en-US" sz="850" dirty="0"/>
          </a:p>
        </p:txBody>
      </p:sp>
      <p:sp>
        <p:nvSpPr>
          <p:cNvPr id="122" name="Text 100"/>
          <p:cNvSpPr/>
          <p:nvPr/>
        </p:nvSpPr>
        <p:spPr>
          <a:xfrm>
            <a:off x="10652760" y="3354019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57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data products</a:t>
            </a:r>
            <a:endParaRPr lang="en-US" sz="750" dirty="0"/>
          </a:p>
        </p:txBody>
      </p:sp>
      <p:sp>
        <p:nvSpPr>
          <p:cNvPr id="123" name="Shape 101"/>
          <p:cNvSpPr/>
          <p:nvPr/>
        </p:nvSpPr>
        <p:spPr>
          <a:xfrm>
            <a:off x="10213848" y="3690518"/>
            <a:ext cx="1655064" cy="802843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12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59568" y="3909060"/>
            <a:ext cx="365760" cy="365760"/>
          </a:xfrm>
          <a:prstGeom prst="rect">
            <a:avLst/>
          </a:prstGeom>
        </p:spPr>
      </p:pic>
      <p:sp>
        <p:nvSpPr>
          <p:cNvPr id="125" name="Text 102"/>
          <p:cNvSpPr/>
          <p:nvPr/>
        </p:nvSpPr>
        <p:spPr>
          <a:xfrm>
            <a:off x="10652760" y="3763670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Agentic</a:t>
            </a:r>
            <a:endParaRPr lang="en-US" sz="1050" dirty="0"/>
          </a:p>
        </p:txBody>
      </p:sp>
      <p:sp>
        <p:nvSpPr>
          <p:cNvPr id="126" name="Text 103"/>
          <p:cNvSpPr/>
          <p:nvPr/>
        </p:nvSpPr>
        <p:spPr>
          <a:xfrm>
            <a:off x="10652760" y="400141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Agent + MCP</a:t>
            </a:r>
            <a:endParaRPr lang="en-US" sz="850" dirty="0"/>
          </a:p>
        </p:txBody>
      </p:sp>
      <p:sp>
        <p:nvSpPr>
          <p:cNvPr id="127" name="Text 104"/>
          <p:cNvSpPr/>
          <p:nvPr/>
        </p:nvSpPr>
        <p:spPr>
          <a:xfrm>
            <a:off x="10652760" y="4202582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57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on live data</a:t>
            </a:r>
            <a:endParaRPr lang="en-US" sz="750" dirty="0"/>
          </a:p>
        </p:txBody>
      </p:sp>
      <p:sp>
        <p:nvSpPr>
          <p:cNvPr id="128" name="Shape 105"/>
          <p:cNvSpPr/>
          <p:nvPr/>
        </p:nvSpPr>
        <p:spPr>
          <a:xfrm>
            <a:off x="10213848" y="4539082"/>
            <a:ext cx="1655064" cy="802843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1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9568" y="4744560"/>
            <a:ext cx="365760" cy="391886"/>
          </a:xfrm>
          <a:prstGeom prst="rect">
            <a:avLst/>
          </a:prstGeom>
        </p:spPr>
      </p:pic>
      <p:sp>
        <p:nvSpPr>
          <p:cNvPr id="130" name="Text 106"/>
          <p:cNvSpPr/>
          <p:nvPr/>
        </p:nvSpPr>
        <p:spPr>
          <a:xfrm>
            <a:off x="10652760" y="4612234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Generative</a:t>
            </a:r>
            <a:endParaRPr lang="en-US" sz="1050" dirty="0"/>
          </a:p>
        </p:txBody>
      </p:sp>
      <p:sp>
        <p:nvSpPr>
          <p:cNvPr id="131" name="Text 107"/>
          <p:cNvSpPr/>
          <p:nvPr/>
        </p:nvSpPr>
        <p:spPr>
          <a:xfrm>
            <a:off x="10652760" y="4849978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on 25 docs</a:t>
            </a:r>
            <a:endParaRPr lang="en-US" sz="850" dirty="0"/>
          </a:p>
        </p:txBody>
      </p:sp>
      <p:sp>
        <p:nvSpPr>
          <p:cNvPr id="132" name="Text 108"/>
          <p:cNvSpPr/>
          <p:nvPr/>
        </p:nvSpPr>
        <p:spPr>
          <a:xfrm>
            <a:off x="10652760" y="505114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57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Cited, grounded RAG</a:t>
            </a:r>
            <a:endParaRPr lang="en-US" sz="750" dirty="0"/>
          </a:p>
        </p:txBody>
      </p:sp>
      <p:sp>
        <p:nvSpPr>
          <p:cNvPr id="133" name="Shape 109"/>
          <p:cNvSpPr/>
          <p:nvPr/>
        </p:nvSpPr>
        <p:spPr>
          <a:xfrm>
            <a:off x="10213848" y="5387645"/>
            <a:ext cx="1655064" cy="802843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  <a:prstDash val="solid"/>
          </a:ln>
        </p:spPr>
      </p:sp>
      <p:pic>
        <p:nvPicPr>
          <p:cNvPr id="13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59568" y="5606186"/>
            <a:ext cx="365760" cy="365760"/>
          </a:xfrm>
          <a:prstGeom prst="rect">
            <a:avLst/>
          </a:prstGeom>
        </p:spPr>
      </p:pic>
      <p:sp>
        <p:nvSpPr>
          <p:cNvPr id="135" name="Text 110"/>
          <p:cNvSpPr/>
          <p:nvPr/>
        </p:nvSpPr>
        <p:spPr>
          <a:xfrm>
            <a:off x="10652760" y="5460797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Predictive</a:t>
            </a:r>
            <a:endParaRPr lang="en-US" sz="1050" dirty="0"/>
          </a:p>
        </p:txBody>
      </p:sp>
      <p:sp>
        <p:nvSpPr>
          <p:cNvPr id="136" name="Text 111"/>
          <p:cNvSpPr/>
          <p:nvPr/>
        </p:nvSpPr>
        <p:spPr>
          <a:xfrm>
            <a:off x="10652760" y="5698541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Predict models</a:t>
            </a:r>
            <a:endParaRPr lang="en-US" sz="850" dirty="0"/>
          </a:p>
        </p:txBody>
      </p:sp>
      <p:sp>
        <p:nvSpPr>
          <p:cNvPr id="137" name="Text 112"/>
          <p:cNvSpPr/>
          <p:nvPr/>
        </p:nvSpPr>
        <p:spPr>
          <a:xfrm>
            <a:off x="10652760" y="5899709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357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Exceedance · SLA risk</a:t>
            </a:r>
            <a:endParaRPr lang="en-US" sz="750" dirty="0"/>
          </a:p>
        </p:txBody>
      </p:sp>
      <p:sp>
        <p:nvSpPr>
          <p:cNvPr id="138" name="Shape 113"/>
          <p:cNvSpPr/>
          <p:nvPr/>
        </p:nvSpPr>
        <p:spPr>
          <a:xfrm>
            <a:off x="228600" y="6291072"/>
            <a:ext cx="11750040" cy="365760"/>
          </a:xfrm>
          <a:prstGeom prst="rect">
            <a:avLst/>
          </a:prstGeom>
          <a:solidFill>
            <a:srgbClr val="19416C"/>
          </a:solidFill>
          <a:ln w="12700">
            <a:solidFill>
              <a:srgbClr val="19416C"/>
            </a:solidFill>
            <a:prstDash val="solid"/>
          </a:ln>
        </p:spPr>
      </p:sp>
      <p:pic>
        <p:nvPicPr>
          <p:cNvPr id="13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9184" y="6345936"/>
            <a:ext cx="219456" cy="256032"/>
          </a:xfrm>
          <a:prstGeom prst="rect">
            <a:avLst/>
          </a:prstGeom>
        </p:spPr>
      </p:pic>
      <p:sp>
        <p:nvSpPr>
          <p:cNvPr id="140" name="Text 114"/>
          <p:cNvSpPr/>
          <p:nvPr/>
        </p:nvSpPr>
        <p:spPr>
          <a:xfrm>
            <a:off x="640080" y="6364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HIPAA · HITRUST · SOC 2 · ISO 27001</a:t>
            </a:r>
            <a:endParaRPr lang="en-US" sz="1000" dirty="0"/>
          </a:p>
        </p:txBody>
      </p:sp>
      <p:sp>
        <p:nvSpPr>
          <p:cNvPr id="141" name="Text 115"/>
          <p:cNvSpPr/>
          <p:nvPr/>
        </p:nvSpPr>
        <p:spPr>
          <a:xfrm>
            <a:off x="4114800" y="6345936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customers buy this story:  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as code · 15-minute freshness · trusted data products · AI that ships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Marketecture</dc:title>
  <dc:subject>PptxGenJS Presentation</dc:subject>
  <dc:creator>Sales Enablement</dc:creator>
  <cp:lastModifiedBy>Sales Enablement</cp:lastModifiedBy>
  <cp:revision>1</cp:revision>
  <dcterms:created xsi:type="dcterms:W3CDTF">2026-06-15T14:44:51Z</dcterms:created>
  <dcterms:modified xsi:type="dcterms:W3CDTF">2026-06-15T14:44:51Z</dcterms:modified>
</cp:coreProperties>
</file>