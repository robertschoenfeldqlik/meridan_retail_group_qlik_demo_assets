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6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3716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1965960"/>
            <a:ext cx="8686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</a:t>
            </a:r>
            <a:endParaRPr lang="en-US" sz="5200" dirty="0"/>
          </a:p>
        </p:txBody>
      </p:sp>
      <p:sp>
        <p:nvSpPr>
          <p:cNvPr id="6" name="Text 2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end-to-end Qlik Cloud demo</a:t>
            </a:r>
            <a:endParaRPr lang="en-US" sz="2000" dirty="0"/>
          </a:p>
        </p:txBody>
      </p:sp>
      <p:sp>
        <p:nvSpPr>
          <p:cNvPr id="7" name="Text 3"/>
          <p:cNvSpPr/>
          <p:nvPr/>
        </p:nvSpPr>
        <p:spPr>
          <a:xfrm>
            <a:off x="457200" y="36576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+ Clarity:  from 7 data-quality nightmares to a trusted, AI-ready platform.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3310128" y="512064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3310128" y="512064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163056" y="512064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4CB393"/>
          </a:solidFill>
          <a:ln/>
        </p:spPr>
      </p:sp>
      <p:sp>
        <p:nvSpPr>
          <p:cNvPr id="13" name="Text 9"/>
          <p:cNvSpPr/>
          <p:nvPr/>
        </p:nvSpPr>
        <p:spPr>
          <a:xfrm>
            <a:off x="6163056" y="512064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9015984" y="512064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009845"/>
          </a:solidFill>
          <a:ln/>
        </p:spPr>
      </p:sp>
      <p:sp>
        <p:nvSpPr>
          <p:cNvPr id="15" name="Text 11"/>
          <p:cNvSpPr/>
          <p:nvPr/>
        </p:nvSpPr>
        <p:spPr>
          <a:xfrm>
            <a:off x="9015984" y="512064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Project Qlarity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initiative in plain terms — one fictional retailer, one messy estate, one unified Qlik platform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005840"/>
          </a:xfrm>
          <a:prstGeom prst="roundRect">
            <a:avLst>
              <a:gd name="adj" fmla="val 10909"/>
            </a:avLst>
          </a:prstGeom>
          <a:solidFill>
            <a:srgbClr val="E0F5EA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"Qlik"  +  "Clarity"  =  </a:t>
            </a:r>
            <a:pPr indent="0" marL="0">
              <a:buNone/>
            </a:pPr>
            <a:r>
              <a:rPr lang="en-US" sz="2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31520" y="1810512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Turning a fragmented data mess into a single trusted, AI-ready Qlik data platform.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2514600"/>
            <a:ext cx="5532120" cy="3063240"/>
          </a:xfrm>
          <a:prstGeom prst="roundRect">
            <a:avLst>
              <a:gd name="adj" fmla="val 3582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260604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260604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is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792" y="266090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6" name="Image 1" descr="C:\Claude\MCG Full Stack\generators\assets\icons\clou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2726924"/>
            <a:ext cx="215433" cy="215433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13232" y="322783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Meridian Commerce Group (MCG) — a fictional global retail / commerce company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83133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MCG's data estate is scattered across 47 fragmented systems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443484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Project Qlarity is the transformation of that mess into one Qlik Cloud platform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713232" y="503834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 complete, presentable end-to-end Qlik demo environment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172200" y="2514600"/>
            <a:ext cx="5532120" cy="3063240"/>
          </a:xfrm>
          <a:prstGeom prst="roundRect">
            <a:avLst>
              <a:gd name="adj" fmla="val 358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63640" y="260604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3" name="Text 19"/>
          <p:cNvSpPr/>
          <p:nvPr/>
        </p:nvSpPr>
        <p:spPr>
          <a:xfrm>
            <a:off x="6263640" y="260604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comes to life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6336792" y="266090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5" name="Image 2" descr="C:\Claude\MCG Full Stack\generators\assets\icons\gatew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812" y="2726924"/>
            <a:ext cx="215433" cy="215433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428232" y="322783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One git repository holds the whole demo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428232" y="383133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One command — npm run deploy — stands it up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428232" y="443484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 self-hosted MCG Deploy console (web wizard) drives it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6428232" y="503834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Four connected stories: Integrations, Governance, Analytics, AI &amp; Outcomes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31" name="Text 26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7 data-quality nightmares (~$127M/year, 47 systems) to gold data products, governed knowledge, and AI outcomes — all in one repo.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Qlarity — why MCG's data estate needs a transformation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7160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16002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4600" dirty="0"/>
          </a:p>
        </p:txBody>
      </p:sp>
      <p:sp>
        <p:nvSpPr>
          <p:cNvPr id="11" name="Text 8"/>
          <p:cNvSpPr/>
          <p:nvPr/>
        </p:nvSpPr>
        <p:spPr>
          <a:xfrm>
            <a:off x="640080" y="2606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nightmares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85800" y="310896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failure patterns across the estate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251960" y="137160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51960" y="16002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~$127M</a:t>
            </a:r>
            <a:endParaRPr lang="en-US" sz="4600" dirty="0"/>
          </a:p>
        </p:txBody>
      </p:sp>
      <p:sp>
        <p:nvSpPr>
          <p:cNvPr id="15" name="Text 12"/>
          <p:cNvSpPr/>
          <p:nvPr/>
        </p:nvSpPr>
        <p:spPr>
          <a:xfrm>
            <a:off x="4434840" y="2606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per year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480560" y="310896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price of dirty, fragmented data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46720" y="137160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046720" y="16002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</a:t>
            </a:r>
            <a:endParaRPr lang="en-US" sz="4600" dirty="0"/>
          </a:p>
        </p:txBody>
      </p:sp>
      <p:sp>
        <p:nvSpPr>
          <p:cNvPr id="19" name="Text 16"/>
          <p:cNvSpPr/>
          <p:nvPr/>
        </p:nvSpPr>
        <p:spPr>
          <a:xfrm>
            <a:off x="8229600" y="2606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fragmented systems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275320" y="310896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single, trusted source of truth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416052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2" name="Text 19"/>
          <p:cNvSpPr/>
          <p:nvPr/>
        </p:nvSpPr>
        <p:spPr>
          <a:xfrm>
            <a:off x="731520" y="417880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Symptoms show up everywhere: WISMO calls, cold-chain spoilage, late deliveries, mismatched addresses, and duplicated customer records — all traced back to untrusted data.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937760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E3EAF3"/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" y="5074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Qlarity's job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85800" y="54406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Consolidate 47 systems into one governed Qlik Cloud platform — so every downstream analytic, document, and AI answer stands on data the business can trust.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Four Stories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narrative, told in four connected chapters — the spine of the whole demo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042416"/>
          </a:xfrm>
          <a:prstGeom prst="roundRect">
            <a:avLst>
              <a:gd name="adj" fmla="val 8772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280160"/>
            <a:ext cx="109728" cy="1042416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1" name="Shape 8"/>
          <p:cNvSpPr/>
          <p:nvPr/>
        </p:nvSpPr>
        <p:spPr>
          <a:xfrm>
            <a:off x="777240" y="1572768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2" name="Image 1" descr="C:\Claude\MCG Full Stack\generators\assets\icons\gatew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108" y="1659636"/>
            <a:ext cx="283464" cy="28346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17320" y="1280160"/>
            <a:ext cx="4572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1920240" y="1408176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1920240" y="1810512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 3 messy source feeds into the Open Lakehouse — WMS change data, IoT cold-chain streams, and CRM records.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450592"/>
            <a:ext cx="11247120" cy="1042416"/>
          </a:xfrm>
          <a:prstGeom prst="roundRect">
            <a:avLst>
              <a:gd name="adj" fmla="val 877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57200" y="2450592"/>
            <a:ext cx="109728" cy="1042416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8" name="Shape 14"/>
          <p:cNvSpPr/>
          <p:nvPr/>
        </p:nvSpPr>
        <p:spPr>
          <a:xfrm>
            <a:off x="777240" y="274320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9" name="Image 2" descr="C:\Claude\MCG Full Stack\generators\assets\icons\govern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" y="2830068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417320" y="2450592"/>
            <a:ext cx="4572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1920240" y="257860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900" dirty="0"/>
          </a:p>
        </p:txBody>
      </p:sp>
      <p:sp>
        <p:nvSpPr>
          <p:cNvPr id="22" name="Text 17"/>
          <p:cNvSpPr/>
          <p:nvPr/>
        </p:nvSpPr>
        <p:spPr>
          <a:xfrm>
            <a:off x="1920240" y="2980944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raw data into trusted data — trust scores, data-quality rules, lineage, a business glossary, and stewardship.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57200" y="3621024"/>
            <a:ext cx="11247120" cy="1042416"/>
          </a:xfrm>
          <a:prstGeom prst="roundRect">
            <a:avLst>
              <a:gd name="adj" fmla="val 8772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57200" y="3621024"/>
            <a:ext cx="109728" cy="1042416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25" name="Shape 20"/>
          <p:cNvSpPr/>
          <p:nvPr/>
        </p:nvSpPr>
        <p:spPr>
          <a:xfrm>
            <a:off x="777240" y="391363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CB393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6" name="Image 3" descr="C:\Claude\MCG Full Stack\generators\assets\icons\analy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108" y="4000500"/>
            <a:ext cx="283464" cy="28346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417320" y="3621024"/>
            <a:ext cx="4572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8" name="Text 22"/>
          <p:cNvSpPr/>
          <p:nvPr/>
        </p:nvSpPr>
        <p:spPr>
          <a:xfrm>
            <a:off x="1920240" y="3749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900" dirty="0"/>
          </a:p>
        </p:txBody>
      </p:sp>
      <p:sp>
        <p:nvSpPr>
          <p:cNvPr id="29" name="Text 23"/>
          <p:cNvSpPr/>
          <p:nvPr/>
        </p:nvSpPr>
        <p:spPr>
          <a:xfrm>
            <a:off x="1920240" y="4151376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Publish gold data products and apps that answer supply-chain and last-mile questions on data people believe.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57200" y="4791456"/>
            <a:ext cx="11247120" cy="1042416"/>
          </a:xfrm>
          <a:prstGeom prst="roundRect">
            <a:avLst>
              <a:gd name="adj" fmla="val 877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57200" y="4791456"/>
            <a:ext cx="109728" cy="1042416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2" name="Shape 26"/>
          <p:cNvSpPr/>
          <p:nvPr/>
        </p:nvSpPr>
        <p:spPr>
          <a:xfrm>
            <a:off x="777240" y="5084064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3" name="Image 4" descr="C:\Claude\MCG Full Stack\generators\assets\icons\predic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" y="5170932"/>
            <a:ext cx="283464" cy="283464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417320" y="4791456"/>
            <a:ext cx="4572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35" name="Text 28"/>
          <p:cNvSpPr/>
          <p:nvPr/>
        </p:nvSpPr>
        <p:spPr>
          <a:xfrm>
            <a:off x="1920240" y="491947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900" dirty="0"/>
          </a:p>
        </p:txBody>
      </p:sp>
      <p:sp>
        <p:nvSpPr>
          <p:cNvPr id="36" name="Text 29"/>
          <p:cNvSpPr/>
          <p:nvPr/>
        </p:nvSpPr>
        <p:spPr>
          <a:xfrm>
            <a:off x="1920240" y="53218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Predict, Qlik Answers, Discovery Agent, and the agentic layer turn trusted data into decisions and action.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at a Glance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source feeds flow through a medallion lakehouse into gold data products, apps, and AI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463040"/>
            <a:ext cx="2514600" cy="374904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157276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 FEEDS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" y="205740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9808" y="2276856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3" name="Image 1" descr="C:\Claude\MCG Full Stack\generators\assets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727" y="2356775"/>
            <a:ext cx="260787" cy="26078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61872" y="2167128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1261872" y="2560320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21792" y="3081528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49808" y="3300984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8" name="Image 2" descr="C:\Claude\MCG Full Stack\generators\assets\icons\stre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727" y="3380903"/>
            <a:ext cx="260787" cy="26078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61872" y="3191256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IoT cold-chain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1261872" y="358444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21792" y="4105656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49808" y="4325112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3" name="Image 3" descr="C:\Claude\MCG Full Stack\generators\assets\icons\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727" y="4405031"/>
            <a:ext cx="260787" cy="260787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261872" y="4215384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1261872" y="4608576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15 min</a:t>
            </a:r>
            <a:endParaRPr lang="en-US" sz="950" dirty="0"/>
          </a:p>
        </p:txBody>
      </p:sp>
      <p:sp>
        <p:nvSpPr>
          <p:cNvPr id="26" name="Text 20"/>
          <p:cNvSpPr/>
          <p:nvPr/>
        </p:nvSpPr>
        <p:spPr>
          <a:xfrm>
            <a:off x="2999232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9B3B6"/>
                </a:solidFill>
              </a:rPr>
              <a:t>▶</a:t>
            </a:r>
            <a:endParaRPr lang="en-US" sz="2000" dirty="0"/>
          </a:p>
        </p:txBody>
      </p:sp>
      <p:sp>
        <p:nvSpPr>
          <p:cNvPr id="27" name="Shape 21"/>
          <p:cNvSpPr/>
          <p:nvPr/>
        </p:nvSpPr>
        <p:spPr>
          <a:xfrm>
            <a:off x="3520440" y="1463040"/>
            <a:ext cx="3063240" cy="3749040"/>
          </a:xfrm>
          <a:prstGeom prst="roundRect">
            <a:avLst>
              <a:gd name="adj" fmla="val 2985"/>
            </a:avLst>
          </a:prstGeom>
          <a:solidFill>
            <a:srgbClr val="E0F2F5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703320" y="157276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9" name="Image 4" descr="C:\Claude\MCG Full Stack\generators\assets\icons\lakehou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9764" y="1649212"/>
            <a:ext cx="249448" cy="24944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4160520" y="1572768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370332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Iceberg on S3 · medallion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3703320" y="237744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A9B3B6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3703320" y="246888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400" dirty="0"/>
          </a:p>
        </p:txBody>
      </p:sp>
      <p:sp>
        <p:nvSpPr>
          <p:cNvPr id="34" name="Text 27"/>
          <p:cNvSpPr/>
          <p:nvPr/>
        </p:nvSpPr>
        <p:spPr>
          <a:xfrm>
            <a:off x="3703320" y="2816352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landed data</a:t>
            </a:r>
            <a:endParaRPr 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3703320" y="329184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A9B3B6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3703320" y="338328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400" dirty="0"/>
          </a:p>
        </p:txBody>
      </p:sp>
      <p:sp>
        <p:nvSpPr>
          <p:cNvPr id="37" name="Text 30"/>
          <p:cNvSpPr/>
          <p:nvPr/>
        </p:nvSpPr>
        <p:spPr>
          <a:xfrm>
            <a:off x="3703320" y="3730752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cleansed + trust-scored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3703320" y="420624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3703320" y="429768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400" dirty="0"/>
          </a:p>
        </p:txBody>
      </p:sp>
      <p:sp>
        <p:nvSpPr>
          <p:cNvPr id="40" name="Text 33"/>
          <p:cNvSpPr/>
          <p:nvPr/>
        </p:nvSpPr>
        <p:spPr>
          <a:xfrm>
            <a:off x="3703320" y="4645152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data products</a:t>
            </a:r>
            <a:endParaRPr lang="en-US" sz="1000" dirty="0"/>
          </a:p>
        </p:txBody>
      </p:sp>
      <p:sp>
        <p:nvSpPr>
          <p:cNvPr id="41" name="Text 34"/>
          <p:cNvSpPr/>
          <p:nvPr/>
        </p:nvSpPr>
        <p:spPr>
          <a:xfrm>
            <a:off x="6601968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9B3B6"/>
                </a:solidFill>
              </a:rPr>
              <a:t>▶</a:t>
            </a:r>
            <a:endParaRPr lang="en-US" sz="2000" dirty="0"/>
          </a:p>
        </p:txBody>
      </p:sp>
      <p:sp>
        <p:nvSpPr>
          <p:cNvPr id="42" name="Shape 35"/>
          <p:cNvSpPr/>
          <p:nvPr/>
        </p:nvSpPr>
        <p:spPr>
          <a:xfrm>
            <a:off x="7132320" y="1463040"/>
            <a:ext cx="4572000" cy="3749040"/>
          </a:xfrm>
          <a:prstGeom prst="roundRect">
            <a:avLst>
              <a:gd name="adj" fmla="val 2439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7132320" y="15727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DATA PRODUCTS  +  APPS &amp; AI</a:t>
            </a:r>
            <a:endParaRPr lang="en-US" sz="1200" dirty="0"/>
          </a:p>
        </p:txBody>
      </p:sp>
      <p:sp>
        <p:nvSpPr>
          <p:cNvPr id="44" name="Shape 37"/>
          <p:cNvSpPr/>
          <p:nvPr/>
        </p:nvSpPr>
        <p:spPr>
          <a:xfrm>
            <a:off x="7296912" y="2057400"/>
            <a:ext cx="425196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45" name="Shape 38"/>
          <p:cNvSpPr/>
          <p:nvPr/>
        </p:nvSpPr>
        <p:spPr>
          <a:xfrm>
            <a:off x="7406640" y="21762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6" name="Image 5" descr="C:\Claude\MCG Full Stack\generators\assets\icons\analytic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9609" y="2249241"/>
            <a:ext cx="238110" cy="238110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7909560" y="2112264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Health</a:t>
            </a:r>
            <a:endParaRPr lang="en-US" sz="1150" dirty="0"/>
          </a:p>
        </p:txBody>
      </p:sp>
      <p:sp>
        <p:nvSpPr>
          <p:cNvPr id="48" name="Text 40"/>
          <p:cNvSpPr/>
          <p:nvPr/>
        </p:nvSpPr>
        <p:spPr>
          <a:xfrm>
            <a:off x="7909560" y="240487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data product · trust-score SLA</a:t>
            </a:r>
            <a:endParaRPr lang="en-US" sz="950" dirty="0"/>
          </a:p>
        </p:txBody>
      </p:sp>
      <p:sp>
        <p:nvSpPr>
          <p:cNvPr id="49" name="Shape 41"/>
          <p:cNvSpPr/>
          <p:nvPr/>
        </p:nvSpPr>
        <p:spPr>
          <a:xfrm>
            <a:off x="7296912" y="2807208"/>
            <a:ext cx="425196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50" name="Shape 42"/>
          <p:cNvSpPr/>
          <p:nvPr/>
        </p:nvSpPr>
        <p:spPr>
          <a:xfrm>
            <a:off x="7406640" y="2926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1" name="Image 6" descr="C:\Claude\MCG Full Stack\generators\assets\icons\analytic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9609" y="2999049"/>
            <a:ext cx="238110" cy="238110"/>
          </a:xfrm>
          <a:prstGeom prst="rect">
            <a:avLst/>
          </a:prstGeom>
        </p:spPr>
      </p:pic>
      <p:sp>
        <p:nvSpPr>
          <p:cNvPr id="52" name="Text 43"/>
          <p:cNvSpPr/>
          <p:nvPr/>
        </p:nvSpPr>
        <p:spPr>
          <a:xfrm>
            <a:off x="7909560" y="28620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Mile Performance</a:t>
            </a:r>
            <a:endParaRPr lang="en-US" sz="1150" dirty="0"/>
          </a:p>
        </p:txBody>
      </p:sp>
      <p:sp>
        <p:nvSpPr>
          <p:cNvPr id="53" name="Text 44"/>
          <p:cNvSpPr/>
          <p:nvPr/>
        </p:nvSpPr>
        <p:spPr>
          <a:xfrm>
            <a:off x="7909560" y="315468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data product · trust-score SLA</a:t>
            </a:r>
            <a:endParaRPr lang="en-US" sz="950" dirty="0"/>
          </a:p>
        </p:txBody>
      </p:sp>
      <p:sp>
        <p:nvSpPr>
          <p:cNvPr id="54" name="Shape 45"/>
          <p:cNvSpPr/>
          <p:nvPr/>
        </p:nvSpPr>
        <p:spPr>
          <a:xfrm>
            <a:off x="7296912" y="3557016"/>
            <a:ext cx="425196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55" name="Shape 46"/>
          <p:cNvSpPr/>
          <p:nvPr/>
        </p:nvSpPr>
        <p:spPr>
          <a:xfrm>
            <a:off x="74066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6" name="Image 7" descr="C:\Claude\MCG Full Stack\generators\assets\icons\predic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9609" y="3748857"/>
            <a:ext cx="238110" cy="238110"/>
          </a:xfrm>
          <a:prstGeom prst="rect">
            <a:avLst/>
          </a:prstGeom>
        </p:spPr>
      </p:pic>
      <p:sp>
        <p:nvSpPr>
          <p:cNvPr id="57" name="Text 47"/>
          <p:cNvSpPr/>
          <p:nvPr/>
        </p:nvSpPr>
        <p:spPr>
          <a:xfrm>
            <a:off x="7909560" y="3611880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apps + Qlik Predict</a:t>
            </a:r>
            <a:endParaRPr lang="en-US" sz="1150" dirty="0"/>
          </a:p>
        </p:txBody>
      </p:sp>
      <p:sp>
        <p:nvSpPr>
          <p:cNvPr id="58" name="Text 48"/>
          <p:cNvSpPr/>
          <p:nvPr/>
        </p:nvSpPr>
        <p:spPr>
          <a:xfrm>
            <a:off x="7909560" y="3904488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AutoML models on trusted data</a:t>
            </a:r>
            <a:endParaRPr lang="en-US" sz="950" dirty="0"/>
          </a:p>
        </p:txBody>
      </p:sp>
      <p:sp>
        <p:nvSpPr>
          <p:cNvPr id="59" name="Shape 49"/>
          <p:cNvSpPr/>
          <p:nvPr/>
        </p:nvSpPr>
        <p:spPr>
          <a:xfrm>
            <a:off x="7296912" y="4306824"/>
            <a:ext cx="425196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60" name="Shape 50"/>
          <p:cNvSpPr/>
          <p:nvPr/>
        </p:nvSpPr>
        <p:spPr>
          <a:xfrm>
            <a:off x="7406640" y="442569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61" name="Image 8" descr="C:\Claude\MCG Full Stack\generators\assets\icons\answer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79609" y="4498665"/>
            <a:ext cx="238110" cy="238110"/>
          </a:xfrm>
          <a:prstGeom prst="rect">
            <a:avLst/>
          </a:prstGeom>
        </p:spPr>
      </p:pic>
      <p:sp>
        <p:nvSpPr>
          <p:cNvPr id="62" name="Text 51"/>
          <p:cNvSpPr/>
          <p:nvPr/>
        </p:nvSpPr>
        <p:spPr>
          <a:xfrm>
            <a:off x="7909560" y="436168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+ agents</a:t>
            </a:r>
            <a:endParaRPr lang="en-US" sz="1150" dirty="0"/>
          </a:p>
        </p:txBody>
      </p:sp>
      <p:sp>
        <p:nvSpPr>
          <p:cNvPr id="63" name="Text 52"/>
          <p:cNvSpPr/>
          <p:nvPr/>
        </p:nvSpPr>
        <p:spPr>
          <a:xfrm>
            <a:off x="7909560" y="465429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knowledge and AI outcomes</a:t>
            </a:r>
            <a:endParaRPr lang="en-US" sz="950" dirty="0"/>
          </a:p>
        </p:txBody>
      </p:sp>
      <p:sp>
        <p:nvSpPr>
          <p:cNvPr id="64" name="Shape 53"/>
          <p:cNvSpPr/>
          <p:nvPr/>
        </p:nvSpPr>
        <p:spPr>
          <a:xfrm>
            <a:off x="457200" y="544068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65" name="Text 54"/>
          <p:cNvSpPr/>
          <p:nvPr/>
        </p:nvSpPr>
        <p:spPr>
          <a:xfrm>
            <a:off x="731520" y="545896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flow, end to end: raw feeds → bronze/silver/gold on the Open Lakehouse → trusted gold data products that feed every app, document, and AI experience.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Assets — Presentations &amp; Narrative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story-telling layer: decks that frame the value and scripts that walk it through live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3212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PowerPoint decks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3" name="Image 1" descr="C:\Claude\MCG Full Stack\generators\assets\icons\answ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3232" y="1993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Demo Overview / Four Stories (35 slides)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13232" y="259689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Technology Architecture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713232" y="320040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Company Profile &amp; Data Quality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713232" y="380390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Data Engineering (16 slides)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713232" y="440740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Marketecture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713232" y="501091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Marketecture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172200" y="1280160"/>
            <a:ext cx="553212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263640" y="137160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6263640" y="13716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demo-script walkthroughs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336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4" name="Image 2" descr="C:\Claude\MCG Full Stack\generators\assets\icons\govern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812" y="1492484"/>
            <a:ext cx="215433" cy="215433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428232" y="1993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One guided walkthrough per demo topic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6428232" y="259689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Demo2Win "Tell → Show → Tell" format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6428232" y="320040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Qlik-branded DOCX, presenter-ready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6428232" y="380390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Map each of the Four Stories to a live click-path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6428232" y="440740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Keep the narrative consistent across presenters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31" name="Text 26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Decks set the strategic frame; the 18 scripts make every capability demonstrable, live, in a repeatable Tell → Show → Tell flow.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Assets — The Demo2Win Scripts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presenter-ready walkthroughs — every capability has a script, so any SE runs the same winning demo the same way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3212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script, the same anatomy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3" name="Image 1" descr="C:\Claude\MCG Full Stack\generators\assets\icons\answ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3232" y="1993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Limbic emotional opening — hook before feature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13232" y="259689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Tell → Show → Tell narration frame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713232" y="320040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Click-by-click steps + an interaction prompt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713232" y="380390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"So You Can" value chain per module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713232" y="440740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Talking points + a troubleshooting table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713232" y="501091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Metadata: duration, phase, nightmares, components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172200" y="1280160"/>
            <a:ext cx="553212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263640" y="137160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6263640" y="13716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modules across the Four Stories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336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4" name="Image 2" descr="C:\Claude\MCG Full Stack\generators\assets\icons\govern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812" y="1492484"/>
            <a:ext cx="215433" cy="215433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428232" y="1993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Integrations — Infrastructure, Connections, Open Lakehouse (3)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6428232" y="272491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Governance — Lineage/Trust, Data Products, Stewardship, Glossary (4)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428232" y="345643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Analytics — Analytics Apps, Alerting, Automations (3)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428232" y="418795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 &amp; Outcomes — Predict, Answers, Discovery Agent &amp; MCP (3)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6428232" y="491947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Engineering — Pipelines in VS Code, 3 agents, Talend Routes (5)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31" name="Text 26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capability in Project Qlarity has a matching Demo2Win script — the same winning demo, run the same way, by any presenter.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Assets — Data &amp; Pipelines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PIPELINES: PREVIEW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foundation: declarative pipelines, the medallion lakehouse, gold products, and messy-data simulators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5532120" cy="4023360"/>
          </a:xfrm>
          <a:prstGeom prst="roundRect">
            <a:avLst>
              <a:gd name="adj" fmla="val 272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&amp; lakehouse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declarative QTCP pipeline projects (preview)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7004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mcg-batch-pipeline (4 tasks) + mcg-streaming-pipeline (2 tasks) = 6 tasks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4670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Shipped as a VS Code template (per-project settings, CLAUDE.md, Copilot instructions)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402336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Schema kit installed locally via npm run pipeline:template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713232" y="470001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Open Lakehouse medallion — Apache Iceberg on S3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172200" y="1280160"/>
            <a:ext cx="5532120" cy="4023360"/>
          </a:xfrm>
          <a:prstGeom prst="roundRect">
            <a:avLst>
              <a:gd name="adj" fmla="val 272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63640" y="137160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3" name="Text 19"/>
          <p:cNvSpPr/>
          <p:nvPr/>
        </p:nvSpPr>
        <p:spPr>
          <a:xfrm>
            <a:off x="6263640" y="13716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&amp; simulators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6336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5" name="Image 2" descr="C:\Claude\MCG Full Stack\generators\assets\icons\lakehou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812" y="1492484"/>
            <a:ext cx="215433" cy="215433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428232" y="1993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gold data products: Supply Chain Health + Last Mile Performance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428232" y="267004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Both API-shared, each with a trust-score SLA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428232" y="3346704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data simulators: PostgreSQL, Kafka IoT, Salesforce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6428232" y="402336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Simulators generate the intentionally-messy demo data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6428232" y="470001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The mess that Governance and Analytics then clean up</a:t>
            </a:r>
            <a:endParaRPr lang="en-US" sz="1150" dirty="0"/>
          </a:p>
        </p:txBody>
      </p:sp>
      <p:sp>
        <p:nvSpPr>
          <p:cNvPr id="31" name="Shape 26"/>
          <p:cNvSpPr/>
          <p:nvPr/>
        </p:nvSpPr>
        <p:spPr>
          <a:xfrm>
            <a:off x="457200" y="548640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32" name="Text 27"/>
          <p:cNvSpPr/>
          <p:nvPr/>
        </p:nvSpPr>
        <p:spPr>
          <a:xfrm>
            <a:off x="731520" y="550468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 are a Qlik internal preview (June 2026) — roadmap, not GA. Availability and timing may change.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Assets — Governance &amp; Knowledge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trust layer: a document knowledge base, a shared vocabulary, and automations that keep watch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32120" cy="4023360"/>
          </a:xfrm>
          <a:prstGeom prst="roundRect">
            <a:avLst>
              <a:gd name="adj" fmla="val 272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&amp; vocabulary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3" name="Image 1" descr="C:\Claude\MCG Full Stack\generators\assets\icons\answ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3232" y="1993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 operational documents → Qlik Answers knowledge base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713232" y="274320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SOPs, contracts, policies, incident reports, training, compliance, POs, shipments, suppliers, recall, minutes, brief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713232" y="349300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 business glossary terms — one shared vocabulary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424281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Trust scores + lineage + stewardship across the estate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72200" y="1280160"/>
            <a:ext cx="5532120" cy="4023360"/>
          </a:xfrm>
          <a:prstGeom prst="roundRect">
            <a:avLst>
              <a:gd name="adj" fmla="val 272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63640" y="137160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20" name="Text 16"/>
          <p:cNvSpPr/>
          <p:nvPr/>
        </p:nvSpPr>
        <p:spPr>
          <a:xfrm>
            <a:off x="6263640" y="13716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 (Teams alerts)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6336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2" name="Image 2" descr="C:\Claude\MCG Full Stack\generators\assets\icons\auto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812" y="1492484"/>
            <a:ext cx="215433" cy="215433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428232" y="1993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Daily app-reload alert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6428232" y="263347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Cold-chain exception alert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6428232" y="327355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Pipeline-health alert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6428232" y="391363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WISMO-rate alert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428232" y="455371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Talend address-correction loop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57200" y="548640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9" name="Text 24"/>
          <p:cNvSpPr/>
          <p:nvPr/>
        </p:nvSpPr>
        <p:spPr>
          <a:xfrm>
            <a:off x="731520" y="550468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makes the data trustworthy; the knowledge base and glossary make it understandable; automations keep it that way in the flow of work.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Assets — AI &amp; Agentic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MCP: PREVIEW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intelligence layer: prediction, document intelligence, discovery, and the agentic data-engineering stack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5532120" cy="4023360"/>
          </a:xfrm>
          <a:prstGeom prst="roundRect">
            <a:avLst>
              <a:gd name="adj" fmla="val 272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capabilities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predi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Predict — 2 AutoML models: Cold Chain Exceedance + Late Delivery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74320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Answers — document intelligence over the 25-doc knowledge base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49300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Discovery Agent — guided, conversational data exploration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424281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MCP Server (preview) — governed Qlik context to any AI assistant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172200" y="1280160"/>
            <a:ext cx="5532120" cy="4023360"/>
          </a:xfrm>
          <a:prstGeom prst="roundRect">
            <a:avLst>
              <a:gd name="adj" fmla="val 272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263640" y="137160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22" name="Text 18"/>
          <p:cNvSpPr/>
          <p:nvPr/>
        </p:nvSpPr>
        <p:spPr>
          <a:xfrm>
            <a:off x="6263640" y="137160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Data Engineering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336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4" name="Image 2" descr="C:\Claude\MCG Full Stack\generators\assets\icons\ag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812" y="1492484"/>
            <a:ext cx="215433" cy="215433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428232" y="1993392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Declarative pipelines authored by AI coding agents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6428232" y="274320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Product, Data Quality, and Catalog &amp; Business Glossary agents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428232" y="3493008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Delivered as Qlik Answers capabilities — not separate products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428232" y="4242816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Talend Agentic Routes — LLM / RAG steps inside pipeline tasks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7200" y="548640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30" name="Text 25"/>
          <p:cNvSpPr/>
          <p:nvPr/>
        </p:nvSpPr>
        <p:spPr>
          <a:xfrm>
            <a:off x="731520" y="550468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Qlik MCP Server is a Qlik internal preview (June 2026). The three governance agents are Qlik Answers capabilities, not separate products or SKUs.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Deploys — One Repo, One Command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environment stands up from a single repository with a single command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803904" y="1280160"/>
            <a:ext cx="4572000" cy="109728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  <a:effectLst>
            <a:outerShdw sx="100000" sy="100000" kx="0" ky="0" algn="bl" rotWithShape="0" blurRad="63500" dist="25400" dir="162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803904" y="13716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npm run deploy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3803904" y="190195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git repository · dry-run first · deploy-to-qlik.js engine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" y="2743200"/>
            <a:ext cx="3538728" cy="2148840"/>
          </a:xfrm>
          <a:prstGeom prst="roundRect">
            <a:avLst>
              <a:gd name="adj" fmla="val 510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68680" y="29260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4" name="Image 1" descr="C:\Claude\MCG Full Stack\generators\assets\icons\gatew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235" y="3021635"/>
            <a:ext cx="311810" cy="31181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508760" y="29718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Deploy console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868680" y="3611880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self-hosted web wizard on port 3939 walks you through the deployment step by step.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4361688" y="2743200"/>
            <a:ext cx="3538728" cy="2148840"/>
          </a:xfrm>
          <a:prstGeom prst="roundRect">
            <a:avLst>
              <a:gd name="adj" fmla="val 510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590288" y="29260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9" name="Image 2" descr="C:\Claude\MCG Full Stack\generators\assets\icons\govern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5843" y="3021635"/>
            <a:ext cx="311810" cy="31181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230368" y="29718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Dry-run first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4590288" y="3611880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every change before anything is written — validate, then commit for real.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8083296" y="2743200"/>
            <a:ext cx="3538728" cy="2148840"/>
          </a:xfrm>
          <a:prstGeom prst="roundRect">
            <a:avLst>
              <a:gd name="adj" fmla="val 510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311896" y="29260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CB393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4" name="Image 3" descr="C:\Claude\MCG Full Stack\generators\assets\icons\pipe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7451" y="3021635"/>
            <a:ext cx="311810" cy="31181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951976" y="29718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pipelines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8311896" y="3611880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QTCP pipeline projects are imported via API as part of the same deployment.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457200" y="521208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28" name="Text 22"/>
          <p:cNvSpPr/>
          <p:nvPr/>
        </p:nvSpPr>
        <p:spPr>
          <a:xfrm>
            <a:off x="731520" y="523036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clone to a live, presentable Qlik Cloud demo: one repository, one command, dry-run safety, and the full stack imported for you.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— By the Numbers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in the demo, counted — the grounded asset inventory at a glance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4068" y="1417320"/>
            <a:ext cx="2103120" cy="1691640"/>
          </a:xfrm>
          <a:prstGeom prst="roundRect">
            <a:avLst>
              <a:gd name="adj" fmla="val 5405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4068" y="1417320"/>
            <a:ext cx="2103120" cy="9144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4068" y="1673352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681228" y="255117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PowerPoint decks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793492" y="1417320"/>
            <a:ext cx="2103120" cy="1691640"/>
          </a:xfrm>
          <a:prstGeom prst="roundRect">
            <a:avLst>
              <a:gd name="adj" fmla="val 5405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793492" y="1417320"/>
            <a:ext cx="2103120" cy="9144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5" name="Text 12"/>
          <p:cNvSpPr/>
          <p:nvPr/>
        </p:nvSpPr>
        <p:spPr>
          <a:xfrm>
            <a:off x="2793492" y="1673352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4400" dirty="0"/>
          </a:p>
        </p:txBody>
      </p:sp>
      <p:sp>
        <p:nvSpPr>
          <p:cNvPr id="16" name="Text 13"/>
          <p:cNvSpPr/>
          <p:nvPr/>
        </p:nvSpPr>
        <p:spPr>
          <a:xfrm>
            <a:off x="2930652" y="255117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Demo-script walkthroughs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42916" y="1417320"/>
            <a:ext cx="2103120" cy="1691640"/>
          </a:xfrm>
          <a:prstGeom prst="roundRect">
            <a:avLst>
              <a:gd name="adj" fmla="val 5405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42916" y="1417320"/>
            <a:ext cx="2103120" cy="9144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19" name="Text 16"/>
          <p:cNvSpPr/>
          <p:nvPr/>
        </p:nvSpPr>
        <p:spPr>
          <a:xfrm>
            <a:off x="5042916" y="1673352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5180076" y="255117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Knowledge-base documents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292340" y="1417320"/>
            <a:ext cx="2103120" cy="1691640"/>
          </a:xfrm>
          <a:prstGeom prst="roundRect">
            <a:avLst>
              <a:gd name="adj" fmla="val 5405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292340" y="1417320"/>
            <a:ext cx="2103120" cy="9144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23" name="Text 20"/>
          <p:cNvSpPr/>
          <p:nvPr/>
        </p:nvSpPr>
        <p:spPr>
          <a:xfrm>
            <a:off x="7292340" y="1673352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4400" dirty="0"/>
          </a:p>
        </p:txBody>
      </p:sp>
      <p:sp>
        <p:nvSpPr>
          <p:cNvPr id="24" name="Text 21"/>
          <p:cNvSpPr/>
          <p:nvPr/>
        </p:nvSpPr>
        <p:spPr>
          <a:xfrm>
            <a:off x="7429500" y="255117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terms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9541764" y="1417320"/>
            <a:ext cx="2103120" cy="1691640"/>
          </a:xfrm>
          <a:prstGeom prst="roundRect">
            <a:avLst>
              <a:gd name="adj" fmla="val 5405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541764" y="1417320"/>
            <a:ext cx="2103120" cy="9144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27" name="Text 24"/>
          <p:cNvSpPr/>
          <p:nvPr/>
        </p:nvSpPr>
        <p:spPr>
          <a:xfrm>
            <a:off x="9541764" y="1673352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4400" dirty="0"/>
          </a:p>
        </p:txBody>
      </p:sp>
      <p:sp>
        <p:nvSpPr>
          <p:cNvPr id="28" name="Text 25"/>
          <p:cNvSpPr/>
          <p:nvPr/>
        </p:nvSpPr>
        <p:spPr>
          <a:xfrm>
            <a:off x="9678924" y="255117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feeds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44068" y="3364992"/>
            <a:ext cx="2103120" cy="1691640"/>
          </a:xfrm>
          <a:prstGeom prst="roundRect">
            <a:avLst>
              <a:gd name="adj" fmla="val 5405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4068" y="3364992"/>
            <a:ext cx="2103120" cy="9144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1" name="Text 28"/>
          <p:cNvSpPr/>
          <p:nvPr/>
        </p:nvSpPr>
        <p:spPr>
          <a:xfrm>
            <a:off x="544068" y="3621024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4400" dirty="0"/>
          </a:p>
        </p:txBody>
      </p:sp>
      <p:sp>
        <p:nvSpPr>
          <p:cNvPr id="32" name="Text 29"/>
          <p:cNvSpPr/>
          <p:nvPr/>
        </p:nvSpPr>
        <p:spPr>
          <a:xfrm>
            <a:off x="681228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data products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793492" y="3364992"/>
            <a:ext cx="2103120" cy="1691640"/>
          </a:xfrm>
          <a:prstGeom prst="roundRect">
            <a:avLst>
              <a:gd name="adj" fmla="val 5405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793492" y="3364992"/>
            <a:ext cx="2103120" cy="9144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5" name="Text 32"/>
          <p:cNvSpPr/>
          <p:nvPr/>
        </p:nvSpPr>
        <p:spPr>
          <a:xfrm>
            <a:off x="2793492" y="3621024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4400" dirty="0"/>
          </a:p>
        </p:txBody>
      </p:sp>
      <p:sp>
        <p:nvSpPr>
          <p:cNvPr id="36" name="Text 33"/>
          <p:cNvSpPr/>
          <p:nvPr/>
        </p:nvSpPr>
        <p:spPr>
          <a:xfrm>
            <a:off x="2930652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tasks (2 projects)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5042916" y="3364992"/>
            <a:ext cx="2103120" cy="1691640"/>
          </a:xfrm>
          <a:prstGeom prst="roundRect">
            <a:avLst>
              <a:gd name="adj" fmla="val 5405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042916" y="3364992"/>
            <a:ext cx="2103120" cy="9144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9" name="Text 36"/>
          <p:cNvSpPr/>
          <p:nvPr/>
        </p:nvSpPr>
        <p:spPr>
          <a:xfrm>
            <a:off x="5042916" y="3621024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4400" dirty="0"/>
          </a:p>
        </p:txBody>
      </p:sp>
      <p:sp>
        <p:nvSpPr>
          <p:cNvPr id="40" name="Text 37"/>
          <p:cNvSpPr/>
          <p:nvPr/>
        </p:nvSpPr>
        <p:spPr>
          <a:xfrm>
            <a:off x="5180076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7292340" y="3364992"/>
            <a:ext cx="2103120" cy="1691640"/>
          </a:xfrm>
          <a:prstGeom prst="roundRect">
            <a:avLst>
              <a:gd name="adj" fmla="val 5405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292340" y="3364992"/>
            <a:ext cx="2103120" cy="9144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43" name="Text 40"/>
          <p:cNvSpPr/>
          <p:nvPr/>
        </p:nvSpPr>
        <p:spPr>
          <a:xfrm>
            <a:off x="7292340" y="3621024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4400" dirty="0"/>
          </a:p>
        </p:txBody>
      </p:sp>
      <p:sp>
        <p:nvSpPr>
          <p:cNvPr id="44" name="Text 41"/>
          <p:cNvSpPr/>
          <p:nvPr/>
        </p:nvSpPr>
        <p:spPr>
          <a:xfrm>
            <a:off x="742950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simulators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9541764" y="3364992"/>
            <a:ext cx="2103120" cy="1691640"/>
          </a:xfrm>
          <a:prstGeom prst="roundRect">
            <a:avLst>
              <a:gd name="adj" fmla="val 5405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541764" y="3364992"/>
            <a:ext cx="2103120" cy="9144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47" name="Text 44"/>
          <p:cNvSpPr/>
          <p:nvPr/>
        </p:nvSpPr>
        <p:spPr>
          <a:xfrm>
            <a:off x="9541764" y="3621024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4400" dirty="0"/>
          </a:p>
        </p:txBody>
      </p:sp>
      <p:sp>
        <p:nvSpPr>
          <p:cNvPr id="48" name="Text 45"/>
          <p:cNvSpPr/>
          <p:nvPr/>
        </p:nvSpPr>
        <p:spPr>
          <a:xfrm>
            <a:off x="9678924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models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76072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50" name="Text 47"/>
          <p:cNvSpPr/>
          <p:nvPr/>
        </p:nvSpPr>
        <p:spPr>
          <a:xfrm>
            <a:off x="731520" y="577900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Grounded figures only — every number above ships in the Project Qlarity repository.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178308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</a:t>
            </a:r>
            <a:endParaRPr lang="en-US" sz="4600" dirty="0"/>
          </a:p>
        </p:txBody>
      </p:sp>
      <p:sp>
        <p:nvSpPr>
          <p:cNvPr id="6" name="Text 2"/>
          <p:cNvSpPr/>
          <p:nvPr/>
        </p:nvSpPr>
        <p:spPr>
          <a:xfrm>
            <a:off x="457200" y="27889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repository, one command, the full Qlik stack.</a:t>
            </a:r>
            <a:endParaRPr lang="en-US" sz="2000" dirty="0"/>
          </a:p>
        </p:txBody>
      </p:sp>
      <p:sp>
        <p:nvSpPr>
          <p:cNvPr id="7" name="Text 3"/>
          <p:cNvSpPr/>
          <p:nvPr/>
        </p:nvSpPr>
        <p:spPr>
          <a:xfrm>
            <a:off x="457200" y="333756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+ Clarity: from 7 data-quality nightmares to a trusted, AI-ready platform.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457200" y="402336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57200" y="40690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800" dirty="0"/>
          </a:p>
        </p:txBody>
      </p:sp>
      <p:sp>
        <p:nvSpPr>
          <p:cNvPr id="10" name="Text 6"/>
          <p:cNvSpPr/>
          <p:nvPr/>
        </p:nvSpPr>
        <p:spPr>
          <a:xfrm>
            <a:off x="457200" y="46177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Connected Stories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743200" y="402336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743200" y="40690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800" dirty="0"/>
          </a:p>
        </p:txBody>
      </p:sp>
      <p:sp>
        <p:nvSpPr>
          <p:cNvPr id="13" name="Text 9"/>
          <p:cNvSpPr/>
          <p:nvPr/>
        </p:nvSpPr>
        <p:spPr>
          <a:xfrm>
            <a:off x="2743200" y="46177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Presentation Decks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029200" y="402336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0" y="40690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5029200" y="46177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Data Products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7315200" y="402336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315200" y="40690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800" dirty="0"/>
          </a:p>
        </p:txBody>
      </p:sp>
      <p:sp>
        <p:nvSpPr>
          <p:cNvPr id="19" name="Text 15"/>
          <p:cNvSpPr/>
          <p:nvPr/>
        </p:nvSpPr>
        <p:spPr>
          <a:xfrm>
            <a:off x="7315200" y="46177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 · One Command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57200" y="53492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it:  </a:t>
            </a:r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clone the repo and run  npm run deploy  (dry-run first) via the MCG Deploy console on port 3939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57200" y="57150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Resources:  </a:t>
            </a:r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repository &amp; demo guide — [placeholder]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Qlarity — Meridian Commerce Group Qlik Cloud Demo</dc:title>
  <dc:subject>PptxGenJS Presentation</dc:subject>
  <dc:creator>Qlik</dc:creator>
  <cp:lastModifiedBy>Qlik</cp:lastModifiedBy>
  <cp:revision>1</cp:revision>
  <dcterms:created xsi:type="dcterms:W3CDTF">2026-07-28T12:49:56Z</dcterms:created>
  <dcterms:modified xsi:type="dcterms:W3CDTF">2026-07-28T12:49:56Z</dcterms:modified>
</cp:coreProperties>
</file>