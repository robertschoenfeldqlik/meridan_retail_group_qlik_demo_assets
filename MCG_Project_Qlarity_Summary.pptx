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Project Qlarity — Qlik plus Clarity — is our repeatable framework for demoing the full Qlik Cloud stack end to end. Be clear it is a demo framework, not a product or a customer platform. Set up the arc: a fictional retailer with a messy data estate, walked through four connected acts — Integrations, Governance, Analytics, and AI &amp;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plainly: this is a framework for demoing Qlik Cloud, not a platform we are selling. Meridian Commerce Group is our fictional global retailer with data scattered across 47 systems. The whole demo lives in one git repo and stands up with one command through the MCG Deploy console. Land the phrase: a framework, not 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stakes fast: seven recurring data-quality nightmares, roughly 127 million dollars a year, across 47 fragmented systems with no single source of truth. This is the before. Keep it concrete — WISMO calls, cold-chain spoilage, late deliveries, mismatched addresses, duplicate customers — all tracing back to untrusted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spine of every demo, four connected acts. Integrations lands three messy feeds into the Open Lakehouse. Governance turns raw data into trusted data. Analytics publishes gold data products and apps. AI &amp; Outcomes turns trusted data into decisions and action. Each act maps to a live click-path and a Demo2Win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picture of the whole flow. Three source feeds — PostgreSQL WMS via CDC, Kafka IoT cold-chain streaming, and Meridian CRM every 15 minutes — land in the Open Lakehouse on Apache Iceberg, flow bronze to silver to gold, and surface as two governed gold data products that feed apps and AI. No copies; everything downstream reads trusted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story-telling layer. Three core decks frame the value and 18 Demo2Win scripts walk it through live. This is what makes the demo repeatable — any SE runs the same narrative the same way,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flagship enablement asset. Every capability has a script with the same anatomy — a Limbic emotional opening, Tell then Show then Tell, click-by-click steps, a So You Can value chain, and a troubleshooting table. Eighteen modules cover all four acts plus the agentic engineering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layer. Two declarative QTCP pipeline projects, six tasks total, shipped as a VS Code template you can author by hand or with an AI coding agent. Two governed gold data products, and three simulators that generate the intentionally-messy demo data. Flag that declarative pipelines are a Qlik internal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trust layer. A 25-document Qlik Answers knowledge base, 25 business glossary terms as one shared vocabulary, and five Teams automations — plus trust scores, lineage, and stewardship. Governance makes the data trustworthy, the knowledge base and glossary make it understandable, and automations keep it that way in the flow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intelligence layer. Qlik Predict with two AutoML models, Qlik Answers over the knowledge base, the Discovery Agent, and the Qlik MCP Server, plus the agentic data-engineering capabilities. Two honesty callouts: the MCP Server is a preview, and the three governance agents are Qlik Answers capabilities, not separate products or SKUs.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punchline that makes this a framework, not a one-off. One repo, one command — npm run deploy — driven by the MCG Deploy console, a web wizard on port 3939. Always dry-run first: it previews every change before anything is written, then commit for real. The declarative pipelines import via API as part of the same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recap of scale, and every figure here ships in the repo — nothing invented. Three decks, 18 scripts, 25 knowledge-base documents, 25 glossary terms, three source feeds, two gold data products, six pipeline tasks, five automations, three simulators, and two Predict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it. Project Qlarity is one repository, one command, the full Qlik stack — a repeatable framework any SE can stand up and present. Point to the resources link for the repository and the demo guide, and offer to walk any of the four acts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6.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3" name="Image 0" descr="C:\Claude\MCG Full Stack\generators\assets\qlik_cover_bg.png">    </p:cNvPr>
          <p:cNvPicPr>
            <a:picLocks noChangeAspect="1"/>
          </p:cNvPicPr>
          <p:nvPr/>
        </p:nvPicPr>
        <p:blipFill>
          <a:blip r:embed="rId1"/>
          <a:stretch>
            <a:fillRect/>
          </a:stretch>
        </p:blipFill>
        <p:spPr>
          <a:xfrm>
            <a:off x="0" y="0"/>
            <a:ext cx="12188952" cy="6858000"/>
          </a:xfrm>
          <a:prstGeom prst="rect">
            <a:avLst/>
          </a:prstGeom>
        </p:spPr>
      </p:pic>
      <p:pic>
        <p:nvPicPr>
          <p:cNvPr id="4" name="Image 1" descr="C:\Claude\MCG Full Stack\generators\assets\qlik_logo.png">    </p:cNvPr>
          <p:cNvPicPr>
            <a:picLocks noChangeAspect="1"/>
          </p:cNvPicPr>
          <p:nvPr/>
        </p:nvPicPr>
        <p:blipFill>
          <a:blip r:embed="rId2"/>
          <a:stretch>
            <a:fillRect/>
          </a:stretch>
        </p:blipFill>
        <p:spPr>
          <a:xfrm>
            <a:off x="457200" y="365760"/>
            <a:ext cx="1024128" cy="566928"/>
          </a:xfrm>
          <a:prstGeom prst="rect">
            <a:avLst/>
          </a:prstGeom>
        </p:spPr>
      </p:pic>
      <p:sp>
        <p:nvSpPr>
          <p:cNvPr id="5" name="Text 0"/>
          <p:cNvSpPr/>
          <p:nvPr/>
        </p:nvSpPr>
        <p:spPr>
          <a:xfrm>
            <a:off x="457200" y="1371600"/>
            <a:ext cx="7315200" cy="548640"/>
          </a:xfrm>
          <a:prstGeom prst="rect">
            <a:avLst/>
          </a:prstGeom>
          <a:noFill/>
          <a:ln/>
        </p:spPr>
        <p:txBody>
          <a:bodyPr wrap="square" rtlCol="0" anchor="ctr"/>
          <a:lstStyle/>
          <a:p>
            <a:pPr indent="0" marL="0">
              <a:buNone/>
            </a:pPr>
            <a:r>
              <a:rPr lang="en-US" sz="1800" dirty="0">
                <a:solidFill>
                  <a:srgbClr val="A9B3B6"/>
                </a:solidFill>
                <a:latin typeface="Inter" pitchFamily="34" charset="0"/>
                <a:ea typeface="Inter" pitchFamily="34" charset="-122"/>
                <a:cs typeface="Inter" pitchFamily="34" charset="-120"/>
              </a:rPr>
              <a:t>Meridian Commerce Group</a:t>
            </a:r>
            <a:endParaRPr lang="en-US" sz="1800" dirty="0"/>
          </a:p>
        </p:txBody>
      </p:sp>
      <p:sp>
        <p:nvSpPr>
          <p:cNvPr id="6" name="Text 1"/>
          <p:cNvSpPr/>
          <p:nvPr/>
        </p:nvSpPr>
        <p:spPr>
          <a:xfrm>
            <a:off x="457200" y="1965960"/>
            <a:ext cx="8686800" cy="1005840"/>
          </a:xfrm>
          <a:prstGeom prst="rect">
            <a:avLst/>
          </a:prstGeom>
          <a:noFill/>
          <a:ln/>
        </p:spPr>
        <p:txBody>
          <a:bodyPr wrap="square" rtlCol="0" anchor="ctr"/>
          <a:lstStyle/>
          <a:p>
            <a:pPr indent="0" marL="0">
              <a:buNone/>
            </a:pPr>
            <a:r>
              <a:rPr lang="en-US" sz="5200" b="1" dirty="0">
                <a:solidFill>
                  <a:srgbClr val="19416C"/>
                </a:solidFill>
                <a:latin typeface="Inter" pitchFamily="34" charset="0"/>
                <a:ea typeface="Inter" pitchFamily="34" charset="-122"/>
                <a:cs typeface="Inter" pitchFamily="34" charset="-120"/>
              </a:rPr>
              <a:t>Project Qlarity</a:t>
            </a:r>
            <a:endParaRPr lang="en-US" sz="5200" dirty="0"/>
          </a:p>
        </p:txBody>
      </p:sp>
      <p:sp>
        <p:nvSpPr>
          <p:cNvPr id="7" name="Text 2"/>
          <p:cNvSpPr/>
          <p:nvPr/>
        </p:nvSpPr>
        <p:spPr>
          <a:xfrm>
            <a:off x="457200" y="3063240"/>
            <a:ext cx="8229600" cy="502920"/>
          </a:xfrm>
          <a:prstGeom prst="rect">
            <a:avLst/>
          </a:prstGeom>
          <a:noFill/>
          <a:ln/>
        </p:spPr>
        <p:txBody>
          <a:bodyPr wrap="square" rtlCol="0" anchor="ctr"/>
          <a:lstStyle/>
          <a:p>
            <a:pPr indent="0" marL="0">
              <a:buNone/>
            </a:pPr>
            <a:r>
              <a:rPr lang="en-US" sz="2000" b="1" dirty="0">
                <a:solidFill>
                  <a:srgbClr val="009845"/>
                </a:solidFill>
                <a:latin typeface="Inter" pitchFamily="34" charset="0"/>
                <a:ea typeface="Inter" pitchFamily="34" charset="-122"/>
                <a:cs typeface="Inter" pitchFamily="34" charset="-120"/>
              </a:rPr>
              <a:t>The end-to-end Qlik Cloud demo</a:t>
            </a:r>
            <a:endParaRPr lang="en-US" sz="2000" dirty="0"/>
          </a:p>
        </p:txBody>
      </p:sp>
      <p:sp>
        <p:nvSpPr>
          <p:cNvPr id="8" name="Text 3"/>
          <p:cNvSpPr/>
          <p:nvPr/>
        </p:nvSpPr>
        <p:spPr>
          <a:xfrm>
            <a:off x="457200" y="3657600"/>
            <a:ext cx="9601200" cy="457200"/>
          </a:xfrm>
          <a:prstGeom prst="rect">
            <a:avLst/>
          </a:prstGeom>
          <a:noFill/>
          <a:ln/>
        </p:spPr>
        <p:txBody>
          <a:bodyPr wrap="square" rtlCol="0" anchor="ctr"/>
          <a:lstStyle/>
          <a:p>
            <a:pPr indent="0" marL="0">
              <a:buNone/>
            </a:pPr>
            <a:r>
              <a:rPr lang="en-US" sz="1400" dirty="0">
                <a:solidFill>
                  <a:srgbClr val="454659"/>
                </a:solidFill>
                <a:latin typeface="Inter" pitchFamily="34" charset="0"/>
                <a:ea typeface="Inter" pitchFamily="34" charset="-122"/>
                <a:cs typeface="Inter" pitchFamily="34" charset="-120"/>
              </a:rPr>
              <a:t>Qlik + Clarity:  a repeatable framework for demoing the full Qlik Cloud stack, end to end.</a:t>
            </a:r>
            <a:endParaRPr lang="en-US" sz="1400" dirty="0"/>
          </a:p>
        </p:txBody>
      </p:sp>
      <p:sp>
        <p:nvSpPr>
          <p:cNvPr id="9" name="Shape 4"/>
          <p:cNvSpPr/>
          <p:nvPr/>
        </p:nvSpPr>
        <p:spPr>
          <a:xfrm>
            <a:off x="457200" y="5120640"/>
            <a:ext cx="2651760" cy="777240"/>
          </a:xfrm>
          <a:prstGeom prst="roundRect">
            <a:avLst>
              <a:gd name="adj" fmla="val 9412"/>
            </a:avLst>
          </a:prstGeom>
          <a:solidFill>
            <a:srgbClr val="006580"/>
          </a:solidFill>
          <a:ln/>
        </p:spPr>
      </p:sp>
      <p:sp>
        <p:nvSpPr>
          <p:cNvPr id="10" name="Text 5"/>
          <p:cNvSpPr/>
          <p:nvPr/>
        </p:nvSpPr>
        <p:spPr>
          <a:xfrm>
            <a:off x="457200" y="5120640"/>
            <a:ext cx="2651760" cy="777240"/>
          </a:xfrm>
          <a:prstGeom prst="rect">
            <a:avLst/>
          </a:prstGeom>
          <a:noFill/>
          <a:ln/>
        </p:spPr>
        <p:txBody>
          <a:bodyPr wrap="square"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Integrations</a:t>
            </a:r>
            <a:endParaRPr lang="en-US" sz="1300" dirty="0"/>
          </a:p>
        </p:txBody>
      </p:sp>
      <p:sp>
        <p:nvSpPr>
          <p:cNvPr id="11" name="Shape 6"/>
          <p:cNvSpPr/>
          <p:nvPr/>
        </p:nvSpPr>
        <p:spPr>
          <a:xfrm>
            <a:off x="3310128" y="5120640"/>
            <a:ext cx="2651760" cy="777240"/>
          </a:xfrm>
          <a:prstGeom prst="roundRect">
            <a:avLst>
              <a:gd name="adj" fmla="val 9412"/>
            </a:avLst>
          </a:prstGeom>
          <a:solidFill>
            <a:srgbClr val="009845"/>
          </a:solidFill>
          <a:ln/>
        </p:spPr>
      </p:sp>
      <p:sp>
        <p:nvSpPr>
          <p:cNvPr id="12" name="Text 7"/>
          <p:cNvSpPr/>
          <p:nvPr/>
        </p:nvSpPr>
        <p:spPr>
          <a:xfrm>
            <a:off x="3310128" y="5120640"/>
            <a:ext cx="2651760" cy="777240"/>
          </a:xfrm>
          <a:prstGeom prst="rect">
            <a:avLst/>
          </a:prstGeom>
          <a:noFill/>
          <a:ln/>
        </p:spPr>
        <p:txBody>
          <a:bodyPr wrap="square"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Governance</a:t>
            </a:r>
            <a:endParaRPr lang="en-US" sz="1300" dirty="0"/>
          </a:p>
        </p:txBody>
      </p:sp>
      <p:sp>
        <p:nvSpPr>
          <p:cNvPr id="13" name="Shape 8"/>
          <p:cNvSpPr/>
          <p:nvPr/>
        </p:nvSpPr>
        <p:spPr>
          <a:xfrm>
            <a:off x="6163056" y="5120640"/>
            <a:ext cx="2651760" cy="777240"/>
          </a:xfrm>
          <a:prstGeom prst="roundRect">
            <a:avLst>
              <a:gd name="adj" fmla="val 9412"/>
            </a:avLst>
          </a:prstGeom>
          <a:solidFill>
            <a:srgbClr val="4CB393"/>
          </a:solidFill>
          <a:ln/>
        </p:spPr>
      </p:sp>
      <p:sp>
        <p:nvSpPr>
          <p:cNvPr id="14" name="Text 9"/>
          <p:cNvSpPr/>
          <p:nvPr/>
        </p:nvSpPr>
        <p:spPr>
          <a:xfrm>
            <a:off x="6163056" y="5120640"/>
            <a:ext cx="2651760" cy="777240"/>
          </a:xfrm>
          <a:prstGeom prst="rect">
            <a:avLst/>
          </a:prstGeom>
          <a:noFill/>
          <a:ln/>
        </p:spPr>
        <p:txBody>
          <a:bodyPr wrap="square"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Analytics</a:t>
            </a:r>
            <a:endParaRPr lang="en-US" sz="1300" dirty="0"/>
          </a:p>
        </p:txBody>
      </p:sp>
      <p:sp>
        <p:nvSpPr>
          <p:cNvPr id="15" name="Shape 10"/>
          <p:cNvSpPr/>
          <p:nvPr/>
        </p:nvSpPr>
        <p:spPr>
          <a:xfrm>
            <a:off x="9015984" y="5120640"/>
            <a:ext cx="2651760" cy="777240"/>
          </a:xfrm>
          <a:prstGeom prst="roundRect">
            <a:avLst>
              <a:gd name="adj" fmla="val 9412"/>
            </a:avLst>
          </a:prstGeom>
          <a:solidFill>
            <a:srgbClr val="009845"/>
          </a:solidFill>
          <a:ln/>
        </p:spPr>
      </p:sp>
      <p:sp>
        <p:nvSpPr>
          <p:cNvPr id="16" name="Text 11"/>
          <p:cNvSpPr/>
          <p:nvPr/>
        </p:nvSpPr>
        <p:spPr>
          <a:xfrm>
            <a:off x="9015984" y="5120640"/>
            <a:ext cx="2651760" cy="777240"/>
          </a:xfrm>
          <a:prstGeom prst="rect">
            <a:avLst/>
          </a:prstGeom>
          <a:noFill/>
          <a:ln/>
        </p:spPr>
        <p:txBody>
          <a:bodyPr wrap="square"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AI &amp; Outcomes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009845"/>
          </a:solidFill>
          <a:ln/>
        </p:spPr>
      </p:sp>
      <p:sp>
        <p:nvSpPr>
          <p:cNvPr id="3" name="Shape 1"/>
          <p:cNvSpPr/>
          <p:nvPr/>
        </p:nvSpPr>
        <p:spPr>
          <a:xfrm>
            <a:off x="457200" y="6400800"/>
            <a:ext cx="11274552" cy="9144"/>
          </a:xfrm>
          <a:prstGeom prst="rect">
            <a:avLst/>
          </a:prstGeom>
          <a:solidFill>
            <a:srgbClr val="A9B3B6"/>
          </a:solidFill>
          <a:ln/>
        </p:spPr>
      </p:sp>
      <p:pic>
        <p:nvPicPr>
          <p:cNvPr id="4" name="Image 0" descr="C:\Claude\MCG Full Stack\generators\assets\qlik_logo.png">    </p:cNvPr>
          <p:cNvPicPr>
            <a:picLocks noChangeAspect="1"/>
          </p:cNvPicPr>
          <p:nvPr/>
        </p:nvPicPr>
        <p:blipFill>
          <a:blip r:embed="rId1"/>
          <a:stretch>
            <a:fillRect/>
          </a:stretch>
        </p:blipFill>
        <p:spPr>
          <a:xfrm>
            <a:off x="457200" y="6492240"/>
            <a:ext cx="493776" cy="274320"/>
          </a:xfrm>
          <a:prstGeom prst="rect">
            <a:avLst/>
          </a:prstGeom>
        </p:spPr>
      </p:pic>
      <p:sp>
        <p:nvSpPr>
          <p:cNvPr id="5" name="Text 2"/>
          <p:cNvSpPr/>
          <p:nvPr/>
        </p:nvSpPr>
        <p:spPr>
          <a:xfrm>
            <a:off x="1280160" y="6492240"/>
            <a:ext cx="7315200" cy="274320"/>
          </a:xfrm>
          <a:prstGeom prst="rect">
            <a:avLst/>
          </a:prstGeom>
          <a:noFill/>
          <a:ln/>
        </p:spPr>
        <p:txBody>
          <a:bodyPr wrap="square" rtlCol="0" anchor="ctr"/>
          <a:lstStyle/>
          <a:p>
            <a:pPr indent="0" marL="0">
              <a:buNone/>
            </a:pPr>
            <a:r>
              <a:rPr lang="en-US" sz="800" dirty="0">
                <a:solidFill>
                  <a:srgbClr val="A9B3B6"/>
                </a:solidFill>
                <a:latin typeface="Inter" pitchFamily="34" charset="0"/>
                <a:ea typeface="Inter" pitchFamily="34" charset="-122"/>
                <a:cs typeface="Inter" pitchFamily="34" charset="-120"/>
              </a:rPr>
              <a:t>Project Qlarity  •  MCG Demo  •  Qlik Cloud</a:t>
            </a:r>
            <a:endParaRPr lang="en-US" sz="800" dirty="0"/>
          </a:p>
        </p:txBody>
      </p:sp>
      <p:sp>
        <p:nvSpPr>
          <p:cNvPr id="6" name="Text 3"/>
          <p:cNvSpPr/>
          <p:nvPr/>
        </p:nvSpPr>
        <p:spPr>
          <a:xfrm>
            <a:off x="10972800" y="6492240"/>
            <a:ext cx="914400" cy="274320"/>
          </a:xfrm>
          <a:prstGeom prst="rect">
            <a:avLst/>
          </a:prstGeom>
          <a:noFill/>
          <a:ln/>
        </p:spPr>
        <p:txBody>
          <a:bodyPr wrap="square" rtlCol="0" anchor="ctr"/>
          <a:lstStyle/>
          <a:p>
            <a:pPr algn="r" indent="0" marL="0">
              <a:buNone/>
            </a:pPr>
            <a:r>
              <a:rPr lang="en-US" sz="800" dirty="0">
                <a:solidFill>
                  <a:srgbClr val="A9B3B6"/>
                </a:solidFill>
                <a:latin typeface="Inter" pitchFamily="34" charset="0"/>
                <a:ea typeface="Inter" pitchFamily="34" charset="-122"/>
                <a:cs typeface="Inter" pitchFamily="34" charset="-120"/>
              </a:rPr>
              <a:t>2</a:t>
            </a:r>
            <a:endParaRPr lang="en-US" sz="800" dirty="0"/>
          </a:p>
        </p:txBody>
      </p:sp>
      <p:sp>
        <p:nvSpPr>
          <p:cNvPr id="7" name="Text 4"/>
          <p:cNvSpPr/>
          <p:nvPr/>
        </p:nvSpPr>
        <p:spPr>
          <a:xfrm>
            <a:off x="457200" y="182880"/>
            <a:ext cx="8412480" cy="594360"/>
          </a:xfrm>
          <a:prstGeom prst="rect">
            <a:avLst/>
          </a:prstGeom>
          <a:noFill/>
          <a:ln/>
        </p:spPr>
        <p:txBody>
          <a:bodyPr wrap="square" rtlCol="0" anchor="ctr"/>
          <a:lstStyle/>
          <a:p>
            <a:pPr indent="0" marL="0">
              <a:buNone/>
            </a:pPr>
            <a:r>
              <a:rPr lang="en-US" sz="2600" b="1" dirty="0">
                <a:solidFill>
                  <a:srgbClr val="19416C"/>
                </a:solidFill>
                <a:latin typeface="Inter" pitchFamily="34" charset="0"/>
                <a:ea typeface="Inter" pitchFamily="34" charset="-122"/>
                <a:cs typeface="Inter" pitchFamily="34" charset="-120"/>
              </a:rPr>
              <a:t>What is Project Qlarity</a:t>
            </a:r>
            <a:endParaRPr lang="en-US" sz="2600" dirty="0"/>
          </a:p>
        </p:txBody>
      </p:sp>
      <p:sp>
        <p:nvSpPr>
          <p:cNvPr id="9" name="Text 5"/>
          <p:cNvSpPr/>
          <p:nvPr/>
        </p:nvSpPr>
        <p:spPr>
          <a:xfrm>
            <a:off x="457200" y="786384"/>
            <a:ext cx="11247120" cy="365760"/>
          </a:xfrm>
          <a:prstGeom prst="rect">
            <a:avLst/>
          </a:prstGeom>
          <a:noFill/>
          <a:ln/>
        </p:spPr>
        <p:txBody>
          <a:bodyPr wrap="square" rtlCol="0" anchor="ctr"/>
          <a:lstStyle/>
          <a:p>
            <a:pPr indent="0" marL="0">
              <a:buNone/>
            </a:pPr>
            <a:r>
              <a:rPr lang="en-US" sz="1300" i="1" dirty="0">
                <a:solidFill>
                  <a:srgbClr val="6B7280"/>
                </a:solidFill>
                <a:latin typeface="Inter" pitchFamily="34" charset="0"/>
                <a:ea typeface="Inter" pitchFamily="34" charset="-122"/>
                <a:cs typeface="Inter" pitchFamily="34" charset="-120"/>
              </a:rPr>
              <a:t>The initiative in plain terms — a repeatable framework for demoing the full Qlik Cloud stack, end to end</a:t>
            </a:r>
            <a:endParaRPr lang="en-US" sz="1300" dirty="0"/>
          </a:p>
        </p:txBody>
      </p:sp>
      <p:sp>
        <p:nvSpPr>
          <p:cNvPr id="10" name="Shape 6"/>
          <p:cNvSpPr/>
          <p:nvPr/>
        </p:nvSpPr>
        <p:spPr>
          <a:xfrm>
            <a:off x="457200" y="1280160"/>
            <a:ext cx="11247120" cy="1005840"/>
          </a:xfrm>
          <a:prstGeom prst="roundRect">
            <a:avLst>
              <a:gd name="adj" fmla="val 10909"/>
            </a:avLst>
          </a:prstGeom>
          <a:solidFill>
            <a:srgbClr val="E0F5EA"/>
          </a:solidFill>
          <a:ln w="25400">
            <a:solidFill>
              <a:srgbClr val="009845"/>
            </a:solidFill>
            <a:prstDash val="solid"/>
          </a:ln>
        </p:spPr>
      </p:sp>
      <p:sp>
        <p:nvSpPr>
          <p:cNvPr id="11" name="Text 7"/>
          <p:cNvSpPr/>
          <p:nvPr/>
        </p:nvSpPr>
        <p:spPr>
          <a:xfrm>
            <a:off x="731520" y="1371600"/>
            <a:ext cx="10698480" cy="411480"/>
          </a:xfrm>
          <a:prstGeom prst="rect">
            <a:avLst/>
          </a:prstGeom>
          <a:noFill/>
          <a:ln/>
        </p:spPr>
        <p:txBody>
          <a:bodyPr wrap="square" rtlCol="0" anchor="ctr"/>
          <a:lstStyle/>
          <a:p>
            <a:pPr indent="0" marL="0">
              <a:buNone/>
            </a:pPr>
            <a:r>
              <a:rPr lang="en-US" sz="2000" b="1" dirty="0">
                <a:solidFill>
                  <a:srgbClr val="19416C"/>
                </a:solidFill>
                <a:latin typeface="Inter" pitchFamily="34" charset="0"/>
                <a:ea typeface="Inter" pitchFamily="34" charset="-122"/>
                <a:cs typeface="Inter" pitchFamily="34" charset="-120"/>
              </a:rPr>
              <a:t>"Qlik"  +  "Clarity"  =  </a:t>
            </a:r>
            <a:pPr indent="0" marL="0">
              <a:buNone/>
            </a:pPr>
            <a:r>
              <a:rPr lang="en-US" sz="2000" b="1" dirty="0">
                <a:solidFill>
                  <a:srgbClr val="009845"/>
                </a:solidFill>
                <a:latin typeface="Inter" pitchFamily="34" charset="0"/>
                <a:ea typeface="Inter" pitchFamily="34" charset="-122"/>
                <a:cs typeface="Inter" pitchFamily="34" charset="-120"/>
              </a:rPr>
              <a:t>Project Qlarity</a:t>
            </a:r>
            <a:endParaRPr lang="en-US" sz="2000" dirty="0"/>
          </a:p>
        </p:txBody>
      </p:sp>
      <p:sp>
        <p:nvSpPr>
          <p:cNvPr id="12" name="Text 8"/>
          <p:cNvSpPr/>
          <p:nvPr/>
        </p:nvSpPr>
        <p:spPr>
          <a:xfrm>
            <a:off x="731520" y="1810512"/>
            <a:ext cx="10698480" cy="411480"/>
          </a:xfrm>
          <a:prstGeom prst="rect">
            <a:avLst/>
          </a:prstGeom>
          <a:noFill/>
          <a:ln/>
        </p:spPr>
        <p:txBody>
          <a:bodyPr wrap="square" rtlCol="0" anchor="ctr"/>
          <a:lstStyle/>
          <a:p>
            <a:pPr indent="0" marL="0">
              <a:buNone/>
            </a:pPr>
            <a:r>
              <a:rPr lang="en-US" sz="1300" dirty="0">
                <a:solidFill>
                  <a:srgbClr val="454659"/>
                </a:solidFill>
                <a:latin typeface="Inter" pitchFamily="34" charset="0"/>
                <a:ea typeface="Inter" pitchFamily="34" charset="-122"/>
                <a:cs typeface="Inter" pitchFamily="34" charset="-120"/>
              </a:rPr>
              <a:t>A repeatable framework for demoing how Qlik Cloud turns fragmented, messy data into trusted, AI-ready data products.</a:t>
            </a:r>
            <a:endParaRPr lang="en-US" sz="1300" dirty="0"/>
          </a:p>
        </p:txBody>
      </p:sp>
      <p:sp>
        <p:nvSpPr>
          <p:cNvPr id="13" name="Shape 9"/>
          <p:cNvSpPr/>
          <p:nvPr/>
        </p:nvSpPr>
        <p:spPr>
          <a:xfrm>
            <a:off x="457200" y="2514600"/>
            <a:ext cx="5532120" cy="3063240"/>
          </a:xfrm>
          <a:prstGeom prst="roundRect">
            <a:avLst>
              <a:gd name="adj" fmla="val 3582"/>
            </a:avLst>
          </a:prstGeom>
          <a:solidFill>
            <a:srgbClr val="F6F7F8"/>
          </a:solidFill>
          <a:ln w="25400">
            <a:solidFill>
              <a:srgbClr val="006580"/>
            </a:solidFill>
            <a:prstDash val="solid"/>
          </a:ln>
        </p:spPr>
      </p:sp>
      <p:sp>
        <p:nvSpPr>
          <p:cNvPr id="14" name="Shape 10"/>
          <p:cNvSpPr/>
          <p:nvPr/>
        </p:nvSpPr>
        <p:spPr>
          <a:xfrm>
            <a:off x="548640" y="2606040"/>
            <a:ext cx="5349240" cy="457200"/>
          </a:xfrm>
          <a:prstGeom prst="roundRect">
            <a:avLst>
              <a:gd name="adj" fmla="val 12000"/>
            </a:avLst>
          </a:prstGeom>
          <a:solidFill>
            <a:srgbClr val="006580"/>
          </a:solidFill>
          <a:ln/>
        </p:spPr>
      </p:sp>
      <p:sp>
        <p:nvSpPr>
          <p:cNvPr id="15" name="Text 11"/>
          <p:cNvSpPr/>
          <p:nvPr/>
        </p:nvSpPr>
        <p:spPr>
          <a:xfrm>
            <a:off x="548640" y="2606040"/>
            <a:ext cx="5349240" cy="45720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What it is</a:t>
            </a:r>
            <a:endParaRPr lang="en-US" sz="1400" dirty="0"/>
          </a:p>
        </p:txBody>
      </p:sp>
      <p:sp>
        <p:nvSpPr>
          <p:cNvPr id="16" name="Shape 12"/>
          <p:cNvSpPr/>
          <p:nvPr/>
        </p:nvSpPr>
        <p:spPr>
          <a:xfrm>
            <a:off x="621792" y="2660904"/>
            <a:ext cx="347472" cy="347472"/>
          </a:xfrm>
          <a:prstGeom prst="ellipse">
            <a:avLst/>
          </a:prstGeom>
          <a:solidFill>
            <a:srgbClr val="FFFFFF"/>
          </a:solidFill>
          <a:ln w="12700">
            <a:solidFill>
              <a:srgbClr val="FFFFFF"/>
            </a:solidFill>
            <a:prstDash val="solid"/>
          </a:ln>
          <a:effectLst>
            <a:outerShdw sx="100000" sy="100000" kx="0" ky="0" algn="bl" rotWithShape="0" blurRad="38100" dist="12700" dir="16200000">
              <a:srgbClr val="000000">
                <a:alpha val="15000"/>
              </a:srgbClr>
            </a:outerShdw>
          </a:effectLst>
        </p:spPr>
      </p:sp>
      <p:pic>
        <p:nvPicPr>
          <p:cNvPr id="17" name="Image 1" descr="C:\Claude\MCG Full Stack\generators\assets\icons\cloud.png">    </p:cNvPr>
          <p:cNvPicPr>
            <a:picLocks noChangeAspect="1"/>
          </p:cNvPicPr>
          <p:nvPr/>
        </p:nvPicPr>
        <p:blipFill>
          <a:blip r:embed="rId2"/>
          <a:stretch>
            <a:fillRect/>
          </a:stretch>
        </p:blipFill>
        <p:spPr>
          <a:xfrm>
            <a:off x="687812" y="2726924"/>
            <a:ext cx="215433" cy="215433"/>
          </a:xfrm>
          <a:prstGeom prst="rect">
            <a:avLst/>
          </a:prstGeom>
        </p:spPr>
      </p:pic>
      <p:sp>
        <p:nvSpPr>
          <p:cNvPr id="18" name="Text 13"/>
          <p:cNvSpPr/>
          <p:nvPr/>
        </p:nvSpPr>
        <p:spPr>
          <a:xfrm>
            <a:off x="713232" y="322783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Meridian Commerce Group (MCG) — a fictional global retail / commerce company</a:t>
            </a:r>
            <a:endParaRPr lang="en-US" sz="1150" dirty="0"/>
          </a:p>
        </p:txBody>
      </p:sp>
      <p:sp>
        <p:nvSpPr>
          <p:cNvPr id="19" name="Text 14"/>
          <p:cNvSpPr/>
          <p:nvPr/>
        </p:nvSpPr>
        <p:spPr>
          <a:xfrm>
            <a:off x="713232" y="3831336"/>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MCG's data estate is scattered across 47 fragmented systems</a:t>
            </a:r>
            <a:endParaRPr lang="en-US" sz="1150" dirty="0"/>
          </a:p>
        </p:txBody>
      </p:sp>
      <p:sp>
        <p:nvSpPr>
          <p:cNvPr id="20" name="Text 15"/>
          <p:cNvSpPr/>
          <p:nvPr/>
        </p:nvSpPr>
        <p:spPr>
          <a:xfrm>
            <a:off x="713232" y="4434840"/>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Project Qlarity is the framework for demoing that mess becoming trusted, governed Qlik data</a:t>
            </a:r>
            <a:endParaRPr lang="en-US" sz="1150" dirty="0"/>
          </a:p>
        </p:txBody>
      </p:sp>
      <p:sp>
        <p:nvSpPr>
          <p:cNvPr id="21" name="Text 16"/>
          <p:cNvSpPr/>
          <p:nvPr/>
        </p:nvSpPr>
        <p:spPr>
          <a:xfrm>
            <a:off x="713232" y="5038344"/>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A complete, presentable end-to-end Qlik demo environment — a framework, not a product</a:t>
            </a:r>
            <a:endParaRPr lang="en-US" sz="1150" dirty="0"/>
          </a:p>
        </p:txBody>
      </p:sp>
      <p:sp>
        <p:nvSpPr>
          <p:cNvPr id="22" name="Shape 17"/>
          <p:cNvSpPr/>
          <p:nvPr/>
        </p:nvSpPr>
        <p:spPr>
          <a:xfrm>
            <a:off x="6172200" y="2514600"/>
            <a:ext cx="5532120" cy="3063240"/>
          </a:xfrm>
          <a:prstGeom prst="roundRect">
            <a:avLst>
              <a:gd name="adj" fmla="val 3582"/>
            </a:avLst>
          </a:prstGeom>
          <a:solidFill>
            <a:srgbClr val="F6F7F8"/>
          </a:solidFill>
          <a:ln w="25400">
            <a:solidFill>
              <a:srgbClr val="009845"/>
            </a:solidFill>
            <a:prstDash val="solid"/>
          </a:ln>
        </p:spPr>
      </p:sp>
      <p:sp>
        <p:nvSpPr>
          <p:cNvPr id="23" name="Shape 18"/>
          <p:cNvSpPr/>
          <p:nvPr/>
        </p:nvSpPr>
        <p:spPr>
          <a:xfrm>
            <a:off x="6263640" y="2606040"/>
            <a:ext cx="5349240" cy="457200"/>
          </a:xfrm>
          <a:prstGeom prst="roundRect">
            <a:avLst>
              <a:gd name="adj" fmla="val 12000"/>
            </a:avLst>
          </a:prstGeom>
          <a:solidFill>
            <a:srgbClr val="009845"/>
          </a:solidFill>
          <a:ln/>
        </p:spPr>
      </p:sp>
      <p:sp>
        <p:nvSpPr>
          <p:cNvPr id="24" name="Text 19"/>
          <p:cNvSpPr/>
          <p:nvPr/>
        </p:nvSpPr>
        <p:spPr>
          <a:xfrm>
            <a:off x="6263640" y="2606040"/>
            <a:ext cx="5349240" cy="45720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How it comes to life</a:t>
            </a:r>
            <a:endParaRPr lang="en-US" sz="1400" dirty="0"/>
          </a:p>
        </p:txBody>
      </p:sp>
      <p:sp>
        <p:nvSpPr>
          <p:cNvPr id="25" name="Shape 20"/>
          <p:cNvSpPr/>
          <p:nvPr/>
        </p:nvSpPr>
        <p:spPr>
          <a:xfrm>
            <a:off x="6336792" y="2660904"/>
            <a:ext cx="347472" cy="347472"/>
          </a:xfrm>
          <a:prstGeom prst="ellipse">
            <a:avLst/>
          </a:prstGeom>
          <a:solidFill>
            <a:srgbClr val="FFFFFF"/>
          </a:solidFill>
          <a:ln w="12700">
            <a:solidFill>
              <a:srgbClr val="FFFFFF"/>
            </a:solidFill>
            <a:prstDash val="solid"/>
          </a:ln>
          <a:effectLst>
            <a:outerShdw sx="100000" sy="100000" kx="0" ky="0" algn="bl" rotWithShape="0" blurRad="38100" dist="12700" dir="16200000">
              <a:srgbClr val="000000">
                <a:alpha val="15000"/>
              </a:srgbClr>
            </a:outerShdw>
          </a:effectLst>
        </p:spPr>
      </p:sp>
      <p:pic>
        <p:nvPicPr>
          <p:cNvPr id="26" name="Image 2" descr="C:\Claude\MCG Full Stack\generators\assets\icons\gateway.png">    </p:cNvPr>
          <p:cNvPicPr>
            <a:picLocks noChangeAspect="1"/>
          </p:cNvPicPr>
          <p:nvPr/>
        </p:nvPicPr>
        <p:blipFill>
          <a:blip r:embed="rId3"/>
          <a:stretch>
            <a:fillRect/>
          </a:stretch>
        </p:blipFill>
        <p:spPr>
          <a:xfrm>
            <a:off x="6402812" y="2726924"/>
            <a:ext cx="215433" cy="215433"/>
          </a:xfrm>
          <a:prstGeom prst="rect">
            <a:avLst/>
          </a:prstGeom>
        </p:spPr>
      </p:pic>
      <p:sp>
        <p:nvSpPr>
          <p:cNvPr id="27" name="Text 21"/>
          <p:cNvSpPr/>
          <p:nvPr/>
        </p:nvSpPr>
        <p:spPr>
          <a:xfrm>
            <a:off x="6428232" y="322783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One git repository holds the whole demo</a:t>
            </a:r>
            <a:endParaRPr lang="en-US" sz="1150" dirty="0"/>
          </a:p>
        </p:txBody>
      </p:sp>
      <p:sp>
        <p:nvSpPr>
          <p:cNvPr id="28" name="Text 22"/>
          <p:cNvSpPr/>
          <p:nvPr/>
        </p:nvSpPr>
        <p:spPr>
          <a:xfrm>
            <a:off x="6428232" y="3831336"/>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One command — npm run deploy — stands it up</a:t>
            </a:r>
            <a:endParaRPr lang="en-US" sz="1150" dirty="0"/>
          </a:p>
        </p:txBody>
      </p:sp>
      <p:sp>
        <p:nvSpPr>
          <p:cNvPr id="29" name="Text 23"/>
          <p:cNvSpPr/>
          <p:nvPr/>
        </p:nvSpPr>
        <p:spPr>
          <a:xfrm>
            <a:off x="6428232" y="4434840"/>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A self-hosted MCG Deploy console (web wizard) drives it</a:t>
            </a:r>
            <a:endParaRPr lang="en-US" sz="1150" dirty="0"/>
          </a:p>
        </p:txBody>
      </p:sp>
      <p:sp>
        <p:nvSpPr>
          <p:cNvPr id="30" name="Text 24"/>
          <p:cNvSpPr/>
          <p:nvPr/>
        </p:nvSpPr>
        <p:spPr>
          <a:xfrm>
            <a:off x="6428232" y="5038344"/>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Four connected stories: Integrations, Governance, Analytics, AI &amp; Outcomes</a:t>
            </a:r>
            <a:endParaRPr lang="en-US" sz="1150" dirty="0"/>
          </a:p>
        </p:txBody>
      </p:sp>
      <p:sp>
        <p:nvSpPr>
          <p:cNvPr id="31" name="Shape 25"/>
          <p:cNvSpPr/>
          <p:nvPr/>
        </p:nvSpPr>
        <p:spPr>
          <a:xfrm>
            <a:off x="457200" y="5806440"/>
            <a:ext cx="11247120" cy="548640"/>
          </a:xfrm>
          <a:prstGeom prst="roundRect">
            <a:avLst>
              <a:gd name="adj" fmla="val 13333"/>
            </a:avLst>
          </a:prstGeom>
          <a:solidFill>
            <a:srgbClr val="E0F8F7"/>
          </a:solidFill>
          <a:ln/>
        </p:spPr>
      </p:sp>
      <p:sp>
        <p:nvSpPr>
          <p:cNvPr id="32" name="Text 26"/>
          <p:cNvSpPr/>
          <p:nvPr/>
        </p:nvSpPr>
        <p:spPr>
          <a:xfrm>
            <a:off x="731520" y="5824728"/>
            <a:ext cx="10789920" cy="502920"/>
          </a:xfrm>
          <a:prstGeom prst="rect">
            <a:avLst/>
          </a:prstGeom>
          <a:noFill/>
          <a:ln/>
        </p:spPr>
        <p:txBody>
          <a:bodyPr wrap="square" rtlCol="0" anchor="ctr"/>
          <a:lstStyle/>
          <a:p>
            <a:pPr indent="0" marL="0">
              <a:buNone/>
            </a:pPr>
            <a:r>
              <a:rPr lang="en-US" sz="1100" b="1" dirty="0">
                <a:solidFill>
                  <a:srgbClr val="006580"/>
                </a:solidFill>
                <a:latin typeface="Inter" pitchFamily="34" charset="0"/>
                <a:ea typeface="Inter" pitchFamily="34" charset="-122"/>
                <a:cs typeface="Inter" pitchFamily="34" charset="-120"/>
              </a:rPr>
              <a:t>From 7 data-quality nightmares (~$127M/year, 47 systems) to gold data products, governed knowledge, and AI outcomes — all in one repo.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19416C"/>
          </a:solidFill>
          <a:ln/>
        </p:spPr>
      </p:sp>
      <p:sp>
        <p:nvSpPr>
          <p:cNvPr id="3" name="Shape 1"/>
          <p:cNvSpPr/>
          <p:nvPr/>
        </p:nvSpPr>
        <p:spPr>
          <a:xfrm>
            <a:off x="457200" y="6400800"/>
            <a:ext cx="11274552" cy="9144"/>
          </a:xfrm>
          <a:prstGeom prst="rect">
            <a:avLst/>
          </a:prstGeom>
          <a:solidFill>
            <a:srgbClr val="A9B3B6"/>
          </a:solidFill>
          <a:ln/>
        </p:spPr>
      </p:sp>
      <p:pic>
        <p:nvPicPr>
          <p:cNvPr id="4" name="Image 0" descr="C:\Claude\MCG Full Stack\generators\assets\qlik_logo.png">    </p:cNvPr>
          <p:cNvPicPr>
            <a:picLocks noChangeAspect="1"/>
          </p:cNvPicPr>
          <p:nvPr/>
        </p:nvPicPr>
        <p:blipFill>
          <a:blip r:embed="rId1"/>
          <a:stretch>
            <a:fillRect/>
          </a:stretch>
        </p:blipFill>
        <p:spPr>
          <a:xfrm>
            <a:off x="457200" y="6492240"/>
            <a:ext cx="493776" cy="274320"/>
          </a:xfrm>
          <a:prstGeom prst="rect">
            <a:avLst/>
          </a:prstGeom>
        </p:spPr>
      </p:pic>
      <p:sp>
        <p:nvSpPr>
          <p:cNvPr id="5" name="Text 2"/>
          <p:cNvSpPr/>
          <p:nvPr/>
        </p:nvSpPr>
        <p:spPr>
          <a:xfrm>
            <a:off x="1280160" y="6492240"/>
            <a:ext cx="7315200" cy="274320"/>
          </a:xfrm>
          <a:prstGeom prst="rect">
            <a:avLst/>
          </a:prstGeom>
          <a:noFill/>
          <a:ln/>
        </p:spPr>
        <p:txBody>
          <a:bodyPr wrap="square" rtlCol="0" anchor="ctr"/>
          <a:lstStyle/>
          <a:p>
            <a:pPr indent="0" marL="0">
              <a:buNone/>
            </a:pPr>
            <a:r>
              <a:rPr lang="en-US" sz="800" dirty="0">
                <a:solidFill>
                  <a:srgbClr val="A9B3B6"/>
                </a:solidFill>
                <a:latin typeface="Inter" pitchFamily="34" charset="0"/>
                <a:ea typeface="Inter" pitchFamily="34" charset="-122"/>
                <a:cs typeface="Inter" pitchFamily="34" charset="-120"/>
              </a:rPr>
              <a:t>Project Qlarity  •  MCG Demo  •  Qlik Cloud</a:t>
            </a:r>
            <a:endParaRPr lang="en-US" sz="800" dirty="0"/>
          </a:p>
        </p:txBody>
      </p:sp>
      <p:sp>
        <p:nvSpPr>
          <p:cNvPr id="6" name="Text 3"/>
          <p:cNvSpPr/>
          <p:nvPr/>
        </p:nvSpPr>
        <p:spPr>
          <a:xfrm>
            <a:off x="10972800" y="6492240"/>
            <a:ext cx="914400" cy="274320"/>
          </a:xfrm>
          <a:prstGeom prst="rect">
            <a:avLst/>
          </a:prstGeom>
          <a:noFill/>
          <a:ln/>
        </p:spPr>
        <p:txBody>
          <a:bodyPr wrap="square" rtlCol="0" anchor="ctr"/>
          <a:lstStyle/>
          <a:p>
            <a:pPr algn="r" indent="0" marL="0">
              <a:buNone/>
            </a:pPr>
            <a:r>
              <a:rPr lang="en-US" sz="800" dirty="0">
                <a:solidFill>
                  <a:srgbClr val="A9B3B6"/>
                </a:solidFill>
                <a:latin typeface="Inter" pitchFamily="34" charset="0"/>
                <a:ea typeface="Inter" pitchFamily="34" charset="-122"/>
                <a:cs typeface="Inter" pitchFamily="34" charset="-120"/>
              </a:rPr>
              <a:t>3</a:t>
            </a:r>
            <a:endParaRPr lang="en-US" sz="800" dirty="0"/>
          </a:p>
        </p:txBody>
      </p:sp>
      <p:sp>
        <p:nvSpPr>
          <p:cNvPr id="7" name="Text 4"/>
          <p:cNvSpPr/>
          <p:nvPr/>
        </p:nvSpPr>
        <p:spPr>
          <a:xfrm>
            <a:off x="457200" y="182880"/>
            <a:ext cx="8412480" cy="594360"/>
          </a:xfrm>
          <a:prstGeom prst="rect">
            <a:avLst/>
          </a:prstGeom>
          <a:noFill/>
          <a:ln/>
        </p:spPr>
        <p:txBody>
          <a:bodyPr wrap="square" rtlCol="0" anchor="ctr"/>
          <a:lstStyle/>
          <a:p>
            <a:pPr indent="0" marL="0">
              <a:buNone/>
            </a:pPr>
            <a:r>
              <a:rPr lang="en-US" sz="2600" b="1" dirty="0">
                <a:solidFill>
                  <a:srgbClr val="19416C"/>
                </a:solidFill>
                <a:latin typeface="Inter" pitchFamily="34" charset="0"/>
                <a:ea typeface="Inter" pitchFamily="34" charset="-122"/>
                <a:cs typeface="Inter" pitchFamily="34" charset="-120"/>
              </a:rPr>
              <a:t>The Problem</a:t>
            </a:r>
            <a:endParaRPr lang="en-US" sz="2600" dirty="0"/>
          </a:p>
        </p:txBody>
      </p:sp>
      <p:sp>
        <p:nvSpPr>
          <p:cNvPr id="9" name="Text 5"/>
          <p:cNvSpPr/>
          <p:nvPr/>
        </p:nvSpPr>
        <p:spPr>
          <a:xfrm>
            <a:off x="457200" y="786384"/>
            <a:ext cx="11247120" cy="365760"/>
          </a:xfrm>
          <a:prstGeom prst="rect">
            <a:avLst/>
          </a:prstGeom>
          <a:noFill/>
          <a:ln/>
        </p:spPr>
        <p:txBody>
          <a:bodyPr wrap="square" rtlCol="0" anchor="ctr"/>
          <a:lstStyle/>
          <a:p>
            <a:pPr indent="0" marL="0">
              <a:buNone/>
            </a:pPr>
            <a:r>
              <a:rPr lang="en-US" sz="1300" i="1" dirty="0">
                <a:solidFill>
                  <a:srgbClr val="6B7280"/>
                </a:solidFill>
                <a:latin typeface="Inter" pitchFamily="34" charset="0"/>
                <a:ea typeface="Inter" pitchFamily="34" charset="-122"/>
                <a:cs typeface="Inter" pitchFamily="34" charset="-120"/>
              </a:rPr>
              <a:t>Before Qlarity — why MCG's data estate needs a transformation</a:t>
            </a:r>
            <a:endParaRPr lang="en-US" sz="1300" dirty="0"/>
          </a:p>
        </p:txBody>
      </p:sp>
      <p:sp>
        <p:nvSpPr>
          <p:cNvPr id="10" name="Shape 6"/>
          <p:cNvSpPr/>
          <p:nvPr/>
        </p:nvSpPr>
        <p:spPr>
          <a:xfrm>
            <a:off x="457200" y="1371600"/>
            <a:ext cx="3566160" cy="2468880"/>
          </a:xfrm>
          <a:prstGeom prst="roundRect">
            <a:avLst>
              <a:gd name="adj" fmla="val 4444"/>
            </a:avLst>
          </a:prstGeom>
          <a:solidFill>
            <a:srgbClr val="F6F7F8"/>
          </a:solidFill>
          <a:ln w="25400">
            <a:solidFill>
              <a:srgbClr val="19416C"/>
            </a:solidFill>
            <a:prstDash val="solid"/>
          </a:ln>
        </p:spPr>
      </p:sp>
      <p:sp>
        <p:nvSpPr>
          <p:cNvPr id="11" name="Text 7"/>
          <p:cNvSpPr/>
          <p:nvPr/>
        </p:nvSpPr>
        <p:spPr>
          <a:xfrm>
            <a:off x="457200" y="1600200"/>
            <a:ext cx="3566160" cy="914400"/>
          </a:xfrm>
          <a:prstGeom prst="rect">
            <a:avLst/>
          </a:prstGeom>
          <a:noFill/>
          <a:ln/>
        </p:spPr>
        <p:txBody>
          <a:bodyPr wrap="square" rtlCol="0" anchor="ctr"/>
          <a:lstStyle/>
          <a:p>
            <a:pPr algn="ctr" indent="0" marL="0">
              <a:buNone/>
            </a:pPr>
            <a:r>
              <a:rPr lang="en-US" sz="4600" b="1" dirty="0">
                <a:solidFill>
                  <a:srgbClr val="19416C"/>
                </a:solidFill>
                <a:latin typeface="Inter" pitchFamily="34" charset="0"/>
                <a:ea typeface="Inter" pitchFamily="34" charset="-122"/>
                <a:cs typeface="Inter" pitchFamily="34" charset="-120"/>
              </a:rPr>
              <a:t>7</a:t>
            </a:r>
            <a:endParaRPr lang="en-US" sz="4600" dirty="0"/>
          </a:p>
        </p:txBody>
      </p:sp>
      <p:sp>
        <p:nvSpPr>
          <p:cNvPr id="12" name="Text 8"/>
          <p:cNvSpPr/>
          <p:nvPr/>
        </p:nvSpPr>
        <p:spPr>
          <a:xfrm>
            <a:off x="640080" y="2606040"/>
            <a:ext cx="3200400" cy="457200"/>
          </a:xfrm>
          <a:prstGeom prst="rect">
            <a:avLst/>
          </a:prstGeom>
          <a:noFill/>
          <a:ln/>
        </p:spPr>
        <p:txBody>
          <a:bodyPr wrap="square" rtlCol="0" anchor="ctr"/>
          <a:lstStyle/>
          <a:p>
            <a:pPr algn="ctr" indent="0" marL="0">
              <a:buNone/>
            </a:pPr>
            <a:r>
              <a:rPr lang="en-US" sz="1500" b="1" dirty="0">
                <a:solidFill>
                  <a:srgbClr val="19416C"/>
                </a:solidFill>
                <a:latin typeface="Inter" pitchFamily="34" charset="0"/>
                <a:ea typeface="Inter" pitchFamily="34" charset="-122"/>
                <a:cs typeface="Inter" pitchFamily="34" charset="-120"/>
              </a:rPr>
              <a:t>data quality nightmares</a:t>
            </a:r>
            <a:endParaRPr lang="en-US" sz="1500" dirty="0"/>
          </a:p>
        </p:txBody>
      </p:sp>
      <p:sp>
        <p:nvSpPr>
          <p:cNvPr id="13" name="Text 9"/>
          <p:cNvSpPr/>
          <p:nvPr/>
        </p:nvSpPr>
        <p:spPr>
          <a:xfrm>
            <a:off x="685800" y="3108960"/>
            <a:ext cx="3108960" cy="594360"/>
          </a:xfrm>
          <a:prstGeom prst="rect">
            <a:avLst/>
          </a:prstGeom>
          <a:noFill/>
          <a:ln/>
        </p:spPr>
        <p:txBody>
          <a:bodyPr wrap="square" rtlCol="0" anchor="t"/>
          <a:lstStyle/>
          <a:p>
            <a:pPr algn="ctr" indent="0" marL="0">
              <a:lnSpc>
                <a:spcPct val="103000"/>
              </a:lnSpc>
              <a:buNone/>
            </a:pPr>
            <a:r>
              <a:rPr lang="en-US" sz="1100" dirty="0">
                <a:solidFill>
                  <a:srgbClr val="454659"/>
                </a:solidFill>
                <a:latin typeface="Inter" pitchFamily="34" charset="0"/>
                <a:ea typeface="Inter" pitchFamily="34" charset="-122"/>
                <a:cs typeface="Inter" pitchFamily="34" charset="-120"/>
              </a:rPr>
              <a:t>recurring failure patterns across the estate</a:t>
            </a:r>
            <a:endParaRPr lang="en-US" sz="1100" dirty="0"/>
          </a:p>
        </p:txBody>
      </p:sp>
      <p:sp>
        <p:nvSpPr>
          <p:cNvPr id="14" name="Shape 10"/>
          <p:cNvSpPr/>
          <p:nvPr/>
        </p:nvSpPr>
        <p:spPr>
          <a:xfrm>
            <a:off x="4251960" y="1371600"/>
            <a:ext cx="3566160" cy="2468880"/>
          </a:xfrm>
          <a:prstGeom prst="roundRect">
            <a:avLst>
              <a:gd name="adj" fmla="val 4444"/>
            </a:avLst>
          </a:prstGeom>
          <a:solidFill>
            <a:srgbClr val="F6F7F8"/>
          </a:solidFill>
          <a:ln w="25400">
            <a:solidFill>
              <a:srgbClr val="009845"/>
            </a:solidFill>
            <a:prstDash val="solid"/>
          </a:ln>
        </p:spPr>
      </p:sp>
      <p:sp>
        <p:nvSpPr>
          <p:cNvPr id="15" name="Text 11"/>
          <p:cNvSpPr/>
          <p:nvPr/>
        </p:nvSpPr>
        <p:spPr>
          <a:xfrm>
            <a:off x="4251960" y="1600200"/>
            <a:ext cx="3566160" cy="914400"/>
          </a:xfrm>
          <a:prstGeom prst="rect">
            <a:avLst/>
          </a:prstGeom>
          <a:noFill/>
          <a:ln/>
        </p:spPr>
        <p:txBody>
          <a:bodyPr wrap="square" rtlCol="0" anchor="ctr"/>
          <a:lstStyle/>
          <a:p>
            <a:pPr algn="ctr" indent="0" marL="0">
              <a:buNone/>
            </a:pPr>
            <a:r>
              <a:rPr lang="en-US" sz="4600" b="1" dirty="0">
                <a:solidFill>
                  <a:srgbClr val="009845"/>
                </a:solidFill>
                <a:latin typeface="Inter" pitchFamily="34" charset="0"/>
                <a:ea typeface="Inter" pitchFamily="34" charset="-122"/>
                <a:cs typeface="Inter" pitchFamily="34" charset="-120"/>
              </a:rPr>
              <a:t>~$127M</a:t>
            </a:r>
            <a:endParaRPr lang="en-US" sz="4600" dirty="0"/>
          </a:p>
        </p:txBody>
      </p:sp>
      <p:sp>
        <p:nvSpPr>
          <p:cNvPr id="16" name="Text 12"/>
          <p:cNvSpPr/>
          <p:nvPr/>
        </p:nvSpPr>
        <p:spPr>
          <a:xfrm>
            <a:off x="4434840" y="2606040"/>
            <a:ext cx="3200400" cy="457200"/>
          </a:xfrm>
          <a:prstGeom prst="rect">
            <a:avLst/>
          </a:prstGeom>
          <a:noFill/>
          <a:ln/>
        </p:spPr>
        <p:txBody>
          <a:bodyPr wrap="square" rtlCol="0" anchor="ctr"/>
          <a:lstStyle/>
          <a:p>
            <a:pPr algn="ctr" indent="0" marL="0">
              <a:buNone/>
            </a:pPr>
            <a:r>
              <a:rPr lang="en-US" sz="1500" b="1" dirty="0">
                <a:solidFill>
                  <a:srgbClr val="19416C"/>
                </a:solidFill>
                <a:latin typeface="Inter" pitchFamily="34" charset="0"/>
                <a:ea typeface="Inter" pitchFamily="34" charset="-122"/>
                <a:cs typeface="Inter" pitchFamily="34" charset="-120"/>
              </a:rPr>
              <a:t>cost per year</a:t>
            </a:r>
            <a:endParaRPr lang="en-US" sz="1500" dirty="0"/>
          </a:p>
        </p:txBody>
      </p:sp>
      <p:sp>
        <p:nvSpPr>
          <p:cNvPr id="17" name="Text 13"/>
          <p:cNvSpPr/>
          <p:nvPr/>
        </p:nvSpPr>
        <p:spPr>
          <a:xfrm>
            <a:off x="4480560" y="3108960"/>
            <a:ext cx="3108960" cy="594360"/>
          </a:xfrm>
          <a:prstGeom prst="rect">
            <a:avLst/>
          </a:prstGeom>
          <a:noFill/>
          <a:ln/>
        </p:spPr>
        <p:txBody>
          <a:bodyPr wrap="square" rtlCol="0" anchor="t"/>
          <a:lstStyle/>
          <a:p>
            <a:pPr algn="ctr" indent="0" marL="0">
              <a:lnSpc>
                <a:spcPct val="103000"/>
              </a:lnSpc>
              <a:buNone/>
            </a:pPr>
            <a:r>
              <a:rPr lang="en-US" sz="1100" dirty="0">
                <a:solidFill>
                  <a:srgbClr val="454659"/>
                </a:solidFill>
                <a:latin typeface="Inter" pitchFamily="34" charset="0"/>
                <a:ea typeface="Inter" pitchFamily="34" charset="-122"/>
                <a:cs typeface="Inter" pitchFamily="34" charset="-120"/>
              </a:rPr>
              <a:t>the price of dirty, fragmented data</a:t>
            </a:r>
            <a:endParaRPr lang="en-US" sz="1100" dirty="0"/>
          </a:p>
        </p:txBody>
      </p:sp>
      <p:sp>
        <p:nvSpPr>
          <p:cNvPr id="18" name="Shape 14"/>
          <p:cNvSpPr/>
          <p:nvPr/>
        </p:nvSpPr>
        <p:spPr>
          <a:xfrm>
            <a:off x="8046720" y="1371600"/>
            <a:ext cx="3566160" cy="2468880"/>
          </a:xfrm>
          <a:prstGeom prst="roundRect">
            <a:avLst>
              <a:gd name="adj" fmla="val 4444"/>
            </a:avLst>
          </a:prstGeom>
          <a:solidFill>
            <a:srgbClr val="F6F7F8"/>
          </a:solidFill>
          <a:ln w="25400">
            <a:solidFill>
              <a:srgbClr val="006580"/>
            </a:solidFill>
            <a:prstDash val="solid"/>
          </a:ln>
        </p:spPr>
      </p:sp>
      <p:sp>
        <p:nvSpPr>
          <p:cNvPr id="19" name="Text 15"/>
          <p:cNvSpPr/>
          <p:nvPr/>
        </p:nvSpPr>
        <p:spPr>
          <a:xfrm>
            <a:off x="8046720" y="1600200"/>
            <a:ext cx="3566160" cy="914400"/>
          </a:xfrm>
          <a:prstGeom prst="rect">
            <a:avLst/>
          </a:prstGeom>
          <a:noFill/>
          <a:ln/>
        </p:spPr>
        <p:txBody>
          <a:bodyPr wrap="square" rtlCol="0" anchor="ctr"/>
          <a:lstStyle/>
          <a:p>
            <a:pPr algn="ctr" indent="0" marL="0">
              <a:buNone/>
            </a:pPr>
            <a:r>
              <a:rPr lang="en-US" sz="4600" b="1" dirty="0">
                <a:solidFill>
                  <a:srgbClr val="006580"/>
                </a:solidFill>
                <a:latin typeface="Inter" pitchFamily="34" charset="0"/>
                <a:ea typeface="Inter" pitchFamily="34" charset="-122"/>
                <a:cs typeface="Inter" pitchFamily="34" charset="-120"/>
              </a:rPr>
              <a:t>47</a:t>
            </a:r>
            <a:endParaRPr lang="en-US" sz="4600" dirty="0"/>
          </a:p>
        </p:txBody>
      </p:sp>
      <p:sp>
        <p:nvSpPr>
          <p:cNvPr id="20" name="Text 16"/>
          <p:cNvSpPr/>
          <p:nvPr/>
        </p:nvSpPr>
        <p:spPr>
          <a:xfrm>
            <a:off x="8229600" y="2606040"/>
            <a:ext cx="3200400" cy="457200"/>
          </a:xfrm>
          <a:prstGeom prst="rect">
            <a:avLst/>
          </a:prstGeom>
          <a:noFill/>
          <a:ln/>
        </p:spPr>
        <p:txBody>
          <a:bodyPr wrap="square" rtlCol="0" anchor="ctr"/>
          <a:lstStyle/>
          <a:p>
            <a:pPr algn="ctr" indent="0" marL="0">
              <a:buNone/>
            </a:pPr>
            <a:r>
              <a:rPr lang="en-US" sz="1500" b="1" dirty="0">
                <a:solidFill>
                  <a:srgbClr val="19416C"/>
                </a:solidFill>
                <a:latin typeface="Inter" pitchFamily="34" charset="0"/>
                <a:ea typeface="Inter" pitchFamily="34" charset="-122"/>
                <a:cs typeface="Inter" pitchFamily="34" charset="-120"/>
              </a:rPr>
              <a:t>fragmented systems</a:t>
            </a:r>
            <a:endParaRPr lang="en-US" sz="1500" dirty="0"/>
          </a:p>
        </p:txBody>
      </p:sp>
      <p:sp>
        <p:nvSpPr>
          <p:cNvPr id="21" name="Text 17"/>
          <p:cNvSpPr/>
          <p:nvPr/>
        </p:nvSpPr>
        <p:spPr>
          <a:xfrm>
            <a:off x="8275320" y="3108960"/>
            <a:ext cx="3108960" cy="594360"/>
          </a:xfrm>
          <a:prstGeom prst="rect">
            <a:avLst/>
          </a:prstGeom>
          <a:noFill/>
          <a:ln/>
        </p:spPr>
        <p:txBody>
          <a:bodyPr wrap="square" rtlCol="0" anchor="t"/>
          <a:lstStyle/>
          <a:p>
            <a:pPr algn="ctr" indent="0" marL="0">
              <a:lnSpc>
                <a:spcPct val="103000"/>
              </a:lnSpc>
              <a:buNone/>
            </a:pPr>
            <a:r>
              <a:rPr lang="en-US" sz="1100" dirty="0">
                <a:solidFill>
                  <a:srgbClr val="454659"/>
                </a:solidFill>
                <a:latin typeface="Inter" pitchFamily="34" charset="0"/>
                <a:ea typeface="Inter" pitchFamily="34" charset="-122"/>
                <a:cs typeface="Inter" pitchFamily="34" charset="-120"/>
              </a:rPr>
              <a:t>no single, trusted source of truth</a:t>
            </a:r>
            <a:endParaRPr lang="en-US" sz="1100" dirty="0"/>
          </a:p>
        </p:txBody>
      </p:sp>
      <p:sp>
        <p:nvSpPr>
          <p:cNvPr id="22" name="Shape 18"/>
          <p:cNvSpPr/>
          <p:nvPr/>
        </p:nvSpPr>
        <p:spPr>
          <a:xfrm>
            <a:off x="457200" y="4160520"/>
            <a:ext cx="11247120" cy="548640"/>
          </a:xfrm>
          <a:prstGeom prst="roundRect">
            <a:avLst>
              <a:gd name="adj" fmla="val 13333"/>
            </a:avLst>
          </a:prstGeom>
          <a:solidFill>
            <a:srgbClr val="E0F5EA"/>
          </a:solidFill>
          <a:ln/>
        </p:spPr>
      </p:sp>
      <p:sp>
        <p:nvSpPr>
          <p:cNvPr id="23" name="Text 19"/>
          <p:cNvSpPr/>
          <p:nvPr/>
        </p:nvSpPr>
        <p:spPr>
          <a:xfrm>
            <a:off x="731520" y="4178808"/>
            <a:ext cx="10789920" cy="502920"/>
          </a:xfrm>
          <a:prstGeom prst="rect">
            <a:avLst/>
          </a:prstGeom>
          <a:noFill/>
          <a:ln/>
        </p:spPr>
        <p:txBody>
          <a:bodyPr wrap="square" rtlCol="0" anchor="ctr"/>
          <a:lstStyle/>
          <a:p>
            <a:pPr indent="0" marL="0">
              <a:buNone/>
            </a:pPr>
            <a:r>
              <a:rPr lang="en-US" sz="1100" b="1" dirty="0">
                <a:solidFill>
                  <a:srgbClr val="009845"/>
                </a:solidFill>
                <a:latin typeface="Inter" pitchFamily="34" charset="0"/>
                <a:ea typeface="Inter" pitchFamily="34" charset="-122"/>
                <a:cs typeface="Inter" pitchFamily="34" charset="-120"/>
              </a:rPr>
              <a:t>Symptoms show up everywhere: WISMO calls, cold-chain spoilage, late deliveries, mismatched addresses, and duplicated customer records — all traced back to untrusted data.</a:t>
            </a:r>
            <a:endParaRPr lang="en-US" sz="1100" dirty="0"/>
          </a:p>
        </p:txBody>
      </p:sp>
      <p:sp>
        <p:nvSpPr>
          <p:cNvPr id="24" name="Shape 20"/>
          <p:cNvSpPr/>
          <p:nvPr/>
        </p:nvSpPr>
        <p:spPr>
          <a:xfrm>
            <a:off x="457200" y="4937760"/>
            <a:ext cx="11247120" cy="1143000"/>
          </a:xfrm>
          <a:prstGeom prst="roundRect">
            <a:avLst>
              <a:gd name="adj" fmla="val 8000"/>
            </a:avLst>
          </a:prstGeom>
          <a:solidFill>
            <a:srgbClr val="E3EAF3"/>
          </a:solidFill>
          <a:ln/>
        </p:spPr>
      </p:sp>
      <p:sp>
        <p:nvSpPr>
          <p:cNvPr id="25" name="Text 21"/>
          <p:cNvSpPr/>
          <p:nvPr/>
        </p:nvSpPr>
        <p:spPr>
          <a:xfrm>
            <a:off x="685800" y="5074920"/>
            <a:ext cx="4572000" cy="365760"/>
          </a:xfrm>
          <a:prstGeom prst="rect">
            <a:avLst/>
          </a:prstGeom>
          <a:noFill/>
          <a:ln/>
        </p:spPr>
        <p:txBody>
          <a:bodyPr wrap="square" rtlCol="0" anchor="ctr"/>
          <a:lstStyle/>
          <a:p>
            <a:pPr indent="0" marL="0">
              <a:buNone/>
            </a:pPr>
            <a:r>
              <a:rPr lang="en-US" sz="1300" b="1" dirty="0">
                <a:solidFill>
                  <a:srgbClr val="19416C"/>
                </a:solidFill>
                <a:latin typeface="Inter" pitchFamily="34" charset="0"/>
                <a:ea typeface="Inter" pitchFamily="34" charset="-122"/>
                <a:cs typeface="Inter" pitchFamily="34" charset="-120"/>
              </a:rPr>
              <a:t>Project Qlarity's job</a:t>
            </a:r>
            <a:endParaRPr lang="en-US" sz="1300" dirty="0"/>
          </a:p>
        </p:txBody>
      </p:sp>
      <p:sp>
        <p:nvSpPr>
          <p:cNvPr id="26" name="Text 22"/>
          <p:cNvSpPr/>
          <p:nvPr/>
        </p:nvSpPr>
        <p:spPr>
          <a:xfrm>
            <a:off x="685800" y="5440680"/>
            <a:ext cx="10789920" cy="548640"/>
          </a:xfrm>
          <a:prstGeom prst="rect">
            <a:avLst/>
          </a:prstGeom>
          <a:noFill/>
          <a:ln/>
        </p:spPr>
        <p:txBody>
          <a:bodyPr wrap="square" rtlCol="0" anchor="t"/>
          <a:lstStyle/>
          <a:p>
            <a:pPr indent="0" marL="0">
              <a:lnSpc>
                <a:spcPct val="104000"/>
              </a:lnSpc>
              <a:buNone/>
            </a:pPr>
            <a:r>
              <a:rPr lang="en-US" sz="1200" dirty="0">
                <a:solidFill>
                  <a:srgbClr val="454659"/>
                </a:solidFill>
                <a:latin typeface="Inter" pitchFamily="34" charset="0"/>
                <a:ea typeface="Inter" pitchFamily="34" charset="-122"/>
                <a:cs typeface="Inter" pitchFamily="34" charset="-120"/>
              </a:rPr>
              <a:t>Show 47 systems consolidated into one governed Qlik Cloud environment — so every downstream analytic, document, and AI answer stands on data the business can trust.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009845"/>
          </a:solidFill>
          <a:ln/>
        </p:spPr>
      </p:sp>
      <p:sp>
        <p:nvSpPr>
          <p:cNvPr id="3" name="Shape 1"/>
          <p:cNvSpPr/>
          <p:nvPr/>
        </p:nvSpPr>
        <p:spPr>
          <a:xfrm>
            <a:off x="457200" y="6400800"/>
            <a:ext cx="11274552" cy="9144"/>
          </a:xfrm>
          <a:prstGeom prst="rect">
            <a:avLst/>
          </a:prstGeom>
          <a:solidFill>
            <a:srgbClr val="A9B3B6"/>
          </a:solidFill>
          <a:ln/>
        </p:spPr>
      </p:sp>
      <p:pic>
        <p:nvPicPr>
          <p:cNvPr id="4" name="Image 0" descr="C:\Claude\MCG Full Stack\generators\assets\qlik_logo.png">    </p:cNvPr>
          <p:cNvPicPr>
            <a:picLocks noChangeAspect="1"/>
          </p:cNvPicPr>
          <p:nvPr/>
        </p:nvPicPr>
        <p:blipFill>
          <a:blip r:embed="rId1"/>
          <a:stretch>
            <a:fillRect/>
          </a:stretch>
        </p:blipFill>
        <p:spPr>
          <a:xfrm>
            <a:off x="457200" y="6492240"/>
            <a:ext cx="493776" cy="274320"/>
          </a:xfrm>
          <a:prstGeom prst="rect">
            <a:avLst/>
          </a:prstGeom>
        </p:spPr>
      </p:pic>
      <p:sp>
        <p:nvSpPr>
          <p:cNvPr id="5" name="Text 2"/>
          <p:cNvSpPr/>
          <p:nvPr/>
        </p:nvSpPr>
        <p:spPr>
          <a:xfrm>
            <a:off x="1280160" y="6492240"/>
            <a:ext cx="7315200" cy="274320"/>
          </a:xfrm>
          <a:prstGeom prst="rect">
            <a:avLst/>
          </a:prstGeom>
          <a:noFill/>
          <a:ln/>
        </p:spPr>
        <p:txBody>
          <a:bodyPr wrap="square" rtlCol="0" anchor="ctr"/>
          <a:lstStyle/>
          <a:p>
            <a:pPr indent="0" marL="0">
              <a:buNone/>
            </a:pPr>
            <a:r>
              <a:rPr lang="en-US" sz="800" dirty="0">
                <a:solidFill>
                  <a:srgbClr val="A9B3B6"/>
                </a:solidFill>
                <a:latin typeface="Inter" pitchFamily="34" charset="0"/>
                <a:ea typeface="Inter" pitchFamily="34" charset="-122"/>
                <a:cs typeface="Inter" pitchFamily="34" charset="-120"/>
              </a:rPr>
              <a:t>Project Qlarity  •  MCG Demo  •  Qlik Cloud</a:t>
            </a:r>
            <a:endParaRPr lang="en-US" sz="800" dirty="0"/>
          </a:p>
        </p:txBody>
      </p:sp>
      <p:sp>
        <p:nvSpPr>
          <p:cNvPr id="6" name="Text 3"/>
          <p:cNvSpPr/>
          <p:nvPr/>
        </p:nvSpPr>
        <p:spPr>
          <a:xfrm>
            <a:off x="10972800" y="6492240"/>
            <a:ext cx="914400" cy="274320"/>
          </a:xfrm>
          <a:prstGeom prst="rect">
            <a:avLst/>
          </a:prstGeom>
          <a:noFill/>
          <a:ln/>
        </p:spPr>
        <p:txBody>
          <a:bodyPr wrap="square" rtlCol="0" anchor="ctr"/>
          <a:lstStyle/>
          <a:p>
            <a:pPr algn="r" indent="0" marL="0">
              <a:buNone/>
            </a:pPr>
            <a:r>
              <a:rPr lang="en-US" sz="800" dirty="0">
                <a:solidFill>
                  <a:srgbClr val="A9B3B6"/>
                </a:solidFill>
                <a:latin typeface="Inter" pitchFamily="34" charset="0"/>
                <a:ea typeface="Inter" pitchFamily="34" charset="-122"/>
                <a:cs typeface="Inter" pitchFamily="34" charset="-120"/>
              </a:rPr>
              <a:t>4</a:t>
            </a:r>
            <a:endParaRPr lang="en-US" sz="800" dirty="0"/>
          </a:p>
        </p:txBody>
      </p:sp>
      <p:sp>
        <p:nvSpPr>
          <p:cNvPr id="7" name="Text 4"/>
          <p:cNvSpPr/>
          <p:nvPr/>
        </p:nvSpPr>
        <p:spPr>
          <a:xfrm>
            <a:off x="457200" y="182880"/>
            <a:ext cx="8412480" cy="594360"/>
          </a:xfrm>
          <a:prstGeom prst="rect">
            <a:avLst/>
          </a:prstGeom>
          <a:noFill/>
          <a:ln/>
        </p:spPr>
        <p:txBody>
          <a:bodyPr wrap="square" rtlCol="0" anchor="ctr"/>
          <a:lstStyle/>
          <a:p>
            <a:pPr indent="0" marL="0">
              <a:buNone/>
            </a:pPr>
            <a:r>
              <a:rPr lang="en-US" sz="2600" b="1" dirty="0">
                <a:solidFill>
                  <a:srgbClr val="19416C"/>
                </a:solidFill>
                <a:latin typeface="Inter" pitchFamily="34" charset="0"/>
                <a:ea typeface="Inter" pitchFamily="34" charset="-122"/>
                <a:cs typeface="Inter" pitchFamily="34" charset="-120"/>
              </a:rPr>
              <a:t>The Four Stories</a:t>
            </a:r>
            <a:endParaRPr lang="en-US" sz="2600" dirty="0"/>
          </a:p>
        </p:txBody>
      </p:sp>
      <p:sp>
        <p:nvSpPr>
          <p:cNvPr id="9" name="Text 5"/>
          <p:cNvSpPr/>
          <p:nvPr/>
        </p:nvSpPr>
        <p:spPr>
          <a:xfrm>
            <a:off x="457200" y="786384"/>
            <a:ext cx="11247120" cy="365760"/>
          </a:xfrm>
          <a:prstGeom prst="rect">
            <a:avLst/>
          </a:prstGeom>
          <a:noFill/>
          <a:ln/>
        </p:spPr>
        <p:txBody>
          <a:bodyPr wrap="square" rtlCol="0" anchor="ctr"/>
          <a:lstStyle/>
          <a:p>
            <a:pPr indent="0" marL="0">
              <a:buNone/>
            </a:pPr>
            <a:r>
              <a:rPr lang="en-US" sz="1300" i="1" dirty="0">
                <a:solidFill>
                  <a:srgbClr val="6B7280"/>
                </a:solidFill>
                <a:latin typeface="Inter" pitchFamily="34" charset="0"/>
                <a:ea typeface="Inter" pitchFamily="34" charset="-122"/>
                <a:cs typeface="Inter" pitchFamily="34" charset="-120"/>
              </a:rPr>
              <a:t>One narrative, told in four connected chapters — the spine of the whole demo</a:t>
            </a:r>
            <a:endParaRPr lang="en-US" sz="1300" dirty="0"/>
          </a:p>
        </p:txBody>
      </p:sp>
      <p:sp>
        <p:nvSpPr>
          <p:cNvPr id="10" name="Shape 6"/>
          <p:cNvSpPr/>
          <p:nvPr/>
        </p:nvSpPr>
        <p:spPr>
          <a:xfrm>
            <a:off x="457200" y="1280160"/>
            <a:ext cx="11247120" cy="1042416"/>
          </a:xfrm>
          <a:prstGeom prst="roundRect">
            <a:avLst>
              <a:gd name="adj" fmla="val 8772"/>
            </a:avLst>
          </a:prstGeom>
          <a:solidFill>
            <a:srgbClr val="F6F7F8"/>
          </a:solidFill>
          <a:ln w="25400">
            <a:solidFill>
              <a:srgbClr val="006580"/>
            </a:solidFill>
            <a:prstDash val="solid"/>
          </a:ln>
        </p:spPr>
      </p:sp>
      <p:sp>
        <p:nvSpPr>
          <p:cNvPr id="11" name="Shape 7"/>
          <p:cNvSpPr/>
          <p:nvPr/>
        </p:nvSpPr>
        <p:spPr>
          <a:xfrm>
            <a:off x="457200" y="1280160"/>
            <a:ext cx="109728" cy="1042416"/>
          </a:xfrm>
          <a:prstGeom prst="rect">
            <a:avLst/>
          </a:prstGeom>
          <a:solidFill>
            <a:srgbClr val="006580"/>
          </a:solidFill>
          <a:ln/>
        </p:spPr>
      </p:sp>
      <p:sp>
        <p:nvSpPr>
          <p:cNvPr id="12" name="Shape 8"/>
          <p:cNvSpPr/>
          <p:nvPr/>
        </p:nvSpPr>
        <p:spPr>
          <a:xfrm>
            <a:off x="777240" y="1572768"/>
            <a:ext cx="457200" cy="457200"/>
          </a:xfrm>
          <a:prstGeom prst="ellipse">
            <a:avLst/>
          </a:prstGeom>
          <a:solidFill>
            <a:srgbClr val="FFFFFF"/>
          </a:solidFill>
          <a:ln w="12700">
            <a:solidFill>
              <a:srgbClr val="006580"/>
            </a:solidFill>
            <a:prstDash val="solid"/>
          </a:ln>
          <a:effectLst>
            <a:outerShdw sx="100000" sy="100000" kx="0" ky="0" algn="bl" rotWithShape="0" blurRad="38100" dist="12700" dir="16200000">
              <a:srgbClr val="000000">
                <a:alpha val="15000"/>
              </a:srgbClr>
            </a:outerShdw>
          </a:effectLst>
        </p:spPr>
      </p:sp>
      <p:pic>
        <p:nvPicPr>
          <p:cNvPr id="13" name="Image 1" descr="C:\Claude\MCG Full Stack\generators\assets\icons\gateway.png">    </p:cNvPr>
          <p:cNvPicPr>
            <a:picLocks noChangeAspect="1"/>
          </p:cNvPicPr>
          <p:nvPr/>
        </p:nvPicPr>
        <p:blipFill>
          <a:blip r:embed="rId2"/>
          <a:stretch>
            <a:fillRect/>
          </a:stretch>
        </p:blipFill>
        <p:spPr>
          <a:xfrm>
            <a:off x="864108" y="1659636"/>
            <a:ext cx="283464" cy="283464"/>
          </a:xfrm>
          <a:prstGeom prst="rect">
            <a:avLst/>
          </a:prstGeom>
        </p:spPr>
      </p:pic>
      <p:sp>
        <p:nvSpPr>
          <p:cNvPr id="14" name="Text 9"/>
          <p:cNvSpPr/>
          <p:nvPr/>
        </p:nvSpPr>
        <p:spPr>
          <a:xfrm>
            <a:off x="1417320" y="1280160"/>
            <a:ext cx="457200" cy="1042416"/>
          </a:xfrm>
          <a:prstGeom prst="rect">
            <a:avLst/>
          </a:prstGeom>
          <a:noFill/>
          <a:ln/>
        </p:spPr>
        <p:txBody>
          <a:bodyPr wrap="square" rtlCol="0" anchor="ctr"/>
          <a:lstStyle/>
          <a:p>
            <a:pPr indent="0" marL="0">
              <a:buNone/>
            </a:pPr>
            <a:r>
              <a:rPr lang="en-US" sz="2200" b="1" dirty="0">
                <a:solidFill>
                  <a:srgbClr val="006580"/>
                </a:solidFill>
                <a:latin typeface="Inter" pitchFamily="34" charset="0"/>
                <a:ea typeface="Inter" pitchFamily="34" charset="-122"/>
                <a:cs typeface="Inter" pitchFamily="34" charset="-120"/>
              </a:rPr>
              <a:t>1</a:t>
            </a:r>
            <a:endParaRPr lang="en-US" sz="2200" dirty="0"/>
          </a:p>
        </p:txBody>
      </p:sp>
      <p:sp>
        <p:nvSpPr>
          <p:cNvPr id="15" name="Text 10"/>
          <p:cNvSpPr/>
          <p:nvPr/>
        </p:nvSpPr>
        <p:spPr>
          <a:xfrm>
            <a:off x="1920240" y="1408176"/>
            <a:ext cx="3108960" cy="457200"/>
          </a:xfrm>
          <a:prstGeom prst="rect">
            <a:avLst/>
          </a:prstGeom>
          <a:noFill/>
          <a:ln/>
        </p:spPr>
        <p:txBody>
          <a:bodyPr wrap="square" rtlCol="0" anchor="ctr"/>
          <a:lstStyle/>
          <a:p>
            <a:pPr indent="0" marL="0">
              <a:buNone/>
            </a:pPr>
            <a:r>
              <a:rPr lang="en-US" sz="1900" b="1" dirty="0">
                <a:solidFill>
                  <a:srgbClr val="006580"/>
                </a:solidFill>
                <a:latin typeface="Inter" pitchFamily="34" charset="0"/>
                <a:ea typeface="Inter" pitchFamily="34" charset="-122"/>
                <a:cs typeface="Inter" pitchFamily="34" charset="-120"/>
              </a:rPr>
              <a:t>Integrations</a:t>
            </a:r>
            <a:endParaRPr lang="en-US" sz="1900" dirty="0"/>
          </a:p>
        </p:txBody>
      </p:sp>
      <p:sp>
        <p:nvSpPr>
          <p:cNvPr id="16" name="Text 11"/>
          <p:cNvSpPr/>
          <p:nvPr/>
        </p:nvSpPr>
        <p:spPr>
          <a:xfrm>
            <a:off x="1920240" y="1810512"/>
            <a:ext cx="9509760" cy="457200"/>
          </a:xfrm>
          <a:prstGeom prst="rect">
            <a:avLst/>
          </a:prstGeom>
          <a:noFill/>
          <a:ln/>
        </p:spPr>
        <p:txBody>
          <a:bodyPr wrap="square" rtlCol="0" anchor="t"/>
          <a:lstStyle/>
          <a:p>
            <a:pPr indent="0" marL="0">
              <a:lnSpc>
                <a:spcPct val="103000"/>
              </a:lnSpc>
              <a:buNone/>
            </a:pPr>
            <a:r>
              <a:rPr lang="en-US" sz="1200" dirty="0">
                <a:solidFill>
                  <a:srgbClr val="454659"/>
                </a:solidFill>
                <a:latin typeface="Inter" pitchFamily="34" charset="0"/>
                <a:ea typeface="Inter" pitchFamily="34" charset="-122"/>
                <a:cs typeface="Inter" pitchFamily="34" charset="-120"/>
              </a:rPr>
              <a:t>Land 3 messy source feeds into the Open Lakehouse — WMS change data, IoT cold-chain streams, and CRM records.</a:t>
            </a:r>
            <a:endParaRPr lang="en-US" sz="1200" dirty="0"/>
          </a:p>
        </p:txBody>
      </p:sp>
      <p:sp>
        <p:nvSpPr>
          <p:cNvPr id="17" name="Shape 12"/>
          <p:cNvSpPr/>
          <p:nvPr/>
        </p:nvSpPr>
        <p:spPr>
          <a:xfrm>
            <a:off x="457200" y="2450592"/>
            <a:ext cx="11247120" cy="1042416"/>
          </a:xfrm>
          <a:prstGeom prst="roundRect">
            <a:avLst>
              <a:gd name="adj" fmla="val 8772"/>
            </a:avLst>
          </a:prstGeom>
          <a:solidFill>
            <a:srgbClr val="F6F7F8"/>
          </a:solidFill>
          <a:ln w="25400">
            <a:solidFill>
              <a:srgbClr val="009845"/>
            </a:solidFill>
            <a:prstDash val="solid"/>
          </a:ln>
        </p:spPr>
      </p:sp>
      <p:sp>
        <p:nvSpPr>
          <p:cNvPr id="18" name="Shape 13"/>
          <p:cNvSpPr/>
          <p:nvPr/>
        </p:nvSpPr>
        <p:spPr>
          <a:xfrm>
            <a:off x="457200" y="2450592"/>
            <a:ext cx="109728" cy="1042416"/>
          </a:xfrm>
          <a:prstGeom prst="rect">
            <a:avLst/>
          </a:prstGeom>
          <a:solidFill>
            <a:srgbClr val="009845"/>
          </a:solidFill>
          <a:ln/>
        </p:spPr>
      </p:sp>
      <p:sp>
        <p:nvSpPr>
          <p:cNvPr id="19" name="Shape 14"/>
          <p:cNvSpPr/>
          <p:nvPr/>
        </p:nvSpPr>
        <p:spPr>
          <a:xfrm>
            <a:off x="777240" y="2743200"/>
            <a:ext cx="457200" cy="457200"/>
          </a:xfrm>
          <a:prstGeom prst="ellipse">
            <a:avLst/>
          </a:prstGeom>
          <a:solidFill>
            <a:srgbClr val="FFFFFF"/>
          </a:solidFill>
          <a:ln w="12700">
            <a:solidFill>
              <a:srgbClr val="009845"/>
            </a:solidFill>
            <a:prstDash val="solid"/>
          </a:ln>
          <a:effectLst>
            <a:outerShdw sx="100000" sy="100000" kx="0" ky="0" algn="bl" rotWithShape="0" blurRad="38100" dist="12700" dir="16200000">
              <a:srgbClr val="000000">
                <a:alpha val="15000"/>
              </a:srgbClr>
            </a:outerShdw>
          </a:effectLst>
        </p:spPr>
      </p:sp>
      <p:pic>
        <p:nvPicPr>
          <p:cNvPr id="20" name="Image 2" descr="C:\Claude\MCG Full Stack\generators\assets\icons\governance.png">    </p:cNvPr>
          <p:cNvPicPr>
            <a:picLocks noChangeAspect="1"/>
          </p:cNvPicPr>
          <p:nvPr/>
        </p:nvPicPr>
        <p:blipFill>
          <a:blip r:embed="rId3"/>
          <a:stretch>
            <a:fillRect/>
          </a:stretch>
        </p:blipFill>
        <p:spPr>
          <a:xfrm>
            <a:off x="864108" y="2830068"/>
            <a:ext cx="283464" cy="283464"/>
          </a:xfrm>
          <a:prstGeom prst="rect">
            <a:avLst/>
          </a:prstGeom>
        </p:spPr>
      </p:pic>
      <p:sp>
        <p:nvSpPr>
          <p:cNvPr id="21" name="Text 15"/>
          <p:cNvSpPr/>
          <p:nvPr/>
        </p:nvSpPr>
        <p:spPr>
          <a:xfrm>
            <a:off x="1417320" y="2450592"/>
            <a:ext cx="457200" cy="1042416"/>
          </a:xfrm>
          <a:prstGeom prst="rect">
            <a:avLst/>
          </a:prstGeom>
          <a:noFill/>
          <a:ln/>
        </p:spPr>
        <p:txBody>
          <a:bodyPr wrap="square" rtlCol="0" anchor="ctr"/>
          <a:lstStyle/>
          <a:p>
            <a:pPr indent="0" marL="0">
              <a:buNone/>
            </a:pPr>
            <a:r>
              <a:rPr lang="en-US" sz="2200" b="1" dirty="0">
                <a:solidFill>
                  <a:srgbClr val="009845"/>
                </a:solidFill>
                <a:latin typeface="Inter" pitchFamily="34" charset="0"/>
                <a:ea typeface="Inter" pitchFamily="34" charset="-122"/>
                <a:cs typeface="Inter" pitchFamily="34" charset="-120"/>
              </a:rPr>
              <a:t>2</a:t>
            </a:r>
            <a:endParaRPr lang="en-US" sz="2200" dirty="0"/>
          </a:p>
        </p:txBody>
      </p:sp>
      <p:sp>
        <p:nvSpPr>
          <p:cNvPr id="22" name="Text 16"/>
          <p:cNvSpPr/>
          <p:nvPr/>
        </p:nvSpPr>
        <p:spPr>
          <a:xfrm>
            <a:off x="1920240" y="2578608"/>
            <a:ext cx="3108960" cy="457200"/>
          </a:xfrm>
          <a:prstGeom prst="rect">
            <a:avLst/>
          </a:prstGeom>
          <a:noFill/>
          <a:ln/>
        </p:spPr>
        <p:txBody>
          <a:bodyPr wrap="square" rtlCol="0" anchor="ctr"/>
          <a:lstStyle/>
          <a:p>
            <a:pPr indent="0" marL="0">
              <a:buNone/>
            </a:pPr>
            <a:r>
              <a:rPr lang="en-US" sz="1900" b="1" dirty="0">
                <a:solidFill>
                  <a:srgbClr val="009845"/>
                </a:solidFill>
                <a:latin typeface="Inter" pitchFamily="34" charset="0"/>
                <a:ea typeface="Inter" pitchFamily="34" charset="-122"/>
                <a:cs typeface="Inter" pitchFamily="34" charset="-120"/>
              </a:rPr>
              <a:t>Governance</a:t>
            </a:r>
            <a:endParaRPr lang="en-US" sz="1900" dirty="0"/>
          </a:p>
        </p:txBody>
      </p:sp>
      <p:sp>
        <p:nvSpPr>
          <p:cNvPr id="23" name="Text 17"/>
          <p:cNvSpPr/>
          <p:nvPr/>
        </p:nvSpPr>
        <p:spPr>
          <a:xfrm>
            <a:off x="1920240" y="2980944"/>
            <a:ext cx="9509760" cy="457200"/>
          </a:xfrm>
          <a:prstGeom prst="rect">
            <a:avLst/>
          </a:prstGeom>
          <a:noFill/>
          <a:ln/>
        </p:spPr>
        <p:txBody>
          <a:bodyPr wrap="square" rtlCol="0" anchor="t"/>
          <a:lstStyle/>
          <a:p>
            <a:pPr indent="0" marL="0">
              <a:lnSpc>
                <a:spcPct val="103000"/>
              </a:lnSpc>
              <a:buNone/>
            </a:pPr>
            <a:r>
              <a:rPr lang="en-US" sz="1200" dirty="0">
                <a:solidFill>
                  <a:srgbClr val="454659"/>
                </a:solidFill>
                <a:latin typeface="Inter" pitchFamily="34" charset="0"/>
                <a:ea typeface="Inter" pitchFamily="34" charset="-122"/>
                <a:cs typeface="Inter" pitchFamily="34" charset="-120"/>
              </a:rPr>
              <a:t>Turn raw data into trusted data — trust scores, data-quality rules, lineage, a business glossary, and stewardship.</a:t>
            </a:r>
            <a:endParaRPr lang="en-US" sz="1200" dirty="0"/>
          </a:p>
        </p:txBody>
      </p:sp>
      <p:sp>
        <p:nvSpPr>
          <p:cNvPr id="24" name="Shape 18"/>
          <p:cNvSpPr/>
          <p:nvPr/>
        </p:nvSpPr>
        <p:spPr>
          <a:xfrm>
            <a:off x="457200" y="3621024"/>
            <a:ext cx="11247120" cy="1042416"/>
          </a:xfrm>
          <a:prstGeom prst="roundRect">
            <a:avLst>
              <a:gd name="adj" fmla="val 8772"/>
            </a:avLst>
          </a:prstGeom>
          <a:solidFill>
            <a:srgbClr val="F6F7F8"/>
          </a:solidFill>
          <a:ln w="25400">
            <a:solidFill>
              <a:srgbClr val="4CB393"/>
            </a:solidFill>
            <a:prstDash val="solid"/>
          </a:ln>
        </p:spPr>
      </p:sp>
      <p:sp>
        <p:nvSpPr>
          <p:cNvPr id="25" name="Shape 19"/>
          <p:cNvSpPr/>
          <p:nvPr/>
        </p:nvSpPr>
        <p:spPr>
          <a:xfrm>
            <a:off x="457200" y="3621024"/>
            <a:ext cx="109728" cy="1042416"/>
          </a:xfrm>
          <a:prstGeom prst="rect">
            <a:avLst/>
          </a:prstGeom>
          <a:solidFill>
            <a:srgbClr val="4CB393"/>
          </a:solidFill>
          <a:ln/>
        </p:spPr>
      </p:sp>
      <p:sp>
        <p:nvSpPr>
          <p:cNvPr id="26" name="Shape 20"/>
          <p:cNvSpPr/>
          <p:nvPr/>
        </p:nvSpPr>
        <p:spPr>
          <a:xfrm>
            <a:off x="777240" y="3913632"/>
            <a:ext cx="457200" cy="457200"/>
          </a:xfrm>
          <a:prstGeom prst="ellipse">
            <a:avLst/>
          </a:prstGeom>
          <a:solidFill>
            <a:srgbClr val="FFFFFF"/>
          </a:solidFill>
          <a:ln w="12700">
            <a:solidFill>
              <a:srgbClr val="4CB393"/>
            </a:solidFill>
            <a:prstDash val="solid"/>
          </a:ln>
          <a:effectLst>
            <a:outerShdw sx="100000" sy="100000" kx="0" ky="0" algn="bl" rotWithShape="0" blurRad="38100" dist="12700" dir="16200000">
              <a:srgbClr val="000000">
                <a:alpha val="15000"/>
              </a:srgbClr>
            </a:outerShdw>
          </a:effectLst>
        </p:spPr>
      </p:sp>
      <p:pic>
        <p:nvPicPr>
          <p:cNvPr id="27" name="Image 3" descr="C:\Claude\MCG Full Stack\generators\assets\icons\analytics.png">    </p:cNvPr>
          <p:cNvPicPr>
            <a:picLocks noChangeAspect="1"/>
          </p:cNvPicPr>
          <p:nvPr/>
        </p:nvPicPr>
        <p:blipFill>
          <a:blip r:embed="rId4"/>
          <a:stretch>
            <a:fillRect/>
          </a:stretch>
        </p:blipFill>
        <p:spPr>
          <a:xfrm>
            <a:off x="864108" y="4000500"/>
            <a:ext cx="283464" cy="283464"/>
          </a:xfrm>
          <a:prstGeom prst="rect">
            <a:avLst/>
          </a:prstGeom>
        </p:spPr>
      </p:pic>
      <p:sp>
        <p:nvSpPr>
          <p:cNvPr id="28" name="Text 21"/>
          <p:cNvSpPr/>
          <p:nvPr/>
        </p:nvSpPr>
        <p:spPr>
          <a:xfrm>
            <a:off x="1417320" y="3621024"/>
            <a:ext cx="457200" cy="1042416"/>
          </a:xfrm>
          <a:prstGeom prst="rect">
            <a:avLst/>
          </a:prstGeom>
          <a:noFill/>
          <a:ln/>
        </p:spPr>
        <p:txBody>
          <a:bodyPr wrap="square" rtlCol="0" anchor="ctr"/>
          <a:lstStyle/>
          <a:p>
            <a:pPr indent="0" marL="0">
              <a:buNone/>
            </a:pPr>
            <a:r>
              <a:rPr lang="en-US" sz="2200" b="1" dirty="0">
                <a:solidFill>
                  <a:srgbClr val="4CB393"/>
                </a:solidFill>
                <a:latin typeface="Inter" pitchFamily="34" charset="0"/>
                <a:ea typeface="Inter" pitchFamily="34" charset="-122"/>
                <a:cs typeface="Inter" pitchFamily="34" charset="-120"/>
              </a:rPr>
              <a:t>3</a:t>
            </a:r>
            <a:endParaRPr lang="en-US" sz="2200" dirty="0"/>
          </a:p>
        </p:txBody>
      </p:sp>
      <p:sp>
        <p:nvSpPr>
          <p:cNvPr id="29" name="Text 22"/>
          <p:cNvSpPr/>
          <p:nvPr/>
        </p:nvSpPr>
        <p:spPr>
          <a:xfrm>
            <a:off x="1920240" y="3749040"/>
            <a:ext cx="3108960" cy="457200"/>
          </a:xfrm>
          <a:prstGeom prst="rect">
            <a:avLst/>
          </a:prstGeom>
          <a:noFill/>
          <a:ln/>
        </p:spPr>
        <p:txBody>
          <a:bodyPr wrap="square" rtlCol="0" anchor="ctr"/>
          <a:lstStyle/>
          <a:p>
            <a:pPr indent="0" marL="0">
              <a:buNone/>
            </a:pPr>
            <a:r>
              <a:rPr lang="en-US" sz="1900" b="1" dirty="0">
                <a:solidFill>
                  <a:srgbClr val="4CB393"/>
                </a:solidFill>
                <a:latin typeface="Inter" pitchFamily="34" charset="0"/>
                <a:ea typeface="Inter" pitchFamily="34" charset="-122"/>
                <a:cs typeface="Inter" pitchFamily="34" charset="-120"/>
              </a:rPr>
              <a:t>Analytics</a:t>
            </a:r>
            <a:endParaRPr lang="en-US" sz="1900" dirty="0"/>
          </a:p>
        </p:txBody>
      </p:sp>
      <p:sp>
        <p:nvSpPr>
          <p:cNvPr id="30" name="Text 23"/>
          <p:cNvSpPr/>
          <p:nvPr/>
        </p:nvSpPr>
        <p:spPr>
          <a:xfrm>
            <a:off x="1920240" y="4151376"/>
            <a:ext cx="9509760" cy="457200"/>
          </a:xfrm>
          <a:prstGeom prst="rect">
            <a:avLst/>
          </a:prstGeom>
          <a:noFill/>
          <a:ln/>
        </p:spPr>
        <p:txBody>
          <a:bodyPr wrap="square" rtlCol="0" anchor="t"/>
          <a:lstStyle/>
          <a:p>
            <a:pPr indent="0" marL="0">
              <a:lnSpc>
                <a:spcPct val="103000"/>
              </a:lnSpc>
              <a:buNone/>
            </a:pPr>
            <a:r>
              <a:rPr lang="en-US" sz="1200" dirty="0">
                <a:solidFill>
                  <a:srgbClr val="454659"/>
                </a:solidFill>
                <a:latin typeface="Inter" pitchFamily="34" charset="0"/>
                <a:ea typeface="Inter" pitchFamily="34" charset="-122"/>
                <a:cs typeface="Inter" pitchFamily="34" charset="-120"/>
              </a:rPr>
              <a:t>Publish gold data products and apps that answer supply-chain and last-mile questions on data people believe.</a:t>
            </a:r>
            <a:endParaRPr lang="en-US" sz="1200" dirty="0"/>
          </a:p>
        </p:txBody>
      </p:sp>
      <p:sp>
        <p:nvSpPr>
          <p:cNvPr id="31" name="Shape 24"/>
          <p:cNvSpPr/>
          <p:nvPr/>
        </p:nvSpPr>
        <p:spPr>
          <a:xfrm>
            <a:off x="457200" y="4791456"/>
            <a:ext cx="11247120" cy="1042416"/>
          </a:xfrm>
          <a:prstGeom prst="roundRect">
            <a:avLst>
              <a:gd name="adj" fmla="val 8772"/>
            </a:avLst>
          </a:prstGeom>
          <a:solidFill>
            <a:srgbClr val="F6F7F8"/>
          </a:solidFill>
          <a:ln w="25400">
            <a:solidFill>
              <a:srgbClr val="009845"/>
            </a:solidFill>
            <a:prstDash val="solid"/>
          </a:ln>
        </p:spPr>
      </p:sp>
      <p:sp>
        <p:nvSpPr>
          <p:cNvPr id="32" name="Shape 25"/>
          <p:cNvSpPr/>
          <p:nvPr/>
        </p:nvSpPr>
        <p:spPr>
          <a:xfrm>
            <a:off x="457200" y="4791456"/>
            <a:ext cx="109728" cy="1042416"/>
          </a:xfrm>
          <a:prstGeom prst="rect">
            <a:avLst/>
          </a:prstGeom>
          <a:solidFill>
            <a:srgbClr val="009845"/>
          </a:solidFill>
          <a:ln/>
        </p:spPr>
      </p:sp>
      <p:sp>
        <p:nvSpPr>
          <p:cNvPr id="33" name="Shape 26"/>
          <p:cNvSpPr/>
          <p:nvPr/>
        </p:nvSpPr>
        <p:spPr>
          <a:xfrm>
            <a:off x="777240" y="5084064"/>
            <a:ext cx="457200" cy="457200"/>
          </a:xfrm>
          <a:prstGeom prst="ellipse">
            <a:avLst/>
          </a:prstGeom>
          <a:solidFill>
            <a:srgbClr val="FFFFFF"/>
          </a:solidFill>
          <a:ln w="12700">
            <a:solidFill>
              <a:srgbClr val="009845"/>
            </a:solidFill>
            <a:prstDash val="solid"/>
          </a:ln>
          <a:effectLst>
            <a:outerShdw sx="100000" sy="100000" kx="0" ky="0" algn="bl" rotWithShape="0" blurRad="38100" dist="12700" dir="16200000">
              <a:srgbClr val="000000">
                <a:alpha val="15000"/>
              </a:srgbClr>
            </a:outerShdw>
          </a:effectLst>
        </p:spPr>
      </p:sp>
      <p:pic>
        <p:nvPicPr>
          <p:cNvPr id="34" name="Image 4" descr="C:\Claude\MCG Full Stack\generators\assets\icons\predict.png">    </p:cNvPr>
          <p:cNvPicPr>
            <a:picLocks noChangeAspect="1"/>
          </p:cNvPicPr>
          <p:nvPr/>
        </p:nvPicPr>
        <p:blipFill>
          <a:blip r:embed="rId5"/>
          <a:stretch>
            <a:fillRect/>
          </a:stretch>
        </p:blipFill>
        <p:spPr>
          <a:xfrm>
            <a:off x="864108" y="5170932"/>
            <a:ext cx="283464" cy="283464"/>
          </a:xfrm>
          <a:prstGeom prst="rect">
            <a:avLst/>
          </a:prstGeom>
        </p:spPr>
      </p:pic>
      <p:sp>
        <p:nvSpPr>
          <p:cNvPr id="35" name="Text 27"/>
          <p:cNvSpPr/>
          <p:nvPr/>
        </p:nvSpPr>
        <p:spPr>
          <a:xfrm>
            <a:off x="1417320" y="4791456"/>
            <a:ext cx="457200" cy="1042416"/>
          </a:xfrm>
          <a:prstGeom prst="rect">
            <a:avLst/>
          </a:prstGeom>
          <a:noFill/>
          <a:ln/>
        </p:spPr>
        <p:txBody>
          <a:bodyPr wrap="square" rtlCol="0" anchor="ctr"/>
          <a:lstStyle/>
          <a:p>
            <a:pPr indent="0" marL="0">
              <a:buNone/>
            </a:pPr>
            <a:r>
              <a:rPr lang="en-US" sz="2200" b="1" dirty="0">
                <a:solidFill>
                  <a:srgbClr val="009845"/>
                </a:solidFill>
                <a:latin typeface="Inter" pitchFamily="34" charset="0"/>
                <a:ea typeface="Inter" pitchFamily="34" charset="-122"/>
                <a:cs typeface="Inter" pitchFamily="34" charset="-120"/>
              </a:rPr>
              <a:t>4</a:t>
            </a:r>
            <a:endParaRPr lang="en-US" sz="2200" dirty="0"/>
          </a:p>
        </p:txBody>
      </p:sp>
      <p:sp>
        <p:nvSpPr>
          <p:cNvPr id="36" name="Text 28"/>
          <p:cNvSpPr/>
          <p:nvPr/>
        </p:nvSpPr>
        <p:spPr>
          <a:xfrm>
            <a:off x="1920240" y="4919472"/>
            <a:ext cx="3108960" cy="457200"/>
          </a:xfrm>
          <a:prstGeom prst="rect">
            <a:avLst/>
          </a:prstGeom>
          <a:noFill/>
          <a:ln/>
        </p:spPr>
        <p:txBody>
          <a:bodyPr wrap="square" rtlCol="0" anchor="ctr"/>
          <a:lstStyle/>
          <a:p>
            <a:pPr indent="0" marL="0">
              <a:buNone/>
            </a:pPr>
            <a:r>
              <a:rPr lang="en-US" sz="1900" b="1" dirty="0">
                <a:solidFill>
                  <a:srgbClr val="009845"/>
                </a:solidFill>
                <a:latin typeface="Inter" pitchFamily="34" charset="0"/>
                <a:ea typeface="Inter" pitchFamily="34" charset="-122"/>
                <a:cs typeface="Inter" pitchFamily="34" charset="-120"/>
              </a:rPr>
              <a:t>AI &amp; Outcomes</a:t>
            </a:r>
            <a:endParaRPr lang="en-US" sz="1900" dirty="0"/>
          </a:p>
        </p:txBody>
      </p:sp>
      <p:sp>
        <p:nvSpPr>
          <p:cNvPr id="37" name="Text 29"/>
          <p:cNvSpPr/>
          <p:nvPr/>
        </p:nvSpPr>
        <p:spPr>
          <a:xfrm>
            <a:off x="1920240" y="5321808"/>
            <a:ext cx="9509760" cy="457200"/>
          </a:xfrm>
          <a:prstGeom prst="rect">
            <a:avLst/>
          </a:prstGeom>
          <a:noFill/>
          <a:ln/>
        </p:spPr>
        <p:txBody>
          <a:bodyPr wrap="square" rtlCol="0" anchor="t"/>
          <a:lstStyle/>
          <a:p>
            <a:pPr indent="0" marL="0">
              <a:lnSpc>
                <a:spcPct val="103000"/>
              </a:lnSpc>
              <a:buNone/>
            </a:pPr>
            <a:r>
              <a:rPr lang="en-US" sz="1200" dirty="0">
                <a:solidFill>
                  <a:srgbClr val="454659"/>
                </a:solidFill>
                <a:latin typeface="Inter" pitchFamily="34" charset="0"/>
                <a:ea typeface="Inter" pitchFamily="34" charset="-122"/>
                <a:cs typeface="Inter" pitchFamily="34" charset="-120"/>
              </a:rPr>
              <a:t>Qlik Predict, Qlik Answers, Discovery Agent, and the agentic layer turn trusted data into decisions and action.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006580"/>
          </a:solidFill>
          <a:ln/>
        </p:spPr>
      </p:sp>
      <p:sp>
        <p:nvSpPr>
          <p:cNvPr id="3" name="Shape 1"/>
          <p:cNvSpPr/>
          <p:nvPr/>
        </p:nvSpPr>
        <p:spPr>
          <a:xfrm>
            <a:off x="457200" y="6400800"/>
            <a:ext cx="11274552" cy="9144"/>
          </a:xfrm>
          <a:prstGeom prst="rect">
            <a:avLst/>
          </a:prstGeom>
          <a:solidFill>
            <a:srgbClr val="A9B3B6"/>
          </a:solidFill>
          <a:ln/>
        </p:spPr>
      </p:sp>
      <p:pic>
        <p:nvPicPr>
          <p:cNvPr id="4" name="Image 0" descr="C:\Claude\MCG Full Stack\generators\assets\qlik_logo.png">    </p:cNvPr>
          <p:cNvPicPr>
            <a:picLocks noChangeAspect="1"/>
          </p:cNvPicPr>
          <p:nvPr/>
        </p:nvPicPr>
        <p:blipFill>
          <a:blip r:embed="rId1"/>
          <a:stretch>
            <a:fillRect/>
          </a:stretch>
        </p:blipFill>
        <p:spPr>
          <a:xfrm>
            <a:off x="457200" y="6492240"/>
            <a:ext cx="493776" cy="274320"/>
          </a:xfrm>
          <a:prstGeom prst="rect">
            <a:avLst/>
          </a:prstGeom>
        </p:spPr>
      </p:pic>
      <p:sp>
        <p:nvSpPr>
          <p:cNvPr id="5" name="Text 2"/>
          <p:cNvSpPr/>
          <p:nvPr/>
        </p:nvSpPr>
        <p:spPr>
          <a:xfrm>
            <a:off x="1280160" y="6492240"/>
            <a:ext cx="7315200" cy="274320"/>
          </a:xfrm>
          <a:prstGeom prst="rect">
            <a:avLst/>
          </a:prstGeom>
          <a:noFill/>
          <a:ln/>
        </p:spPr>
        <p:txBody>
          <a:bodyPr wrap="square" rtlCol="0" anchor="ctr"/>
          <a:lstStyle/>
          <a:p>
            <a:pPr indent="0" marL="0">
              <a:buNone/>
            </a:pPr>
            <a:r>
              <a:rPr lang="en-US" sz="800" dirty="0">
                <a:solidFill>
                  <a:srgbClr val="A9B3B6"/>
                </a:solidFill>
                <a:latin typeface="Inter" pitchFamily="34" charset="0"/>
                <a:ea typeface="Inter" pitchFamily="34" charset="-122"/>
                <a:cs typeface="Inter" pitchFamily="34" charset="-120"/>
              </a:rPr>
              <a:t>Project Qlarity  •  MCG Demo  •  Qlik Cloud</a:t>
            </a:r>
            <a:endParaRPr lang="en-US" sz="800" dirty="0"/>
          </a:p>
        </p:txBody>
      </p:sp>
      <p:sp>
        <p:nvSpPr>
          <p:cNvPr id="6" name="Text 3"/>
          <p:cNvSpPr/>
          <p:nvPr/>
        </p:nvSpPr>
        <p:spPr>
          <a:xfrm>
            <a:off x="10972800" y="6492240"/>
            <a:ext cx="914400" cy="274320"/>
          </a:xfrm>
          <a:prstGeom prst="rect">
            <a:avLst/>
          </a:prstGeom>
          <a:noFill/>
          <a:ln/>
        </p:spPr>
        <p:txBody>
          <a:bodyPr wrap="square" rtlCol="0" anchor="ctr"/>
          <a:lstStyle/>
          <a:p>
            <a:pPr algn="r" indent="0" marL="0">
              <a:buNone/>
            </a:pPr>
            <a:r>
              <a:rPr lang="en-US" sz="800" dirty="0">
                <a:solidFill>
                  <a:srgbClr val="A9B3B6"/>
                </a:solidFill>
                <a:latin typeface="Inter" pitchFamily="34" charset="0"/>
                <a:ea typeface="Inter" pitchFamily="34" charset="-122"/>
                <a:cs typeface="Inter" pitchFamily="34" charset="-120"/>
              </a:rPr>
              <a:t>5</a:t>
            </a:r>
            <a:endParaRPr lang="en-US" sz="800" dirty="0"/>
          </a:p>
        </p:txBody>
      </p:sp>
      <p:sp>
        <p:nvSpPr>
          <p:cNvPr id="7" name="Text 4"/>
          <p:cNvSpPr/>
          <p:nvPr/>
        </p:nvSpPr>
        <p:spPr>
          <a:xfrm>
            <a:off x="457200" y="182880"/>
            <a:ext cx="8412480" cy="594360"/>
          </a:xfrm>
          <a:prstGeom prst="rect">
            <a:avLst/>
          </a:prstGeom>
          <a:noFill/>
          <a:ln/>
        </p:spPr>
        <p:txBody>
          <a:bodyPr wrap="square" rtlCol="0" anchor="ctr"/>
          <a:lstStyle/>
          <a:p>
            <a:pPr indent="0" marL="0">
              <a:buNone/>
            </a:pPr>
            <a:r>
              <a:rPr lang="en-US" sz="2600" b="1" dirty="0">
                <a:solidFill>
                  <a:srgbClr val="19416C"/>
                </a:solidFill>
                <a:latin typeface="Inter" pitchFamily="34" charset="0"/>
                <a:ea typeface="Inter" pitchFamily="34" charset="-122"/>
                <a:cs typeface="Inter" pitchFamily="34" charset="-120"/>
              </a:rPr>
              <a:t>Architecture at a Glance</a:t>
            </a:r>
            <a:endParaRPr lang="en-US" sz="2600" dirty="0"/>
          </a:p>
        </p:txBody>
      </p:sp>
      <p:sp>
        <p:nvSpPr>
          <p:cNvPr id="9" name="Text 5"/>
          <p:cNvSpPr/>
          <p:nvPr/>
        </p:nvSpPr>
        <p:spPr>
          <a:xfrm>
            <a:off x="457200" y="786384"/>
            <a:ext cx="11247120" cy="365760"/>
          </a:xfrm>
          <a:prstGeom prst="rect">
            <a:avLst/>
          </a:prstGeom>
          <a:noFill/>
          <a:ln/>
        </p:spPr>
        <p:txBody>
          <a:bodyPr wrap="square" rtlCol="0" anchor="ctr"/>
          <a:lstStyle/>
          <a:p>
            <a:pPr indent="0" marL="0">
              <a:buNone/>
            </a:pPr>
            <a:r>
              <a:rPr lang="en-US" sz="1300" i="1" dirty="0">
                <a:solidFill>
                  <a:srgbClr val="6B7280"/>
                </a:solidFill>
                <a:latin typeface="Inter" pitchFamily="34" charset="0"/>
                <a:ea typeface="Inter" pitchFamily="34" charset="-122"/>
                <a:cs typeface="Inter" pitchFamily="34" charset="-120"/>
              </a:rPr>
              <a:t>Three source feeds flow through a medallion lakehouse into gold data products, apps, and AI</a:t>
            </a:r>
            <a:endParaRPr lang="en-US" sz="1300" dirty="0"/>
          </a:p>
        </p:txBody>
      </p:sp>
      <p:sp>
        <p:nvSpPr>
          <p:cNvPr id="10" name="Shape 6"/>
          <p:cNvSpPr/>
          <p:nvPr/>
        </p:nvSpPr>
        <p:spPr>
          <a:xfrm>
            <a:off x="457200" y="1463040"/>
            <a:ext cx="2514600" cy="3749040"/>
          </a:xfrm>
          <a:prstGeom prst="roundRect">
            <a:avLst>
              <a:gd name="adj" fmla="val 3636"/>
            </a:avLst>
          </a:prstGeom>
          <a:solidFill>
            <a:srgbClr val="F6F7F8"/>
          </a:solidFill>
          <a:ln w="25400">
            <a:solidFill>
              <a:srgbClr val="006580"/>
            </a:solidFill>
            <a:prstDash val="solid"/>
          </a:ln>
        </p:spPr>
      </p:sp>
      <p:sp>
        <p:nvSpPr>
          <p:cNvPr id="11" name="Text 7"/>
          <p:cNvSpPr/>
          <p:nvPr/>
        </p:nvSpPr>
        <p:spPr>
          <a:xfrm>
            <a:off x="457200" y="1572768"/>
            <a:ext cx="2514600" cy="365760"/>
          </a:xfrm>
          <a:prstGeom prst="rect">
            <a:avLst/>
          </a:prstGeom>
          <a:noFill/>
          <a:ln/>
        </p:spPr>
        <p:txBody>
          <a:bodyPr wrap="square" rtlCol="0" anchor="ctr"/>
          <a:lstStyle/>
          <a:p>
            <a:pPr algn="ctr" indent="0" marL="0">
              <a:buNone/>
            </a:pPr>
            <a:r>
              <a:rPr lang="en-US" sz="1200" b="1" dirty="0">
                <a:solidFill>
                  <a:srgbClr val="006580"/>
                </a:solidFill>
                <a:latin typeface="Inter" pitchFamily="34" charset="0"/>
                <a:ea typeface="Inter" pitchFamily="34" charset="-122"/>
                <a:cs typeface="Inter" pitchFamily="34" charset="-120"/>
              </a:rPr>
              <a:t>3 SOURCE FEEDS</a:t>
            </a:r>
            <a:endParaRPr lang="en-US" sz="1200" dirty="0"/>
          </a:p>
        </p:txBody>
      </p:sp>
      <p:sp>
        <p:nvSpPr>
          <p:cNvPr id="12" name="Shape 8"/>
          <p:cNvSpPr/>
          <p:nvPr/>
        </p:nvSpPr>
        <p:spPr>
          <a:xfrm>
            <a:off x="621792" y="2057400"/>
            <a:ext cx="2194560" cy="868680"/>
          </a:xfrm>
          <a:prstGeom prst="roundRect">
            <a:avLst>
              <a:gd name="adj" fmla="val 8421"/>
            </a:avLst>
          </a:prstGeom>
          <a:solidFill>
            <a:srgbClr val="FFFFFF"/>
          </a:solidFill>
          <a:ln w="12700">
            <a:solidFill>
              <a:srgbClr val="A9B3B6"/>
            </a:solidFill>
            <a:prstDash val="solid"/>
          </a:ln>
        </p:spPr>
      </p:sp>
      <p:sp>
        <p:nvSpPr>
          <p:cNvPr id="13" name="Shape 9"/>
          <p:cNvSpPr/>
          <p:nvPr/>
        </p:nvSpPr>
        <p:spPr>
          <a:xfrm>
            <a:off x="749808" y="2276856"/>
            <a:ext cx="420624" cy="420624"/>
          </a:xfrm>
          <a:prstGeom prst="ellipse">
            <a:avLst/>
          </a:prstGeom>
          <a:solidFill>
            <a:srgbClr val="FFFFFF"/>
          </a:solidFill>
          <a:ln w="12700">
            <a:solidFill>
              <a:srgbClr val="006580"/>
            </a:solidFill>
            <a:prstDash val="solid"/>
          </a:ln>
          <a:effectLst>
            <a:outerShdw sx="100000" sy="100000" kx="0" ky="0" algn="bl" rotWithShape="0" blurRad="38100" dist="12700" dir="16200000">
              <a:srgbClr val="000000">
                <a:alpha val="15000"/>
              </a:srgbClr>
            </a:outerShdw>
          </a:effectLst>
        </p:spPr>
      </p:sp>
      <p:pic>
        <p:nvPicPr>
          <p:cNvPr id="14" name="Image 1" descr="C:\Claude\MCG Full Stack\generators\assets\icons\database.png">    </p:cNvPr>
          <p:cNvPicPr>
            <a:picLocks noChangeAspect="1"/>
          </p:cNvPicPr>
          <p:nvPr/>
        </p:nvPicPr>
        <p:blipFill>
          <a:blip r:embed="rId2"/>
          <a:stretch>
            <a:fillRect/>
          </a:stretch>
        </p:blipFill>
        <p:spPr>
          <a:xfrm>
            <a:off x="829727" y="2356775"/>
            <a:ext cx="260787" cy="260787"/>
          </a:xfrm>
          <a:prstGeom prst="rect">
            <a:avLst/>
          </a:prstGeom>
        </p:spPr>
      </p:pic>
      <p:sp>
        <p:nvSpPr>
          <p:cNvPr id="15" name="Text 10"/>
          <p:cNvSpPr/>
          <p:nvPr/>
        </p:nvSpPr>
        <p:spPr>
          <a:xfrm>
            <a:off x="1261872" y="2167128"/>
            <a:ext cx="1508760" cy="411480"/>
          </a:xfrm>
          <a:prstGeom prst="rect">
            <a:avLst/>
          </a:prstGeom>
          <a:noFill/>
          <a:ln/>
        </p:spPr>
        <p:txBody>
          <a:bodyPr wrap="square" rtlCol="0" anchor="ctr"/>
          <a:lstStyle/>
          <a:p>
            <a:pPr indent="0" marL="0">
              <a:lnSpc>
                <a:spcPct val="95000"/>
              </a:lnSpc>
              <a:buNone/>
            </a:pPr>
            <a:r>
              <a:rPr lang="en-US" sz="1050" b="1" dirty="0">
                <a:solidFill>
                  <a:srgbClr val="19416C"/>
                </a:solidFill>
                <a:latin typeface="Inter" pitchFamily="34" charset="0"/>
                <a:ea typeface="Inter" pitchFamily="34" charset="-122"/>
                <a:cs typeface="Inter" pitchFamily="34" charset="-120"/>
              </a:rPr>
              <a:t>PostgreSQL WMS</a:t>
            </a:r>
            <a:endParaRPr lang="en-US" sz="1050" dirty="0"/>
          </a:p>
        </p:txBody>
      </p:sp>
      <p:sp>
        <p:nvSpPr>
          <p:cNvPr id="16" name="Text 11"/>
          <p:cNvSpPr/>
          <p:nvPr/>
        </p:nvSpPr>
        <p:spPr>
          <a:xfrm>
            <a:off x="1261872" y="2560320"/>
            <a:ext cx="1508760" cy="274320"/>
          </a:xfrm>
          <a:prstGeom prst="rect">
            <a:avLst/>
          </a:prstGeom>
          <a:noFill/>
          <a:ln/>
        </p:spPr>
        <p:txBody>
          <a:bodyPr wrap="square" rtlCol="0" anchor="ctr"/>
          <a:lstStyle/>
          <a:p>
            <a:pPr indent="0" marL="0">
              <a:buNone/>
            </a:pPr>
            <a:r>
              <a:rPr lang="en-US" sz="950" i="1" dirty="0">
                <a:solidFill>
                  <a:srgbClr val="009845"/>
                </a:solidFill>
                <a:latin typeface="Inter" pitchFamily="34" charset="0"/>
                <a:ea typeface="Inter" pitchFamily="34" charset="-122"/>
                <a:cs typeface="Inter" pitchFamily="34" charset="-120"/>
              </a:rPr>
              <a:t>CDC</a:t>
            </a:r>
            <a:endParaRPr lang="en-US" sz="950" dirty="0"/>
          </a:p>
        </p:txBody>
      </p:sp>
      <p:sp>
        <p:nvSpPr>
          <p:cNvPr id="17" name="Shape 12"/>
          <p:cNvSpPr/>
          <p:nvPr/>
        </p:nvSpPr>
        <p:spPr>
          <a:xfrm>
            <a:off x="621792" y="3081528"/>
            <a:ext cx="2194560" cy="868680"/>
          </a:xfrm>
          <a:prstGeom prst="roundRect">
            <a:avLst>
              <a:gd name="adj" fmla="val 8421"/>
            </a:avLst>
          </a:prstGeom>
          <a:solidFill>
            <a:srgbClr val="FFFFFF"/>
          </a:solidFill>
          <a:ln w="12700">
            <a:solidFill>
              <a:srgbClr val="A9B3B6"/>
            </a:solidFill>
            <a:prstDash val="solid"/>
          </a:ln>
        </p:spPr>
      </p:sp>
      <p:sp>
        <p:nvSpPr>
          <p:cNvPr id="18" name="Shape 13"/>
          <p:cNvSpPr/>
          <p:nvPr/>
        </p:nvSpPr>
        <p:spPr>
          <a:xfrm>
            <a:off x="749808" y="3300984"/>
            <a:ext cx="420624" cy="420624"/>
          </a:xfrm>
          <a:prstGeom prst="ellipse">
            <a:avLst/>
          </a:prstGeom>
          <a:solidFill>
            <a:srgbClr val="FFFFFF"/>
          </a:solidFill>
          <a:ln w="12700">
            <a:solidFill>
              <a:srgbClr val="006580"/>
            </a:solidFill>
            <a:prstDash val="solid"/>
          </a:ln>
          <a:effectLst>
            <a:outerShdw sx="100000" sy="100000" kx="0" ky="0" algn="bl" rotWithShape="0" blurRad="38100" dist="12700" dir="16200000">
              <a:srgbClr val="000000">
                <a:alpha val="15000"/>
              </a:srgbClr>
            </a:outerShdw>
          </a:effectLst>
        </p:spPr>
      </p:sp>
      <p:pic>
        <p:nvPicPr>
          <p:cNvPr id="19" name="Image 2" descr="C:\Claude\MCG Full Stack\generators\assets\icons\stream.png">    </p:cNvPr>
          <p:cNvPicPr>
            <a:picLocks noChangeAspect="1"/>
          </p:cNvPicPr>
          <p:nvPr/>
        </p:nvPicPr>
        <p:blipFill>
          <a:blip r:embed="rId3"/>
          <a:stretch>
            <a:fillRect/>
          </a:stretch>
        </p:blipFill>
        <p:spPr>
          <a:xfrm>
            <a:off x="829727" y="3380903"/>
            <a:ext cx="260787" cy="260787"/>
          </a:xfrm>
          <a:prstGeom prst="rect">
            <a:avLst/>
          </a:prstGeom>
        </p:spPr>
      </p:pic>
      <p:sp>
        <p:nvSpPr>
          <p:cNvPr id="20" name="Text 14"/>
          <p:cNvSpPr/>
          <p:nvPr/>
        </p:nvSpPr>
        <p:spPr>
          <a:xfrm>
            <a:off x="1261872" y="3191256"/>
            <a:ext cx="1508760" cy="411480"/>
          </a:xfrm>
          <a:prstGeom prst="rect">
            <a:avLst/>
          </a:prstGeom>
          <a:noFill/>
          <a:ln/>
        </p:spPr>
        <p:txBody>
          <a:bodyPr wrap="square" rtlCol="0" anchor="ctr"/>
          <a:lstStyle/>
          <a:p>
            <a:pPr indent="0" marL="0">
              <a:lnSpc>
                <a:spcPct val="95000"/>
              </a:lnSpc>
              <a:buNone/>
            </a:pPr>
            <a:r>
              <a:rPr lang="en-US" sz="1050" b="1" dirty="0">
                <a:solidFill>
                  <a:srgbClr val="19416C"/>
                </a:solidFill>
                <a:latin typeface="Inter" pitchFamily="34" charset="0"/>
                <a:ea typeface="Inter" pitchFamily="34" charset="-122"/>
                <a:cs typeface="Inter" pitchFamily="34" charset="-120"/>
              </a:rPr>
              <a:t>Kafka IoT cold-chain</a:t>
            </a:r>
            <a:endParaRPr lang="en-US" sz="1050" dirty="0"/>
          </a:p>
        </p:txBody>
      </p:sp>
      <p:sp>
        <p:nvSpPr>
          <p:cNvPr id="21" name="Text 15"/>
          <p:cNvSpPr/>
          <p:nvPr/>
        </p:nvSpPr>
        <p:spPr>
          <a:xfrm>
            <a:off x="1261872" y="3584448"/>
            <a:ext cx="1508760" cy="274320"/>
          </a:xfrm>
          <a:prstGeom prst="rect">
            <a:avLst/>
          </a:prstGeom>
          <a:noFill/>
          <a:ln/>
        </p:spPr>
        <p:txBody>
          <a:bodyPr wrap="square" rtlCol="0" anchor="ctr"/>
          <a:lstStyle/>
          <a:p>
            <a:pPr indent="0" marL="0">
              <a:buNone/>
            </a:pPr>
            <a:r>
              <a:rPr lang="en-US" sz="950" i="1" dirty="0">
                <a:solidFill>
                  <a:srgbClr val="009845"/>
                </a:solidFill>
                <a:latin typeface="Inter" pitchFamily="34" charset="0"/>
                <a:ea typeface="Inter" pitchFamily="34" charset="-122"/>
                <a:cs typeface="Inter" pitchFamily="34" charset="-120"/>
              </a:rPr>
              <a:t>streaming</a:t>
            </a:r>
            <a:endParaRPr lang="en-US" sz="950" dirty="0"/>
          </a:p>
        </p:txBody>
      </p:sp>
      <p:sp>
        <p:nvSpPr>
          <p:cNvPr id="22" name="Shape 16"/>
          <p:cNvSpPr/>
          <p:nvPr/>
        </p:nvSpPr>
        <p:spPr>
          <a:xfrm>
            <a:off x="621792" y="4105656"/>
            <a:ext cx="2194560" cy="868680"/>
          </a:xfrm>
          <a:prstGeom prst="roundRect">
            <a:avLst>
              <a:gd name="adj" fmla="val 8421"/>
            </a:avLst>
          </a:prstGeom>
          <a:solidFill>
            <a:srgbClr val="FFFFFF"/>
          </a:solidFill>
          <a:ln w="12700">
            <a:solidFill>
              <a:srgbClr val="A9B3B6"/>
            </a:solidFill>
            <a:prstDash val="solid"/>
          </a:ln>
        </p:spPr>
      </p:sp>
      <p:sp>
        <p:nvSpPr>
          <p:cNvPr id="23" name="Shape 17"/>
          <p:cNvSpPr/>
          <p:nvPr/>
        </p:nvSpPr>
        <p:spPr>
          <a:xfrm>
            <a:off x="749808" y="4325112"/>
            <a:ext cx="420624" cy="420624"/>
          </a:xfrm>
          <a:prstGeom prst="ellipse">
            <a:avLst/>
          </a:prstGeom>
          <a:solidFill>
            <a:srgbClr val="FFFFFF"/>
          </a:solidFill>
          <a:ln w="12700">
            <a:solidFill>
              <a:srgbClr val="006580"/>
            </a:solidFill>
            <a:prstDash val="solid"/>
          </a:ln>
          <a:effectLst>
            <a:outerShdw sx="100000" sy="100000" kx="0" ky="0" algn="bl" rotWithShape="0" blurRad="38100" dist="12700" dir="16200000">
              <a:srgbClr val="000000">
                <a:alpha val="15000"/>
              </a:srgbClr>
            </a:outerShdw>
          </a:effectLst>
        </p:spPr>
      </p:sp>
      <p:pic>
        <p:nvPicPr>
          <p:cNvPr id="24" name="Image 3" descr="C:\Claude\MCG Full Stack\generators\assets\icons\cloud.png">    </p:cNvPr>
          <p:cNvPicPr>
            <a:picLocks noChangeAspect="1"/>
          </p:cNvPicPr>
          <p:nvPr/>
        </p:nvPicPr>
        <p:blipFill>
          <a:blip r:embed="rId4"/>
          <a:stretch>
            <a:fillRect/>
          </a:stretch>
        </p:blipFill>
        <p:spPr>
          <a:xfrm>
            <a:off x="829727" y="4405031"/>
            <a:ext cx="260787" cy="260787"/>
          </a:xfrm>
          <a:prstGeom prst="rect">
            <a:avLst/>
          </a:prstGeom>
        </p:spPr>
      </p:pic>
      <p:sp>
        <p:nvSpPr>
          <p:cNvPr id="25" name="Text 18"/>
          <p:cNvSpPr/>
          <p:nvPr/>
        </p:nvSpPr>
        <p:spPr>
          <a:xfrm>
            <a:off x="1261872" y="4215384"/>
            <a:ext cx="1508760" cy="411480"/>
          </a:xfrm>
          <a:prstGeom prst="rect">
            <a:avLst/>
          </a:prstGeom>
          <a:noFill/>
          <a:ln/>
        </p:spPr>
        <p:txBody>
          <a:bodyPr wrap="square" rtlCol="0" anchor="ctr"/>
          <a:lstStyle/>
          <a:p>
            <a:pPr indent="0" marL="0">
              <a:lnSpc>
                <a:spcPct val="95000"/>
              </a:lnSpc>
              <a:buNone/>
            </a:pPr>
            <a:r>
              <a:rPr lang="en-US" sz="1050" b="1" dirty="0">
                <a:solidFill>
                  <a:srgbClr val="19416C"/>
                </a:solidFill>
                <a:latin typeface="Inter" pitchFamily="34" charset="0"/>
                <a:ea typeface="Inter" pitchFamily="34" charset="-122"/>
                <a:cs typeface="Inter" pitchFamily="34" charset="-120"/>
              </a:rPr>
              <a:t>Meridian CRM</a:t>
            </a:r>
            <a:endParaRPr lang="en-US" sz="1050" dirty="0"/>
          </a:p>
        </p:txBody>
      </p:sp>
      <p:sp>
        <p:nvSpPr>
          <p:cNvPr id="26" name="Text 19"/>
          <p:cNvSpPr/>
          <p:nvPr/>
        </p:nvSpPr>
        <p:spPr>
          <a:xfrm>
            <a:off x="1261872" y="4608576"/>
            <a:ext cx="1508760" cy="274320"/>
          </a:xfrm>
          <a:prstGeom prst="rect">
            <a:avLst/>
          </a:prstGeom>
          <a:noFill/>
          <a:ln/>
        </p:spPr>
        <p:txBody>
          <a:bodyPr wrap="square" rtlCol="0" anchor="ctr"/>
          <a:lstStyle/>
          <a:p>
            <a:pPr indent="0" marL="0">
              <a:buNone/>
            </a:pPr>
            <a:r>
              <a:rPr lang="en-US" sz="950" i="1" dirty="0">
                <a:solidFill>
                  <a:srgbClr val="009845"/>
                </a:solidFill>
                <a:latin typeface="Inter" pitchFamily="34" charset="0"/>
                <a:ea typeface="Inter" pitchFamily="34" charset="-122"/>
                <a:cs typeface="Inter" pitchFamily="34" charset="-120"/>
              </a:rPr>
              <a:t>every 15 min</a:t>
            </a:r>
            <a:endParaRPr lang="en-US" sz="950" dirty="0"/>
          </a:p>
        </p:txBody>
      </p:sp>
      <p:sp>
        <p:nvSpPr>
          <p:cNvPr id="27" name="Text 20"/>
          <p:cNvSpPr/>
          <p:nvPr/>
        </p:nvSpPr>
        <p:spPr>
          <a:xfrm>
            <a:off x="2999232" y="3063240"/>
            <a:ext cx="457200" cy="457200"/>
          </a:xfrm>
          <a:prstGeom prst="rect">
            <a:avLst/>
          </a:prstGeom>
          <a:noFill/>
          <a:ln/>
        </p:spPr>
        <p:txBody>
          <a:bodyPr wrap="square" rtlCol="0" anchor="ctr"/>
          <a:lstStyle/>
          <a:p>
            <a:pPr algn="ctr" indent="0" marL="0">
              <a:buNone/>
            </a:pPr>
            <a:r>
              <a:rPr lang="en-US" sz="2000" dirty="0">
                <a:solidFill>
                  <a:srgbClr val="A9B3B6"/>
                </a:solidFill>
              </a:rPr>
              <a:t>▶</a:t>
            </a:r>
            <a:endParaRPr lang="en-US" sz="2000" dirty="0"/>
          </a:p>
        </p:txBody>
      </p:sp>
      <p:sp>
        <p:nvSpPr>
          <p:cNvPr id="28" name="Shape 21"/>
          <p:cNvSpPr/>
          <p:nvPr/>
        </p:nvSpPr>
        <p:spPr>
          <a:xfrm>
            <a:off x="3520440" y="1463040"/>
            <a:ext cx="3063240" cy="3749040"/>
          </a:xfrm>
          <a:prstGeom prst="roundRect">
            <a:avLst>
              <a:gd name="adj" fmla="val 2985"/>
            </a:avLst>
          </a:prstGeom>
          <a:solidFill>
            <a:srgbClr val="E0F2F5"/>
          </a:solidFill>
          <a:ln w="25400">
            <a:solidFill>
              <a:srgbClr val="006580"/>
            </a:solidFill>
            <a:prstDash val="solid"/>
          </a:ln>
        </p:spPr>
      </p:sp>
      <p:sp>
        <p:nvSpPr>
          <p:cNvPr id="29" name="Shape 22"/>
          <p:cNvSpPr/>
          <p:nvPr/>
        </p:nvSpPr>
        <p:spPr>
          <a:xfrm>
            <a:off x="3703320" y="1572768"/>
            <a:ext cx="402336" cy="402336"/>
          </a:xfrm>
          <a:prstGeom prst="ellipse">
            <a:avLst/>
          </a:prstGeom>
          <a:solidFill>
            <a:srgbClr val="FFFFFF"/>
          </a:solidFill>
          <a:ln w="12700">
            <a:solidFill>
              <a:srgbClr val="006580"/>
            </a:solidFill>
            <a:prstDash val="solid"/>
          </a:ln>
          <a:effectLst>
            <a:outerShdw sx="100000" sy="100000" kx="0" ky="0" algn="bl" rotWithShape="0" blurRad="38100" dist="12700" dir="16200000">
              <a:srgbClr val="000000">
                <a:alpha val="15000"/>
              </a:srgbClr>
            </a:outerShdw>
          </a:effectLst>
        </p:spPr>
      </p:sp>
      <p:pic>
        <p:nvPicPr>
          <p:cNvPr id="30" name="Image 4" descr="C:\Claude\MCG Full Stack\generators\assets\icons\lakehouse.png">    </p:cNvPr>
          <p:cNvPicPr>
            <a:picLocks noChangeAspect="1"/>
          </p:cNvPicPr>
          <p:nvPr/>
        </p:nvPicPr>
        <p:blipFill>
          <a:blip r:embed="rId5"/>
          <a:stretch>
            <a:fillRect/>
          </a:stretch>
        </p:blipFill>
        <p:spPr>
          <a:xfrm>
            <a:off x="3779764" y="1649212"/>
            <a:ext cx="249448" cy="249448"/>
          </a:xfrm>
          <a:prstGeom prst="rect">
            <a:avLst/>
          </a:prstGeom>
        </p:spPr>
      </p:pic>
      <p:sp>
        <p:nvSpPr>
          <p:cNvPr id="31" name="Text 23"/>
          <p:cNvSpPr/>
          <p:nvPr/>
        </p:nvSpPr>
        <p:spPr>
          <a:xfrm>
            <a:off x="4160520" y="1572768"/>
            <a:ext cx="2331720" cy="402336"/>
          </a:xfrm>
          <a:prstGeom prst="rect">
            <a:avLst/>
          </a:prstGeom>
          <a:noFill/>
          <a:ln/>
        </p:spPr>
        <p:txBody>
          <a:bodyPr wrap="square" rtlCol="0" anchor="ctr"/>
          <a:lstStyle/>
          <a:p>
            <a:pPr indent="0" marL="0">
              <a:buNone/>
            </a:pPr>
            <a:r>
              <a:rPr lang="en-US" sz="1200" b="1" dirty="0">
                <a:solidFill>
                  <a:srgbClr val="006580"/>
                </a:solidFill>
                <a:latin typeface="Inter" pitchFamily="34" charset="0"/>
                <a:ea typeface="Inter" pitchFamily="34" charset="-122"/>
                <a:cs typeface="Inter" pitchFamily="34" charset="-120"/>
              </a:rPr>
              <a:t>OPEN LAKEHOUSE</a:t>
            </a:r>
            <a:endParaRPr lang="en-US" sz="1200" dirty="0"/>
          </a:p>
        </p:txBody>
      </p:sp>
      <p:sp>
        <p:nvSpPr>
          <p:cNvPr id="32" name="Text 24"/>
          <p:cNvSpPr/>
          <p:nvPr/>
        </p:nvSpPr>
        <p:spPr>
          <a:xfrm>
            <a:off x="3703320" y="2011680"/>
            <a:ext cx="2743200" cy="274320"/>
          </a:xfrm>
          <a:prstGeom prst="rect">
            <a:avLst/>
          </a:prstGeom>
          <a:noFill/>
          <a:ln/>
        </p:spPr>
        <p:txBody>
          <a:bodyPr wrap="square" rtlCol="0" anchor="ctr"/>
          <a:lstStyle/>
          <a:p>
            <a:pPr algn="ctr" indent="0" marL="0">
              <a:buNone/>
            </a:pPr>
            <a:r>
              <a:rPr lang="en-US" sz="950" i="1" dirty="0">
                <a:solidFill>
                  <a:srgbClr val="454659"/>
                </a:solidFill>
                <a:latin typeface="Inter" pitchFamily="34" charset="0"/>
                <a:ea typeface="Inter" pitchFamily="34" charset="-122"/>
                <a:cs typeface="Inter" pitchFamily="34" charset="-120"/>
              </a:rPr>
              <a:t>Apache Iceberg on S3 · medallion</a:t>
            </a:r>
            <a:endParaRPr lang="en-US" sz="950" dirty="0"/>
          </a:p>
        </p:txBody>
      </p:sp>
      <p:sp>
        <p:nvSpPr>
          <p:cNvPr id="33" name="Shape 25"/>
          <p:cNvSpPr/>
          <p:nvPr/>
        </p:nvSpPr>
        <p:spPr>
          <a:xfrm>
            <a:off x="3703320" y="2377440"/>
            <a:ext cx="2697480" cy="777240"/>
          </a:xfrm>
          <a:prstGeom prst="roundRect">
            <a:avLst>
              <a:gd name="adj" fmla="val 9412"/>
            </a:avLst>
          </a:prstGeom>
          <a:solidFill>
            <a:srgbClr val="FFFFFF"/>
          </a:solidFill>
          <a:ln w="19050">
            <a:solidFill>
              <a:srgbClr val="A9B3B6"/>
            </a:solidFill>
            <a:prstDash val="solid"/>
          </a:ln>
        </p:spPr>
      </p:sp>
      <p:sp>
        <p:nvSpPr>
          <p:cNvPr id="34" name="Text 26"/>
          <p:cNvSpPr/>
          <p:nvPr/>
        </p:nvSpPr>
        <p:spPr>
          <a:xfrm>
            <a:off x="3703320" y="2468880"/>
            <a:ext cx="2697480" cy="365760"/>
          </a:xfrm>
          <a:prstGeom prst="rect">
            <a:avLst/>
          </a:prstGeom>
          <a:noFill/>
          <a:ln/>
        </p:spPr>
        <p:txBody>
          <a:bodyPr wrap="square" rtlCol="0" anchor="ctr"/>
          <a:lstStyle/>
          <a:p>
            <a:pPr algn="ctr" indent="0" marL="0">
              <a:buNone/>
            </a:pPr>
            <a:r>
              <a:rPr lang="en-US" sz="1400" b="1" dirty="0">
                <a:solidFill>
                  <a:srgbClr val="19416C"/>
                </a:solidFill>
                <a:latin typeface="Inter" pitchFamily="34" charset="0"/>
                <a:ea typeface="Inter" pitchFamily="34" charset="-122"/>
                <a:cs typeface="Inter" pitchFamily="34" charset="-120"/>
              </a:rPr>
              <a:t>BRONZE</a:t>
            </a:r>
            <a:endParaRPr lang="en-US" sz="1400" dirty="0"/>
          </a:p>
        </p:txBody>
      </p:sp>
      <p:sp>
        <p:nvSpPr>
          <p:cNvPr id="35" name="Text 27"/>
          <p:cNvSpPr/>
          <p:nvPr/>
        </p:nvSpPr>
        <p:spPr>
          <a:xfrm>
            <a:off x="3703320" y="2816352"/>
            <a:ext cx="2697480" cy="292608"/>
          </a:xfrm>
          <a:prstGeom prst="rect">
            <a:avLst/>
          </a:prstGeom>
          <a:noFill/>
          <a:ln/>
        </p:spPr>
        <p:txBody>
          <a:bodyPr wrap="square" rtlCol="0" anchor="ctr"/>
          <a:lstStyle/>
          <a:p>
            <a:pPr algn="ctr" indent="0" marL="0">
              <a:buNone/>
            </a:pPr>
            <a:r>
              <a:rPr lang="en-US" sz="1000" dirty="0">
                <a:solidFill>
                  <a:srgbClr val="454659"/>
                </a:solidFill>
                <a:latin typeface="Inter" pitchFamily="34" charset="0"/>
                <a:ea typeface="Inter" pitchFamily="34" charset="-122"/>
                <a:cs typeface="Inter" pitchFamily="34" charset="-120"/>
              </a:rPr>
              <a:t>raw landed data</a:t>
            </a:r>
            <a:endParaRPr lang="en-US" sz="1000" dirty="0"/>
          </a:p>
        </p:txBody>
      </p:sp>
      <p:sp>
        <p:nvSpPr>
          <p:cNvPr id="36" name="Shape 28"/>
          <p:cNvSpPr/>
          <p:nvPr/>
        </p:nvSpPr>
        <p:spPr>
          <a:xfrm>
            <a:off x="3703320" y="3291840"/>
            <a:ext cx="2697480" cy="777240"/>
          </a:xfrm>
          <a:prstGeom prst="roundRect">
            <a:avLst>
              <a:gd name="adj" fmla="val 9412"/>
            </a:avLst>
          </a:prstGeom>
          <a:solidFill>
            <a:srgbClr val="FFFFFF"/>
          </a:solidFill>
          <a:ln w="19050">
            <a:solidFill>
              <a:srgbClr val="A9B3B6"/>
            </a:solidFill>
            <a:prstDash val="solid"/>
          </a:ln>
        </p:spPr>
      </p:sp>
      <p:sp>
        <p:nvSpPr>
          <p:cNvPr id="37" name="Text 29"/>
          <p:cNvSpPr/>
          <p:nvPr/>
        </p:nvSpPr>
        <p:spPr>
          <a:xfrm>
            <a:off x="3703320" y="3383280"/>
            <a:ext cx="2697480" cy="365760"/>
          </a:xfrm>
          <a:prstGeom prst="rect">
            <a:avLst/>
          </a:prstGeom>
          <a:noFill/>
          <a:ln/>
        </p:spPr>
        <p:txBody>
          <a:bodyPr wrap="square" rtlCol="0" anchor="ctr"/>
          <a:lstStyle/>
          <a:p>
            <a:pPr algn="ctr" indent="0" marL="0">
              <a:buNone/>
            </a:pPr>
            <a:r>
              <a:rPr lang="en-US" sz="1400" b="1" dirty="0">
                <a:solidFill>
                  <a:srgbClr val="19416C"/>
                </a:solidFill>
                <a:latin typeface="Inter" pitchFamily="34" charset="0"/>
                <a:ea typeface="Inter" pitchFamily="34" charset="-122"/>
                <a:cs typeface="Inter" pitchFamily="34" charset="-120"/>
              </a:rPr>
              <a:t>SILVER</a:t>
            </a:r>
            <a:endParaRPr lang="en-US" sz="1400" dirty="0"/>
          </a:p>
        </p:txBody>
      </p:sp>
      <p:sp>
        <p:nvSpPr>
          <p:cNvPr id="38" name="Text 30"/>
          <p:cNvSpPr/>
          <p:nvPr/>
        </p:nvSpPr>
        <p:spPr>
          <a:xfrm>
            <a:off x="3703320" y="3730752"/>
            <a:ext cx="2697480" cy="292608"/>
          </a:xfrm>
          <a:prstGeom prst="rect">
            <a:avLst/>
          </a:prstGeom>
          <a:noFill/>
          <a:ln/>
        </p:spPr>
        <p:txBody>
          <a:bodyPr wrap="square" rtlCol="0" anchor="ctr"/>
          <a:lstStyle/>
          <a:p>
            <a:pPr algn="ctr" indent="0" marL="0">
              <a:buNone/>
            </a:pPr>
            <a:r>
              <a:rPr lang="en-US" sz="1000" dirty="0">
                <a:solidFill>
                  <a:srgbClr val="454659"/>
                </a:solidFill>
                <a:latin typeface="Inter" pitchFamily="34" charset="0"/>
                <a:ea typeface="Inter" pitchFamily="34" charset="-122"/>
                <a:cs typeface="Inter" pitchFamily="34" charset="-120"/>
              </a:rPr>
              <a:t>cleansed + trust-scored</a:t>
            </a:r>
            <a:endParaRPr lang="en-US" sz="1000" dirty="0"/>
          </a:p>
        </p:txBody>
      </p:sp>
      <p:sp>
        <p:nvSpPr>
          <p:cNvPr id="39" name="Shape 31"/>
          <p:cNvSpPr/>
          <p:nvPr/>
        </p:nvSpPr>
        <p:spPr>
          <a:xfrm>
            <a:off x="3703320" y="4206240"/>
            <a:ext cx="2697480" cy="777240"/>
          </a:xfrm>
          <a:prstGeom prst="roundRect">
            <a:avLst>
              <a:gd name="adj" fmla="val 9412"/>
            </a:avLst>
          </a:prstGeom>
          <a:solidFill>
            <a:srgbClr val="FFFFFF"/>
          </a:solidFill>
          <a:ln w="19050">
            <a:solidFill>
              <a:srgbClr val="009845"/>
            </a:solidFill>
            <a:prstDash val="solid"/>
          </a:ln>
        </p:spPr>
      </p:sp>
      <p:sp>
        <p:nvSpPr>
          <p:cNvPr id="40" name="Text 32"/>
          <p:cNvSpPr/>
          <p:nvPr/>
        </p:nvSpPr>
        <p:spPr>
          <a:xfrm>
            <a:off x="3703320" y="4297680"/>
            <a:ext cx="2697480" cy="365760"/>
          </a:xfrm>
          <a:prstGeom prst="rect">
            <a:avLst/>
          </a:prstGeom>
          <a:noFill/>
          <a:ln/>
        </p:spPr>
        <p:txBody>
          <a:bodyPr wrap="square" rtlCol="0" anchor="ctr"/>
          <a:lstStyle/>
          <a:p>
            <a:pPr algn="ctr" indent="0" marL="0">
              <a:buNone/>
            </a:pPr>
            <a:r>
              <a:rPr lang="en-US" sz="1400" b="1" dirty="0">
                <a:solidFill>
                  <a:srgbClr val="009845"/>
                </a:solidFill>
                <a:latin typeface="Inter" pitchFamily="34" charset="0"/>
                <a:ea typeface="Inter" pitchFamily="34" charset="-122"/>
                <a:cs typeface="Inter" pitchFamily="34" charset="-120"/>
              </a:rPr>
              <a:t>GOLD</a:t>
            </a:r>
            <a:endParaRPr lang="en-US" sz="1400" dirty="0"/>
          </a:p>
        </p:txBody>
      </p:sp>
      <p:sp>
        <p:nvSpPr>
          <p:cNvPr id="41" name="Text 33"/>
          <p:cNvSpPr/>
          <p:nvPr/>
        </p:nvSpPr>
        <p:spPr>
          <a:xfrm>
            <a:off x="3703320" y="4645152"/>
            <a:ext cx="2697480" cy="292608"/>
          </a:xfrm>
          <a:prstGeom prst="rect">
            <a:avLst/>
          </a:prstGeom>
          <a:noFill/>
          <a:ln/>
        </p:spPr>
        <p:txBody>
          <a:bodyPr wrap="square" rtlCol="0" anchor="ctr"/>
          <a:lstStyle/>
          <a:p>
            <a:pPr algn="ctr" indent="0" marL="0">
              <a:buNone/>
            </a:pPr>
            <a:r>
              <a:rPr lang="en-US" sz="1000" dirty="0">
                <a:solidFill>
                  <a:srgbClr val="454659"/>
                </a:solidFill>
                <a:latin typeface="Inter" pitchFamily="34" charset="0"/>
                <a:ea typeface="Inter" pitchFamily="34" charset="-122"/>
                <a:cs typeface="Inter" pitchFamily="34" charset="-120"/>
              </a:rPr>
              <a:t>governed data products</a:t>
            </a:r>
            <a:endParaRPr lang="en-US" sz="1000" dirty="0"/>
          </a:p>
        </p:txBody>
      </p:sp>
      <p:sp>
        <p:nvSpPr>
          <p:cNvPr id="42" name="Text 34"/>
          <p:cNvSpPr/>
          <p:nvPr/>
        </p:nvSpPr>
        <p:spPr>
          <a:xfrm>
            <a:off x="6601968" y="3063240"/>
            <a:ext cx="457200" cy="457200"/>
          </a:xfrm>
          <a:prstGeom prst="rect">
            <a:avLst/>
          </a:prstGeom>
          <a:noFill/>
          <a:ln/>
        </p:spPr>
        <p:txBody>
          <a:bodyPr wrap="square" rtlCol="0" anchor="ctr"/>
          <a:lstStyle/>
          <a:p>
            <a:pPr algn="ctr" indent="0" marL="0">
              <a:buNone/>
            </a:pPr>
            <a:r>
              <a:rPr lang="en-US" sz="2000" dirty="0">
                <a:solidFill>
                  <a:srgbClr val="A9B3B6"/>
                </a:solidFill>
              </a:rPr>
              <a:t>▶</a:t>
            </a:r>
            <a:endParaRPr lang="en-US" sz="2000" dirty="0"/>
          </a:p>
        </p:txBody>
      </p:sp>
      <p:sp>
        <p:nvSpPr>
          <p:cNvPr id="43" name="Shape 35"/>
          <p:cNvSpPr/>
          <p:nvPr/>
        </p:nvSpPr>
        <p:spPr>
          <a:xfrm>
            <a:off x="7132320" y="1463040"/>
            <a:ext cx="4572000" cy="3749040"/>
          </a:xfrm>
          <a:prstGeom prst="roundRect">
            <a:avLst>
              <a:gd name="adj" fmla="val 2439"/>
            </a:avLst>
          </a:prstGeom>
          <a:solidFill>
            <a:srgbClr val="F6F7F8"/>
          </a:solidFill>
          <a:ln w="25400">
            <a:solidFill>
              <a:srgbClr val="009845"/>
            </a:solidFill>
            <a:prstDash val="solid"/>
          </a:ln>
        </p:spPr>
      </p:sp>
      <p:sp>
        <p:nvSpPr>
          <p:cNvPr id="44" name="Text 36"/>
          <p:cNvSpPr/>
          <p:nvPr/>
        </p:nvSpPr>
        <p:spPr>
          <a:xfrm>
            <a:off x="7132320" y="1572768"/>
            <a:ext cx="4572000" cy="365760"/>
          </a:xfrm>
          <a:prstGeom prst="rect">
            <a:avLst/>
          </a:prstGeom>
          <a:noFill/>
          <a:ln/>
        </p:spPr>
        <p:txBody>
          <a:bodyPr wrap="square" rtlCol="0" anchor="ctr"/>
          <a:lstStyle/>
          <a:p>
            <a:pPr algn="ctr" indent="0" marL="0">
              <a:buNone/>
            </a:pPr>
            <a:r>
              <a:rPr lang="en-US" sz="1200" b="1" dirty="0">
                <a:solidFill>
                  <a:srgbClr val="009845"/>
                </a:solidFill>
                <a:latin typeface="Inter" pitchFamily="34" charset="0"/>
                <a:ea typeface="Inter" pitchFamily="34" charset="-122"/>
                <a:cs typeface="Inter" pitchFamily="34" charset="-120"/>
              </a:rPr>
              <a:t>GOLD DATA PRODUCTS  +  APPS &amp; AI</a:t>
            </a:r>
            <a:endParaRPr lang="en-US" sz="1200" dirty="0"/>
          </a:p>
        </p:txBody>
      </p:sp>
      <p:sp>
        <p:nvSpPr>
          <p:cNvPr id="45" name="Shape 37"/>
          <p:cNvSpPr/>
          <p:nvPr/>
        </p:nvSpPr>
        <p:spPr>
          <a:xfrm>
            <a:off x="7296912" y="2057400"/>
            <a:ext cx="4251960" cy="621792"/>
          </a:xfrm>
          <a:prstGeom prst="roundRect">
            <a:avLst>
              <a:gd name="adj" fmla="val 10294"/>
            </a:avLst>
          </a:prstGeom>
          <a:solidFill>
            <a:srgbClr val="FFFFFF"/>
          </a:solidFill>
          <a:ln w="12700">
            <a:solidFill>
              <a:srgbClr val="A9B3B6"/>
            </a:solidFill>
            <a:prstDash val="solid"/>
          </a:ln>
        </p:spPr>
      </p:sp>
      <p:sp>
        <p:nvSpPr>
          <p:cNvPr id="46" name="Shape 38"/>
          <p:cNvSpPr/>
          <p:nvPr/>
        </p:nvSpPr>
        <p:spPr>
          <a:xfrm>
            <a:off x="7406640" y="2176272"/>
            <a:ext cx="384048" cy="384048"/>
          </a:xfrm>
          <a:prstGeom prst="ellipse">
            <a:avLst/>
          </a:prstGeom>
          <a:solidFill>
            <a:srgbClr val="FFFFFF"/>
          </a:solidFill>
          <a:ln w="12700">
            <a:solidFill>
              <a:srgbClr val="009845"/>
            </a:solidFill>
            <a:prstDash val="solid"/>
          </a:ln>
          <a:effectLst>
            <a:outerShdw sx="100000" sy="100000" kx="0" ky="0" algn="bl" rotWithShape="0" blurRad="38100" dist="12700" dir="16200000">
              <a:srgbClr val="000000">
                <a:alpha val="15000"/>
              </a:srgbClr>
            </a:outerShdw>
          </a:effectLst>
        </p:spPr>
      </p:sp>
      <p:pic>
        <p:nvPicPr>
          <p:cNvPr id="47" name="Image 5" descr="C:\Claude\MCG Full Stack\generators\assets\icons\analytics.png">    </p:cNvPr>
          <p:cNvPicPr>
            <a:picLocks noChangeAspect="1"/>
          </p:cNvPicPr>
          <p:nvPr/>
        </p:nvPicPr>
        <p:blipFill>
          <a:blip r:embed="rId6"/>
          <a:stretch>
            <a:fillRect/>
          </a:stretch>
        </p:blipFill>
        <p:spPr>
          <a:xfrm>
            <a:off x="7479609" y="2249241"/>
            <a:ext cx="238110" cy="238110"/>
          </a:xfrm>
          <a:prstGeom prst="rect">
            <a:avLst/>
          </a:prstGeom>
        </p:spPr>
      </p:pic>
      <p:sp>
        <p:nvSpPr>
          <p:cNvPr id="48" name="Text 39"/>
          <p:cNvSpPr/>
          <p:nvPr/>
        </p:nvSpPr>
        <p:spPr>
          <a:xfrm>
            <a:off x="7909560" y="2112264"/>
            <a:ext cx="3566160" cy="310896"/>
          </a:xfrm>
          <a:prstGeom prst="rect">
            <a:avLst/>
          </a:prstGeom>
          <a:noFill/>
          <a:ln/>
        </p:spPr>
        <p:txBody>
          <a:bodyPr wrap="square" rtlCol="0" anchor="ctr"/>
          <a:lstStyle/>
          <a:p>
            <a:pPr indent="0" marL="0">
              <a:buNone/>
            </a:pPr>
            <a:r>
              <a:rPr lang="en-US" sz="1150" b="1" dirty="0">
                <a:solidFill>
                  <a:srgbClr val="19416C"/>
                </a:solidFill>
                <a:latin typeface="Inter" pitchFamily="34" charset="0"/>
                <a:ea typeface="Inter" pitchFamily="34" charset="-122"/>
                <a:cs typeface="Inter" pitchFamily="34" charset="-120"/>
              </a:rPr>
              <a:t>Supply Chain Health</a:t>
            </a:r>
            <a:endParaRPr lang="en-US" sz="1150" dirty="0"/>
          </a:p>
        </p:txBody>
      </p:sp>
      <p:sp>
        <p:nvSpPr>
          <p:cNvPr id="49" name="Text 40"/>
          <p:cNvSpPr/>
          <p:nvPr/>
        </p:nvSpPr>
        <p:spPr>
          <a:xfrm>
            <a:off x="7909560" y="2404872"/>
            <a:ext cx="3566160" cy="256032"/>
          </a:xfrm>
          <a:prstGeom prst="rect">
            <a:avLst/>
          </a:prstGeom>
          <a:noFill/>
          <a:ln/>
        </p:spPr>
        <p:txBody>
          <a:bodyPr wrap="square" rtlCol="0" anchor="ctr"/>
          <a:lstStyle/>
          <a:p>
            <a:pPr indent="0" marL="0">
              <a:buNone/>
            </a:pPr>
            <a:r>
              <a:rPr lang="en-US" sz="950" dirty="0">
                <a:solidFill>
                  <a:srgbClr val="454659"/>
                </a:solidFill>
                <a:latin typeface="Inter" pitchFamily="34" charset="0"/>
                <a:ea typeface="Inter" pitchFamily="34" charset="-122"/>
                <a:cs typeface="Inter" pitchFamily="34" charset="-120"/>
              </a:rPr>
              <a:t>gold data product · trust-score SLA</a:t>
            </a:r>
            <a:endParaRPr lang="en-US" sz="950" dirty="0"/>
          </a:p>
        </p:txBody>
      </p:sp>
      <p:sp>
        <p:nvSpPr>
          <p:cNvPr id="50" name="Shape 41"/>
          <p:cNvSpPr/>
          <p:nvPr/>
        </p:nvSpPr>
        <p:spPr>
          <a:xfrm>
            <a:off x="7296912" y="2807208"/>
            <a:ext cx="4251960" cy="621792"/>
          </a:xfrm>
          <a:prstGeom prst="roundRect">
            <a:avLst>
              <a:gd name="adj" fmla="val 10294"/>
            </a:avLst>
          </a:prstGeom>
          <a:solidFill>
            <a:srgbClr val="FFFFFF"/>
          </a:solidFill>
          <a:ln w="12700">
            <a:solidFill>
              <a:srgbClr val="A9B3B6"/>
            </a:solidFill>
            <a:prstDash val="solid"/>
          </a:ln>
        </p:spPr>
      </p:sp>
      <p:sp>
        <p:nvSpPr>
          <p:cNvPr id="51" name="Shape 42"/>
          <p:cNvSpPr/>
          <p:nvPr/>
        </p:nvSpPr>
        <p:spPr>
          <a:xfrm>
            <a:off x="7406640" y="2926080"/>
            <a:ext cx="384048" cy="384048"/>
          </a:xfrm>
          <a:prstGeom prst="ellipse">
            <a:avLst/>
          </a:prstGeom>
          <a:solidFill>
            <a:srgbClr val="FFFFFF"/>
          </a:solidFill>
          <a:ln w="12700">
            <a:solidFill>
              <a:srgbClr val="009845"/>
            </a:solidFill>
            <a:prstDash val="solid"/>
          </a:ln>
          <a:effectLst>
            <a:outerShdw sx="100000" sy="100000" kx="0" ky="0" algn="bl" rotWithShape="0" blurRad="38100" dist="12700" dir="16200000">
              <a:srgbClr val="000000">
                <a:alpha val="15000"/>
              </a:srgbClr>
            </a:outerShdw>
          </a:effectLst>
        </p:spPr>
      </p:sp>
      <p:pic>
        <p:nvPicPr>
          <p:cNvPr id="52" name="Image 6" descr="C:\Claude\MCG Full Stack\generators\assets\icons\analytics.png">    </p:cNvPr>
          <p:cNvPicPr>
            <a:picLocks noChangeAspect="1"/>
          </p:cNvPicPr>
          <p:nvPr/>
        </p:nvPicPr>
        <p:blipFill>
          <a:blip r:embed="rId7"/>
          <a:stretch>
            <a:fillRect/>
          </a:stretch>
        </p:blipFill>
        <p:spPr>
          <a:xfrm>
            <a:off x="7479609" y="2999049"/>
            <a:ext cx="238110" cy="238110"/>
          </a:xfrm>
          <a:prstGeom prst="rect">
            <a:avLst/>
          </a:prstGeom>
        </p:spPr>
      </p:pic>
      <p:sp>
        <p:nvSpPr>
          <p:cNvPr id="53" name="Text 43"/>
          <p:cNvSpPr/>
          <p:nvPr/>
        </p:nvSpPr>
        <p:spPr>
          <a:xfrm>
            <a:off x="7909560" y="2862072"/>
            <a:ext cx="3566160" cy="310896"/>
          </a:xfrm>
          <a:prstGeom prst="rect">
            <a:avLst/>
          </a:prstGeom>
          <a:noFill/>
          <a:ln/>
        </p:spPr>
        <p:txBody>
          <a:bodyPr wrap="square" rtlCol="0" anchor="ctr"/>
          <a:lstStyle/>
          <a:p>
            <a:pPr indent="0" marL="0">
              <a:buNone/>
            </a:pPr>
            <a:r>
              <a:rPr lang="en-US" sz="1150" b="1" dirty="0">
                <a:solidFill>
                  <a:srgbClr val="19416C"/>
                </a:solidFill>
                <a:latin typeface="Inter" pitchFamily="34" charset="0"/>
                <a:ea typeface="Inter" pitchFamily="34" charset="-122"/>
                <a:cs typeface="Inter" pitchFamily="34" charset="-120"/>
              </a:rPr>
              <a:t>Last Mile Performance</a:t>
            </a:r>
            <a:endParaRPr lang="en-US" sz="1150" dirty="0"/>
          </a:p>
        </p:txBody>
      </p:sp>
      <p:sp>
        <p:nvSpPr>
          <p:cNvPr id="54" name="Text 44"/>
          <p:cNvSpPr/>
          <p:nvPr/>
        </p:nvSpPr>
        <p:spPr>
          <a:xfrm>
            <a:off x="7909560" y="3154680"/>
            <a:ext cx="3566160" cy="256032"/>
          </a:xfrm>
          <a:prstGeom prst="rect">
            <a:avLst/>
          </a:prstGeom>
          <a:noFill/>
          <a:ln/>
        </p:spPr>
        <p:txBody>
          <a:bodyPr wrap="square" rtlCol="0" anchor="ctr"/>
          <a:lstStyle/>
          <a:p>
            <a:pPr indent="0" marL="0">
              <a:buNone/>
            </a:pPr>
            <a:r>
              <a:rPr lang="en-US" sz="950" dirty="0">
                <a:solidFill>
                  <a:srgbClr val="454659"/>
                </a:solidFill>
                <a:latin typeface="Inter" pitchFamily="34" charset="0"/>
                <a:ea typeface="Inter" pitchFamily="34" charset="-122"/>
                <a:cs typeface="Inter" pitchFamily="34" charset="-120"/>
              </a:rPr>
              <a:t>gold data product · trust-score SLA</a:t>
            </a:r>
            <a:endParaRPr lang="en-US" sz="950" dirty="0"/>
          </a:p>
        </p:txBody>
      </p:sp>
      <p:sp>
        <p:nvSpPr>
          <p:cNvPr id="55" name="Shape 45"/>
          <p:cNvSpPr/>
          <p:nvPr/>
        </p:nvSpPr>
        <p:spPr>
          <a:xfrm>
            <a:off x="7296912" y="3557016"/>
            <a:ext cx="4251960" cy="621792"/>
          </a:xfrm>
          <a:prstGeom prst="roundRect">
            <a:avLst>
              <a:gd name="adj" fmla="val 10294"/>
            </a:avLst>
          </a:prstGeom>
          <a:solidFill>
            <a:srgbClr val="FFFFFF"/>
          </a:solidFill>
          <a:ln w="12700">
            <a:solidFill>
              <a:srgbClr val="A9B3B6"/>
            </a:solidFill>
            <a:prstDash val="solid"/>
          </a:ln>
        </p:spPr>
      </p:sp>
      <p:sp>
        <p:nvSpPr>
          <p:cNvPr id="56" name="Shape 46"/>
          <p:cNvSpPr/>
          <p:nvPr/>
        </p:nvSpPr>
        <p:spPr>
          <a:xfrm>
            <a:off x="7406640" y="3675888"/>
            <a:ext cx="384048" cy="384048"/>
          </a:xfrm>
          <a:prstGeom prst="ellipse">
            <a:avLst/>
          </a:prstGeom>
          <a:solidFill>
            <a:srgbClr val="FFFFFF"/>
          </a:solidFill>
          <a:ln w="12700">
            <a:solidFill>
              <a:srgbClr val="009845"/>
            </a:solidFill>
            <a:prstDash val="solid"/>
          </a:ln>
          <a:effectLst>
            <a:outerShdw sx="100000" sy="100000" kx="0" ky="0" algn="bl" rotWithShape="0" blurRad="38100" dist="12700" dir="16200000">
              <a:srgbClr val="000000">
                <a:alpha val="15000"/>
              </a:srgbClr>
            </a:outerShdw>
          </a:effectLst>
        </p:spPr>
      </p:sp>
      <p:pic>
        <p:nvPicPr>
          <p:cNvPr id="57" name="Image 7" descr="C:\Claude\MCG Full Stack\generators\assets\icons\predict.png">    </p:cNvPr>
          <p:cNvPicPr>
            <a:picLocks noChangeAspect="1"/>
          </p:cNvPicPr>
          <p:nvPr/>
        </p:nvPicPr>
        <p:blipFill>
          <a:blip r:embed="rId8"/>
          <a:stretch>
            <a:fillRect/>
          </a:stretch>
        </p:blipFill>
        <p:spPr>
          <a:xfrm>
            <a:off x="7479609" y="3748857"/>
            <a:ext cx="238110" cy="238110"/>
          </a:xfrm>
          <a:prstGeom prst="rect">
            <a:avLst/>
          </a:prstGeom>
        </p:spPr>
      </p:pic>
      <p:sp>
        <p:nvSpPr>
          <p:cNvPr id="58" name="Text 47"/>
          <p:cNvSpPr/>
          <p:nvPr/>
        </p:nvSpPr>
        <p:spPr>
          <a:xfrm>
            <a:off x="7909560" y="3611880"/>
            <a:ext cx="3566160" cy="310896"/>
          </a:xfrm>
          <a:prstGeom prst="rect">
            <a:avLst/>
          </a:prstGeom>
          <a:noFill/>
          <a:ln/>
        </p:spPr>
        <p:txBody>
          <a:bodyPr wrap="square" rtlCol="0" anchor="ctr"/>
          <a:lstStyle/>
          <a:p>
            <a:pPr indent="0" marL="0">
              <a:buNone/>
            </a:pPr>
            <a:r>
              <a:rPr lang="en-US" sz="1150" b="1" dirty="0">
                <a:solidFill>
                  <a:srgbClr val="19416C"/>
                </a:solidFill>
                <a:latin typeface="Inter" pitchFamily="34" charset="0"/>
                <a:ea typeface="Inter" pitchFamily="34" charset="-122"/>
                <a:cs typeface="Inter" pitchFamily="34" charset="-120"/>
              </a:rPr>
              <a:t>Analytics apps + Qlik Predict</a:t>
            </a:r>
            <a:endParaRPr lang="en-US" sz="1150" dirty="0"/>
          </a:p>
        </p:txBody>
      </p:sp>
      <p:sp>
        <p:nvSpPr>
          <p:cNvPr id="59" name="Text 48"/>
          <p:cNvSpPr/>
          <p:nvPr/>
        </p:nvSpPr>
        <p:spPr>
          <a:xfrm>
            <a:off x="7909560" y="3904488"/>
            <a:ext cx="3566160" cy="256032"/>
          </a:xfrm>
          <a:prstGeom prst="rect">
            <a:avLst/>
          </a:prstGeom>
          <a:noFill/>
          <a:ln/>
        </p:spPr>
        <p:txBody>
          <a:bodyPr wrap="square" rtlCol="0" anchor="ctr"/>
          <a:lstStyle/>
          <a:p>
            <a:pPr indent="0" marL="0">
              <a:buNone/>
            </a:pPr>
            <a:r>
              <a:rPr lang="en-US" sz="950" dirty="0">
                <a:solidFill>
                  <a:srgbClr val="454659"/>
                </a:solidFill>
                <a:latin typeface="Inter" pitchFamily="34" charset="0"/>
                <a:ea typeface="Inter" pitchFamily="34" charset="-122"/>
                <a:cs typeface="Inter" pitchFamily="34" charset="-120"/>
              </a:rPr>
              <a:t>2 AutoML models on trusted data</a:t>
            </a:r>
            <a:endParaRPr lang="en-US" sz="950" dirty="0"/>
          </a:p>
        </p:txBody>
      </p:sp>
      <p:sp>
        <p:nvSpPr>
          <p:cNvPr id="60" name="Shape 49"/>
          <p:cNvSpPr/>
          <p:nvPr/>
        </p:nvSpPr>
        <p:spPr>
          <a:xfrm>
            <a:off x="7296912" y="4306824"/>
            <a:ext cx="4251960" cy="621792"/>
          </a:xfrm>
          <a:prstGeom prst="roundRect">
            <a:avLst>
              <a:gd name="adj" fmla="val 10294"/>
            </a:avLst>
          </a:prstGeom>
          <a:solidFill>
            <a:srgbClr val="FFFFFF"/>
          </a:solidFill>
          <a:ln w="12700">
            <a:solidFill>
              <a:srgbClr val="A9B3B6"/>
            </a:solidFill>
            <a:prstDash val="solid"/>
          </a:ln>
        </p:spPr>
      </p:sp>
      <p:sp>
        <p:nvSpPr>
          <p:cNvPr id="61" name="Shape 50"/>
          <p:cNvSpPr/>
          <p:nvPr/>
        </p:nvSpPr>
        <p:spPr>
          <a:xfrm>
            <a:off x="7406640" y="4425696"/>
            <a:ext cx="384048" cy="384048"/>
          </a:xfrm>
          <a:prstGeom prst="ellipse">
            <a:avLst/>
          </a:prstGeom>
          <a:solidFill>
            <a:srgbClr val="FFFFFF"/>
          </a:solidFill>
          <a:ln w="12700">
            <a:solidFill>
              <a:srgbClr val="009845"/>
            </a:solidFill>
            <a:prstDash val="solid"/>
          </a:ln>
          <a:effectLst>
            <a:outerShdw sx="100000" sy="100000" kx="0" ky="0" algn="bl" rotWithShape="0" blurRad="38100" dist="12700" dir="16200000">
              <a:srgbClr val="000000">
                <a:alpha val="15000"/>
              </a:srgbClr>
            </a:outerShdw>
          </a:effectLst>
        </p:spPr>
      </p:sp>
      <p:pic>
        <p:nvPicPr>
          <p:cNvPr id="62" name="Image 8" descr="C:\Claude\MCG Full Stack\generators\assets\icons\answers.png">    </p:cNvPr>
          <p:cNvPicPr>
            <a:picLocks noChangeAspect="1"/>
          </p:cNvPicPr>
          <p:nvPr/>
        </p:nvPicPr>
        <p:blipFill>
          <a:blip r:embed="rId9"/>
          <a:stretch>
            <a:fillRect/>
          </a:stretch>
        </p:blipFill>
        <p:spPr>
          <a:xfrm>
            <a:off x="7479609" y="4498665"/>
            <a:ext cx="238110" cy="238110"/>
          </a:xfrm>
          <a:prstGeom prst="rect">
            <a:avLst/>
          </a:prstGeom>
        </p:spPr>
      </p:pic>
      <p:sp>
        <p:nvSpPr>
          <p:cNvPr id="63" name="Text 51"/>
          <p:cNvSpPr/>
          <p:nvPr/>
        </p:nvSpPr>
        <p:spPr>
          <a:xfrm>
            <a:off x="7909560" y="4361688"/>
            <a:ext cx="3566160" cy="310896"/>
          </a:xfrm>
          <a:prstGeom prst="rect">
            <a:avLst/>
          </a:prstGeom>
          <a:noFill/>
          <a:ln/>
        </p:spPr>
        <p:txBody>
          <a:bodyPr wrap="square" rtlCol="0" anchor="ctr"/>
          <a:lstStyle/>
          <a:p>
            <a:pPr indent="0" marL="0">
              <a:buNone/>
            </a:pPr>
            <a:r>
              <a:rPr lang="en-US" sz="1150" b="1" dirty="0">
                <a:solidFill>
                  <a:srgbClr val="19416C"/>
                </a:solidFill>
                <a:latin typeface="Inter" pitchFamily="34" charset="0"/>
                <a:ea typeface="Inter" pitchFamily="34" charset="-122"/>
                <a:cs typeface="Inter" pitchFamily="34" charset="-120"/>
              </a:rPr>
              <a:t>Qlik Answers + agents</a:t>
            </a:r>
            <a:endParaRPr lang="en-US" sz="1150" dirty="0"/>
          </a:p>
        </p:txBody>
      </p:sp>
      <p:sp>
        <p:nvSpPr>
          <p:cNvPr id="64" name="Text 52"/>
          <p:cNvSpPr/>
          <p:nvPr/>
        </p:nvSpPr>
        <p:spPr>
          <a:xfrm>
            <a:off x="7909560" y="4654296"/>
            <a:ext cx="3566160" cy="256032"/>
          </a:xfrm>
          <a:prstGeom prst="rect">
            <a:avLst/>
          </a:prstGeom>
          <a:noFill/>
          <a:ln/>
        </p:spPr>
        <p:txBody>
          <a:bodyPr wrap="square" rtlCol="0" anchor="ctr"/>
          <a:lstStyle/>
          <a:p>
            <a:pPr indent="0" marL="0">
              <a:buNone/>
            </a:pPr>
            <a:r>
              <a:rPr lang="en-US" sz="950" dirty="0">
                <a:solidFill>
                  <a:srgbClr val="454659"/>
                </a:solidFill>
                <a:latin typeface="Inter" pitchFamily="34" charset="0"/>
                <a:ea typeface="Inter" pitchFamily="34" charset="-122"/>
                <a:cs typeface="Inter" pitchFamily="34" charset="-120"/>
              </a:rPr>
              <a:t>governed knowledge and AI outcomes</a:t>
            </a:r>
            <a:endParaRPr lang="en-US" sz="950" dirty="0"/>
          </a:p>
        </p:txBody>
      </p:sp>
      <p:sp>
        <p:nvSpPr>
          <p:cNvPr id="65" name="Shape 53"/>
          <p:cNvSpPr/>
          <p:nvPr/>
        </p:nvSpPr>
        <p:spPr>
          <a:xfrm>
            <a:off x="457200" y="5440680"/>
            <a:ext cx="11247120" cy="548640"/>
          </a:xfrm>
          <a:prstGeom prst="roundRect">
            <a:avLst>
              <a:gd name="adj" fmla="val 13333"/>
            </a:avLst>
          </a:prstGeom>
          <a:solidFill>
            <a:srgbClr val="E0F5EA"/>
          </a:solidFill>
          <a:ln/>
        </p:spPr>
      </p:sp>
      <p:sp>
        <p:nvSpPr>
          <p:cNvPr id="66" name="Text 54"/>
          <p:cNvSpPr/>
          <p:nvPr/>
        </p:nvSpPr>
        <p:spPr>
          <a:xfrm>
            <a:off x="731520" y="5458968"/>
            <a:ext cx="10789920" cy="502920"/>
          </a:xfrm>
          <a:prstGeom prst="rect">
            <a:avLst/>
          </a:prstGeom>
          <a:noFill/>
          <a:ln/>
        </p:spPr>
        <p:txBody>
          <a:bodyPr wrap="square" rtlCol="0" anchor="ctr"/>
          <a:lstStyle/>
          <a:p>
            <a:pPr indent="0" marL="0">
              <a:buNone/>
            </a:pPr>
            <a:r>
              <a:rPr lang="en-US" sz="1100" b="1" dirty="0">
                <a:solidFill>
                  <a:srgbClr val="009845"/>
                </a:solidFill>
                <a:latin typeface="Inter" pitchFamily="34" charset="0"/>
                <a:ea typeface="Inter" pitchFamily="34" charset="-122"/>
                <a:cs typeface="Inter" pitchFamily="34" charset="-120"/>
              </a:rPr>
              <a:t>One flow, end to end: raw feeds → bronze/silver/gold on the Open Lakehouse → trusted gold data products that feed every app, document, and AI experience.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009845"/>
          </a:solidFill>
          <a:ln/>
        </p:spPr>
      </p:sp>
      <p:sp>
        <p:nvSpPr>
          <p:cNvPr id="3" name="Shape 1"/>
          <p:cNvSpPr/>
          <p:nvPr/>
        </p:nvSpPr>
        <p:spPr>
          <a:xfrm>
            <a:off x="457200" y="6400800"/>
            <a:ext cx="11274552" cy="9144"/>
          </a:xfrm>
          <a:prstGeom prst="rect">
            <a:avLst/>
          </a:prstGeom>
          <a:solidFill>
            <a:srgbClr val="A9B3B6"/>
          </a:solidFill>
          <a:ln/>
        </p:spPr>
      </p:sp>
      <p:pic>
        <p:nvPicPr>
          <p:cNvPr id="4" name="Image 0" descr="C:\Claude\MCG Full Stack\generators\assets\qlik_logo.png">    </p:cNvPr>
          <p:cNvPicPr>
            <a:picLocks noChangeAspect="1"/>
          </p:cNvPicPr>
          <p:nvPr/>
        </p:nvPicPr>
        <p:blipFill>
          <a:blip r:embed="rId1"/>
          <a:stretch>
            <a:fillRect/>
          </a:stretch>
        </p:blipFill>
        <p:spPr>
          <a:xfrm>
            <a:off x="457200" y="6492240"/>
            <a:ext cx="493776" cy="274320"/>
          </a:xfrm>
          <a:prstGeom prst="rect">
            <a:avLst/>
          </a:prstGeom>
        </p:spPr>
      </p:pic>
      <p:sp>
        <p:nvSpPr>
          <p:cNvPr id="5" name="Text 2"/>
          <p:cNvSpPr/>
          <p:nvPr/>
        </p:nvSpPr>
        <p:spPr>
          <a:xfrm>
            <a:off x="1280160" y="6492240"/>
            <a:ext cx="7315200" cy="274320"/>
          </a:xfrm>
          <a:prstGeom prst="rect">
            <a:avLst/>
          </a:prstGeom>
          <a:noFill/>
          <a:ln/>
        </p:spPr>
        <p:txBody>
          <a:bodyPr wrap="square" rtlCol="0" anchor="ctr"/>
          <a:lstStyle/>
          <a:p>
            <a:pPr indent="0" marL="0">
              <a:buNone/>
            </a:pPr>
            <a:r>
              <a:rPr lang="en-US" sz="800" dirty="0">
                <a:solidFill>
                  <a:srgbClr val="A9B3B6"/>
                </a:solidFill>
                <a:latin typeface="Inter" pitchFamily="34" charset="0"/>
                <a:ea typeface="Inter" pitchFamily="34" charset="-122"/>
                <a:cs typeface="Inter" pitchFamily="34" charset="-120"/>
              </a:rPr>
              <a:t>Project Qlarity  •  MCG Demo  •  Qlik Cloud</a:t>
            </a:r>
            <a:endParaRPr lang="en-US" sz="800" dirty="0"/>
          </a:p>
        </p:txBody>
      </p:sp>
      <p:sp>
        <p:nvSpPr>
          <p:cNvPr id="6" name="Text 3"/>
          <p:cNvSpPr/>
          <p:nvPr/>
        </p:nvSpPr>
        <p:spPr>
          <a:xfrm>
            <a:off x="10972800" y="6492240"/>
            <a:ext cx="914400" cy="274320"/>
          </a:xfrm>
          <a:prstGeom prst="rect">
            <a:avLst/>
          </a:prstGeom>
          <a:noFill/>
          <a:ln/>
        </p:spPr>
        <p:txBody>
          <a:bodyPr wrap="square" rtlCol="0" anchor="ctr"/>
          <a:lstStyle/>
          <a:p>
            <a:pPr algn="r" indent="0" marL="0">
              <a:buNone/>
            </a:pPr>
            <a:r>
              <a:rPr lang="en-US" sz="800" dirty="0">
                <a:solidFill>
                  <a:srgbClr val="A9B3B6"/>
                </a:solidFill>
                <a:latin typeface="Inter" pitchFamily="34" charset="0"/>
                <a:ea typeface="Inter" pitchFamily="34" charset="-122"/>
                <a:cs typeface="Inter" pitchFamily="34" charset="-120"/>
              </a:rPr>
              <a:t>6</a:t>
            </a:r>
            <a:endParaRPr lang="en-US" sz="800" dirty="0"/>
          </a:p>
        </p:txBody>
      </p:sp>
      <p:sp>
        <p:nvSpPr>
          <p:cNvPr id="7" name="Text 4"/>
          <p:cNvSpPr/>
          <p:nvPr/>
        </p:nvSpPr>
        <p:spPr>
          <a:xfrm>
            <a:off x="457200" y="182880"/>
            <a:ext cx="8412480" cy="594360"/>
          </a:xfrm>
          <a:prstGeom prst="rect">
            <a:avLst/>
          </a:prstGeom>
          <a:noFill/>
          <a:ln/>
        </p:spPr>
        <p:txBody>
          <a:bodyPr wrap="square" rtlCol="0" anchor="ctr"/>
          <a:lstStyle/>
          <a:p>
            <a:pPr indent="0" marL="0">
              <a:buNone/>
            </a:pPr>
            <a:r>
              <a:rPr lang="en-US" sz="2600" b="1" dirty="0">
                <a:solidFill>
                  <a:srgbClr val="19416C"/>
                </a:solidFill>
                <a:latin typeface="Inter" pitchFamily="34" charset="0"/>
                <a:ea typeface="Inter" pitchFamily="34" charset="-122"/>
                <a:cs typeface="Inter" pitchFamily="34" charset="-120"/>
              </a:rPr>
              <a:t>Assets — Presentations &amp; Narrative</a:t>
            </a:r>
            <a:endParaRPr lang="en-US" sz="2600" dirty="0"/>
          </a:p>
        </p:txBody>
      </p:sp>
      <p:sp>
        <p:nvSpPr>
          <p:cNvPr id="9" name="Text 5"/>
          <p:cNvSpPr/>
          <p:nvPr/>
        </p:nvSpPr>
        <p:spPr>
          <a:xfrm>
            <a:off x="457200" y="786384"/>
            <a:ext cx="11247120" cy="365760"/>
          </a:xfrm>
          <a:prstGeom prst="rect">
            <a:avLst/>
          </a:prstGeom>
          <a:noFill/>
          <a:ln/>
        </p:spPr>
        <p:txBody>
          <a:bodyPr wrap="square" rtlCol="0" anchor="ctr"/>
          <a:lstStyle/>
          <a:p>
            <a:pPr indent="0" marL="0">
              <a:buNone/>
            </a:pPr>
            <a:r>
              <a:rPr lang="en-US" sz="1300" i="1" dirty="0">
                <a:solidFill>
                  <a:srgbClr val="6B7280"/>
                </a:solidFill>
                <a:latin typeface="Inter" pitchFamily="34" charset="0"/>
                <a:ea typeface="Inter" pitchFamily="34" charset="-122"/>
                <a:cs typeface="Inter" pitchFamily="34" charset="-120"/>
              </a:rPr>
              <a:t>The story-telling layer: decks that frame the value and scripts that walk it through live</a:t>
            </a:r>
            <a:endParaRPr lang="en-US" sz="1300" dirty="0"/>
          </a:p>
        </p:txBody>
      </p:sp>
      <p:sp>
        <p:nvSpPr>
          <p:cNvPr id="10" name="Shape 6"/>
          <p:cNvSpPr/>
          <p:nvPr/>
        </p:nvSpPr>
        <p:spPr>
          <a:xfrm>
            <a:off x="457200" y="1280160"/>
            <a:ext cx="5532120" cy="4343400"/>
          </a:xfrm>
          <a:prstGeom prst="roundRect">
            <a:avLst>
              <a:gd name="adj" fmla="val 2526"/>
            </a:avLst>
          </a:prstGeom>
          <a:solidFill>
            <a:srgbClr val="F6F7F8"/>
          </a:solidFill>
          <a:ln w="25400">
            <a:solidFill>
              <a:srgbClr val="006580"/>
            </a:solidFill>
            <a:prstDash val="solid"/>
          </a:ln>
        </p:spPr>
      </p:sp>
      <p:sp>
        <p:nvSpPr>
          <p:cNvPr id="11" name="Shape 7"/>
          <p:cNvSpPr/>
          <p:nvPr/>
        </p:nvSpPr>
        <p:spPr>
          <a:xfrm>
            <a:off x="548640" y="1371600"/>
            <a:ext cx="5349240" cy="457200"/>
          </a:xfrm>
          <a:prstGeom prst="roundRect">
            <a:avLst>
              <a:gd name="adj" fmla="val 12000"/>
            </a:avLst>
          </a:prstGeom>
          <a:solidFill>
            <a:srgbClr val="006580"/>
          </a:solidFill>
          <a:ln/>
        </p:spPr>
      </p:sp>
      <p:sp>
        <p:nvSpPr>
          <p:cNvPr id="12" name="Text 8"/>
          <p:cNvSpPr/>
          <p:nvPr/>
        </p:nvSpPr>
        <p:spPr>
          <a:xfrm>
            <a:off x="548640" y="1371600"/>
            <a:ext cx="5349240" cy="45720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 PowerPoint decks</a:t>
            </a:r>
            <a:endParaRPr lang="en-US" sz="1400" dirty="0"/>
          </a:p>
        </p:txBody>
      </p:sp>
      <p:sp>
        <p:nvSpPr>
          <p:cNvPr id="13" name="Shape 9"/>
          <p:cNvSpPr/>
          <p:nvPr/>
        </p:nvSpPr>
        <p:spPr>
          <a:xfrm>
            <a:off x="621792" y="1426464"/>
            <a:ext cx="347472" cy="347472"/>
          </a:xfrm>
          <a:prstGeom prst="ellipse">
            <a:avLst/>
          </a:prstGeom>
          <a:solidFill>
            <a:srgbClr val="FFFFFF"/>
          </a:solidFill>
          <a:ln w="12700">
            <a:solidFill>
              <a:srgbClr val="FFFFFF"/>
            </a:solidFill>
            <a:prstDash val="solid"/>
          </a:ln>
          <a:effectLst>
            <a:outerShdw sx="100000" sy="100000" kx="0" ky="0" algn="bl" rotWithShape="0" blurRad="38100" dist="12700" dir="16200000">
              <a:srgbClr val="000000">
                <a:alpha val="15000"/>
              </a:srgbClr>
            </a:outerShdw>
          </a:effectLst>
        </p:spPr>
      </p:sp>
      <p:pic>
        <p:nvPicPr>
          <p:cNvPr id="14" name="Image 1" descr="C:\Claude\MCG Full Stack\generators\assets\icons\answers.png">    </p:cNvPr>
          <p:cNvPicPr>
            <a:picLocks noChangeAspect="1"/>
          </p:cNvPicPr>
          <p:nvPr/>
        </p:nvPicPr>
        <p:blipFill>
          <a:blip r:embed="rId2"/>
          <a:stretch>
            <a:fillRect/>
          </a:stretch>
        </p:blipFill>
        <p:spPr>
          <a:xfrm>
            <a:off x="687812" y="1492484"/>
            <a:ext cx="215433" cy="215433"/>
          </a:xfrm>
          <a:prstGeom prst="rect">
            <a:avLst/>
          </a:prstGeom>
        </p:spPr>
      </p:pic>
      <p:sp>
        <p:nvSpPr>
          <p:cNvPr id="15" name="Text 10"/>
          <p:cNvSpPr/>
          <p:nvPr/>
        </p:nvSpPr>
        <p:spPr>
          <a:xfrm>
            <a:off x="713232" y="1993392"/>
            <a:ext cx="5074920" cy="502920"/>
          </a:xfrm>
          <a:prstGeom prst="rect">
            <a:avLst/>
          </a:prstGeom>
          <a:noFill/>
          <a:ln/>
        </p:spPr>
        <p:txBody>
          <a:bodyPr wrap="square" rtlCol="0" anchor="ctr"/>
          <a:lstStyle/>
          <a:p>
            <a:pPr indent="0" marL="0">
              <a:lnSpc>
                <a:spcPct val="102000"/>
              </a:lnSpc>
              <a:buNone/>
            </a:pPr>
            <a:r>
              <a:rPr lang="en-US" sz="1200" dirty="0">
                <a:solidFill>
                  <a:srgbClr val="454659"/>
                </a:solidFill>
                <a:latin typeface="Inter" pitchFamily="34" charset="0"/>
                <a:ea typeface="Inter" pitchFamily="34" charset="-122"/>
                <a:cs typeface="Inter" pitchFamily="34" charset="-120"/>
              </a:rPr>
              <a:t>▸  Demo Overview / Four Stories (35 slides)</a:t>
            </a:r>
            <a:endParaRPr lang="en-US" sz="1200" dirty="0"/>
          </a:p>
        </p:txBody>
      </p:sp>
      <p:sp>
        <p:nvSpPr>
          <p:cNvPr id="16" name="Text 11"/>
          <p:cNvSpPr/>
          <p:nvPr/>
        </p:nvSpPr>
        <p:spPr>
          <a:xfrm>
            <a:off x="713232" y="2596896"/>
            <a:ext cx="5074920" cy="502920"/>
          </a:xfrm>
          <a:prstGeom prst="rect">
            <a:avLst/>
          </a:prstGeom>
          <a:noFill/>
          <a:ln/>
        </p:spPr>
        <p:txBody>
          <a:bodyPr wrap="square" rtlCol="0" anchor="ctr"/>
          <a:lstStyle/>
          <a:p>
            <a:pPr indent="0" marL="0">
              <a:lnSpc>
                <a:spcPct val="102000"/>
              </a:lnSpc>
              <a:buNone/>
            </a:pPr>
            <a:r>
              <a:rPr lang="en-US" sz="1200" dirty="0">
                <a:solidFill>
                  <a:srgbClr val="454659"/>
                </a:solidFill>
                <a:latin typeface="Inter" pitchFamily="34" charset="0"/>
                <a:ea typeface="Inter" pitchFamily="34" charset="-122"/>
                <a:cs typeface="Inter" pitchFamily="34" charset="-120"/>
              </a:rPr>
              <a:t>▸  Technology Architecture</a:t>
            </a:r>
            <a:endParaRPr lang="en-US" sz="1200" dirty="0"/>
          </a:p>
        </p:txBody>
      </p:sp>
      <p:sp>
        <p:nvSpPr>
          <p:cNvPr id="17" name="Text 12"/>
          <p:cNvSpPr/>
          <p:nvPr/>
        </p:nvSpPr>
        <p:spPr>
          <a:xfrm>
            <a:off x="713232" y="3200400"/>
            <a:ext cx="5074920" cy="502920"/>
          </a:xfrm>
          <a:prstGeom prst="rect">
            <a:avLst/>
          </a:prstGeom>
          <a:noFill/>
          <a:ln/>
        </p:spPr>
        <p:txBody>
          <a:bodyPr wrap="square" rtlCol="0" anchor="ctr"/>
          <a:lstStyle/>
          <a:p>
            <a:pPr indent="0" marL="0">
              <a:lnSpc>
                <a:spcPct val="102000"/>
              </a:lnSpc>
              <a:buNone/>
            </a:pPr>
            <a:r>
              <a:rPr lang="en-US" sz="1200" dirty="0">
                <a:solidFill>
                  <a:srgbClr val="454659"/>
                </a:solidFill>
                <a:latin typeface="Inter" pitchFamily="34" charset="0"/>
                <a:ea typeface="Inter" pitchFamily="34" charset="-122"/>
                <a:cs typeface="Inter" pitchFamily="34" charset="-120"/>
              </a:rPr>
              <a:t>▸  Company Profile &amp; Data Quality</a:t>
            </a:r>
            <a:endParaRPr lang="en-US" sz="1200" dirty="0"/>
          </a:p>
        </p:txBody>
      </p:sp>
      <p:sp>
        <p:nvSpPr>
          <p:cNvPr id="18" name="Shape 13"/>
          <p:cNvSpPr/>
          <p:nvPr/>
        </p:nvSpPr>
        <p:spPr>
          <a:xfrm>
            <a:off x="6172200" y="1280160"/>
            <a:ext cx="5532120" cy="4343400"/>
          </a:xfrm>
          <a:prstGeom prst="roundRect">
            <a:avLst>
              <a:gd name="adj" fmla="val 2526"/>
            </a:avLst>
          </a:prstGeom>
          <a:solidFill>
            <a:srgbClr val="F6F7F8"/>
          </a:solidFill>
          <a:ln w="25400">
            <a:solidFill>
              <a:srgbClr val="009845"/>
            </a:solidFill>
            <a:prstDash val="solid"/>
          </a:ln>
        </p:spPr>
      </p:sp>
      <p:sp>
        <p:nvSpPr>
          <p:cNvPr id="19" name="Shape 14"/>
          <p:cNvSpPr/>
          <p:nvPr/>
        </p:nvSpPr>
        <p:spPr>
          <a:xfrm>
            <a:off x="6263640" y="1371600"/>
            <a:ext cx="5349240" cy="457200"/>
          </a:xfrm>
          <a:prstGeom prst="roundRect">
            <a:avLst>
              <a:gd name="adj" fmla="val 12000"/>
            </a:avLst>
          </a:prstGeom>
          <a:solidFill>
            <a:srgbClr val="009845"/>
          </a:solidFill>
          <a:ln/>
        </p:spPr>
      </p:sp>
      <p:sp>
        <p:nvSpPr>
          <p:cNvPr id="20" name="Text 15"/>
          <p:cNvSpPr/>
          <p:nvPr/>
        </p:nvSpPr>
        <p:spPr>
          <a:xfrm>
            <a:off x="6263640" y="1371600"/>
            <a:ext cx="5349240" cy="45720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18 demo-script walkthroughs</a:t>
            </a:r>
            <a:endParaRPr lang="en-US" sz="1400" dirty="0"/>
          </a:p>
        </p:txBody>
      </p:sp>
      <p:sp>
        <p:nvSpPr>
          <p:cNvPr id="21" name="Shape 16"/>
          <p:cNvSpPr/>
          <p:nvPr/>
        </p:nvSpPr>
        <p:spPr>
          <a:xfrm>
            <a:off x="6336792" y="1426464"/>
            <a:ext cx="347472" cy="347472"/>
          </a:xfrm>
          <a:prstGeom prst="ellipse">
            <a:avLst/>
          </a:prstGeom>
          <a:solidFill>
            <a:srgbClr val="FFFFFF"/>
          </a:solidFill>
          <a:ln w="12700">
            <a:solidFill>
              <a:srgbClr val="FFFFFF"/>
            </a:solidFill>
            <a:prstDash val="solid"/>
          </a:ln>
          <a:effectLst>
            <a:outerShdw sx="100000" sy="100000" kx="0" ky="0" algn="bl" rotWithShape="0" blurRad="38100" dist="12700" dir="16200000">
              <a:srgbClr val="000000">
                <a:alpha val="15000"/>
              </a:srgbClr>
            </a:outerShdw>
          </a:effectLst>
        </p:spPr>
      </p:sp>
      <p:pic>
        <p:nvPicPr>
          <p:cNvPr id="22" name="Image 2" descr="C:\Claude\MCG Full Stack\generators\assets\icons\governance.png">    </p:cNvPr>
          <p:cNvPicPr>
            <a:picLocks noChangeAspect="1"/>
          </p:cNvPicPr>
          <p:nvPr/>
        </p:nvPicPr>
        <p:blipFill>
          <a:blip r:embed="rId3"/>
          <a:stretch>
            <a:fillRect/>
          </a:stretch>
        </p:blipFill>
        <p:spPr>
          <a:xfrm>
            <a:off x="6402812" y="1492484"/>
            <a:ext cx="215433" cy="215433"/>
          </a:xfrm>
          <a:prstGeom prst="rect">
            <a:avLst/>
          </a:prstGeom>
        </p:spPr>
      </p:pic>
      <p:sp>
        <p:nvSpPr>
          <p:cNvPr id="23" name="Text 17"/>
          <p:cNvSpPr/>
          <p:nvPr/>
        </p:nvSpPr>
        <p:spPr>
          <a:xfrm>
            <a:off x="6428232" y="1993392"/>
            <a:ext cx="5074920" cy="502920"/>
          </a:xfrm>
          <a:prstGeom prst="rect">
            <a:avLst/>
          </a:prstGeom>
          <a:noFill/>
          <a:ln/>
        </p:spPr>
        <p:txBody>
          <a:bodyPr wrap="square" rtlCol="0" anchor="ctr"/>
          <a:lstStyle/>
          <a:p>
            <a:pPr indent="0" marL="0">
              <a:lnSpc>
                <a:spcPct val="102000"/>
              </a:lnSpc>
              <a:buNone/>
            </a:pPr>
            <a:r>
              <a:rPr lang="en-US" sz="1200" dirty="0">
                <a:solidFill>
                  <a:srgbClr val="454659"/>
                </a:solidFill>
                <a:latin typeface="Inter" pitchFamily="34" charset="0"/>
                <a:ea typeface="Inter" pitchFamily="34" charset="-122"/>
                <a:cs typeface="Inter" pitchFamily="34" charset="-120"/>
              </a:rPr>
              <a:t>▸  One guided walkthrough per demo topic</a:t>
            </a:r>
            <a:endParaRPr lang="en-US" sz="1200" dirty="0"/>
          </a:p>
        </p:txBody>
      </p:sp>
      <p:sp>
        <p:nvSpPr>
          <p:cNvPr id="24" name="Text 18"/>
          <p:cNvSpPr/>
          <p:nvPr/>
        </p:nvSpPr>
        <p:spPr>
          <a:xfrm>
            <a:off x="6428232" y="2596896"/>
            <a:ext cx="5074920" cy="502920"/>
          </a:xfrm>
          <a:prstGeom prst="rect">
            <a:avLst/>
          </a:prstGeom>
          <a:noFill/>
          <a:ln/>
        </p:spPr>
        <p:txBody>
          <a:bodyPr wrap="square" rtlCol="0" anchor="ctr"/>
          <a:lstStyle/>
          <a:p>
            <a:pPr indent="0" marL="0">
              <a:lnSpc>
                <a:spcPct val="102000"/>
              </a:lnSpc>
              <a:buNone/>
            </a:pPr>
            <a:r>
              <a:rPr lang="en-US" sz="1200" dirty="0">
                <a:solidFill>
                  <a:srgbClr val="454659"/>
                </a:solidFill>
                <a:latin typeface="Inter" pitchFamily="34" charset="0"/>
                <a:ea typeface="Inter" pitchFamily="34" charset="-122"/>
                <a:cs typeface="Inter" pitchFamily="34" charset="-120"/>
              </a:rPr>
              <a:t>▸  Demo2Win "Tell → Show → Tell" format</a:t>
            </a:r>
            <a:endParaRPr lang="en-US" sz="1200" dirty="0"/>
          </a:p>
        </p:txBody>
      </p:sp>
      <p:sp>
        <p:nvSpPr>
          <p:cNvPr id="25" name="Text 19"/>
          <p:cNvSpPr/>
          <p:nvPr/>
        </p:nvSpPr>
        <p:spPr>
          <a:xfrm>
            <a:off x="6428232" y="3200400"/>
            <a:ext cx="5074920" cy="502920"/>
          </a:xfrm>
          <a:prstGeom prst="rect">
            <a:avLst/>
          </a:prstGeom>
          <a:noFill/>
          <a:ln/>
        </p:spPr>
        <p:txBody>
          <a:bodyPr wrap="square" rtlCol="0" anchor="ctr"/>
          <a:lstStyle/>
          <a:p>
            <a:pPr indent="0" marL="0">
              <a:lnSpc>
                <a:spcPct val="102000"/>
              </a:lnSpc>
              <a:buNone/>
            </a:pPr>
            <a:r>
              <a:rPr lang="en-US" sz="1200" dirty="0">
                <a:solidFill>
                  <a:srgbClr val="454659"/>
                </a:solidFill>
                <a:latin typeface="Inter" pitchFamily="34" charset="0"/>
                <a:ea typeface="Inter" pitchFamily="34" charset="-122"/>
                <a:cs typeface="Inter" pitchFamily="34" charset="-120"/>
              </a:rPr>
              <a:t>▸  Qlik-branded DOCX, presenter-ready</a:t>
            </a:r>
            <a:endParaRPr lang="en-US" sz="1200" dirty="0"/>
          </a:p>
        </p:txBody>
      </p:sp>
      <p:sp>
        <p:nvSpPr>
          <p:cNvPr id="26" name="Text 20"/>
          <p:cNvSpPr/>
          <p:nvPr/>
        </p:nvSpPr>
        <p:spPr>
          <a:xfrm>
            <a:off x="6428232" y="3803904"/>
            <a:ext cx="5074920" cy="502920"/>
          </a:xfrm>
          <a:prstGeom prst="rect">
            <a:avLst/>
          </a:prstGeom>
          <a:noFill/>
          <a:ln/>
        </p:spPr>
        <p:txBody>
          <a:bodyPr wrap="square" rtlCol="0" anchor="ctr"/>
          <a:lstStyle/>
          <a:p>
            <a:pPr indent="0" marL="0">
              <a:lnSpc>
                <a:spcPct val="102000"/>
              </a:lnSpc>
              <a:buNone/>
            </a:pPr>
            <a:r>
              <a:rPr lang="en-US" sz="1200" dirty="0">
                <a:solidFill>
                  <a:srgbClr val="454659"/>
                </a:solidFill>
                <a:latin typeface="Inter" pitchFamily="34" charset="0"/>
                <a:ea typeface="Inter" pitchFamily="34" charset="-122"/>
                <a:cs typeface="Inter" pitchFamily="34" charset="-120"/>
              </a:rPr>
              <a:t>▸  Map each of the Four Stories to a live click-path</a:t>
            </a:r>
            <a:endParaRPr lang="en-US" sz="1200" dirty="0"/>
          </a:p>
        </p:txBody>
      </p:sp>
      <p:sp>
        <p:nvSpPr>
          <p:cNvPr id="27" name="Text 21"/>
          <p:cNvSpPr/>
          <p:nvPr/>
        </p:nvSpPr>
        <p:spPr>
          <a:xfrm>
            <a:off x="6428232" y="4407408"/>
            <a:ext cx="5074920" cy="502920"/>
          </a:xfrm>
          <a:prstGeom prst="rect">
            <a:avLst/>
          </a:prstGeom>
          <a:noFill/>
          <a:ln/>
        </p:spPr>
        <p:txBody>
          <a:bodyPr wrap="square" rtlCol="0" anchor="ctr"/>
          <a:lstStyle/>
          <a:p>
            <a:pPr indent="0" marL="0">
              <a:lnSpc>
                <a:spcPct val="102000"/>
              </a:lnSpc>
              <a:buNone/>
            </a:pPr>
            <a:r>
              <a:rPr lang="en-US" sz="1200" dirty="0">
                <a:solidFill>
                  <a:srgbClr val="454659"/>
                </a:solidFill>
                <a:latin typeface="Inter" pitchFamily="34" charset="0"/>
                <a:ea typeface="Inter" pitchFamily="34" charset="-122"/>
                <a:cs typeface="Inter" pitchFamily="34" charset="-120"/>
              </a:rPr>
              <a:t>▸  Keep the narrative consistent across presenters</a:t>
            </a:r>
            <a:endParaRPr lang="en-US" sz="1200" dirty="0"/>
          </a:p>
        </p:txBody>
      </p:sp>
      <p:sp>
        <p:nvSpPr>
          <p:cNvPr id="28" name="Shape 22"/>
          <p:cNvSpPr/>
          <p:nvPr/>
        </p:nvSpPr>
        <p:spPr>
          <a:xfrm>
            <a:off x="457200" y="5806440"/>
            <a:ext cx="11247120" cy="548640"/>
          </a:xfrm>
          <a:prstGeom prst="roundRect">
            <a:avLst>
              <a:gd name="adj" fmla="val 13333"/>
            </a:avLst>
          </a:prstGeom>
          <a:solidFill>
            <a:srgbClr val="E0F8F7"/>
          </a:solidFill>
          <a:ln/>
        </p:spPr>
      </p:sp>
      <p:sp>
        <p:nvSpPr>
          <p:cNvPr id="29" name="Text 23"/>
          <p:cNvSpPr/>
          <p:nvPr/>
        </p:nvSpPr>
        <p:spPr>
          <a:xfrm>
            <a:off x="731520" y="5824728"/>
            <a:ext cx="10789920" cy="502920"/>
          </a:xfrm>
          <a:prstGeom prst="rect">
            <a:avLst/>
          </a:prstGeom>
          <a:noFill/>
          <a:ln/>
        </p:spPr>
        <p:txBody>
          <a:bodyPr wrap="square" rtlCol="0" anchor="ctr"/>
          <a:lstStyle/>
          <a:p>
            <a:pPr indent="0" marL="0">
              <a:buNone/>
            </a:pPr>
            <a:r>
              <a:rPr lang="en-US" sz="1100" b="1" dirty="0">
                <a:solidFill>
                  <a:srgbClr val="006580"/>
                </a:solidFill>
                <a:latin typeface="Inter" pitchFamily="34" charset="0"/>
                <a:ea typeface="Inter" pitchFamily="34" charset="-122"/>
                <a:cs typeface="Inter" pitchFamily="34" charset="-120"/>
              </a:rPr>
              <a:t>Decks set the strategic frame; the 18 scripts make every capability demonstrable, live, in a repeatable Tell → Show → Tell flow.</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009845"/>
          </a:solidFill>
          <a:ln/>
        </p:spPr>
      </p:sp>
      <p:sp>
        <p:nvSpPr>
          <p:cNvPr id="3" name="Shape 1"/>
          <p:cNvSpPr/>
          <p:nvPr/>
        </p:nvSpPr>
        <p:spPr>
          <a:xfrm>
            <a:off x="457200" y="6400800"/>
            <a:ext cx="11274552" cy="9144"/>
          </a:xfrm>
          <a:prstGeom prst="rect">
            <a:avLst/>
          </a:prstGeom>
          <a:solidFill>
            <a:srgbClr val="A9B3B6"/>
          </a:solidFill>
          <a:ln/>
        </p:spPr>
      </p:sp>
      <p:pic>
        <p:nvPicPr>
          <p:cNvPr id="4" name="Image 0" descr="C:\Claude\MCG Full Stack\generators\assets\qlik_logo.png">    </p:cNvPr>
          <p:cNvPicPr>
            <a:picLocks noChangeAspect="1"/>
          </p:cNvPicPr>
          <p:nvPr/>
        </p:nvPicPr>
        <p:blipFill>
          <a:blip r:embed="rId1"/>
          <a:stretch>
            <a:fillRect/>
          </a:stretch>
        </p:blipFill>
        <p:spPr>
          <a:xfrm>
            <a:off x="457200" y="6492240"/>
            <a:ext cx="493776" cy="274320"/>
          </a:xfrm>
          <a:prstGeom prst="rect">
            <a:avLst/>
          </a:prstGeom>
        </p:spPr>
      </p:pic>
      <p:sp>
        <p:nvSpPr>
          <p:cNvPr id="5" name="Text 2"/>
          <p:cNvSpPr/>
          <p:nvPr/>
        </p:nvSpPr>
        <p:spPr>
          <a:xfrm>
            <a:off x="1280160" y="6492240"/>
            <a:ext cx="7315200" cy="274320"/>
          </a:xfrm>
          <a:prstGeom prst="rect">
            <a:avLst/>
          </a:prstGeom>
          <a:noFill/>
          <a:ln/>
        </p:spPr>
        <p:txBody>
          <a:bodyPr wrap="square" rtlCol="0" anchor="ctr"/>
          <a:lstStyle/>
          <a:p>
            <a:pPr indent="0" marL="0">
              <a:buNone/>
            </a:pPr>
            <a:r>
              <a:rPr lang="en-US" sz="800" dirty="0">
                <a:solidFill>
                  <a:srgbClr val="A9B3B6"/>
                </a:solidFill>
                <a:latin typeface="Inter" pitchFamily="34" charset="0"/>
                <a:ea typeface="Inter" pitchFamily="34" charset="-122"/>
                <a:cs typeface="Inter" pitchFamily="34" charset="-120"/>
              </a:rPr>
              <a:t>Project Qlarity  •  MCG Demo  •  Qlik Cloud</a:t>
            </a:r>
            <a:endParaRPr lang="en-US" sz="800" dirty="0"/>
          </a:p>
        </p:txBody>
      </p:sp>
      <p:sp>
        <p:nvSpPr>
          <p:cNvPr id="6" name="Text 3"/>
          <p:cNvSpPr/>
          <p:nvPr/>
        </p:nvSpPr>
        <p:spPr>
          <a:xfrm>
            <a:off x="10972800" y="6492240"/>
            <a:ext cx="914400" cy="274320"/>
          </a:xfrm>
          <a:prstGeom prst="rect">
            <a:avLst/>
          </a:prstGeom>
          <a:noFill/>
          <a:ln/>
        </p:spPr>
        <p:txBody>
          <a:bodyPr wrap="square" rtlCol="0" anchor="ctr"/>
          <a:lstStyle/>
          <a:p>
            <a:pPr algn="r" indent="0" marL="0">
              <a:buNone/>
            </a:pPr>
            <a:r>
              <a:rPr lang="en-US" sz="800" dirty="0">
                <a:solidFill>
                  <a:srgbClr val="A9B3B6"/>
                </a:solidFill>
                <a:latin typeface="Inter" pitchFamily="34" charset="0"/>
                <a:ea typeface="Inter" pitchFamily="34" charset="-122"/>
                <a:cs typeface="Inter" pitchFamily="34" charset="-120"/>
              </a:rPr>
              <a:t>7</a:t>
            </a:r>
            <a:endParaRPr lang="en-US" sz="800" dirty="0"/>
          </a:p>
        </p:txBody>
      </p:sp>
      <p:sp>
        <p:nvSpPr>
          <p:cNvPr id="7" name="Text 4"/>
          <p:cNvSpPr/>
          <p:nvPr/>
        </p:nvSpPr>
        <p:spPr>
          <a:xfrm>
            <a:off x="457200" y="182880"/>
            <a:ext cx="8412480" cy="594360"/>
          </a:xfrm>
          <a:prstGeom prst="rect">
            <a:avLst/>
          </a:prstGeom>
          <a:noFill/>
          <a:ln/>
        </p:spPr>
        <p:txBody>
          <a:bodyPr wrap="square" rtlCol="0" anchor="ctr"/>
          <a:lstStyle/>
          <a:p>
            <a:pPr indent="0" marL="0">
              <a:buNone/>
            </a:pPr>
            <a:r>
              <a:rPr lang="en-US" sz="2600" b="1" dirty="0">
                <a:solidFill>
                  <a:srgbClr val="19416C"/>
                </a:solidFill>
                <a:latin typeface="Inter" pitchFamily="34" charset="0"/>
                <a:ea typeface="Inter" pitchFamily="34" charset="-122"/>
                <a:cs typeface="Inter" pitchFamily="34" charset="-120"/>
              </a:rPr>
              <a:t>Assets — The Demo2Win Scripts</a:t>
            </a:r>
            <a:endParaRPr lang="en-US" sz="2600" dirty="0"/>
          </a:p>
        </p:txBody>
      </p:sp>
      <p:sp>
        <p:nvSpPr>
          <p:cNvPr id="9" name="Text 5"/>
          <p:cNvSpPr/>
          <p:nvPr/>
        </p:nvSpPr>
        <p:spPr>
          <a:xfrm>
            <a:off x="457200" y="786384"/>
            <a:ext cx="11247120" cy="365760"/>
          </a:xfrm>
          <a:prstGeom prst="rect">
            <a:avLst/>
          </a:prstGeom>
          <a:noFill/>
          <a:ln/>
        </p:spPr>
        <p:txBody>
          <a:bodyPr wrap="square" rtlCol="0" anchor="ctr"/>
          <a:lstStyle/>
          <a:p>
            <a:pPr indent="0" marL="0">
              <a:buNone/>
            </a:pPr>
            <a:r>
              <a:rPr lang="en-US" sz="1300" i="1" dirty="0">
                <a:solidFill>
                  <a:srgbClr val="6B7280"/>
                </a:solidFill>
                <a:latin typeface="Inter" pitchFamily="34" charset="0"/>
                <a:ea typeface="Inter" pitchFamily="34" charset="-122"/>
                <a:cs typeface="Inter" pitchFamily="34" charset="-120"/>
              </a:rPr>
              <a:t>18 presenter-ready walkthroughs — every capability has a script, so any SE runs the same winning demo the same way</a:t>
            </a:r>
            <a:endParaRPr lang="en-US" sz="1300" dirty="0"/>
          </a:p>
        </p:txBody>
      </p:sp>
      <p:sp>
        <p:nvSpPr>
          <p:cNvPr id="10" name="Shape 6"/>
          <p:cNvSpPr/>
          <p:nvPr/>
        </p:nvSpPr>
        <p:spPr>
          <a:xfrm>
            <a:off x="457200" y="1280160"/>
            <a:ext cx="5532120" cy="4343400"/>
          </a:xfrm>
          <a:prstGeom prst="roundRect">
            <a:avLst>
              <a:gd name="adj" fmla="val 2526"/>
            </a:avLst>
          </a:prstGeom>
          <a:solidFill>
            <a:srgbClr val="F6F7F8"/>
          </a:solidFill>
          <a:ln w="25400">
            <a:solidFill>
              <a:srgbClr val="006580"/>
            </a:solidFill>
            <a:prstDash val="solid"/>
          </a:ln>
        </p:spPr>
      </p:sp>
      <p:sp>
        <p:nvSpPr>
          <p:cNvPr id="11" name="Shape 7"/>
          <p:cNvSpPr/>
          <p:nvPr/>
        </p:nvSpPr>
        <p:spPr>
          <a:xfrm>
            <a:off x="548640" y="1371600"/>
            <a:ext cx="5349240" cy="457200"/>
          </a:xfrm>
          <a:prstGeom prst="roundRect">
            <a:avLst>
              <a:gd name="adj" fmla="val 12000"/>
            </a:avLst>
          </a:prstGeom>
          <a:solidFill>
            <a:srgbClr val="006580"/>
          </a:solidFill>
          <a:ln/>
        </p:spPr>
      </p:sp>
      <p:sp>
        <p:nvSpPr>
          <p:cNvPr id="12" name="Text 8"/>
          <p:cNvSpPr/>
          <p:nvPr/>
        </p:nvSpPr>
        <p:spPr>
          <a:xfrm>
            <a:off x="548640" y="1371600"/>
            <a:ext cx="5349240" cy="45720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Every script, the same anatomy</a:t>
            </a:r>
            <a:endParaRPr lang="en-US" sz="1400" dirty="0"/>
          </a:p>
        </p:txBody>
      </p:sp>
      <p:sp>
        <p:nvSpPr>
          <p:cNvPr id="13" name="Shape 9"/>
          <p:cNvSpPr/>
          <p:nvPr/>
        </p:nvSpPr>
        <p:spPr>
          <a:xfrm>
            <a:off x="621792" y="1426464"/>
            <a:ext cx="347472" cy="347472"/>
          </a:xfrm>
          <a:prstGeom prst="ellipse">
            <a:avLst/>
          </a:prstGeom>
          <a:solidFill>
            <a:srgbClr val="FFFFFF"/>
          </a:solidFill>
          <a:ln w="12700">
            <a:solidFill>
              <a:srgbClr val="FFFFFF"/>
            </a:solidFill>
            <a:prstDash val="solid"/>
          </a:ln>
          <a:effectLst>
            <a:outerShdw sx="100000" sy="100000" kx="0" ky="0" algn="bl" rotWithShape="0" blurRad="38100" dist="12700" dir="16200000">
              <a:srgbClr val="000000">
                <a:alpha val="15000"/>
              </a:srgbClr>
            </a:outerShdw>
          </a:effectLst>
        </p:spPr>
      </p:sp>
      <p:pic>
        <p:nvPicPr>
          <p:cNvPr id="14" name="Image 1" descr="C:\Claude\MCG Full Stack\generators\assets\icons\answers.png">    </p:cNvPr>
          <p:cNvPicPr>
            <a:picLocks noChangeAspect="1"/>
          </p:cNvPicPr>
          <p:nvPr/>
        </p:nvPicPr>
        <p:blipFill>
          <a:blip r:embed="rId2"/>
          <a:stretch>
            <a:fillRect/>
          </a:stretch>
        </p:blipFill>
        <p:spPr>
          <a:xfrm>
            <a:off x="687812" y="1492484"/>
            <a:ext cx="215433" cy="215433"/>
          </a:xfrm>
          <a:prstGeom prst="rect">
            <a:avLst/>
          </a:prstGeom>
        </p:spPr>
      </p:pic>
      <p:sp>
        <p:nvSpPr>
          <p:cNvPr id="15" name="Text 10"/>
          <p:cNvSpPr/>
          <p:nvPr/>
        </p:nvSpPr>
        <p:spPr>
          <a:xfrm>
            <a:off x="713232" y="1993392"/>
            <a:ext cx="5074920" cy="502920"/>
          </a:xfrm>
          <a:prstGeom prst="rect">
            <a:avLst/>
          </a:prstGeom>
          <a:noFill/>
          <a:ln/>
        </p:spPr>
        <p:txBody>
          <a:bodyPr wrap="square" rtlCol="0" anchor="ctr"/>
          <a:lstStyle/>
          <a:p>
            <a:pPr indent="0" marL="0">
              <a:lnSpc>
                <a:spcPct val="102000"/>
              </a:lnSpc>
              <a:buNone/>
            </a:pPr>
            <a:r>
              <a:rPr lang="en-US" sz="1200" dirty="0">
                <a:solidFill>
                  <a:srgbClr val="454659"/>
                </a:solidFill>
                <a:latin typeface="Inter" pitchFamily="34" charset="0"/>
                <a:ea typeface="Inter" pitchFamily="34" charset="-122"/>
                <a:cs typeface="Inter" pitchFamily="34" charset="-120"/>
              </a:rPr>
              <a:t>▸  Limbic emotional opening — hook before feature</a:t>
            </a:r>
            <a:endParaRPr lang="en-US" sz="1200" dirty="0"/>
          </a:p>
        </p:txBody>
      </p:sp>
      <p:sp>
        <p:nvSpPr>
          <p:cNvPr id="16" name="Text 11"/>
          <p:cNvSpPr/>
          <p:nvPr/>
        </p:nvSpPr>
        <p:spPr>
          <a:xfrm>
            <a:off x="713232" y="2596896"/>
            <a:ext cx="5074920" cy="502920"/>
          </a:xfrm>
          <a:prstGeom prst="rect">
            <a:avLst/>
          </a:prstGeom>
          <a:noFill/>
          <a:ln/>
        </p:spPr>
        <p:txBody>
          <a:bodyPr wrap="square" rtlCol="0" anchor="ctr"/>
          <a:lstStyle/>
          <a:p>
            <a:pPr indent="0" marL="0">
              <a:lnSpc>
                <a:spcPct val="102000"/>
              </a:lnSpc>
              <a:buNone/>
            </a:pPr>
            <a:r>
              <a:rPr lang="en-US" sz="1200" dirty="0">
                <a:solidFill>
                  <a:srgbClr val="454659"/>
                </a:solidFill>
                <a:latin typeface="Inter" pitchFamily="34" charset="0"/>
                <a:ea typeface="Inter" pitchFamily="34" charset="-122"/>
                <a:cs typeface="Inter" pitchFamily="34" charset="-120"/>
              </a:rPr>
              <a:t>▸  Tell → Show → Tell narration frame</a:t>
            </a:r>
            <a:endParaRPr lang="en-US" sz="1200" dirty="0"/>
          </a:p>
        </p:txBody>
      </p:sp>
      <p:sp>
        <p:nvSpPr>
          <p:cNvPr id="17" name="Text 12"/>
          <p:cNvSpPr/>
          <p:nvPr/>
        </p:nvSpPr>
        <p:spPr>
          <a:xfrm>
            <a:off x="713232" y="3200400"/>
            <a:ext cx="5074920" cy="502920"/>
          </a:xfrm>
          <a:prstGeom prst="rect">
            <a:avLst/>
          </a:prstGeom>
          <a:noFill/>
          <a:ln/>
        </p:spPr>
        <p:txBody>
          <a:bodyPr wrap="square" rtlCol="0" anchor="ctr"/>
          <a:lstStyle/>
          <a:p>
            <a:pPr indent="0" marL="0">
              <a:lnSpc>
                <a:spcPct val="102000"/>
              </a:lnSpc>
              <a:buNone/>
            </a:pPr>
            <a:r>
              <a:rPr lang="en-US" sz="1200" dirty="0">
                <a:solidFill>
                  <a:srgbClr val="454659"/>
                </a:solidFill>
                <a:latin typeface="Inter" pitchFamily="34" charset="0"/>
                <a:ea typeface="Inter" pitchFamily="34" charset="-122"/>
                <a:cs typeface="Inter" pitchFamily="34" charset="-120"/>
              </a:rPr>
              <a:t>▸  Click-by-click steps + an interaction prompt</a:t>
            </a:r>
            <a:endParaRPr lang="en-US" sz="1200" dirty="0"/>
          </a:p>
        </p:txBody>
      </p:sp>
      <p:sp>
        <p:nvSpPr>
          <p:cNvPr id="18" name="Text 13"/>
          <p:cNvSpPr/>
          <p:nvPr/>
        </p:nvSpPr>
        <p:spPr>
          <a:xfrm>
            <a:off x="713232" y="3803904"/>
            <a:ext cx="5074920" cy="502920"/>
          </a:xfrm>
          <a:prstGeom prst="rect">
            <a:avLst/>
          </a:prstGeom>
          <a:noFill/>
          <a:ln/>
        </p:spPr>
        <p:txBody>
          <a:bodyPr wrap="square" rtlCol="0" anchor="ctr"/>
          <a:lstStyle/>
          <a:p>
            <a:pPr indent="0" marL="0">
              <a:lnSpc>
                <a:spcPct val="102000"/>
              </a:lnSpc>
              <a:buNone/>
            </a:pPr>
            <a:r>
              <a:rPr lang="en-US" sz="1200" dirty="0">
                <a:solidFill>
                  <a:srgbClr val="454659"/>
                </a:solidFill>
                <a:latin typeface="Inter" pitchFamily="34" charset="0"/>
                <a:ea typeface="Inter" pitchFamily="34" charset="-122"/>
                <a:cs typeface="Inter" pitchFamily="34" charset="-120"/>
              </a:rPr>
              <a:t>▸  "So You Can" value chain per module</a:t>
            </a:r>
            <a:endParaRPr lang="en-US" sz="1200" dirty="0"/>
          </a:p>
        </p:txBody>
      </p:sp>
      <p:sp>
        <p:nvSpPr>
          <p:cNvPr id="19" name="Text 14"/>
          <p:cNvSpPr/>
          <p:nvPr/>
        </p:nvSpPr>
        <p:spPr>
          <a:xfrm>
            <a:off x="713232" y="4407408"/>
            <a:ext cx="5074920" cy="502920"/>
          </a:xfrm>
          <a:prstGeom prst="rect">
            <a:avLst/>
          </a:prstGeom>
          <a:noFill/>
          <a:ln/>
        </p:spPr>
        <p:txBody>
          <a:bodyPr wrap="square" rtlCol="0" anchor="ctr"/>
          <a:lstStyle/>
          <a:p>
            <a:pPr indent="0" marL="0">
              <a:lnSpc>
                <a:spcPct val="102000"/>
              </a:lnSpc>
              <a:buNone/>
            </a:pPr>
            <a:r>
              <a:rPr lang="en-US" sz="1200" dirty="0">
                <a:solidFill>
                  <a:srgbClr val="454659"/>
                </a:solidFill>
                <a:latin typeface="Inter" pitchFamily="34" charset="0"/>
                <a:ea typeface="Inter" pitchFamily="34" charset="-122"/>
                <a:cs typeface="Inter" pitchFamily="34" charset="-120"/>
              </a:rPr>
              <a:t>▸  Talking points + a troubleshooting table</a:t>
            </a:r>
            <a:endParaRPr lang="en-US" sz="1200" dirty="0"/>
          </a:p>
        </p:txBody>
      </p:sp>
      <p:sp>
        <p:nvSpPr>
          <p:cNvPr id="20" name="Text 15"/>
          <p:cNvSpPr/>
          <p:nvPr/>
        </p:nvSpPr>
        <p:spPr>
          <a:xfrm>
            <a:off x="713232" y="5010912"/>
            <a:ext cx="5074920" cy="502920"/>
          </a:xfrm>
          <a:prstGeom prst="rect">
            <a:avLst/>
          </a:prstGeom>
          <a:noFill/>
          <a:ln/>
        </p:spPr>
        <p:txBody>
          <a:bodyPr wrap="square" rtlCol="0" anchor="ctr"/>
          <a:lstStyle/>
          <a:p>
            <a:pPr indent="0" marL="0">
              <a:lnSpc>
                <a:spcPct val="102000"/>
              </a:lnSpc>
              <a:buNone/>
            </a:pPr>
            <a:r>
              <a:rPr lang="en-US" sz="1200" dirty="0">
                <a:solidFill>
                  <a:srgbClr val="454659"/>
                </a:solidFill>
                <a:latin typeface="Inter" pitchFamily="34" charset="0"/>
                <a:ea typeface="Inter" pitchFamily="34" charset="-122"/>
                <a:cs typeface="Inter" pitchFamily="34" charset="-120"/>
              </a:rPr>
              <a:t>▸  Metadata: duration, phase, nightmares, components</a:t>
            </a:r>
            <a:endParaRPr lang="en-US" sz="1200" dirty="0"/>
          </a:p>
        </p:txBody>
      </p:sp>
      <p:sp>
        <p:nvSpPr>
          <p:cNvPr id="21" name="Shape 16"/>
          <p:cNvSpPr/>
          <p:nvPr/>
        </p:nvSpPr>
        <p:spPr>
          <a:xfrm>
            <a:off x="6172200" y="1280160"/>
            <a:ext cx="5532120" cy="4343400"/>
          </a:xfrm>
          <a:prstGeom prst="roundRect">
            <a:avLst>
              <a:gd name="adj" fmla="val 2526"/>
            </a:avLst>
          </a:prstGeom>
          <a:solidFill>
            <a:srgbClr val="F6F7F8"/>
          </a:solidFill>
          <a:ln w="25400">
            <a:solidFill>
              <a:srgbClr val="009845"/>
            </a:solidFill>
            <a:prstDash val="solid"/>
          </a:ln>
        </p:spPr>
      </p:sp>
      <p:sp>
        <p:nvSpPr>
          <p:cNvPr id="22" name="Shape 17"/>
          <p:cNvSpPr/>
          <p:nvPr/>
        </p:nvSpPr>
        <p:spPr>
          <a:xfrm>
            <a:off x="6263640" y="1371600"/>
            <a:ext cx="5349240" cy="457200"/>
          </a:xfrm>
          <a:prstGeom prst="roundRect">
            <a:avLst>
              <a:gd name="adj" fmla="val 12000"/>
            </a:avLst>
          </a:prstGeom>
          <a:solidFill>
            <a:srgbClr val="009845"/>
          </a:solidFill>
          <a:ln/>
        </p:spPr>
      </p:sp>
      <p:sp>
        <p:nvSpPr>
          <p:cNvPr id="23" name="Text 18"/>
          <p:cNvSpPr/>
          <p:nvPr/>
        </p:nvSpPr>
        <p:spPr>
          <a:xfrm>
            <a:off x="6263640" y="1371600"/>
            <a:ext cx="5349240" cy="45720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18 modules across the Four Stories</a:t>
            </a:r>
            <a:endParaRPr lang="en-US" sz="1400" dirty="0"/>
          </a:p>
        </p:txBody>
      </p:sp>
      <p:sp>
        <p:nvSpPr>
          <p:cNvPr id="24" name="Shape 19"/>
          <p:cNvSpPr/>
          <p:nvPr/>
        </p:nvSpPr>
        <p:spPr>
          <a:xfrm>
            <a:off x="6336792" y="1426464"/>
            <a:ext cx="347472" cy="347472"/>
          </a:xfrm>
          <a:prstGeom prst="ellipse">
            <a:avLst/>
          </a:prstGeom>
          <a:solidFill>
            <a:srgbClr val="FFFFFF"/>
          </a:solidFill>
          <a:ln w="12700">
            <a:solidFill>
              <a:srgbClr val="FFFFFF"/>
            </a:solidFill>
            <a:prstDash val="solid"/>
          </a:ln>
          <a:effectLst>
            <a:outerShdw sx="100000" sy="100000" kx="0" ky="0" algn="bl" rotWithShape="0" blurRad="38100" dist="12700" dir="16200000">
              <a:srgbClr val="000000">
                <a:alpha val="15000"/>
              </a:srgbClr>
            </a:outerShdw>
          </a:effectLst>
        </p:spPr>
      </p:sp>
      <p:pic>
        <p:nvPicPr>
          <p:cNvPr id="25" name="Image 2" descr="C:\Claude\MCG Full Stack\generators\assets\icons\governance.png">    </p:cNvPr>
          <p:cNvPicPr>
            <a:picLocks noChangeAspect="1"/>
          </p:cNvPicPr>
          <p:nvPr/>
        </p:nvPicPr>
        <p:blipFill>
          <a:blip r:embed="rId3"/>
          <a:stretch>
            <a:fillRect/>
          </a:stretch>
        </p:blipFill>
        <p:spPr>
          <a:xfrm>
            <a:off x="6402812" y="1492484"/>
            <a:ext cx="215433" cy="215433"/>
          </a:xfrm>
          <a:prstGeom prst="rect">
            <a:avLst/>
          </a:prstGeom>
        </p:spPr>
      </p:pic>
      <p:sp>
        <p:nvSpPr>
          <p:cNvPr id="26" name="Text 20"/>
          <p:cNvSpPr/>
          <p:nvPr/>
        </p:nvSpPr>
        <p:spPr>
          <a:xfrm>
            <a:off x="6428232" y="199339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Integrations — Infrastructure, Connections, Open Lakehouse (3)</a:t>
            </a:r>
            <a:endParaRPr lang="en-US" sz="1150" dirty="0"/>
          </a:p>
        </p:txBody>
      </p:sp>
      <p:sp>
        <p:nvSpPr>
          <p:cNvPr id="27" name="Text 21"/>
          <p:cNvSpPr/>
          <p:nvPr/>
        </p:nvSpPr>
        <p:spPr>
          <a:xfrm>
            <a:off x="6428232" y="272491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Governance — Lineage/Trust, Data Products, Stewardship, Glossary (4)</a:t>
            </a:r>
            <a:endParaRPr lang="en-US" sz="1150" dirty="0"/>
          </a:p>
        </p:txBody>
      </p:sp>
      <p:sp>
        <p:nvSpPr>
          <p:cNvPr id="28" name="Text 22"/>
          <p:cNvSpPr/>
          <p:nvPr/>
        </p:nvSpPr>
        <p:spPr>
          <a:xfrm>
            <a:off x="6428232" y="345643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Analytics — Analytics Apps, Alerting, Automations (3)</a:t>
            </a:r>
            <a:endParaRPr lang="en-US" sz="1150" dirty="0"/>
          </a:p>
        </p:txBody>
      </p:sp>
      <p:sp>
        <p:nvSpPr>
          <p:cNvPr id="29" name="Text 23"/>
          <p:cNvSpPr/>
          <p:nvPr/>
        </p:nvSpPr>
        <p:spPr>
          <a:xfrm>
            <a:off x="6428232" y="418795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AI &amp; Outcomes — Predict, Answers, Discovery Agent &amp; MCP (3)</a:t>
            </a:r>
            <a:endParaRPr lang="en-US" sz="1150" dirty="0"/>
          </a:p>
        </p:txBody>
      </p:sp>
      <p:sp>
        <p:nvSpPr>
          <p:cNvPr id="30" name="Text 24"/>
          <p:cNvSpPr/>
          <p:nvPr/>
        </p:nvSpPr>
        <p:spPr>
          <a:xfrm>
            <a:off x="6428232" y="491947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Agentic Engineering — Pipelines in VS Code, 3 agents, Talend Routes (5)</a:t>
            </a:r>
            <a:endParaRPr lang="en-US" sz="1150" dirty="0"/>
          </a:p>
        </p:txBody>
      </p:sp>
      <p:sp>
        <p:nvSpPr>
          <p:cNvPr id="31" name="Shape 25"/>
          <p:cNvSpPr/>
          <p:nvPr/>
        </p:nvSpPr>
        <p:spPr>
          <a:xfrm>
            <a:off x="457200" y="5806440"/>
            <a:ext cx="11247120" cy="548640"/>
          </a:xfrm>
          <a:prstGeom prst="roundRect">
            <a:avLst>
              <a:gd name="adj" fmla="val 13333"/>
            </a:avLst>
          </a:prstGeom>
          <a:solidFill>
            <a:srgbClr val="E0F8F7"/>
          </a:solidFill>
          <a:ln/>
        </p:spPr>
      </p:sp>
      <p:sp>
        <p:nvSpPr>
          <p:cNvPr id="32" name="Text 26"/>
          <p:cNvSpPr/>
          <p:nvPr/>
        </p:nvSpPr>
        <p:spPr>
          <a:xfrm>
            <a:off x="731520" y="5824728"/>
            <a:ext cx="10789920" cy="502920"/>
          </a:xfrm>
          <a:prstGeom prst="rect">
            <a:avLst/>
          </a:prstGeom>
          <a:noFill/>
          <a:ln/>
        </p:spPr>
        <p:txBody>
          <a:bodyPr wrap="square" rtlCol="0" anchor="ctr"/>
          <a:lstStyle/>
          <a:p>
            <a:pPr indent="0" marL="0">
              <a:buNone/>
            </a:pPr>
            <a:r>
              <a:rPr lang="en-US" sz="1100" b="1" dirty="0">
                <a:solidFill>
                  <a:srgbClr val="006580"/>
                </a:solidFill>
                <a:latin typeface="Inter" pitchFamily="34" charset="0"/>
                <a:ea typeface="Inter" pitchFamily="34" charset="-122"/>
                <a:cs typeface="Inter" pitchFamily="34" charset="-120"/>
              </a:rPr>
              <a:t>Every capability in Project Qlarity has a matching Demo2Win script — the same winning demo, run the same way, by any presenter.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006580"/>
          </a:solidFill>
          <a:ln/>
        </p:spPr>
      </p:sp>
      <p:sp>
        <p:nvSpPr>
          <p:cNvPr id="3" name="Shape 1"/>
          <p:cNvSpPr/>
          <p:nvPr/>
        </p:nvSpPr>
        <p:spPr>
          <a:xfrm>
            <a:off x="457200" y="6400800"/>
            <a:ext cx="11274552" cy="9144"/>
          </a:xfrm>
          <a:prstGeom prst="rect">
            <a:avLst/>
          </a:prstGeom>
          <a:solidFill>
            <a:srgbClr val="A9B3B6"/>
          </a:solidFill>
          <a:ln/>
        </p:spPr>
      </p:sp>
      <p:pic>
        <p:nvPicPr>
          <p:cNvPr id="4" name="Image 0" descr="C:\Claude\MCG Full Stack\generators\assets\qlik_logo.png">    </p:cNvPr>
          <p:cNvPicPr>
            <a:picLocks noChangeAspect="1"/>
          </p:cNvPicPr>
          <p:nvPr/>
        </p:nvPicPr>
        <p:blipFill>
          <a:blip r:embed="rId1"/>
          <a:stretch>
            <a:fillRect/>
          </a:stretch>
        </p:blipFill>
        <p:spPr>
          <a:xfrm>
            <a:off x="457200" y="6492240"/>
            <a:ext cx="493776" cy="274320"/>
          </a:xfrm>
          <a:prstGeom prst="rect">
            <a:avLst/>
          </a:prstGeom>
        </p:spPr>
      </p:pic>
      <p:sp>
        <p:nvSpPr>
          <p:cNvPr id="5" name="Text 2"/>
          <p:cNvSpPr/>
          <p:nvPr/>
        </p:nvSpPr>
        <p:spPr>
          <a:xfrm>
            <a:off x="1280160" y="6492240"/>
            <a:ext cx="7315200" cy="274320"/>
          </a:xfrm>
          <a:prstGeom prst="rect">
            <a:avLst/>
          </a:prstGeom>
          <a:noFill/>
          <a:ln/>
        </p:spPr>
        <p:txBody>
          <a:bodyPr wrap="square" rtlCol="0" anchor="ctr"/>
          <a:lstStyle/>
          <a:p>
            <a:pPr indent="0" marL="0">
              <a:buNone/>
            </a:pPr>
            <a:r>
              <a:rPr lang="en-US" sz="800" dirty="0">
                <a:solidFill>
                  <a:srgbClr val="A9B3B6"/>
                </a:solidFill>
                <a:latin typeface="Inter" pitchFamily="34" charset="0"/>
                <a:ea typeface="Inter" pitchFamily="34" charset="-122"/>
                <a:cs typeface="Inter" pitchFamily="34" charset="-120"/>
              </a:rPr>
              <a:t>Project Qlarity  •  MCG Demo  •  Qlik Cloud</a:t>
            </a:r>
            <a:endParaRPr lang="en-US" sz="800" dirty="0"/>
          </a:p>
        </p:txBody>
      </p:sp>
      <p:sp>
        <p:nvSpPr>
          <p:cNvPr id="6" name="Text 3"/>
          <p:cNvSpPr/>
          <p:nvPr/>
        </p:nvSpPr>
        <p:spPr>
          <a:xfrm>
            <a:off x="10972800" y="6492240"/>
            <a:ext cx="914400" cy="274320"/>
          </a:xfrm>
          <a:prstGeom prst="rect">
            <a:avLst/>
          </a:prstGeom>
          <a:noFill/>
          <a:ln/>
        </p:spPr>
        <p:txBody>
          <a:bodyPr wrap="square" rtlCol="0" anchor="ctr"/>
          <a:lstStyle/>
          <a:p>
            <a:pPr algn="r" indent="0" marL="0">
              <a:buNone/>
            </a:pPr>
            <a:r>
              <a:rPr lang="en-US" sz="800" dirty="0">
                <a:solidFill>
                  <a:srgbClr val="A9B3B6"/>
                </a:solidFill>
                <a:latin typeface="Inter" pitchFamily="34" charset="0"/>
                <a:ea typeface="Inter" pitchFamily="34" charset="-122"/>
                <a:cs typeface="Inter" pitchFamily="34" charset="-120"/>
              </a:rPr>
              <a:t>8</a:t>
            </a:r>
            <a:endParaRPr lang="en-US" sz="800" dirty="0"/>
          </a:p>
        </p:txBody>
      </p:sp>
      <p:sp>
        <p:nvSpPr>
          <p:cNvPr id="7" name="Text 4"/>
          <p:cNvSpPr/>
          <p:nvPr/>
        </p:nvSpPr>
        <p:spPr>
          <a:xfrm>
            <a:off x="457200" y="182880"/>
            <a:ext cx="8412480" cy="594360"/>
          </a:xfrm>
          <a:prstGeom prst="rect">
            <a:avLst/>
          </a:prstGeom>
          <a:noFill/>
          <a:ln/>
        </p:spPr>
        <p:txBody>
          <a:bodyPr wrap="square" rtlCol="0" anchor="ctr"/>
          <a:lstStyle/>
          <a:p>
            <a:pPr indent="0" marL="0">
              <a:buNone/>
            </a:pPr>
            <a:r>
              <a:rPr lang="en-US" sz="2600" b="1" dirty="0">
                <a:solidFill>
                  <a:srgbClr val="19416C"/>
                </a:solidFill>
                <a:latin typeface="Inter" pitchFamily="34" charset="0"/>
                <a:ea typeface="Inter" pitchFamily="34" charset="-122"/>
                <a:cs typeface="Inter" pitchFamily="34" charset="-120"/>
              </a:rPr>
              <a:t>Assets — Data &amp; Pipelines</a:t>
            </a:r>
            <a:endParaRPr lang="en-US" sz="2600" dirty="0"/>
          </a:p>
        </p:txBody>
      </p:sp>
      <p:sp>
        <p:nvSpPr>
          <p:cNvPr id="9" name="Shape 5"/>
          <p:cNvSpPr/>
          <p:nvPr/>
        </p:nvSpPr>
        <p:spPr>
          <a:xfrm>
            <a:off x="9006840" y="256032"/>
            <a:ext cx="2743200" cy="402336"/>
          </a:xfrm>
          <a:prstGeom prst="roundRect">
            <a:avLst>
              <a:gd name="adj" fmla="val 50000"/>
            </a:avLst>
          </a:prstGeom>
          <a:solidFill>
            <a:srgbClr val="19416C"/>
          </a:solidFill>
          <a:ln/>
        </p:spPr>
      </p:sp>
      <p:sp>
        <p:nvSpPr>
          <p:cNvPr id="10" name="Text 6"/>
          <p:cNvSpPr/>
          <p:nvPr/>
        </p:nvSpPr>
        <p:spPr>
          <a:xfrm>
            <a:off x="9006840" y="256032"/>
            <a:ext cx="2743200" cy="402336"/>
          </a:xfrm>
          <a:prstGeom prst="rect">
            <a:avLst/>
          </a:prstGeom>
          <a:noFill/>
          <a:ln/>
        </p:spPr>
        <p:txBody>
          <a:bodyPr wrap="square"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PIPELINES: PREVIEW</a:t>
            </a:r>
            <a:endParaRPr lang="en-US" sz="1050" dirty="0"/>
          </a:p>
        </p:txBody>
      </p:sp>
      <p:sp>
        <p:nvSpPr>
          <p:cNvPr id="11" name="Text 7"/>
          <p:cNvSpPr/>
          <p:nvPr/>
        </p:nvSpPr>
        <p:spPr>
          <a:xfrm>
            <a:off x="457200" y="786384"/>
            <a:ext cx="8412480" cy="365760"/>
          </a:xfrm>
          <a:prstGeom prst="rect">
            <a:avLst/>
          </a:prstGeom>
          <a:noFill/>
          <a:ln/>
        </p:spPr>
        <p:txBody>
          <a:bodyPr wrap="square" rtlCol="0" anchor="ctr"/>
          <a:lstStyle/>
          <a:p>
            <a:pPr indent="0" marL="0">
              <a:buNone/>
            </a:pPr>
            <a:r>
              <a:rPr lang="en-US" sz="1300" i="1" dirty="0">
                <a:solidFill>
                  <a:srgbClr val="6B7280"/>
                </a:solidFill>
                <a:latin typeface="Inter" pitchFamily="34" charset="0"/>
                <a:ea typeface="Inter" pitchFamily="34" charset="-122"/>
                <a:cs typeface="Inter" pitchFamily="34" charset="-120"/>
              </a:rPr>
              <a:t>The data foundation: declarative pipelines, the medallion lakehouse, gold products, and messy-data simulators</a:t>
            </a:r>
            <a:endParaRPr lang="en-US" sz="1300" dirty="0"/>
          </a:p>
        </p:txBody>
      </p:sp>
      <p:sp>
        <p:nvSpPr>
          <p:cNvPr id="12" name="Shape 8"/>
          <p:cNvSpPr/>
          <p:nvPr/>
        </p:nvSpPr>
        <p:spPr>
          <a:xfrm>
            <a:off x="457200" y="1280160"/>
            <a:ext cx="5532120" cy="4023360"/>
          </a:xfrm>
          <a:prstGeom prst="roundRect">
            <a:avLst>
              <a:gd name="adj" fmla="val 2727"/>
            </a:avLst>
          </a:prstGeom>
          <a:solidFill>
            <a:srgbClr val="F6F7F8"/>
          </a:solidFill>
          <a:ln w="25400">
            <a:solidFill>
              <a:srgbClr val="006580"/>
            </a:solidFill>
            <a:prstDash val="solid"/>
          </a:ln>
        </p:spPr>
      </p:sp>
      <p:sp>
        <p:nvSpPr>
          <p:cNvPr id="13" name="Shape 9"/>
          <p:cNvSpPr/>
          <p:nvPr/>
        </p:nvSpPr>
        <p:spPr>
          <a:xfrm>
            <a:off x="548640" y="1371600"/>
            <a:ext cx="5349240" cy="457200"/>
          </a:xfrm>
          <a:prstGeom prst="roundRect">
            <a:avLst>
              <a:gd name="adj" fmla="val 12000"/>
            </a:avLst>
          </a:prstGeom>
          <a:solidFill>
            <a:srgbClr val="006580"/>
          </a:solidFill>
          <a:ln/>
        </p:spPr>
      </p:sp>
      <p:sp>
        <p:nvSpPr>
          <p:cNvPr id="14" name="Text 10"/>
          <p:cNvSpPr/>
          <p:nvPr/>
        </p:nvSpPr>
        <p:spPr>
          <a:xfrm>
            <a:off x="548640" y="1371600"/>
            <a:ext cx="5349240" cy="45720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Pipelines &amp; lakehouse</a:t>
            </a:r>
            <a:endParaRPr lang="en-US" sz="1400" dirty="0"/>
          </a:p>
        </p:txBody>
      </p:sp>
      <p:sp>
        <p:nvSpPr>
          <p:cNvPr id="15" name="Shape 11"/>
          <p:cNvSpPr/>
          <p:nvPr/>
        </p:nvSpPr>
        <p:spPr>
          <a:xfrm>
            <a:off x="621792" y="1426464"/>
            <a:ext cx="347472" cy="347472"/>
          </a:xfrm>
          <a:prstGeom prst="ellipse">
            <a:avLst/>
          </a:prstGeom>
          <a:solidFill>
            <a:srgbClr val="FFFFFF"/>
          </a:solidFill>
          <a:ln w="12700">
            <a:solidFill>
              <a:srgbClr val="FFFFFF"/>
            </a:solidFill>
            <a:prstDash val="solid"/>
          </a:ln>
          <a:effectLst>
            <a:outerShdw sx="100000" sy="100000" kx="0" ky="0" algn="bl" rotWithShape="0" blurRad="38100" dist="12700" dir="16200000">
              <a:srgbClr val="000000">
                <a:alpha val="15000"/>
              </a:srgbClr>
            </a:outerShdw>
          </a:effectLst>
        </p:spPr>
      </p:sp>
      <p:pic>
        <p:nvPicPr>
          <p:cNvPr id="16" name="Image 1" descr="C:\Claude\MCG Full Stack\generators\assets\icons\pipeline.png">    </p:cNvPr>
          <p:cNvPicPr>
            <a:picLocks noChangeAspect="1"/>
          </p:cNvPicPr>
          <p:nvPr/>
        </p:nvPicPr>
        <p:blipFill>
          <a:blip r:embed="rId2"/>
          <a:stretch>
            <a:fillRect/>
          </a:stretch>
        </p:blipFill>
        <p:spPr>
          <a:xfrm>
            <a:off x="687812" y="1492484"/>
            <a:ext cx="215433" cy="215433"/>
          </a:xfrm>
          <a:prstGeom prst="rect">
            <a:avLst/>
          </a:prstGeom>
        </p:spPr>
      </p:pic>
      <p:sp>
        <p:nvSpPr>
          <p:cNvPr id="17" name="Text 12"/>
          <p:cNvSpPr/>
          <p:nvPr/>
        </p:nvSpPr>
        <p:spPr>
          <a:xfrm>
            <a:off x="713232" y="199339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2 declarative QTCP pipeline projects (preview)</a:t>
            </a:r>
            <a:endParaRPr lang="en-US" sz="1150" dirty="0"/>
          </a:p>
        </p:txBody>
      </p:sp>
      <p:sp>
        <p:nvSpPr>
          <p:cNvPr id="18" name="Text 13"/>
          <p:cNvSpPr/>
          <p:nvPr/>
        </p:nvSpPr>
        <p:spPr>
          <a:xfrm>
            <a:off x="713232" y="2670048"/>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mcg-batch-pipeline (4 tasks) + mcg-streaming-pipeline (2 tasks) = 6 tasks</a:t>
            </a:r>
            <a:endParaRPr lang="en-US" sz="1150" dirty="0"/>
          </a:p>
        </p:txBody>
      </p:sp>
      <p:sp>
        <p:nvSpPr>
          <p:cNvPr id="19" name="Text 14"/>
          <p:cNvSpPr/>
          <p:nvPr/>
        </p:nvSpPr>
        <p:spPr>
          <a:xfrm>
            <a:off x="713232" y="3346704"/>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Shipped as a VS Code template (per-project settings, CLAUDE.md, Copilot instructions)</a:t>
            </a:r>
            <a:endParaRPr lang="en-US" sz="1150" dirty="0"/>
          </a:p>
        </p:txBody>
      </p:sp>
      <p:sp>
        <p:nvSpPr>
          <p:cNvPr id="20" name="Text 15"/>
          <p:cNvSpPr/>
          <p:nvPr/>
        </p:nvSpPr>
        <p:spPr>
          <a:xfrm>
            <a:off x="713232" y="4023360"/>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Schema kit installed locally via npm run pipeline:template</a:t>
            </a:r>
            <a:endParaRPr lang="en-US" sz="1150" dirty="0"/>
          </a:p>
        </p:txBody>
      </p:sp>
      <p:sp>
        <p:nvSpPr>
          <p:cNvPr id="21" name="Text 16"/>
          <p:cNvSpPr/>
          <p:nvPr/>
        </p:nvSpPr>
        <p:spPr>
          <a:xfrm>
            <a:off x="713232" y="4700016"/>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Open Lakehouse medallion — Apache Iceberg on S3</a:t>
            </a:r>
            <a:endParaRPr lang="en-US" sz="1150" dirty="0"/>
          </a:p>
        </p:txBody>
      </p:sp>
      <p:sp>
        <p:nvSpPr>
          <p:cNvPr id="22" name="Shape 17"/>
          <p:cNvSpPr/>
          <p:nvPr/>
        </p:nvSpPr>
        <p:spPr>
          <a:xfrm>
            <a:off x="6172200" y="1280160"/>
            <a:ext cx="5532120" cy="4023360"/>
          </a:xfrm>
          <a:prstGeom prst="roundRect">
            <a:avLst>
              <a:gd name="adj" fmla="val 2727"/>
            </a:avLst>
          </a:prstGeom>
          <a:solidFill>
            <a:srgbClr val="F6F7F8"/>
          </a:solidFill>
          <a:ln w="25400">
            <a:solidFill>
              <a:srgbClr val="009845"/>
            </a:solidFill>
            <a:prstDash val="solid"/>
          </a:ln>
        </p:spPr>
      </p:sp>
      <p:sp>
        <p:nvSpPr>
          <p:cNvPr id="23" name="Shape 18"/>
          <p:cNvSpPr/>
          <p:nvPr/>
        </p:nvSpPr>
        <p:spPr>
          <a:xfrm>
            <a:off x="6263640" y="1371600"/>
            <a:ext cx="5349240" cy="457200"/>
          </a:xfrm>
          <a:prstGeom prst="roundRect">
            <a:avLst>
              <a:gd name="adj" fmla="val 12000"/>
            </a:avLst>
          </a:prstGeom>
          <a:solidFill>
            <a:srgbClr val="009845"/>
          </a:solidFill>
          <a:ln/>
        </p:spPr>
      </p:sp>
      <p:sp>
        <p:nvSpPr>
          <p:cNvPr id="24" name="Text 19"/>
          <p:cNvSpPr/>
          <p:nvPr/>
        </p:nvSpPr>
        <p:spPr>
          <a:xfrm>
            <a:off x="6263640" y="1371600"/>
            <a:ext cx="5349240" cy="45720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Data products &amp; simulators</a:t>
            </a:r>
            <a:endParaRPr lang="en-US" sz="1400" dirty="0"/>
          </a:p>
        </p:txBody>
      </p:sp>
      <p:sp>
        <p:nvSpPr>
          <p:cNvPr id="25" name="Shape 20"/>
          <p:cNvSpPr/>
          <p:nvPr/>
        </p:nvSpPr>
        <p:spPr>
          <a:xfrm>
            <a:off x="6336792" y="1426464"/>
            <a:ext cx="347472" cy="347472"/>
          </a:xfrm>
          <a:prstGeom prst="ellipse">
            <a:avLst/>
          </a:prstGeom>
          <a:solidFill>
            <a:srgbClr val="FFFFFF"/>
          </a:solidFill>
          <a:ln w="12700">
            <a:solidFill>
              <a:srgbClr val="FFFFFF"/>
            </a:solidFill>
            <a:prstDash val="solid"/>
          </a:ln>
          <a:effectLst>
            <a:outerShdw sx="100000" sy="100000" kx="0" ky="0" algn="bl" rotWithShape="0" blurRad="38100" dist="12700" dir="16200000">
              <a:srgbClr val="000000">
                <a:alpha val="15000"/>
              </a:srgbClr>
            </a:outerShdw>
          </a:effectLst>
        </p:spPr>
      </p:sp>
      <p:pic>
        <p:nvPicPr>
          <p:cNvPr id="26" name="Image 2" descr="C:\Claude\MCG Full Stack\generators\assets\icons\lakehouse.png">    </p:cNvPr>
          <p:cNvPicPr>
            <a:picLocks noChangeAspect="1"/>
          </p:cNvPicPr>
          <p:nvPr/>
        </p:nvPicPr>
        <p:blipFill>
          <a:blip r:embed="rId3"/>
          <a:stretch>
            <a:fillRect/>
          </a:stretch>
        </p:blipFill>
        <p:spPr>
          <a:xfrm>
            <a:off x="6402812" y="1492484"/>
            <a:ext cx="215433" cy="215433"/>
          </a:xfrm>
          <a:prstGeom prst="rect">
            <a:avLst/>
          </a:prstGeom>
        </p:spPr>
      </p:pic>
      <p:sp>
        <p:nvSpPr>
          <p:cNvPr id="27" name="Text 21"/>
          <p:cNvSpPr/>
          <p:nvPr/>
        </p:nvSpPr>
        <p:spPr>
          <a:xfrm>
            <a:off x="6428232" y="199339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2 gold data products: Supply Chain Health + Last Mile Performance</a:t>
            </a:r>
            <a:endParaRPr lang="en-US" sz="1150" dirty="0"/>
          </a:p>
        </p:txBody>
      </p:sp>
      <p:sp>
        <p:nvSpPr>
          <p:cNvPr id="28" name="Text 22"/>
          <p:cNvSpPr/>
          <p:nvPr/>
        </p:nvSpPr>
        <p:spPr>
          <a:xfrm>
            <a:off x="6428232" y="2670048"/>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Both API-shared, each with a trust-score SLA</a:t>
            </a:r>
            <a:endParaRPr lang="en-US" sz="1150" dirty="0"/>
          </a:p>
        </p:txBody>
      </p:sp>
      <p:sp>
        <p:nvSpPr>
          <p:cNvPr id="29" name="Text 23"/>
          <p:cNvSpPr/>
          <p:nvPr/>
        </p:nvSpPr>
        <p:spPr>
          <a:xfrm>
            <a:off x="6428232" y="3346704"/>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3 data simulators: PostgreSQL WMS, Kafka IoT, Meridian CRM</a:t>
            </a:r>
            <a:endParaRPr lang="en-US" sz="1150" dirty="0"/>
          </a:p>
        </p:txBody>
      </p:sp>
      <p:sp>
        <p:nvSpPr>
          <p:cNvPr id="30" name="Text 24"/>
          <p:cNvSpPr/>
          <p:nvPr/>
        </p:nvSpPr>
        <p:spPr>
          <a:xfrm>
            <a:off x="6428232" y="4023360"/>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Simulators generate the intentionally-messy demo data</a:t>
            </a:r>
            <a:endParaRPr lang="en-US" sz="1150" dirty="0"/>
          </a:p>
        </p:txBody>
      </p:sp>
      <p:sp>
        <p:nvSpPr>
          <p:cNvPr id="31" name="Text 25"/>
          <p:cNvSpPr/>
          <p:nvPr/>
        </p:nvSpPr>
        <p:spPr>
          <a:xfrm>
            <a:off x="6428232" y="4700016"/>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The mess that Governance and Analytics then clean up</a:t>
            </a:r>
            <a:endParaRPr lang="en-US" sz="1150" dirty="0"/>
          </a:p>
        </p:txBody>
      </p:sp>
      <p:sp>
        <p:nvSpPr>
          <p:cNvPr id="32" name="Shape 26"/>
          <p:cNvSpPr/>
          <p:nvPr/>
        </p:nvSpPr>
        <p:spPr>
          <a:xfrm>
            <a:off x="457200" y="5486400"/>
            <a:ext cx="11247120" cy="548640"/>
          </a:xfrm>
          <a:prstGeom prst="roundRect">
            <a:avLst>
              <a:gd name="adj" fmla="val 13333"/>
            </a:avLst>
          </a:prstGeom>
          <a:solidFill>
            <a:srgbClr val="E0F8F7"/>
          </a:solidFill>
          <a:ln/>
        </p:spPr>
      </p:sp>
      <p:sp>
        <p:nvSpPr>
          <p:cNvPr id="33" name="Text 27"/>
          <p:cNvSpPr/>
          <p:nvPr/>
        </p:nvSpPr>
        <p:spPr>
          <a:xfrm>
            <a:off x="731520" y="5504688"/>
            <a:ext cx="10789920" cy="502920"/>
          </a:xfrm>
          <a:prstGeom prst="rect">
            <a:avLst/>
          </a:prstGeom>
          <a:noFill/>
          <a:ln/>
        </p:spPr>
        <p:txBody>
          <a:bodyPr wrap="square" rtlCol="0" anchor="ctr"/>
          <a:lstStyle/>
          <a:p>
            <a:pPr indent="0" marL="0">
              <a:buNone/>
            </a:pPr>
            <a:r>
              <a:rPr lang="en-US" sz="1100" b="1" dirty="0">
                <a:solidFill>
                  <a:srgbClr val="006580"/>
                </a:solidFill>
                <a:latin typeface="Inter" pitchFamily="34" charset="0"/>
                <a:ea typeface="Inter" pitchFamily="34" charset="-122"/>
                <a:cs typeface="Inter" pitchFamily="34" charset="-120"/>
              </a:rPr>
              <a:t>Declarative Data Pipelines are a Qlik internal preview (June 2026) — roadmap, not GA. Availability and timing may change.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009845"/>
          </a:solidFill>
          <a:ln/>
        </p:spPr>
      </p:sp>
      <p:sp>
        <p:nvSpPr>
          <p:cNvPr id="3" name="Shape 1"/>
          <p:cNvSpPr/>
          <p:nvPr/>
        </p:nvSpPr>
        <p:spPr>
          <a:xfrm>
            <a:off x="457200" y="6400800"/>
            <a:ext cx="11274552" cy="9144"/>
          </a:xfrm>
          <a:prstGeom prst="rect">
            <a:avLst/>
          </a:prstGeom>
          <a:solidFill>
            <a:srgbClr val="A9B3B6"/>
          </a:solidFill>
          <a:ln/>
        </p:spPr>
      </p:sp>
      <p:pic>
        <p:nvPicPr>
          <p:cNvPr id="4" name="Image 0" descr="C:\Claude\MCG Full Stack\generators\assets\qlik_logo.png">    </p:cNvPr>
          <p:cNvPicPr>
            <a:picLocks noChangeAspect="1"/>
          </p:cNvPicPr>
          <p:nvPr/>
        </p:nvPicPr>
        <p:blipFill>
          <a:blip r:embed="rId1"/>
          <a:stretch>
            <a:fillRect/>
          </a:stretch>
        </p:blipFill>
        <p:spPr>
          <a:xfrm>
            <a:off x="457200" y="6492240"/>
            <a:ext cx="493776" cy="274320"/>
          </a:xfrm>
          <a:prstGeom prst="rect">
            <a:avLst/>
          </a:prstGeom>
        </p:spPr>
      </p:pic>
      <p:sp>
        <p:nvSpPr>
          <p:cNvPr id="5" name="Text 2"/>
          <p:cNvSpPr/>
          <p:nvPr/>
        </p:nvSpPr>
        <p:spPr>
          <a:xfrm>
            <a:off x="1280160" y="6492240"/>
            <a:ext cx="7315200" cy="274320"/>
          </a:xfrm>
          <a:prstGeom prst="rect">
            <a:avLst/>
          </a:prstGeom>
          <a:noFill/>
          <a:ln/>
        </p:spPr>
        <p:txBody>
          <a:bodyPr wrap="square" rtlCol="0" anchor="ctr"/>
          <a:lstStyle/>
          <a:p>
            <a:pPr indent="0" marL="0">
              <a:buNone/>
            </a:pPr>
            <a:r>
              <a:rPr lang="en-US" sz="800" dirty="0">
                <a:solidFill>
                  <a:srgbClr val="A9B3B6"/>
                </a:solidFill>
                <a:latin typeface="Inter" pitchFamily="34" charset="0"/>
                <a:ea typeface="Inter" pitchFamily="34" charset="-122"/>
                <a:cs typeface="Inter" pitchFamily="34" charset="-120"/>
              </a:rPr>
              <a:t>Project Qlarity  •  MCG Demo  •  Qlik Cloud</a:t>
            </a:r>
            <a:endParaRPr lang="en-US" sz="800" dirty="0"/>
          </a:p>
        </p:txBody>
      </p:sp>
      <p:sp>
        <p:nvSpPr>
          <p:cNvPr id="6" name="Text 3"/>
          <p:cNvSpPr/>
          <p:nvPr/>
        </p:nvSpPr>
        <p:spPr>
          <a:xfrm>
            <a:off x="10972800" y="6492240"/>
            <a:ext cx="914400" cy="274320"/>
          </a:xfrm>
          <a:prstGeom prst="rect">
            <a:avLst/>
          </a:prstGeom>
          <a:noFill/>
          <a:ln/>
        </p:spPr>
        <p:txBody>
          <a:bodyPr wrap="square" rtlCol="0" anchor="ctr"/>
          <a:lstStyle/>
          <a:p>
            <a:pPr algn="r" indent="0" marL="0">
              <a:buNone/>
            </a:pPr>
            <a:r>
              <a:rPr lang="en-US" sz="800" dirty="0">
                <a:solidFill>
                  <a:srgbClr val="A9B3B6"/>
                </a:solidFill>
                <a:latin typeface="Inter" pitchFamily="34" charset="0"/>
                <a:ea typeface="Inter" pitchFamily="34" charset="-122"/>
                <a:cs typeface="Inter" pitchFamily="34" charset="-120"/>
              </a:rPr>
              <a:t>9</a:t>
            </a:r>
            <a:endParaRPr lang="en-US" sz="800" dirty="0"/>
          </a:p>
        </p:txBody>
      </p:sp>
      <p:sp>
        <p:nvSpPr>
          <p:cNvPr id="7" name="Text 4"/>
          <p:cNvSpPr/>
          <p:nvPr/>
        </p:nvSpPr>
        <p:spPr>
          <a:xfrm>
            <a:off x="457200" y="182880"/>
            <a:ext cx="8412480" cy="594360"/>
          </a:xfrm>
          <a:prstGeom prst="rect">
            <a:avLst/>
          </a:prstGeom>
          <a:noFill/>
          <a:ln/>
        </p:spPr>
        <p:txBody>
          <a:bodyPr wrap="square" rtlCol="0" anchor="ctr"/>
          <a:lstStyle/>
          <a:p>
            <a:pPr indent="0" marL="0">
              <a:buNone/>
            </a:pPr>
            <a:r>
              <a:rPr lang="en-US" sz="2600" b="1" dirty="0">
                <a:solidFill>
                  <a:srgbClr val="19416C"/>
                </a:solidFill>
                <a:latin typeface="Inter" pitchFamily="34" charset="0"/>
                <a:ea typeface="Inter" pitchFamily="34" charset="-122"/>
                <a:cs typeface="Inter" pitchFamily="34" charset="-120"/>
              </a:rPr>
              <a:t>Assets — Governance &amp; Knowledge</a:t>
            </a:r>
            <a:endParaRPr lang="en-US" sz="2600" dirty="0"/>
          </a:p>
        </p:txBody>
      </p:sp>
      <p:sp>
        <p:nvSpPr>
          <p:cNvPr id="9" name="Text 5"/>
          <p:cNvSpPr/>
          <p:nvPr/>
        </p:nvSpPr>
        <p:spPr>
          <a:xfrm>
            <a:off x="457200" y="786384"/>
            <a:ext cx="11247120" cy="365760"/>
          </a:xfrm>
          <a:prstGeom prst="rect">
            <a:avLst/>
          </a:prstGeom>
          <a:noFill/>
          <a:ln/>
        </p:spPr>
        <p:txBody>
          <a:bodyPr wrap="square" rtlCol="0" anchor="ctr"/>
          <a:lstStyle/>
          <a:p>
            <a:pPr indent="0" marL="0">
              <a:buNone/>
            </a:pPr>
            <a:r>
              <a:rPr lang="en-US" sz="1300" i="1" dirty="0">
                <a:solidFill>
                  <a:srgbClr val="6B7280"/>
                </a:solidFill>
                <a:latin typeface="Inter" pitchFamily="34" charset="0"/>
                <a:ea typeface="Inter" pitchFamily="34" charset="-122"/>
                <a:cs typeface="Inter" pitchFamily="34" charset="-120"/>
              </a:rPr>
              <a:t>The trust layer: a document knowledge base, a shared vocabulary, and automations that keep watch</a:t>
            </a:r>
            <a:endParaRPr lang="en-US" sz="1300" dirty="0"/>
          </a:p>
        </p:txBody>
      </p:sp>
      <p:sp>
        <p:nvSpPr>
          <p:cNvPr id="10" name="Shape 6"/>
          <p:cNvSpPr/>
          <p:nvPr/>
        </p:nvSpPr>
        <p:spPr>
          <a:xfrm>
            <a:off x="457200" y="1280160"/>
            <a:ext cx="5532120" cy="4023360"/>
          </a:xfrm>
          <a:prstGeom prst="roundRect">
            <a:avLst>
              <a:gd name="adj" fmla="val 2727"/>
            </a:avLst>
          </a:prstGeom>
          <a:solidFill>
            <a:srgbClr val="F6F7F8"/>
          </a:solidFill>
          <a:ln w="25400">
            <a:solidFill>
              <a:srgbClr val="009845"/>
            </a:solidFill>
            <a:prstDash val="solid"/>
          </a:ln>
        </p:spPr>
      </p:sp>
      <p:sp>
        <p:nvSpPr>
          <p:cNvPr id="11" name="Shape 7"/>
          <p:cNvSpPr/>
          <p:nvPr/>
        </p:nvSpPr>
        <p:spPr>
          <a:xfrm>
            <a:off x="548640" y="1371600"/>
            <a:ext cx="5349240" cy="457200"/>
          </a:xfrm>
          <a:prstGeom prst="roundRect">
            <a:avLst>
              <a:gd name="adj" fmla="val 12000"/>
            </a:avLst>
          </a:prstGeom>
          <a:solidFill>
            <a:srgbClr val="009845"/>
          </a:solidFill>
          <a:ln/>
        </p:spPr>
      </p:sp>
      <p:sp>
        <p:nvSpPr>
          <p:cNvPr id="12" name="Text 8"/>
          <p:cNvSpPr/>
          <p:nvPr/>
        </p:nvSpPr>
        <p:spPr>
          <a:xfrm>
            <a:off x="548640" y="1371600"/>
            <a:ext cx="5349240" cy="45720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Knowledge &amp; vocabulary</a:t>
            </a:r>
            <a:endParaRPr lang="en-US" sz="1400" dirty="0"/>
          </a:p>
        </p:txBody>
      </p:sp>
      <p:sp>
        <p:nvSpPr>
          <p:cNvPr id="13" name="Shape 9"/>
          <p:cNvSpPr/>
          <p:nvPr/>
        </p:nvSpPr>
        <p:spPr>
          <a:xfrm>
            <a:off x="621792" y="1426464"/>
            <a:ext cx="347472" cy="347472"/>
          </a:xfrm>
          <a:prstGeom prst="ellipse">
            <a:avLst/>
          </a:prstGeom>
          <a:solidFill>
            <a:srgbClr val="FFFFFF"/>
          </a:solidFill>
          <a:ln w="12700">
            <a:solidFill>
              <a:srgbClr val="FFFFFF"/>
            </a:solidFill>
            <a:prstDash val="solid"/>
          </a:ln>
          <a:effectLst>
            <a:outerShdw sx="100000" sy="100000" kx="0" ky="0" algn="bl" rotWithShape="0" blurRad="38100" dist="12700" dir="16200000">
              <a:srgbClr val="000000">
                <a:alpha val="15000"/>
              </a:srgbClr>
            </a:outerShdw>
          </a:effectLst>
        </p:spPr>
      </p:sp>
      <p:pic>
        <p:nvPicPr>
          <p:cNvPr id="14" name="Image 1" descr="C:\Claude\MCG Full Stack\generators\assets\icons\answers.png">    </p:cNvPr>
          <p:cNvPicPr>
            <a:picLocks noChangeAspect="1"/>
          </p:cNvPicPr>
          <p:nvPr/>
        </p:nvPicPr>
        <p:blipFill>
          <a:blip r:embed="rId2"/>
          <a:stretch>
            <a:fillRect/>
          </a:stretch>
        </p:blipFill>
        <p:spPr>
          <a:xfrm>
            <a:off x="687812" y="1492484"/>
            <a:ext cx="215433" cy="215433"/>
          </a:xfrm>
          <a:prstGeom prst="rect">
            <a:avLst/>
          </a:prstGeom>
        </p:spPr>
      </p:pic>
      <p:sp>
        <p:nvSpPr>
          <p:cNvPr id="15" name="Text 10"/>
          <p:cNvSpPr/>
          <p:nvPr/>
        </p:nvSpPr>
        <p:spPr>
          <a:xfrm>
            <a:off x="713232" y="199339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25 operational documents → Qlik Answers knowledge base</a:t>
            </a:r>
            <a:endParaRPr lang="en-US" sz="1150" dirty="0"/>
          </a:p>
        </p:txBody>
      </p:sp>
      <p:sp>
        <p:nvSpPr>
          <p:cNvPr id="16" name="Text 11"/>
          <p:cNvSpPr/>
          <p:nvPr/>
        </p:nvSpPr>
        <p:spPr>
          <a:xfrm>
            <a:off x="713232" y="2743200"/>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SOPs, contracts, policies, incident reports, training, compliance, POs, shipments, suppliers, recall, minutes, brief</a:t>
            </a:r>
            <a:endParaRPr lang="en-US" sz="1150" dirty="0"/>
          </a:p>
        </p:txBody>
      </p:sp>
      <p:sp>
        <p:nvSpPr>
          <p:cNvPr id="17" name="Text 12"/>
          <p:cNvSpPr/>
          <p:nvPr/>
        </p:nvSpPr>
        <p:spPr>
          <a:xfrm>
            <a:off x="713232" y="3493008"/>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25 business glossary terms — one shared vocabulary</a:t>
            </a:r>
            <a:endParaRPr lang="en-US" sz="1150" dirty="0"/>
          </a:p>
        </p:txBody>
      </p:sp>
      <p:sp>
        <p:nvSpPr>
          <p:cNvPr id="18" name="Text 13"/>
          <p:cNvSpPr/>
          <p:nvPr/>
        </p:nvSpPr>
        <p:spPr>
          <a:xfrm>
            <a:off x="713232" y="4242816"/>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Trust scores + lineage + stewardship across the estate</a:t>
            </a:r>
            <a:endParaRPr lang="en-US" sz="1150" dirty="0"/>
          </a:p>
        </p:txBody>
      </p:sp>
      <p:sp>
        <p:nvSpPr>
          <p:cNvPr id="19" name="Shape 14"/>
          <p:cNvSpPr/>
          <p:nvPr/>
        </p:nvSpPr>
        <p:spPr>
          <a:xfrm>
            <a:off x="6172200" y="1280160"/>
            <a:ext cx="5532120" cy="4023360"/>
          </a:xfrm>
          <a:prstGeom prst="roundRect">
            <a:avLst>
              <a:gd name="adj" fmla="val 2727"/>
            </a:avLst>
          </a:prstGeom>
          <a:solidFill>
            <a:srgbClr val="F6F7F8"/>
          </a:solidFill>
          <a:ln w="25400">
            <a:solidFill>
              <a:srgbClr val="006580"/>
            </a:solidFill>
            <a:prstDash val="solid"/>
          </a:ln>
        </p:spPr>
      </p:sp>
      <p:sp>
        <p:nvSpPr>
          <p:cNvPr id="20" name="Shape 15"/>
          <p:cNvSpPr/>
          <p:nvPr/>
        </p:nvSpPr>
        <p:spPr>
          <a:xfrm>
            <a:off x="6263640" y="1371600"/>
            <a:ext cx="5349240" cy="457200"/>
          </a:xfrm>
          <a:prstGeom prst="roundRect">
            <a:avLst>
              <a:gd name="adj" fmla="val 12000"/>
            </a:avLst>
          </a:prstGeom>
          <a:solidFill>
            <a:srgbClr val="006580"/>
          </a:solidFill>
          <a:ln/>
        </p:spPr>
      </p:sp>
      <p:sp>
        <p:nvSpPr>
          <p:cNvPr id="21" name="Text 16"/>
          <p:cNvSpPr/>
          <p:nvPr/>
        </p:nvSpPr>
        <p:spPr>
          <a:xfrm>
            <a:off x="6263640" y="1371600"/>
            <a:ext cx="5349240" cy="45720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5 automations (Teams alerts)</a:t>
            </a:r>
            <a:endParaRPr lang="en-US" sz="1400" dirty="0"/>
          </a:p>
        </p:txBody>
      </p:sp>
      <p:sp>
        <p:nvSpPr>
          <p:cNvPr id="22" name="Shape 17"/>
          <p:cNvSpPr/>
          <p:nvPr/>
        </p:nvSpPr>
        <p:spPr>
          <a:xfrm>
            <a:off x="6336792" y="1426464"/>
            <a:ext cx="347472" cy="347472"/>
          </a:xfrm>
          <a:prstGeom prst="ellipse">
            <a:avLst/>
          </a:prstGeom>
          <a:solidFill>
            <a:srgbClr val="FFFFFF"/>
          </a:solidFill>
          <a:ln w="12700">
            <a:solidFill>
              <a:srgbClr val="FFFFFF"/>
            </a:solidFill>
            <a:prstDash val="solid"/>
          </a:ln>
          <a:effectLst>
            <a:outerShdw sx="100000" sy="100000" kx="0" ky="0" algn="bl" rotWithShape="0" blurRad="38100" dist="12700" dir="16200000">
              <a:srgbClr val="000000">
                <a:alpha val="15000"/>
              </a:srgbClr>
            </a:outerShdw>
          </a:effectLst>
        </p:spPr>
      </p:sp>
      <p:pic>
        <p:nvPicPr>
          <p:cNvPr id="23" name="Image 2" descr="C:\Claude\MCG Full Stack\generators\assets\icons\automation.png">    </p:cNvPr>
          <p:cNvPicPr>
            <a:picLocks noChangeAspect="1"/>
          </p:cNvPicPr>
          <p:nvPr/>
        </p:nvPicPr>
        <p:blipFill>
          <a:blip r:embed="rId3"/>
          <a:stretch>
            <a:fillRect/>
          </a:stretch>
        </p:blipFill>
        <p:spPr>
          <a:xfrm>
            <a:off x="6402812" y="1492484"/>
            <a:ext cx="215433" cy="215433"/>
          </a:xfrm>
          <a:prstGeom prst="rect">
            <a:avLst/>
          </a:prstGeom>
        </p:spPr>
      </p:pic>
      <p:sp>
        <p:nvSpPr>
          <p:cNvPr id="24" name="Text 18"/>
          <p:cNvSpPr/>
          <p:nvPr/>
        </p:nvSpPr>
        <p:spPr>
          <a:xfrm>
            <a:off x="6428232" y="199339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Daily app-reload alert</a:t>
            </a:r>
            <a:endParaRPr lang="en-US" sz="1150" dirty="0"/>
          </a:p>
        </p:txBody>
      </p:sp>
      <p:sp>
        <p:nvSpPr>
          <p:cNvPr id="25" name="Text 19"/>
          <p:cNvSpPr/>
          <p:nvPr/>
        </p:nvSpPr>
        <p:spPr>
          <a:xfrm>
            <a:off x="6428232" y="263347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Cold-chain exception alert</a:t>
            </a:r>
            <a:endParaRPr lang="en-US" sz="1150" dirty="0"/>
          </a:p>
        </p:txBody>
      </p:sp>
      <p:sp>
        <p:nvSpPr>
          <p:cNvPr id="26" name="Text 20"/>
          <p:cNvSpPr/>
          <p:nvPr/>
        </p:nvSpPr>
        <p:spPr>
          <a:xfrm>
            <a:off x="6428232" y="327355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Pipeline-health alert</a:t>
            </a:r>
            <a:endParaRPr lang="en-US" sz="1150" dirty="0"/>
          </a:p>
        </p:txBody>
      </p:sp>
      <p:sp>
        <p:nvSpPr>
          <p:cNvPr id="27" name="Text 21"/>
          <p:cNvSpPr/>
          <p:nvPr/>
        </p:nvSpPr>
        <p:spPr>
          <a:xfrm>
            <a:off x="6428232" y="391363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WISMO-rate alert</a:t>
            </a:r>
            <a:endParaRPr lang="en-US" sz="1150" dirty="0"/>
          </a:p>
        </p:txBody>
      </p:sp>
      <p:sp>
        <p:nvSpPr>
          <p:cNvPr id="28" name="Text 22"/>
          <p:cNvSpPr/>
          <p:nvPr/>
        </p:nvSpPr>
        <p:spPr>
          <a:xfrm>
            <a:off x="6428232" y="455371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Talend address-correction loop</a:t>
            </a:r>
            <a:endParaRPr lang="en-US" sz="1150" dirty="0"/>
          </a:p>
        </p:txBody>
      </p:sp>
      <p:sp>
        <p:nvSpPr>
          <p:cNvPr id="29" name="Shape 23"/>
          <p:cNvSpPr/>
          <p:nvPr/>
        </p:nvSpPr>
        <p:spPr>
          <a:xfrm>
            <a:off x="457200" y="5486400"/>
            <a:ext cx="11247120" cy="548640"/>
          </a:xfrm>
          <a:prstGeom prst="roundRect">
            <a:avLst>
              <a:gd name="adj" fmla="val 13333"/>
            </a:avLst>
          </a:prstGeom>
          <a:solidFill>
            <a:srgbClr val="E0F5EA"/>
          </a:solidFill>
          <a:ln/>
        </p:spPr>
      </p:sp>
      <p:sp>
        <p:nvSpPr>
          <p:cNvPr id="30" name="Text 24"/>
          <p:cNvSpPr/>
          <p:nvPr/>
        </p:nvSpPr>
        <p:spPr>
          <a:xfrm>
            <a:off x="731520" y="5504688"/>
            <a:ext cx="10789920" cy="502920"/>
          </a:xfrm>
          <a:prstGeom prst="rect">
            <a:avLst/>
          </a:prstGeom>
          <a:noFill/>
          <a:ln/>
        </p:spPr>
        <p:txBody>
          <a:bodyPr wrap="square" rtlCol="0" anchor="ctr"/>
          <a:lstStyle/>
          <a:p>
            <a:pPr indent="0" marL="0">
              <a:buNone/>
            </a:pPr>
            <a:r>
              <a:rPr lang="en-US" sz="1100" b="1" dirty="0">
                <a:solidFill>
                  <a:srgbClr val="009845"/>
                </a:solidFill>
                <a:latin typeface="Inter" pitchFamily="34" charset="0"/>
                <a:ea typeface="Inter" pitchFamily="34" charset="-122"/>
                <a:cs typeface="Inter" pitchFamily="34" charset="-120"/>
              </a:rPr>
              <a:t>Governance makes the data trustworthy; the knowledge base and glossary make it understandable; automations keep it that way in the flow of work.</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009845"/>
          </a:solidFill>
          <a:ln/>
        </p:spPr>
      </p:sp>
      <p:sp>
        <p:nvSpPr>
          <p:cNvPr id="3" name="Shape 1"/>
          <p:cNvSpPr/>
          <p:nvPr/>
        </p:nvSpPr>
        <p:spPr>
          <a:xfrm>
            <a:off x="457200" y="6400800"/>
            <a:ext cx="11274552" cy="9144"/>
          </a:xfrm>
          <a:prstGeom prst="rect">
            <a:avLst/>
          </a:prstGeom>
          <a:solidFill>
            <a:srgbClr val="A9B3B6"/>
          </a:solidFill>
          <a:ln/>
        </p:spPr>
      </p:sp>
      <p:pic>
        <p:nvPicPr>
          <p:cNvPr id="4" name="Image 0" descr="C:\Claude\MCG Full Stack\generators\assets\qlik_logo.png">    </p:cNvPr>
          <p:cNvPicPr>
            <a:picLocks noChangeAspect="1"/>
          </p:cNvPicPr>
          <p:nvPr/>
        </p:nvPicPr>
        <p:blipFill>
          <a:blip r:embed="rId1"/>
          <a:stretch>
            <a:fillRect/>
          </a:stretch>
        </p:blipFill>
        <p:spPr>
          <a:xfrm>
            <a:off x="457200" y="6492240"/>
            <a:ext cx="493776" cy="274320"/>
          </a:xfrm>
          <a:prstGeom prst="rect">
            <a:avLst/>
          </a:prstGeom>
        </p:spPr>
      </p:pic>
      <p:sp>
        <p:nvSpPr>
          <p:cNvPr id="5" name="Text 2"/>
          <p:cNvSpPr/>
          <p:nvPr/>
        </p:nvSpPr>
        <p:spPr>
          <a:xfrm>
            <a:off x="1280160" y="6492240"/>
            <a:ext cx="7315200" cy="274320"/>
          </a:xfrm>
          <a:prstGeom prst="rect">
            <a:avLst/>
          </a:prstGeom>
          <a:noFill/>
          <a:ln/>
        </p:spPr>
        <p:txBody>
          <a:bodyPr wrap="square" rtlCol="0" anchor="ctr"/>
          <a:lstStyle/>
          <a:p>
            <a:pPr indent="0" marL="0">
              <a:buNone/>
            </a:pPr>
            <a:r>
              <a:rPr lang="en-US" sz="800" dirty="0">
                <a:solidFill>
                  <a:srgbClr val="A9B3B6"/>
                </a:solidFill>
                <a:latin typeface="Inter" pitchFamily="34" charset="0"/>
                <a:ea typeface="Inter" pitchFamily="34" charset="-122"/>
                <a:cs typeface="Inter" pitchFamily="34" charset="-120"/>
              </a:rPr>
              <a:t>Project Qlarity  •  MCG Demo  •  Qlik Cloud</a:t>
            </a:r>
            <a:endParaRPr lang="en-US" sz="800" dirty="0"/>
          </a:p>
        </p:txBody>
      </p:sp>
      <p:sp>
        <p:nvSpPr>
          <p:cNvPr id="6" name="Text 3"/>
          <p:cNvSpPr/>
          <p:nvPr/>
        </p:nvSpPr>
        <p:spPr>
          <a:xfrm>
            <a:off x="10972800" y="6492240"/>
            <a:ext cx="914400" cy="274320"/>
          </a:xfrm>
          <a:prstGeom prst="rect">
            <a:avLst/>
          </a:prstGeom>
          <a:noFill/>
          <a:ln/>
        </p:spPr>
        <p:txBody>
          <a:bodyPr wrap="square" rtlCol="0" anchor="ctr"/>
          <a:lstStyle/>
          <a:p>
            <a:pPr algn="r" indent="0" marL="0">
              <a:buNone/>
            </a:pPr>
            <a:r>
              <a:rPr lang="en-US" sz="800" dirty="0">
                <a:solidFill>
                  <a:srgbClr val="A9B3B6"/>
                </a:solidFill>
                <a:latin typeface="Inter" pitchFamily="34" charset="0"/>
                <a:ea typeface="Inter" pitchFamily="34" charset="-122"/>
                <a:cs typeface="Inter" pitchFamily="34" charset="-120"/>
              </a:rPr>
              <a:t>10</a:t>
            </a:r>
            <a:endParaRPr lang="en-US" sz="800" dirty="0"/>
          </a:p>
        </p:txBody>
      </p:sp>
      <p:sp>
        <p:nvSpPr>
          <p:cNvPr id="7" name="Text 4"/>
          <p:cNvSpPr/>
          <p:nvPr/>
        </p:nvSpPr>
        <p:spPr>
          <a:xfrm>
            <a:off x="457200" y="182880"/>
            <a:ext cx="8412480" cy="594360"/>
          </a:xfrm>
          <a:prstGeom prst="rect">
            <a:avLst/>
          </a:prstGeom>
          <a:noFill/>
          <a:ln/>
        </p:spPr>
        <p:txBody>
          <a:bodyPr wrap="square" rtlCol="0" anchor="ctr"/>
          <a:lstStyle/>
          <a:p>
            <a:pPr indent="0" marL="0">
              <a:buNone/>
            </a:pPr>
            <a:r>
              <a:rPr lang="en-US" sz="2600" b="1" dirty="0">
                <a:solidFill>
                  <a:srgbClr val="19416C"/>
                </a:solidFill>
                <a:latin typeface="Inter" pitchFamily="34" charset="0"/>
                <a:ea typeface="Inter" pitchFamily="34" charset="-122"/>
                <a:cs typeface="Inter" pitchFamily="34" charset="-120"/>
              </a:rPr>
              <a:t>Assets — AI &amp; Agentic</a:t>
            </a:r>
            <a:endParaRPr lang="en-US" sz="2600" dirty="0"/>
          </a:p>
        </p:txBody>
      </p:sp>
      <p:sp>
        <p:nvSpPr>
          <p:cNvPr id="9" name="Shape 5"/>
          <p:cNvSpPr/>
          <p:nvPr/>
        </p:nvSpPr>
        <p:spPr>
          <a:xfrm>
            <a:off x="9006840" y="256032"/>
            <a:ext cx="2743200" cy="402336"/>
          </a:xfrm>
          <a:prstGeom prst="roundRect">
            <a:avLst>
              <a:gd name="adj" fmla="val 50000"/>
            </a:avLst>
          </a:prstGeom>
          <a:solidFill>
            <a:srgbClr val="19416C"/>
          </a:solidFill>
          <a:ln/>
        </p:spPr>
      </p:sp>
      <p:sp>
        <p:nvSpPr>
          <p:cNvPr id="10" name="Text 6"/>
          <p:cNvSpPr/>
          <p:nvPr/>
        </p:nvSpPr>
        <p:spPr>
          <a:xfrm>
            <a:off x="9006840" y="256032"/>
            <a:ext cx="2743200" cy="402336"/>
          </a:xfrm>
          <a:prstGeom prst="rect">
            <a:avLst/>
          </a:prstGeom>
          <a:noFill/>
          <a:ln/>
        </p:spPr>
        <p:txBody>
          <a:bodyPr wrap="square"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MCP: PREVIEW</a:t>
            </a:r>
            <a:endParaRPr lang="en-US" sz="1050" dirty="0"/>
          </a:p>
        </p:txBody>
      </p:sp>
      <p:sp>
        <p:nvSpPr>
          <p:cNvPr id="11" name="Text 7"/>
          <p:cNvSpPr/>
          <p:nvPr/>
        </p:nvSpPr>
        <p:spPr>
          <a:xfrm>
            <a:off x="457200" y="786384"/>
            <a:ext cx="8412480" cy="365760"/>
          </a:xfrm>
          <a:prstGeom prst="rect">
            <a:avLst/>
          </a:prstGeom>
          <a:noFill/>
          <a:ln/>
        </p:spPr>
        <p:txBody>
          <a:bodyPr wrap="square" rtlCol="0" anchor="ctr"/>
          <a:lstStyle/>
          <a:p>
            <a:pPr indent="0" marL="0">
              <a:buNone/>
            </a:pPr>
            <a:r>
              <a:rPr lang="en-US" sz="1300" i="1" dirty="0">
                <a:solidFill>
                  <a:srgbClr val="6B7280"/>
                </a:solidFill>
                <a:latin typeface="Inter" pitchFamily="34" charset="0"/>
                <a:ea typeface="Inter" pitchFamily="34" charset="-122"/>
                <a:cs typeface="Inter" pitchFamily="34" charset="-120"/>
              </a:rPr>
              <a:t>The intelligence layer: prediction, document intelligence, discovery, and the agentic data-engineering stack</a:t>
            </a:r>
            <a:endParaRPr lang="en-US" sz="1300" dirty="0"/>
          </a:p>
        </p:txBody>
      </p:sp>
      <p:sp>
        <p:nvSpPr>
          <p:cNvPr id="12" name="Shape 8"/>
          <p:cNvSpPr/>
          <p:nvPr/>
        </p:nvSpPr>
        <p:spPr>
          <a:xfrm>
            <a:off x="457200" y="1280160"/>
            <a:ext cx="5532120" cy="4023360"/>
          </a:xfrm>
          <a:prstGeom prst="roundRect">
            <a:avLst>
              <a:gd name="adj" fmla="val 2727"/>
            </a:avLst>
          </a:prstGeom>
          <a:solidFill>
            <a:srgbClr val="F6F7F8"/>
          </a:solidFill>
          <a:ln w="25400">
            <a:solidFill>
              <a:srgbClr val="009845"/>
            </a:solidFill>
            <a:prstDash val="solid"/>
          </a:ln>
        </p:spPr>
      </p:sp>
      <p:sp>
        <p:nvSpPr>
          <p:cNvPr id="13" name="Shape 9"/>
          <p:cNvSpPr/>
          <p:nvPr/>
        </p:nvSpPr>
        <p:spPr>
          <a:xfrm>
            <a:off x="548640" y="1371600"/>
            <a:ext cx="5349240" cy="457200"/>
          </a:xfrm>
          <a:prstGeom prst="roundRect">
            <a:avLst>
              <a:gd name="adj" fmla="val 12000"/>
            </a:avLst>
          </a:prstGeom>
          <a:solidFill>
            <a:srgbClr val="009845"/>
          </a:solidFill>
          <a:ln/>
        </p:spPr>
      </p:sp>
      <p:sp>
        <p:nvSpPr>
          <p:cNvPr id="14" name="Text 10"/>
          <p:cNvSpPr/>
          <p:nvPr/>
        </p:nvSpPr>
        <p:spPr>
          <a:xfrm>
            <a:off x="548640" y="1371600"/>
            <a:ext cx="5349240" cy="45720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AI capabilities</a:t>
            </a:r>
            <a:endParaRPr lang="en-US" sz="1400" dirty="0"/>
          </a:p>
        </p:txBody>
      </p:sp>
      <p:sp>
        <p:nvSpPr>
          <p:cNvPr id="15" name="Shape 11"/>
          <p:cNvSpPr/>
          <p:nvPr/>
        </p:nvSpPr>
        <p:spPr>
          <a:xfrm>
            <a:off x="621792" y="1426464"/>
            <a:ext cx="347472" cy="347472"/>
          </a:xfrm>
          <a:prstGeom prst="ellipse">
            <a:avLst/>
          </a:prstGeom>
          <a:solidFill>
            <a:srgbClr val="FFFFFF"/>
          </a:solidFill>
          <a:ln w="12700">
            <a:solidFill>
              <a:srgbClr val="FFFFFF"/>
            </a:solidFill>
            <a:prstDash val="solid"/>
          </a:ln>
          <a:effectLst>
            <a:outerShdw sx="100000" sy="100000" kx="0" ky="0" algn="bl" rotWithShape="0" blurRad="38100" dist="12700" dir="16200000">
              <a:srgbClr val="000000">
                <a:alpha val="15000"/>
              </a:srgbClr>
            </a:outerShdw>
          </a:effectLst>
        </p:spPr>
      </p:sp>
      <p:pic>
        <p:nvPicPr>
          <p:cNvPr id="16" name="Image 1" descr="C:\Claude\MCG Full Stack\generators\assets\icons\predict.png">    </p:cNvPr>
          <p:cNvPicPr>
            <a:picLocks noChangeAspect="1"/>
          </p:cNvPicPr>
          <p:nvPr/>
        </p:nvPicPr>
        <p:blipFill>
          <a:blip r:embed="rId2"/>
          <a:stretch>
            <a:fillRect/>
          </a:stretch>
        </p:blipFill>
        <p:spPr>
          <a:xfrm>
            <a:off x="687812" y="1492484"/>
            <a:ext cx="215433" cy="215433"/>
          </a:xfrm>
          <a:prstGeom prst="rect">
            <a:avLst/>
          </a:prstGeom>
        </p:spPr>
      </p:pic>
      <p:sp>
        <p:nvSpPr>
          <p:cNvPr id="17" name="Text 12"/>
          <p:cNvSpPr/>
          <p:nvPr/>
        </p:nvSpPr>
        <p:spPr>
          <a:xfrm>
            <a:off x="713232" y="199339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Qlik Predict — 2 AutoML models: Cold Chain Exceedance + Late Delivery</a:t>
            </a:r>
            <a:endParaRPr lang="en-US" sz="1150" dirty="0"/>
          </a:p>
        </p:txBody>
      </p:sp>
      <p:sp>
        <p:nvSpPr>
          <p:cNvPr id="18" name="Text 13"/>
          <p:cNvSpPr/>
          <p:nvPr/>
        </p:nvSpPr>
        <p:spPr>
          <a:xfrm>
            <a:off x="713232" y="2743200"/>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Qlik Answers — document intelligence over the 25-doc knowledge base</a:t>
            </a:r>
            <a:endParaRPr lang="en-US" sz="1150" dirty="0"/>
          </a:p>
        </p:txBody>
      </p:sp>
      <p:sp>
        <p:nvSpPr>
          <p:cNvPr id="19" name="Text 14"/>
          <p:cNvSpPr/>
          <p:nvPr/>
        </p:nvSpPr>
        <p:spPr>
          <a:xfrm>
            <a:off x="713232" y="3493008"/>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Discovery Agent — guided, conversational data exploration</a:t>
            </a:r>
            <a:endParaRPr lang="en-US" sz="1150" dirty="0"/>
          </a:p>
        </p:txBody>
      </p:sp>
      <p:sp>
        <p:nvSpPr>
          <p:cNvPr id="20" name="Text 15"/>
          <p:cNvSpPr/>
          <p:nvPr/>
        </p:nvSpPr>
        <p:spPr>
          <a:xfrm>
            <a:off x="713232" y="4242816"/>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Qlik MCP Server (preview) — governed Qlik context to any AI assistant</a:t>
            </a:r>
            <a:endParaRPr lang="en-US" sz="1150" dirty="0"/>
          </a:p>
        </p:txBody>
      </p:sp>
      <p:sp>
        <p:nvSpPr>
          <p:cNvPr id="21" name="Shape 16"/>
          <p:cNvSpPr/>
          <p:nvPr/>
        </p:nvSpPr>
        <p:spPr>
          <a:xfrm>
            <a:off x="6172200" y="1280160"/>
            <a:ext cx="5532120" cy="4023360"/>
          </a:xfrm>
          <a:prstGeom prst="roundRect">
            <a:avLst>
              <a:gd name="adj" fmla="val 2727"/>
            </a:avLst>
          </a:prstGeom>
          <a:solidFill>
            <a:srgbClr val="F6F7F8"/>
          </a:solidFill>
          <a:ln w="25400">
            <a:solidFill>
              <a:srgbClr val="006580"/>
            </a:solidFill>
            <a:prstDash val="solid"/>
          </a:ln>
        </p:spPr>
      </p:sp>
      <p:sp>
        <p:nvSpPr>
          <p:cNvPr id="22" name="Shape 17"/>
          <p:cNvSpPr/>
          <p:nvPr/>
        </p:nvSpPr>
        <p:spPr>
          <a:xfrm>
            <a:off x="6263640" y="1371600"/>
            <a:ext cx="5349240" cy="457200"/>
          </a:xfrm>
          <a:prstGeom prst="roundRect">
            <a:avLst>
              <a:gd name="adj" fmla="val 12000"/>
            </a:avLst>
          </a:prstGeom>
          <a:solidFill>
            <a:srgbClr val="006580"/>
          </a:solidFill>
          <a:ln/>
        </p:spPr>
      </p:sp>
      <p:sp>
        <p:nvSpPr>
          <p:cNvPr id="23" name="Text 18"/>
          <p:cNvSpPr/>
          <p:nvPr/>
        </p:nvSpPr>
        <p:spPr>
          <a:xfrm>
            <a:off x="6263640" y="1371600"/>
            <a:ext cx="5349240" cy="45720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Agentic Data Engineering</a:t>
            </a:r>
            <a:endParaRPr lang="en-US" sz="1400" dirty="0"/>
          </a:p>
        </p:txBody>
      </p:sp>
      <p:sp>
        <p:nvSpPr>
          <p:cNvPr id="24" name="Shape 19"/>
          <p:cNvSpPr/>
          <p:nvPr/>
        </p:nvSpPr>
        <p:spPr>
          <a:xfrm>
            <a:off x="6336792" y="1426464"/>
            <a:ext cx="347472" cy="347472"/>
          </a:xfrm>
          <a:prstGeom prst="ellipse">
            <a:avLst/>
          </a:prstGeom>
          <a:solidFill>
            <a:srgbClr val="FFFFFF"/>
          </a:solidFill>
          <a:ln w="12700">
            <a:solidFill>
              <a:srgbClr val="FFFFFF"/>
            </a:solidFill>
            <a:prstDash val="solid"/>
          </a:ln>
          <a:effectLst>
            <a:outerShdw sx="100000" sy="100000" kx="0" ky="0" algn="bl" rotWithShape="0" blurRad="38100" dist="12700" dir="16200000">
              <a:srgbClr val="000000">
                <a:alpha val="15000"/>
              </a:srgbClr>
            </a:outerShdw>
          </a:effectLst>
        </p:spPr>
      </p:sp>
      <p:pic>
        <p:nvPicPr>
          <p:cNvPr id="25" name="Image 2" descr="C:\Claude\MCG Full Stack\generators\assets\icons\agent.png">    </p:cNvPr>
          <p:cNvPicPr>
            <a:picLocks noChangeAspect="1"/>
          </p:cNvPicPr>
          <p:nvPr/>
        </p:nvPicPr>
        <p:blipFill>
          <a:blip r:embed="rId3"/>
          <a:stretch>
            <a:fillRect/>
          </a:stretch>
        </p:blipFill>
        <p:spPr>
          <a:xfrm>
            <a:off x="6402812" y="1492484"/>
            <a:ext cx="215433" cy="215433"/>
          </a:xfrm>
          <a:prstGeom prst="rect">
            <a:avLst/>
          </a:prstGeom>
        </p:spPr>
      </p:pic>
      <p:sp>
        <p:nvSpPr>
          <p:cNvPr id="26" name="Text 20"/>
          <p:cNvSpPr/>
          <p:nvPr/>
        </p:nvSpPr>
        <p:spPr>
          <a:xfrm>
            <a:off x="6428232" y="1993392"/>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Declarative pipelines authored by AI coding agents</a:t>
            </a:r>
            <a:endParaRPr lang="en-US" sz="1150" dirty="0"/>
          </a:p>
        </p:txBody>
      </p:sp>
      <p:sp>
        <p:nvSpPr>
          <p:cNvPr id="27" name="Text 21"/>
          <p:cNvSpPr/>
          <p:nvPr/>
        </p:nvSpPr>
        <p:spPr>
          <a:xfrm>
            <a:off x="6428232" y="2743200"/>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Data Product, Data Quality, and Catalog &amp; Business Glossary agents</a:t>
            </a:r>
            <a:endParaRPr lang="en-US" sz="1150" dirty="0"/>
          </a:p>
        </p:txBody>
      </p:sp>
      <p:sp>
        <p:nvSpPr>
          <p:cNvPr id="28" name="Text 22"/>
          <p:cNvSpPr/>
          <p:nvPr/>
        </p:nvSpPr>
        <p:spPr>
          <a:xfrm>
            <a:off x="6428232" y="3493008"/>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Delivered as Qlik Answers capabilities — not separate products</a:t>
            </a:r>
            <a:endParaRPr lang="en-US" sz="1150" dirty="0"/>
          </a:p>
        </p:txBody>
      </p:sp>
      <p:sp>
        <p:nvSpPr>
          <p:cNvPr id="29" name="Text 23"/>
          <p:cNvSpPr/>
          <p:nvPr/>
        </p:nvSpPr>
        <p:spPr>
          <a:xfrm>
            <a:off x="6428232" y="4242816"/>
            <a:ext cx="5074920" cy="502920"/>
          </a:xfrm>
          <a:prstGeom prst="rect">
            <a:avLst/>
          </a:prstGeom>
          <a:noFill/>
          <a:ln/>
        </p:spPr>
        <p:txBody>
          <a:bodyPr wrap="square" rtlCol="0" anchor="ctr"/>
          <a:lstStyle/>
          <a:p>
            <a:pPr indent="0" marL="0">
              <a:lnSpc>
                <a:spcPct val="102000"/>
              </a:lnSpc>
              <a:buNone/>
            </a:pPr>
            <a:r>
              <a:rPr lang="en-US" sz="1150" dirty="0">
                <a:solidFill>
                  <a:srgbClr val="454659"/>
                </a:solidFill>
                <a:latin typeface="Inter" pitchFamily="34" charset="0"/>
                <a:ea typeface="Inter" pitchFamily="34" charset="-122"/>
                <a:cs typeface="Inter" pitchFamily="34" charset="-120"/>
              </a:rPr>
              <a:t>▸  Talend Agentic Routes — LLM / RAG steps inside pipeline tasks</a:t>
            </a:r>
            <a:endParaRPr lang="en-US" sz="1150" dirty="0"/>
          </a:p>
        </p:txBody>
      </p:sp>
      <p:sp>
        <p:nvSpPr>
          <p:cNvPr id="30" name="Shape 24"/>
          <p:cNvSpPr/>
          <p:nvPr/>
        </p:nvSpPr>
        <p:spPr>
          <a:xfrm>
            <a:off x="457200" y="5486400"/>
            <a:ext cx="11247120" cy="548640"/>
          </a:xfrm>
          <a:prstGeom prst="roundRect">
            <a:avLst>
              <a:gd name="adj" fmla="val 13333"/>
            </a:avLst>
          </a:prstGeom>
          <a:solidFill>
            <a:srgbClr val="E0F8F7"/>
          </a:solidFill>
          <a:ln/>
        </p:spPr>
      </p:sp>
      <p:sp>
        <p:nvSpPr>
          <p:cNvPr id="31" name="Text 25"/>
          <p:cNvSpPr/>
          <p:nvPr/>
        </p:nvSpPr>
        <p:spPr>
          <a:xfrm>
            <a:off x="731520" y="5504688"/>
            <a:ext cx="10789920" cy="502920"/>
          </a:xfrm>
          <a:prstGeom prst="rect">
            <a:avLst/>
          </a:prstGeom>
          <a:noFill/>
          <a:ln/>
        </p:spPr>
        <p:txBody>
          <a:bodyPr wrap="square" rtlCol="0" anchor="ctr"/>
          <a:lstStyle/>
          <a:p>
            <a:pPr indent="0" marL="0">
              <a:buNone/>
            </a:pPr>
            <a:r>
              <a:rPr lang="en-US" sz="1100" b="1" dirty="0">
                <a:solidFill>
                  <a:srgbClr val="006580"/>
                </a:solidFill>
                <a:latin typeface="Inter" pitchFamily="34" charset="0"/>
                <a:ea typeface="Inter" pitchFamily="34" charset="-122"/>
                <a:cs typeface="Inter" pitchFamily="34" charset="-120"/>
              </a:rPr>
              <a:t>The Qlik MCP Server is a Qlik internal preview (June 2026). The three governance agents are Qlik Answers capabilities, not separate products or SKUs.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006580"/>
          </a:solidFill>
          <a:ln/>
        </p:spPr>
      </p:sp>
      <p:sp>
        <p:nvSpPr>
          <p:cNvPr id="3" name="Shape 1"/>
          <p:cNvSpPr/>
          <p:nvPr/>
        </p:nvSpPr>
        <p:spPr>
          <a:xfrm>
            <a:off x="457200" y="6400800"/>
            <a:ext cx="11274552" cy="9144"/>
          </a:xfrm>
          <a:prstGeom prst="rect">
            <a:avLst/>
          </a:prstGeom>
          <a:solidFill>
            <a:srgbClr val="A9B3B6"/>
          </a:solidFill>
          <a:ln/>
        </p:spPr>
      </p:sp>
      <p:pic>
        <p:nvPicPr>
          <p:cNvPr id="4" name="Image 0" descr="C:\Claude\MCG Full Stack\generators\assets\qlik_logo.png">    </p:cNvPr>
          <p:cNvPicPr>
            <a:picLocks noChangeAspect="1"/>
          </p:cNvPicPr>
          <p:nvPr/>
        </p:nvPicPr>
        <p:blipFill>
          <a:blip r:embed="rId1"/>
          <a:stretch>
            <a:fillRect/>
          </a:stretch>
        </p:blipFill>
        <p:spPr>
          <a:xfrm>
            <a:off x="457200" y="6492240"/>
            <a:ext cx="493776" cy="274320"/>
          </a:xfrm>
          <a:prstGeom prst="rect">
            <a:avLst/>
          </a:prstGeom>
        </p:spPr>
      </p:pic>
      <p:sp>
        <p:nvSpPr>
          <p:cNvPr id="5" name="Text 2"/>
          <p:cNvSpPr/>
          <p:nvPr/>
        </p:nvSpPr>
        <p:spPr>
          <a:xfrm>
            <a:off x="1280160" y="6492240"/>
            <a:ext cx="7315200" cy="274320"/>
          </a:xfrm>
          <a:prstGeom prst="rect">
            <a:avLst/>
          </a:prstGeom>
          <a:noFill/>
          <a:ln/>
        </p:spPr>
        <p:txBody>
          <a:bodyPr wrap="square" rtlCol="0" anchor="ctr"/>
          <a:lstStyle/>
          <a:p>
            <a:pPr indent="0" marL="0">
              <a:buNone/>
            </a:pPr>
            <a:r>
              <a:rPr lang="en-US" sz="800" dirty="0">
                <a:solidFill>
                  <a:srgbClr val="A9B3B6"/>
                </a:solidFill>
                <a:latin typeface="Inter" pitchFamily="34" charset="0"/>
                <a:ea typeface="Inter" pitchFamily="34" charset="-122"/>
                <a:cs typeface="Inter" pitchFamily="34" charset="-120"/>
              </a:rPr>
              <a:t>Project Qlarity  •  MCG Demo  •  Qlik Cloud</a:t>
            </a:r>
            <a:endParaRPr lang="en-US" sz="800" dirty="0"/>
          </a:p>
        </p:txBody>
      </p:sp>
      <p:sp>
        <p:nvSpPr>
          <p:cNvPr id="6" name="Text 3"/>
          <p:cNvSpPr/>
          <p:nvPr/>
        </p:nvSpPr>
        <p:spPr>
          <a:xfrm>
            <a:off x="10972800" y="6492240"/>
            <a:ext cx="914400" cy="274320"/>
          </a:xfrm>
          <a:prstGeom prst="rect">
            <a:avLst/>
          </a:prstGeom>
          <a:noFill/>
          <a:ln/>
        </p:spPr>
        <p:txBody>
          <a:bodyPr wrap="square" rtlCol="0" anchor="ctr"/>
          <a:lstStyle/>
          <a:p>
            <a:pPr algn="r" indent="0" marL="0">
              <a:buNone/>
            </a:pPr>
            <a:r>
              <a:rPr lang="en-US" sz="800" dirty="0">
                <a:solidFill>
                  <a:srgbClr val="A9B3B6"/>
                </a:solidFill>
                <a:latin typeface="Inter" pitchFamily="34" charset="0"/>
                <a:ea typeface="Inter" pitchFamily="34" charset="-122"/>
                <a:cs typeface="Inter" pitchFamily="34" charset="-120"/>
              </a:rPr>
              <a:t>11</a:t>
            </a:r>
            <a:endParaRPr lang="en-US" sz="800" dirty="0"/>
          </a:p>
        </p:txBody>
      </p:sp>
      <p:sp>
        <p:nvSpPr>
          <p:cNvPr id="7" name="Text 4"/>
          <p:cNvSpPr/>
          <p:nvPr/>
        </p:nvSpPr>
        <p:spPr>
          <a:xfrm>
            <a:off x="457200" y="182880"/>
            <a:ext cx="8412480" cy="594360"/>
          </a:xfrm>
          <a:prstGeom prst="rect">
            <a:avLst/>
          </a:prstGeom>
          <a:noFill/>
          <a:ln/>
        </p:spPr>
        <p:txBody>
          <a:bodyPr wrap="square" rtlCol="0" anchor="ctr"/>
          <a:lstStyle/>
          <a:p>
            <a:pPr indent="0" marL="0">
              <a:buNone/>
            </a:pPr>
            <a:r>
              <a:rPr lang="en-US" sz="2600" b="1" dirty="0">
                <a:solidFill>
                  <a:srgbClr val="19416C"/>
                </a:solidFill>
                <a:latin typeface="Inter" pitchFamily="34" charset="0"/>
                <a:ea typeface="Inter" pitchFamily="34" charset="-122"/>
                <a:cs typeface="Inter" pitchFamily="34" charset="-120"/>
              </a:rPr>
              <a:t>How It Deploys — One Repo, One Command</a:t>
            </a:r>
            <a:endParaRPr lang="en-US" sz="2600" dirty="0"/>
          </a:p>
        </p:txBody>
      </p:sp>
      <p:sp>
        <p:nvSpPr>
          <p:cNvPr id="9" name="Text 5"/>
          <p:cNvSpPr/>
          <p:nvPr/>
        </p:nvSpPr>
        <p:spPr>
          <a:xfrm>
            <a:off x="457200" y="786384"/>
            <a:ext cx="11247120" cy="365760"/>
          </a:xfrm>
          <a:prstGeom prst="rect">
            <a:avLst/>
          </a:prstGeom>
          <a:noFill/>
          <a:ln/>
        </p:spPr>
        <p:txBody>
          <a:bodyPr wrap="square" rtlCol="0" anchor="ctr"/>
          <a:lstStyle/>
          <a:p>
            <a:pPr indent="0" marL="0">
              <a:buNone/>
            </a:pPr>
            <a:r>
              <a:rPr lang="en-US" sz="1300" i="1" dirty="0">
                <a:solidFill>
                  <a:srgbClr val="6B7280"/>
                </a:solidFill>
                <a:latin typeface="Inter" pitchFamily="34" charset="0"/>
                <a:ea typeface="Inter" pitchFamily="34" charset="-122"/>
                <a:cs typeface="Inter" pitchFamily="34" charset="-120"/>
              </a:rPr>
              <a:t>The whole environment stands up from a single repository with a single command</a:t>
            </a:r>
            <a:endParaRPr lang="en-US" sz="1300" dirty="0"/>
          </a:p>
        </p:txBody>
      </p:sp>
      <p:sp>
        <p:nvSpPr>
          <p:cNvPr id="10" name="Shape 6"/>
          <p:cNvSpPr/>
          <p:nvPr/>
        </p:nvSpPr>
        <p:spPr>
          <a:xfrm>
            <a:off x="3803904" y="1280160"/>
            <a:ext cx="4572000" cy="1097280"/>
          </a:xfrm>
          <a:prstGeom prst="roundRect">
            <a:avLst>
              <a:gd name="adj" fmla="val 10000"/>
            </a:avLst>
          </a:prstGeom>
          <a:solidFill>
            <a:srgbClr val="19416C"/>
          </a:solidFill>
          <a:ln/>
          <a:effectLst>
            <a:outerShdw sx="100000" sy="100000" kx="0" ky="0" algn="bl" rotWithShape="0" blurRad="63500" dist="25400" dir="16200000">
              <a:srgbClr val="000000">
                <a:alpha val="18000"/>
              </a:srgbClr>
            </a:outerShdw>
          </a:effectLst>
        </p:spPr>
      </p:sp>
      <p:sp>
        <p:nvSpPr>
          <p:cNvPr id="11" name="Text 7"/>
          <p:cNvSpPr/>
          <p:nvPr/>
        </p:nvSpPr>
        <p:spPr>
          <a:xfrm>
            <a:off x="3803904" y="1371600"/>
            <a:ext cx="4572000" cy="502920"/>
          </a:xfrm>
          <a:prstGeom prst="rect">
            <a:avLst/>
          </a:prstGeom>
          <a:noFill/>
          <a:ln/>
        </p:spPr>
        <p:txBody>
          <a:bodyPr wrap="square" rtlCol="0" anchor="ctr"/>
          <a:lstStyle/>
          <a:p>
            <a:pPr algn="ctr" indent="0" marL="0">
              <a:buNone/>
            </a:pPr>
            <a:r>
              <a:rPr lang="en-US" sz="2400" b="1" dirty="0">
                <a:solidFill>
                  <a:srgbClr val="FFFFFF"/>
                </a:solidFill>
                <a:latin typeface="Inter" pitchFamily="34" charset="0"/>
                <a:ea typeface="Inter" pitchFamily="34" charset="-122"/>
                <a:cs typeface="Inter" pitchFamily="34" charset="-120"/>
              </a:rPr>
              <a:t>npm run deploy</a:t>
            </a:r>
            <a:endParaRPr lang="en-US" sz="2400" dirty="0"/>
          </a:p>
        </p:txBody>
      </p:sp>
      <p:sp>
        <p:nvSpPr>
          <p:cNvPr id="12" name="Text 8"/>
          <p:cNvSpPr/>
          <p:nvPr/>
        </p:nvSpPr>
        <p:spPr>
          <a:xfrm>
            <a:off x="3803904" y="1901952"/>
            <a:ext cx="4572000" cy="411480"/>
          </a:xfrm>
          <a:prstGeom prst="rect">
            <a:avLst/>
          </a:prstGeom>
          <a:noFill/>
          <a:ln/>
        </p:spPr>
        <p:txBody>
          <a:bodyPr wrap="square" rtlCol="0" anchor="ctr"/>
          <a:lstStyle/>
          <a:p>
            <a:pPr algn="ctr" indent="0" marL="0">
              <a:buNone/>
            </a:pPr>
            <a:r>
              <a:rPr lang="en-US" sz="1050" dirty="0">
                <a:solidFill>
                  <a:srgbClr val="10CFC9"/>
                </a:solidFill>
                <a:latin typeface="Inter" pitchFamily="34" charset="0"/>
                <a:ea typeface="Inter" pitchFamily="34" charset="-122"/>
                <a:cs typeface="Inter" pitchFamily="34" charset="-120"/>
              </a:rPr>
              <a:t>one git repository · dry-run first · deploy-to-qlik.js engine</a:t>
            </a:r>
            <a:endParaRPr lang="en-US" sz="1050" dirty="0"/>
          </a:p>
        </p:txBody>
      </p:sp>
      <p:sp>
        <p:nvSpPr>
          <p:cNvPr id="13" name="Shape 9"/>
          <p:cNvSpPr/>
          <p:nvPr/>
        </p:nvSpPr>
        <p:spPr>
          <a:xfrm>
            <a:off x="640080" y="2743200"/>
            <a:ext cx="3538728" cy="2148840"/>
          </a:xfrm>
          <a:prstGeom prst="roundRect">
            <a:avLst>
              <a:gd name="adj" fmla="val 5106"/>
            </a:avLst>
          </a:prstGeom>
          <a:solidFill>
            <a:srgbClr val="F6F7F8"/>
          </a:solidFill>
          <a:ln w="25400">
            <a:solidFill>
              <a:srgbClr val="006580"/>
            </a:solidFill>
            <a:prstDash val="solid"/>
          </a:ln>
        </p:spPr>
      </p:sp>
      <p:sp>
        <p:nvSpPr>
          <p:cNvPr id="14" name="Shape 10"/>
          <p:cNvSpPr/>
          <p:nvPr/>
        </p:nvSpPr>
        <p:spPr>
          <a:xfrm>
            <a:off x="868680" y="2926080"/>
            <a:ext cx="502920" cy="502920"/>
          </a:xfrm>
          <a:prstGeom prst="ellipse">
            <a:avLst/>
          </a:prstGeom>
          <a:solidFill>
            <a:srgbClr val="FFFFFF"/>
          </a:solidFill>
          <a:ln w="12700">
            <a:solidFill>
              <a:srgbClr val="006580"/>
            </a:solidFill>
            <a:prstDash val="solid"/>
          </a:ln>
          <a:effectLst>
            <a:outerShdw sx="100000" sy="100000" kx="0" ky="0" algn="bl" rotWithShape="0" blurRad="38100" dist="12700" dir="16200000">
              <a:srgbClr val="000000">
                <a:alpha val="15000"/>
              </a:srgbClr>
            </a:outerShdw>
          </a:effectLst>
        </p:spPr>
      </p:sp>
      <p:pic>
        <p:nvPicPr>
          <p:cNvPr id="15" name="Image 1" descr="C:\Claude\MCG Full Stack\generators\assets\icons\gateway.png">    </p:cNvPr>
          <p:cNvPicPr>
            <a:picLocks noChangeAspect="1"/>
          </p:cNvPicPr>
          <p:nvPr/>
        </p:nvPicPr>
        <p:blipFill>
          <a:blip r:embed="rId2"/>
          <a:stretch>
            <a:fillRect/>
          </a:stretch>
        </p:blipFill>
        <p:spPr>
          <a:xfrm>
            <a:off x="964235" y="3021635"/>
            <a:ext cx="311810" cy="311810"/>
          </a:xfrm>
          <a:prstGeom prst="rect">
            <a:avLst/>
          </a:prstGeom>
        </p:spPr>
      </p:pic>
      <p:sp>
        <p:nvSpPr>
          <p:cNvPr id="16" name="Text 11"/>
          <p:cNvSpPr/>
          <p:nvPr/>
        </p:nvSpPr>
        <p:spPr>
          <a:xfrm>
            <a:off x="1508760" y="2971800"/>
            <a:ext cx="2560320" cy="502920"/>
          </a:xfrm>
          <a:prstGeom prst="rect">
            <a:avLst/>
          </a:prstGeom>
          <a:noFill/>
          <a:ln/>
        </p:spPr>
        <p:txBody>
          <a:bodyPr wrap="square" rtlCol="0" anchor="ctr"/>
          <a:lstStyle/>
          <a:p>
            <a:pPr indent="0" marL="0">
              <a:buNone/>
            </a:pPr>
            <a:r>
              <a:rPr lang="en-US" sz="1500" b="1" dirty="0">
                <a:solidFill>
                  <a:srgbClr val="006580"/>
                </a:solidFill>
                <a:latin typeface="Inter" pitchFamily="34" charset="0"/>
                <a:ea typeface="Inter" pitchFamily="34" charset="-122"/>
                <a:cs typeface="Inter" pitchFamily="34" charset="-120"/>
              </a:rPr>
              <a:t>MCG Deploy console</a:t>
            </a:r>
            <a:endParaRPr lang="en-US" sz="1500" dirty="0"/>
          </a:p>
        </p:txBody>
      </p:sp>
      <p:sp>
        <p:nvSpPr>
          <p:cNvPr id="17" name="Text 12"/>
          <p:cNvSpPr/>
          <p:nvPr/>
        </p:nvSpPr>
        <p:spPr>
          <a:xfrm>
            <a:off x="868680" y="3611880"/>
            <a:ext cx="3108960" cy="1143000"/>
          </a:xfrm>
          <a:prstGeom prst="rect">
            <a:avLst/>
          </a:prstGeom>
          <a:noFill/>
          <a:ln/>
        </p:spPr>
        <p:txBody>
          <a:bodyPr wrap="square" rtlCol="0" anchor="t"/>
          <a:lstStyle/>
          <a:p>
            <a:pPr indent="0" marL="0">
              <a:lnSpc>
                <a:spcPct val="105000"/>
              </a:lnSpc>
              <a:buNone/>
            </a:pPr>
            <a:r>
              <a:rPr lang="en-US" sz="1150" dirty="0">
                <a:solidFill>
                  <a:srgbClr val="454659"/>
                </a:solidFill>
                <a:latin typeface="Inter" pitchFamily="34" charset="0"/>
                <a:ea typeface="Inter" pitchFamily="34" charset="-122"/>
                <a:cs typeface="Inter" pitchFamily="34" charset="-120"/>
              </a:rPr>
              <a:t>A self-hosted web wizard on port 3939 walks you through the deployment step by step.</a:t>
            </a:r>
            <a:endParaRPr lang="en-US" sz="1150" dirty="0"/>
          </a:p>
        </p:txBody>
      </p:sp>
      <p:sp>
        <p:nvSpPr>
          <p:cNvPr id="18" name="Shape 13"/>
          <p:cNvSpPr/>
          <p:nvPr/>
        </p:nvSpPr>
        <p:spPr>
          <a:xfrm>
            <a:off x="4361688" y="2743200"/>
            <a:ext cx="3538728" cy="2148840"/>
          </a:xfrm>
          <a:prstGeom prst="roundRect">
            <a:avLst>
              <a:gd name="adj" fmla="val 5106"/>
            </a:avLst>
          </a:prstGeom>
          <a:solidFill>
            <a:srgbClr val="F6F7F8"/>
          </a:solidFill>
          <a:ln w="25400">
            <a:solidFill>
              <a:srgbClr val="009845"/>
            </a:solidFill>
            <a:prstDash val="solid"/>
          </a:ln>
        </p:spPr>
      </p:sp>
      <p:sp>
        <p:nvSpPr>
          <p:cNvPr id="19" name="Shape 14"/>
          <p:cNvSpPr/>
          <p:nvPr/>
        </p:nvSpPr>
        <p:spPr>
          <a:xfrm>
            <a:off x="4590288" y="2926080"/>
            <a:ext cx="502920" cy="502920"/>
          </a:xfrm>
          <a:prstGeom prst="ellipse">
            <a:avLst/>
          </a:prstGeom>
          <a:solidFill>
            <a:srgbClr val="FFFFFF"/>
          </a:solidFill>
          <a:ln w="12700">
            <a:solidFill>
              <a:srgbClr val="009845"/>
            </a:solidFill>
            <a:prstDash val="solid"/>
          </a:ln>
          <a:effectLst>
            <a:outerShdw sx="100000" sy="100000" kx="0" ky="0" algn="bl" rotWithShape="0" blurRad="38100" dist="12700" dir="16200000">
              <a:srgbClr val="000000">
                <a:alpha val="15000"/>
              </a:srgbClr>
            </a:outerShdw>
          </a:effectLst>
        </p:spPr>
      </p:sp>
      <p:pic>
        <p:nvPicPr>
          <p:cNvPr id="20" name="Image 2" descr="C:\Claude\MCG Full Stack\generators\assets\icons\governance.png">    </p:cNvPr>
          <p:cNvPicPr>
            <a:picLocks noChangeAspect="1"/>
          </p:cNvPicPr>
          <p:nvPr/>
        </p:nvPicPr>
        <p:blipFill>
          <a:blip r:embed="rId3"/>
          <a:stretch>
            <a:fillRect/>
          </a:stretch>
        </p:blipFill>
        <p:spPr>
          <a:xfrm>
            <a:off x="4685843" y="3021635"/>
            <a:ext cx="311810" cy="311810"/>
          </a:xfrm>
          <a:prstGeom prst="rect">
            <a:avLst/>
          </a:prstGeom>
        </p:spPr>
      </p:pic>
      <p:sp>
        <p:nvSpPr>
          <p:cNvPr id="21" name="Text 15"/>
          <p:cNvSpPr/>
          <p:nvPr/>
        </p:nvSpPr>
        <p:spPr>
          <a:xfrm>
            <a:off x="5230368" y="2971800"/>
            <a:ext cx="2560320" cy="502920"/>
          </a:xfrm>
          <a:prstGeom prst="rect">
            <a:avLst/>
          </a:prstGeom>
          <a:noFill/>
          <a:ln/>
        </p:spPr>
        <p:txBody>
          <a:bodyPr wrap="square" rtlCol="0" anchor="ctr"/>
          <a:lstStyle/>
          <a:p>
            <a:pPr indent="0" marL="0">
              <a:buNone/>
            </a:pPr>
            <a:r>
              <a:rPr lang="en-US" sz="1500" b="1" dirty="0">
                <a:solidFill>
                  <a:srgbClr val="009845"/>
                </a:solidFill>
                <a:latin typeface="Inter" pitchFamily="34" charset="0"/>
                <a:ea typeface="Inter" pitchFamily="34" charset="-122"/>
                <a:cs typeface="Inter" pitchFamily="34" charset="-120"/>
              </a:rPr>
              <a:t>Dry-run first</a:t>
            </a:r>
            <a:endParaRPr lang="en-US" sz="1500" dirty="0"/>
          </a:p>
        </p:txBody>
      </p:sp>
      <p:sp>
        <p:nvSpPr>
          <p:cNvPr id="22" name="Text 16"/>
          <p:cNvSpPr/>
          <p:nvPr/>
        </p:nvSpPr>
        <p:spPr>
          <a:xfrm>
            <a:off x="4590288" y="3611880"/>
            <a:ext cx="3108960" cy="1143000"/>
          </a:xfrm>
          <a:prstGeom prst="rect">
            <a:avLst/>
          </a:prstGeom>
          <a:noFill/>
          <a:ln/>
        </p:spPr>
        <p:txBody>
          <a:bodyPr wrap="square" rtlCol="0" anchor="t"/>
          <a:lstStyle/>
          <a:p>
            <a:pPr indent="0" marL="0">
              <a:lnSpc>
                <a:spcPct val="105000"/>
              </a:lnSpc>
              <a:buNone/>
            </a:pPr>
            <a:r>
              <a:rPr lang="en-US" sz="1150" dirty="0">
                <a:solidFill>
                  <a:srgbClr val="454659"/>
                </a:solidFill>
                <a:latin typeface="Inter" pitchFamily="34" charset="0"/>
                <a:ea typeface="Inter" pitchFamily="34" charset="-122"/>
                <a:cs typeface="Inter" pitchFamily="34" charset="-120"/>
              </a:rPr>
              <a:t>Preview every change before anything is written — validate, then commit for real.</a:t>
            </a:r>
            <a:endParaRPr lang="en-US" sz="1150" dirty="0"/>
          </a:p>
        </p:txBody>
      </p:sp>
      <p:sp>
        <p:nvSpPr>
          <p:cNvPr id="23" name="Shape 17"/>
          <p:cNvSpPr/>
          <p:nvPr/>
        </p:nvSpPr>
        <p:spPr>
          <a:xfrm>
            <a:off x="8083296" y="2743200"/>
            <a:ext cx="3538728" cy="2148840"/>
          </a:xfrm>
          <a:prstGeom prst="roundRect">
            <a:avLst>
              <a:gd name="adj" fmla="val 5106"/>
            </a:avLst>
          </a:prstGeom>
          <a:solidFill>
            <a:srgbClr val="F6F7F8"/>
          </a:solidFill>
          <a:ln w="25400">
            <a:solidFill>
              <a:srgbClr val="4CB393"/>
            </a:solidFill>
            <a:prstDash val="solid"/>
          </a:ln>
        </p:spPr>
      </p:sp>
      <p:sp>
        <p:nvSpPr>
          <p:cNvPr id="24" name="Shape 18"/>
          <p:cNvSpPr/>
          <p:nvPr/>
        </p:nvSpPr>
        <p:spPr>
          <a:xfrm>
            <a:off x="8311896" y="2926080"/>
            <a:ext cx="502920" cy="502920"/>
          </a:xfrm>
          <a:prstGeom prst="ellipse">
            <a:avLst/>
          </a:prstGeom>
          <a:solidFill>
            <a:srgbClr val="FFFFFF"/>
          </a:solidFill>
          <a:ln w="12700">
            <a:solidFill>
              <a:srgbClr val="4CB393"/>
            </a:solidFill>
            <a:prstDash val="solid"/>
          </a:ln>
          <a:effectLst>
            <a:outerShdw sx="100000" sy="100000" kx="0" ky="0" algn="bl" rotWithShape="0" blurRad="38100" dist="12700" dir="16200000">
              <a:srgbClr val="000000">
                <a:alpha val="15000"/>
              </a:srgbClr>
            </a:outerShdw>
          </a:effectLst>
        </p:spPr>
      </p:sp>
      <p:pic>
        <p:nvPicPr>
          <p:cNvPr id="25" name="Image 3" descr="C:\Claude\MCG Full Stack\generators\assets\icons\pipeline.png">    </p:cNvPr>
          <p:cNvPicPr>
            <a:picLocks noChangeAspect="1"/>
          </p:cNvPicPr>
          <p:nvPr/>
        </p:nvPicPr>
        <p:blipFill>
          <a:blip r:embed="rId4"/>
          <a:stretch>
            <a:fillRect/>
          </a:stretch>
        </p:blipFill>
        <p:spPr>
          <a:xfrm>
            <a:off x="8407451" y="3021635"/>
            <a:ext cx="311810" cy="311810"/>
          </a:xfrm>
          <a:prstGeom prst="rect">
            <a:avLst/>
          </a:prstGeom>
        </p:spPr>
      </p:pic>
      <p:sp>
        <p:nvSpPr>
          <p:cNvPr id="26" name="Text 19"/>
          <p:cNvSpPr/>
          <p:nvPr/>
        </p:nvSpPr>
        <p:spPr>
          <a:xfrm>
            <a:off x="8951976" y="2971800"/>
            <a:ext cx="2560320" cy="502920"/>
          </a:xfrm>
          <a:prstGeom prst="rect">
            <a:avLst/>
          </a:prstGeom>
          <a:noFill/>
          <a:ln/>
        </p:spPr>
        <p:txBody>
          <a:bodyPr wrap="square" rtlCol="0" anchor="ctr"/>
          <a:lstStyle/>
          <a:p>
            <a:pPr indent="0" marL="0">
              <a:buNone/>
            </a:pPr>
            <a:r>
              <a:rPr lang="en-US" sz="1500" b="1" dirty="0">
                <a:solidFill>
                  <a:srgbClr val="4CB393"/>
                </a:solidFill>
                <a:latin typeface="Inter" pitchFamily="34" charset="0"/>
                <a:ea typeface="Inter" pitchFamily="34" charset="-122"/>
                <a:cs typeface="Inter" pitchFamily="34" charset="-120"/>
              </a:rPr>
              <a:t>Declarative pipelines</a:t>
            </a:r>
            <a:endParaRPr lang="en-US" sz="1500" dirty="0"/>
          </a:p>
        </p:txBody>
      </p:sp>
      <p:sp>
        <p:nvSpPr>
          <p:cNvPr id="27" name="Text 20"/>
          <p:cNvSpPr/>
          <p:nvPr/>
        </p:nvSpPr>
        <p:spPr>
          <a:xfrm>
            <a:off x="8311896" y="3611880"/>
            <a:ext cx="3108960" cy="1143000"/>
          </a:xfrm>
          <a:prstGeom prst="rect">
            <a:avLst/>
          </a:prstGeom>
          <a:noFill/>
          <a:ln/>
        </p:spPr>
        <p:txBody>
          <a:bodyPr wrap="square" rtlCol="0" anchor="t"/>
          <a:lstStyle/>
          <a:p>
            <a:pPr indent="0" marL="0">
              <a:lnSpc>
                <a:spcPct val="105000"/>
              </a:lnSpc>
              <a:buNone/>
            </a:pPr>
            <a:r>
              <a:rPr lang="en-US" sz="1150" dirty="0">
                <a:solidFill>
                  <a:srgbClr val="454659"/>
                </a:solidFill>
                <a:latin typeface="Inter" pitchFamily="34" charset="0"/>
                <a:ea typeface="Inter" pitchFamily="34" charset="-122"/>
                <a:cs typeface="Inter" pitchFamily="34" charset="-120"/>
              </a:rPr>
              <a:t>The QTCP pipeline projects are imported via API as part of the same deployment.</a:t>
            </a:r>
            <a:endParaRPr lang="en-US" sz="1150" dirty="0"/>
          </a:p>
        </p:txBody>
      </p:sp>
      <p:sp>
        <p:nvSpPr>
          <p:cNvPr id="28" name="Shape 21"/>
          <p:cNvSpPr/>
          <p:nvPr/>
        </p:nvSpPr>
        <p:spPr>
          <a:xfrm>
            <a:off x="457200" y="5212080"/>
            <a:ext cx="11247120" cy="548640"/>
          </a:xfrm>
          <a:prstGeom prst="roundRect">
            <a:avLst>
              <a:gd name="adj" fmla="val 13333"/>
            </a:avLst>
          </a:prstGeom>
          <a:solidFill>
            <a:srgbClr val="E0F8F7"/>
          </a:solidFill>
          <a:ln/>
        </p:spPr>
      </p:sp>
      <p:sp>
        <p:nvSpPr>
          <p:cNvPr id="29" name="Text 22"/>
          <p:cNvSpPr/>
          <p:nvPr/>
        </p:nvSpPr>
        <p:spPr>
          <a:xfrm>
            <a:off x="731520" y="5230368"/>
            <a:ext cx="10789920" cy="502920"/>
          </a:xfrm>
          <a:prstGeom prst="rect">
            <a:avLst/>
          </a:prstGeom>
          <a:noFill/>
          <a:ln/>
        </p:spPr>
        <p:txBody>
          <a:bodyPr wrap="square" rtlCol="0" anchor="ctr"/>
          <a:lstStyle/>
          <a:p>
            <a:pPr indent="0" marL="0">
              <a:buNone/>
            </a:pPr>
            <a:r>
              <a:rPr lang="en-US" sz="1100" b="1" dirty="0">
                <a:solidFill>
                  <a:srgbClr val="006580"/>
                </a:solidFill>
                <a:latin typeface="Inter" pitchFamily="34" charset="0"/>
                <a:ea typeface="Inter" pitchFamily="34" charset="-122"/>
                <a:cs typeface="Inter" pitchFamily="34" charset="-120"/>
              </a:rPr>
              <a:t>From clone to a live, presentable Qlik Cloud demo: one repository, one command, dry-run safety, and the full stack imported for you.</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009845"/>
          </a:solidFill>
          <a:ln/>
        </p:spPr>
      </p:sp>
      <p:sp>
        <p:nvSpPr>
          <p:cNvPr id="3" name="Shape 1"/>
          <p:cNvSpPr/>
          <p:nvPr/>
        </p:nvSpPr>
        <p:spPr>
          <a:xfrm>
            <a:off x="457200" y="6400800"/>
            <a:ext cx="11274552" cy="9144"/>
          </a:xfrm>
          <a:prstGeom prst="rect">
            <a:avLst/>
          </a:prstGeom>
          <a:solidFill>
            <a:srgbClr val="A9B3B6"/>
          </a:solidFill>
          <a:ln/>
        </p:spPr>
      </p:sp>
      <p:pic>
        <p:nvPicPr>
          <p:cNvPr id="4" name="Image 0" descr="C:\Claude\MCG Full Stack\generators\assets\qlik_logo.png">    </p:cNvPr>
          <p:cNvPicPr>
            <a:picLocks noChangeAspect="1"/>
          </p:cNvPicPr>
          <p:nvPr/>
        </p:nvPicPr>
        <p:blipFill>
          <a:blip r:embed="rId1"/>
          <a:stretch>
            <a:fillRect/>
          </a:stretch>
        </p:blipFill>
        <p:spPr>
          <a:xfrm>
            <a:off x="457200" y="6492240"/>
            <a:ext cx="493776" cy="274320"/>
          </a:xfrm>
          <a:prstGeom prst="rect">
            <a:avLst/>
          </a:prstGeom>
        </p:spPr>
      </p:pic>
      <p:sp>
        <p:nvSpPr>
          <p:cNvPr id="5" name="Text 2"/>
          <p:cNvSpPr/>
          <p:nvPr/>
        </p:nvSpPr>
        <p:spPr>
          <a:xfrm>
            <a:off x="1280160" y="6492240"/>
            <a:ext cx="7315200" cy="274320"/>
          </a:xfrm>
          <a:prstGeom prst="rect">
            <a:avLst/>
          </a:prstGeom>
          <a:noFill/>
          <a:ln/>
        </p:spPr>
        <p:txBody>
          <a:bodyPr wrap="square" rtlCol="0" anchor="ctr"/>
          <a:lstStyle/>
          <a:p>
            <a:pPr indent="0" marL="0">
              <a:buNone/>
            </a:pPr>
            <a:r>
              <a:rPr lang="en-US" sz="800" dirty="0">
                <a:solidFill>
                  <a:srgbClr val="A9B3B6"/>
                </a:solidFill>
                <a:latin typeface="Inter" pitchFamily="34" charset="0"/>
                <a:ea typeface="Inter" pitchFamily="34" charset="-122"/>
                <a:cs typeface="Inter" pitchFamily="34" charset="-120"/>
              </a:rPr>
              <a:t>Project Qlarity  •  MCG Demo  •  Qlik Cloud</a:t>
            </a:r>
            <a:endParaRPr lang="en-US" sz="800" dirty="0"/>
          </a:p>
        </p:txBody>
      </p:sp>
      <p:sp>
        <p:nvSpPr>
          <p:cNvPr id="6" name="Text 3"/>
          <p:cNvSpPr/>
          <p:nvPr/>
        </p:nvSpPr>
        <p:spPr>
          <a:xfrm>
            <a:off x="10972800" y="6492240"/>
            <a:ext cx="914400" cy="274320"/>
          </a:xfrm>
          <a:prstGeom prst="rect">
            <a:avLst/>
          </a:prstGeom>
          <a:noFill/>
          <a:ln/>
        </p:spPr>
        <p:txBody>
          <a:bodyPr wrap="square" rtlCol="0" anchor="ctr"/>
          <a:lstStyle/>
          <a:p>
            <a:pPr algn="r" indent="0" marL="0">
              <a:buNone/>
            </a:pPr>
            <a:r>
              <a:rPr lang="en-US" sz="800" dirty="0">
                <a:solidFill>
                  <a:srgbClr val="A9B3B6"/>
                </a:solidFill>
                <a:latin typeface="Inter" pitchFamily="34" charset="0"/>
                <a:ea typeface="Inter" pitchFamily="34" charset="-122"/>
                <a:cs typeface="Inter" pitchFamily="34" charset="-120"/>
              </a:rPr>
              <a:t>12</a:t>
            </a:r>
            <a:endParaRPr lang="en-US" sz="800" dirty="0"/>
          </a:p>
        </p:txBody>
      </p:sp>
      <p:sp>
        <p:nvSpPr>
          <p:cNvPr id="7" name="Text 4"/>
          <p:cNvSpPr/>
          <p:nvPr/>
        </p:nvSpPr>
        <p:spPr>
          <a:xfrm>
            <a:off x="457200" y="182880"/>
            <a:ext cx="8412480" cy="594360"/>
          </a:xfrm>
          <a:prstGeom prst="rect">
            <a:avLst/>
          </a:prstGeom>
          <a:noFill/>
          <a:ln/>
        </p:spPr>
        <p:txBody>
          <a:bodyPr wrap="square" rtlCol="0" anchor="ctr"/>
          <a:lstStyle/>
          <a:p>
            <a:pPr indent="0" marL="0">
              <a:buNone/>
            </a:pPr>
            <a:r>
              <a:rPr lang="en-US" sz="2600" b="1" dirty="0">
                <a:solidFill>
                  <a:srgbClr val="19416C"/>
                </a:solidFill>
                <a:latin typeface="Inter" pitchFamily="34" charset="0"/>
                <a:ea typeface="Inter" pitchFamily="34" charset="-122"/>
                <a:cs typeface="Inter" pitchFamily="34" charset="-120"/>
              </a:rPr>
              <a:t>Project Qlarity — By the Numbers</a:t>
            </a:r>
            <a:endParaRPr lang="en-US" sz="2600" dirty="0"/>
          </a:p>
        </p:txBody>
      </p:sp>
      <p:sp>
        <p:nvSpPr>
          <p:cNvPr id="9" name="Text 5"/>
          <p:cNvSpPr/>
          <p:nvPr/>
        </p:nvSpPr>
        <p:spPr>
          <a:xfrm>
            <a:off x="457200" y="786384"/>
            <a:ext cx="11247120" cy="365760"/>
          </a:xfrm>
          <a:prstGeom prst="rect">
            <a:avLst/>
          </a:prstGeom>
          <a:noFill/>
          <a:ln/>
        </p:spPr>
        <p:txBody>
          <a:bodyPr wrap="square" rtlCol="0" anchor="ctr"/>
          <a:lstStyle/>
          <a:p>
            <a:pPr indent="0" marL="0">
              <a:buNone/>
            </a:pPr>
            <a:r>
              <a:rPr lang="en-US" sz="1300" i="1" dirty="0">
                <a:solidFill>
                  <a:srgbClr val="6B7280"/>
                </a:solidFill>
                <a:latin typeface="Inter" pitchFamily="34" charset="0"/>
                <a:ea typeface="Inter" pitchFamily="34" charset="-122"/>
                <a:cs typeface="Inter" pitchFamily="34" charset="-120"/>
              </a:rPr>
              <a:t>Everything in the demo, counted — the grounded asset inventory at a glance</a:t>
            </a:r>
            <a:endParaRPr lang="en-US" sz="1300" dirty="0"/>
          </a:p>
        </p:txBody>
      </p:sp>
      <p:sp>
        <p:nvSpPr>
          <p:cNvPr id="10" name="Shape 6"/>
          <p:cNvSpPr/>
          <p:nvPr/>
        </p:nvSpPr>
        <p:spPr>
          <a:xfrm>
            <a:off x="544068" y="1417320"/>
            <a:ext cx="2103120" cy="1691640"/>
          </a:xfrm>
          <a:prstGeom prst="roundRect">
            <a:avLst>
              <a:gd name="adj" fmla="val 5405"/>
            </a:avLst>
          </a:prstGeom>
          <a:solidFill>
            <a:srgbClr val="F6F7F8"/>
          </a:solidFill>
          <a:ln w="19050">
            <a:solidFill>
              <a:srgbClr val="006580"/>
            </a:solidFill>
            <a:prstDash val="solid"/>
          </a:ln>
        </p:spPr>
      </p:sp>
      <p:sp>
        <p:nvSpPr>
          <p:cNvPr id="11" name="Shape 7"/>
          <p:cNvSpPr/>
          <p:nvPr/>
        </p:nvSpPr>
        <p:spPr>
          <a:xfrm>
            <a:off x="544068" y="1417320"/>
            <a:ext cx="2103120" cy="91440"/>
          </a:xfrm>
          <a:prstGeom prst="rect">
            <a:avLst/>
          </a:prstGeom>
          <a:solidFill>
            <a:srgbClr val="006580"/>
          </a:solidFill>
          <a:ln/>
        </p:spPr>
      </p:sp>
      <p:sp>
        <p:nvSpPr>
          <p:cNvPr id="12" name="Text 8"/>
          <p:cNvSpPr/>
          <p:nvPr/>
        </p:nvSpPr>
        <p:spPr>
          <a:xfrm>
            <a:off x="544068" y="1673352"/>
            <a:ext cx="2103120" cy="822960"/>
          </a:xfrm>
          <a:prstGeom prst="rect">
            <a:avLst/>
          </a:prstGeom>
          <a:noFill/>
          <a:ln/>
        </p:spPr>
        <p:txBody>
          <a:bodyPr wrap="square" rtlCol="0" anchor="ctr"/>
          <a:lstStyle/>
          <a:p>
            <a:pPr algn="ctr" indent="0" marL="0">
              <a:buNone/>
            </a:pPr>
            <a:r>
              <a:rPr lang="en-US" sz="4400" b="1" dirty="0">
                <a:solidFill>
                  <a:srgbClr val="006580"/>
                </a:solidFill>
                <a:latin typeface="Inter" pitchFamily="34" charset="0"/>
                <a:ea typeface="Inter" pitchFamily="34" charset="-122"/>
                <a:cs typeface="Inter" pitchFamily="34" charset="-120"/>
              </a:rPr>
              <a:t>3</a:t>
            </a:r>
            <a:endParaRPr lang="en-US" sz="4400" dirty="0"/>
          </a:p>
        </p:txBody>
      </p:sp>
      <p:sp>
        <p:nvSpPr>
          <p:cNvPr id="13" name="Text 9"/>
          <p:cNvSpPr/>
          <p:nvPr/>
        </p:nvSpPr>
        <p:spPr>
          <a:xfrm>
            <a:off x="681228" y="2551176"/>
            <a:ext cx="1828800" cy="502920"/>
          </a:xfrm>
          <a:prstGeom prst="rect">
            <a:avLst/>
          </a:prstGeom>
          <a:noFill/>
          <a:ln/>
        </p:spPr>
        <p:txBody>
          <a:bodyPr wrap="square" rtlCol="0" anchor="t"/>
          <a:lstStyle/>
          <a:p>
            <a:pPr algn="ctr" indent="0" marL="0">
              <a:lnSpc>
                <a:spcPct val="102000"/>
              </a:lnSpc>
              <a:buNone/>
            </a:pPr>
            <a:r>
              <a:rPr lang="en-US" sz="1100" dirty="0">
                <a:solidFill>
                  <a:srgbClr val="454659"/>
                </a:solidFill>
                <a:latin typeface="Inter" pitchFamily="34" charset="0"/>
                <a:ea typeface="Inter" pitchFamily="34" charset="-122"/>
                <a:cs typeface="Inter" pitchFamily="34" charset="-120"/>
              </a:rPr>
              <a:t>PowerPoint decks</a:t>
            </a:r>
            <a:endParaRPr lang="en-US" sz="1100" dirty="0"/>
          </a:p>
        </p:txBody>
      </p:sp>
      <p:sp>
        <p:nvSpPr>
          <p:cNvPr id="14" name="Shape 10"/>
          <p:cNvSpPr/>
          <p:nvPr/>
        </p:nvSpPr>
        <p:spPr>
          <a:xfrm>
            <a:off x="2793492" y="1417320"/>
            <a:ext cx="2103120" cy="1691640"/>
          </a:xfrm>
          <a:prstGeom prst="roundRect">
            <a:avLst>
              <a:gd name="adj" fmla="val 5405"/>
            </a:avLst>
          </a:prstGeom>
          <a:solidFill>
            <a:srgbClr val="F6F7F8"/>
          </a:solidFill>
          <a:ln w="19050">
            <a:solidFill>
              <a:srgbClr val="009845"/>
            </a:solidFill>
            <a:prstDash val="solid"/>
          </a:ln>
        </p:spPr>
      </p:sp>
      <p:sp>
        <p:nvSpPr>
          <p:cNvPr id="15" name="Shape 11"/>
          <p:cNvSpPr/>
          <p:nvPr/>
        </p:nvSpPr>
        <p:spPr>
          <a:xfrm>
            <a:off x="2793492" y="1417320"/>
            <a:ext cx="2103120" cy="91440"/>
          </a:xfrm>
          <a:prstGeom prst="rect">
            <a:avLst/>
          </a:prstGeom>
          <a:solidFill>
            <a:srgbClr val="009845"/>
          </a:solidFill>
          <a:ln/>
        </p:spPr>
      </p:sp>
      <p:sp>
        <p:nvSpPr>
          <p:cNvPr id="16" name="Text 12"/>
          <p:cNvSpPr/>
          <p:nvPr/>
        </p:nvSpPr>
        <p:spPr>
          <a:xfrm>
            <a:off x="2793492" y="1673352"/>
            <a:ext cx="2103120" cy="822960"/>
          </a:xfrm>
          <a:prstGeom prst="rect">
            <a:avLst/>
          </a:prstGeom>
          <a:noFill/>
          <a:ln/>
        </p:spPr>
        <p:txBody>
          <a:bodyPr wrap="square" rtlCol="0" anchor="ctr"/>
          <a:lstStyle/>
          <a:p>
            <a:pPr algn="ctr" indent="0" marL="0">
              <a:buNone/>
            </a:pPr>
            <a:r>
              <a:rPr lang="en-US" sz="4400" b="1" dirty="0">
                <a:solidFill>
                  <a:srgbClr val="009845"/>
                </a:solidFill>
                <a:latin typeface="Inter" pitchFamily="34" charset="0"/>
                <a:ea typeface="Inter" pitchFamily="34" charset="-122"/>
                <a:cs typeface="Inter" pitchFamily="34" charset="-120"/>
              </a:rPr>
              <a:t>18</a:t>
            </a:r>
            <a:endParaRPr lang="en-US" sz="4400" dirty="0"/>
          </a:p>
        </p:txBody>
      </p:sp>
      <p:sp>
        <p:nvSpPr>
          <p:cNvPr id="17" name="Text 13"/>
          <p:cNvSpPr/>
          <p:nvPr/>
        </p:nvSpPr>
        <p:spPr>
          <a:xfrm>
            <a:off x="2930652" y="2551176"/>
            <a:ext cx="1828800" cy="502920"/>
          </a:xfrm>
          <a:prstGeom prst="rect">
            <a:avLst/>
          </a:prstGeom>
          <a:noFill/>
          <a:ln/>
        </p:spPr>
        <p:txBody>
          <a:bodyPr wrap="square" rtlCol="0" anchor="t"/>
          <a:lstStyle/>
          <a:p>
            <a:pPr algn="ctr" indent="0" marL="0">
              <a:lnSpc>
                <a:spcPct val="102000"/>
              </a:lnSpc>
              <a:buNone/>
            </a:pPr>
            <a:r>
              <a:rPr lang="en-US" sz="1100" dirty="0">
                <a:solidFill>
                  <a:srgbClr val="454659"/>
                </a:solidFill>
                <a:latin typeface="Inter" pitchFamily="34" charset="0"/>
                <a:ea typeface="Inter" pitchFamily="34" charset="-122"/>
                <a:cs typeface="Inter" pitchFamily="34" charset="-120"/>
              </a:rPr>
              <a:t>Demo-script walkthroughs</a:t>
            </a:r>
            <a:endParaRPr lang="en-US" sz="1100" dirty="0"/>
          </a:p>
        </p:txBody>
      </p:sp>
      <p:sp>
        <p:nvSpPr>
          <p:cNvPr id="18" name="Shape 14"/>
          <p:cNvSpPr/>
          <p:nvPr/>
        </p:nvSpPr>
        <p:spPr>
          <a:xfrm>
            <a:off x="5042916" y="1417320"/>
            <a:ext cx="2103120" cy="1691640"/>
          </a:xfrm>
          <a:prstGeom prst="roundRect">
            <a:avLst>
              <a:gd name="adj" fmla="val 5405"/>
            </a:avLst>
          </a:prstGeom>
          <a:solidFill>
            <a:srgbClr val="F6F7F8"/>
          </a:solidFill>
          <a:ln w="19050">
            <a:solidFill>
              <a:srgbClr val="4CB393"/>
            </a:solidFill>
            <a:prstDash val="solid"/>
          </a:ln>
        </p:spPr>
      </p:sp>
      <p:sp>
        <p:nvSpPr>
          <p:cNvPr id="19" name="Shape 15"/>
          <p:cNvSpPr/>
          <p:nvPr/>
        </p:nvSpPr>
        <p:spPr>
          <a:xfrm>
            <a:off x="5042916" y="1417320"/>
            <a:ext cx="2103120" cy="91440"/>
          </a:xfrm>
          <a:prstGeom prst="rect">
            <a:avLst/>
          </a:prstGeom>
          <a:solidFill>
            <a:srgbClr val="4CB393"/>
          </a:solidFill>
          <a:ln/>
        </p:spPr>
      </p:sp>
      <p:sp>
        <p:nvSpPr>
          <p:cNvPr id="20" name="Text 16"/>
          <p:cNvSpPr/>
          <p:nvPr/>
        </p:nvSpPr>
        <p:spPr>
          <a:xfrm>
            <a:off x="5042916" y="1673352"/>
            <a:ext cx="2103120" cy="822960"/>
          </a:xfrm>
          <a:prstGeom prst="rect">
            <a:avLst/>
          </a:prstGeom>
          <a:noFill/>
          <a:ln/>
        </p:spPr>
        <p:txBody>
          <a:bodyPr wrap="square" rtlCol="0" anchor="ctr"/>
          <a:lstStyle/>
          <a:p>
            <a:pPr algn="ctr" indent="0" marL="0">
              <a:buNone/>
            </a:pPr>
            <a:r>
              <a:rPr lang="en-US" sz="4400" b="1" dirty="0">
                <a:solidFill>
                  <a:srgbClr val="4CB393"/>
                </a:solidFill>
                <a:latin typeface="Inter" pitchFamily="34" charset="0"/>
                <a:ea typeface="Inter" pitchFamily="34" charset="-122"/>
                <a:cs typeface="Inter" pitchFamily="34" charset="-120"/>
              </a:rPr>
              <a:t>25</a:t>
            </a:r>
            <a:endParaRPr lang="en-US" sz="4400" dirty="0"/>
          </a:p>
        </p:txBody>
      </p:sp>
      <p:sp>
        <p:nvSpPr>
          <p:cNvPr id="21" name="Text 17"/>
          <p:cNvSpPr/>
          <p:nvPr/>
        </p:nvSpPr>
        <p:spPr>
          <a:xfrm>
            <a:off x="5180076" y="2551176"/>
            <a:ext cx="1828800" cy="502920"/>
          </a:xfrm>
          <a:prstGeom prst="rect">
            <a:avLst/>
          </a:prstGeom>
          <a:noFill/>
          <a:ln/>
        </p:spPr>
        <p:txBody>
          <a:bodyPr wrap="square" rtlCol="0" anchor="t"/>
          <a:lstStyle/>
          <a:p>
            <a:pPr algn="ctr" indent="0" marL="0">
              <a:lnSpc>
                <a:spcPct val="102000"/>
              </a:lnSpc>
              <a:buNone/>
            </a:pPr>
            <a:r>
              <a:rPr lang="en-US" sz="1100" dirty="0">
                <a:solidFill>
                  <a:srgbClr val="454659"/>
                </a:solidFill>
                <a:latin typeface="Inter" pitchFamily="34" charset="0"/>
                <a:ea typeface="Inter" pitchFamily="34" charset="-122"/>
                <a:cs typeface="Inter" pitchFamily="34" charset="-120"/>
              </a:rPr>
              <a:t>Knowledge-base documents</a:t>
            </a:r>
            <a:endParaRPr lang="en-US" sz="1100" dirty="0"/>
          </a:p>
        </p:txBody>
      </p:sp>
      <p:sp>
        <p:nvSpPr>
          <p:cNvPr id="22" name="Shape 18"/>
          <p:cNvSpPr/>
          <p:nvPr/>
        </p:nvSpPr>
        <p:spPr>
          <a:xfrm>
            <a:off x="7292340" y="1417320"/>
            <a:ext cx="2103120" cy="1691640"/>
          </a:xfrm>
          <a:prstGeom prst="roundRect">
            <a:avLst>
              <a:gd name="adj" fmla="val 5405"/>
            </a:avLst>
          </a:prstGeom>
          <a:solidFill>
            <a:srgbClr val="F6F7F8"/>
          </a:solidFill>
          <a:ln w="19050">
            <a:solidFill>
              <a:srgbClr val="006580"/>
            </a:solidFill>
            <a:prstDash val="solid"/>
          </a:ln>
        </p:spPr>
      </p:sp>
      <p:sp>
        <p:nvSpPr>
          <p:cNvPr id="23" name="Shape 19"/>
          <p:cNvSpPr/>
          <p:nvPr/>
        </p:nvSpPr>
        <p:spPr>
          <a:xfrm>
            <a:off x="7292340" y="1417320"/>
            <a:ext cx="2103120" cy="91440"/>
          </a:xfrm>
          <a:prstGeom prst="rect">
            <a:avLst/>
          </a:prstGeom>
          <a:solidFill>
            <a:srgbClr val="006580"/>
          </a:solidFill>
          <a:ln/>
        </p:spPr>
      </p:sp>
      <p:sp>
        <p:nvSpPr>
          <p:cNvPr id="24" name="Text 20"/>
          <p:cNvSpPr/>
          <p:nvPr/>
        </p:nvSpPr>
        <p:spPr>
          <a:xfrm>
            <a:off x="7292340" y="1673352"/>
            <a:ext cx="2103120" cy="822960"/>
          </a:xfrm>
          <a:prstGeom prst="rect">
            <a:avLst/>
          </a:prstGeom>
          <a:noFill/>
          <a:ln/>
        </p:spPr>
        <p:txBody>
          <a:bodyPr wrap="square" rtlCol="0" anchor="ctr"/>
          <a:lstStyle/>
          <a:p>
            <a:pPr algn="ctr" indent="0" marL="0">
              <a:buNone/>
            </a:pPr>
            <a:r>
              <a:rPr lang="en-US" sz="4400" b="1" dirty="0">
                <a:solidFill>
                  <a:srgbClr val="006580"/>
                </a:solidFill>
                <a:latin typeface="Inter" pitchFamily="34" charset="0"/>
                <a:ea typeface="Inter" pitchFamily="34" charset="-122"/>
                <a:cs typeface="Inter" pitchFamily="34" charset="-120"/>
              </a:rPr>
              <a:t>25</a:t>
            </a:r>
            <a:endParaRPr lang="en-US" sz="4400" dirty="0"/>
          </a:p>
        </p:txBody>
      </p:sp>
      <p:sp>
        <p:nvSpPr>
          <p:cNvPr id="25" name="Text 21"/>
          <p:cNvSpPr/>
          <p:nvPr/>
        </p:nvSpPr>
        <p:spPr>
          <a:xfrm>
            <a:off x="7429500" y="2551176"/>
            <a:ext cx="1828800" cy="502920"/>
          </a:xfrm>
          <a:prstGeom prst="rect">
            <a:avLst/>
          </a:prstGeom>
          <a:noFill/>
          <a:ln/>
        </p:spPr>
        <p:txBody>
          <a:bodyPr wrap="square" rtlCol="0" anchor="t"/>
          <a:lstStyle/>
          <a:p>
            <a:pPr algn="ctr" indent="0" marL="0">
              <a:lnSpc>
                <a:spcPct val="102000"/>
              </a:lnSpc>
              <a:buNone/>
            </a:pPr>
            <a:r>
              <a:rPr lang="en-US" sz="1100" dirty="0">
                <a:solidFill>
                  <a:srgbClr val="454659"/>
                </a:solidFill>
                <a:latin typeface="Inter" pitchFamily="34" charset="0"/>
                <a:ea typeface="Inter" pitchFamily="34" charset="-122"/>
                <a:cs typeface="Inter" pitchFamily="34" charset="-120"/>
              </a:rPr>
              <a:t>Business glossary terms</a:t>
            </a:r>
            <a:endParaRPr lang="en-US" sz="1100" dirty="0"/>
          </a:p>
        </p:txBody>
      </p:sp>
      <p:sp>
        <p:nvSpPr>
          <p:cNvPr id="26" name="Shape 22"/>
          <p:cNvSpPr/>
          <p:nvPr/>
        </p:nvSpPr>
        <p:spPr>
          <a:xfrm>
            <a:off x="9541764" y="1417320"/>
            <a:ext cx="2103120" cy="1691640"/>
          </a:xfrm>
          <a:prstGeom prst="roundRect">
            <a:avLst>
              <a:gd name="adj" fmla="val 5405"/>
            </a:avLst>
          </a:prstGeom>
          <a:solidFill>
            <a:srgbClr val="F6F7F8"/>
          </a:solidFill>
          <a:ln w="19050">
            <a:solidFill>
              <a:srgbClr val="009845"/>
            </a:solidFill>
            <a:prstDash val="solid"/>
          </a:ln>
        </p:spPr>
      </p:sp>
      <p:sp>
        <p:nvSpPr>
          <p:cNvPr id="27" name="Shape 23"/>
          <p:cNvSpPr/>
          <p:nvPr/>
        </p:nvSpPr>
        <p:spPr>
          <a:xfrm>
            <a:off x="9541764" y="1417320"/>
            <a:ext cx="2103120" cy="91440"/>
          </a:xfrm>
          <a:prstGeom prst="rect">
            <a:avLst/>
          </a:prstGeom>
          <a:solidFill>
            <a:srgbClr val="009845"/>
          </a:solidFill>
          <a:ln/>
        </p:spPr>
      </p:sp>
      <p:sp>
        <p:nvSpPr>
          <p:cNvPr id="28" name="Text 24"/>
          <p:cNvSpPr/>
          <p:nvPr/>
        </p:nvSpPr>
        <p:spPr>
          <a:xfrm>
            <a:off x="9541764" y="1673352"/>
            <a:ext cx="2103120" cy="822960"/>
          </a:xfrm>
          <a:prstGeom prst="rect">
            <a:avLst/>
          </a:prstGeom>
          <a:noFill/>
          <a:ln/>
        </p:spPr>
        <p:txBody>
          <a:bodyPr wrap="square" rtlCol="0" anchor="ctr"/>
          <a:lstStyle/>
          <a:p>
            <a:pPr algn="ctr" indent="0" marL="0">
              <a:buNone/>
            </a:pPr>
            <a:r>
              <a:rPr lang="en-US" sz="4400" b="1" dirty="0">
                <a:solidFill>
                  <a:srgbClr val="009845"/>
                </a:solidFill>
                <a:latin typeface="Inter" pitchFamily="34" charset="0"/>
                <a:ea typeface="Inter" pitchFamily="34" charset="-122"/>
                <a:cs typeface="Inter" pitchFamily="34" charset="-120"/>
              </a:rPr>
              <a:t>3</a:t>
            </a:r>
            <a:endParaRPr lang="en-US" sz="4400" dirty="0"/>
          </a:p>
        </p:txBody>
      </p:sp>
      <p:sp>
        <p:nvSpPr>
          <p:cNvPr id="29" name="Text 25"/>
          <p:cNvSpPr/>
          <p:nvPr/>
        </p:nvSpPr>
        <p:spPr>
          <a:xfrm>
            <a:off x="9678924" y="2551176"/>
            <a:ext cx="1828800" cy="502920"/>
          </a:xfrm>
          <a:prstGeom prst="rect">
            <a:avLst/>
          </a:prstGeom>
          <a:noFill/>
          <a:ln/>
        </p:spPr>
        <p:txBody>
          <a:bodyPr wrap="square" rtlCol="0" anchor="t"/>
          <a:lstStyle/>
          <a:p>
            <a:pPr algn="ctr" indent="0" marL="0">
              <a:lnSpc>
                <a:spcPct val="102000"/>
              </a:lnSpc>
              <a:buNone/>
            </a:pPr>
            <a:r>
              <a:rPr lang="en-US" sz="1100" dirty="0">
                <a:solidFill>
                  <a:srgbClr val="454659"/>
                </a:solidFill>
                <a:latin typeface="Inter" pitchFamily="34" charset="0"/>
                <a:ea typeface="Inter" pitchFamily="34" charset="-122"/>
                <a:cs typeface="Inter" pitchFamily="34" charset="-120"/>
              </a:rPr>
              <a:t>Source feeds</a:t>
            </a:r>
            <a:endParaRPr lang="en-US" sz="1100" dirty="0"/>
          </a:p>
        </p:txBody>
      </p:sp>
      <p:sp>
        <p:nvSpPr>
          <p:cNvPr id="30" name="Shape 26"/>
          <p:cNvSpPr/>
          <p:nvPr/>
        </p:nvSpPr>
        <p:spPr>
          <a:xfrm>
            <a:off x="544068" y="3364992"/>
            <a:ext cx="2103120" cy="1691640"/>
          </a:xfrm>
          <a:prstGeom prst="roundRect">
            <a:avLst>
              <a:gd name="adj" fmla="val 5405"/>
            </a:avLst>
          </a:prstGeom>
          <a:solidFill>
            <a:srgbClr val="F6F7F8"/>
          </a:solidFill>
          <a:ln w="19050">
            <a:solidFill>
              <a:srgbClr val="006580"/>
            </a:solidFill>
            <a:prstDash val="solid"/>
          </a:ln>
        </p:spPr>
      </p:sp>
      <p:sp>
        <p:nvSpPr>
          <p:cNvPr id="31" name="Shape 27"/>
          <p:cNvSpPr/>
          <p:nvPr/>
        </p:nvSpPr>
        <p:spPr>
          <a:xfrm>
            <a:off x="544068" y="3364992"/>
            <a:ext cx="2103120" cy="91440"/>
          </a:xfrm>
          <a:prstGeom prst="rect">
            <a:avLst/>
          </a:prstGeom>
          <a:solidFill>
            <a:srgbClr val="006580"/>
          </a:solidFill>
          <a:ln/>
        </p:spPr>
      </p:sp>
      <p:sp>
        <p:nvSpPr>
          <p:cNvPr id="32" name="Text 28"/>
          <p:cNvSpPr/>
          <p:nvPr/>
        </p:nvSpPr>
        <p:spPr>
          <a:xfrm>
            <a:off x="544068" y="3621024"/>
            <a:ext cx="2103120" cy="822960"/>
          </a:xfrm>
          <a:prstGeom prst="rect">
            <a:avLst/>
          </a:prstGeom>
          <a:noFill/>
          <a:ln/>
        </p:spPr>
        <p:txBody>
          <a:bodyPr wrap="square" rtlCol="0" anchor="ctr"/>
          <a:lstStyle/>
          <a:p>
            <a:pPr algn="ctr" indent="0" marL="0">
              <a:buNone/>
            </a:pPr>
            <a:r>
              <a:rPr lang="en-US" sz="4400" b="1" dirty="0">
                <a:solidFill>
                  <a:srgbClr val="006580"/>
                </a:solidFill>
                <a:latin typeface="Inter" pitchFamily="34" charset="0"/>
                <a:ea typeface="Inter" pitchFamily="34" charset="-122"/>
                <a:cs typeface="Inter" pitchFamily="34" charset="-120"/>
              </a:rPr>
              <a:t>2</a:t>
            </a:r>
            <a:endParaRPr lang="en-US" sz="4400" dirty="0"/>
          </a:p>
        </p:txBody>
      </p:sp>
      <p:sp>
        <p:nvSpPr>
          <p:cNvPr id="33" name="Text 29"/>
          <p:cNvSpPr/>
          <p:nvPr/>
        </p:nvSpPr>
        <p:spPr>
          <a:xfrm>
            <a:off x="681228" y="4498848"/>
            <a:ext cx="1828800" cy="502920"/>
          </a:xfrm>
          <a:prstGeom prst="rect">
            <a:avLst/>
          </a:prstGeom>
          <a:noFill/>
          <a:ln/>
        </p:spPr>
        <p:txBody>
          <a:bodyPr wrap="square" rtlCol="0" anchor="t"/>
          <a:lstStyle/>
          <a:p>
            <a:pPr algn="ctr" indent="0" marL="0">
              <a:lnSpc>
                <a:spcPct val="102000"/>
              </a:lnSpc>
              <a:buNone/>
            </a:pPr>
            <a:r>
              <a:rPr lang="en-US" sz="1100" dirty="0">
                <a:solidFill>
                  <a:srgbClr val="454659"/>
                </a:solidFill>
                <a:latin typeface="Inter" pitchFamily="34" charset="0"/>
                <a:ea typeface="Inter" pitchFamily="34" charset="-122"/>
                <a:cs typeface="Inter" pitchFamily="34" charset="-120"/>
              </a:rPr>
              <a:t>Gold data products</a:t>
            </a:r>
            <a:endParaRPr lang="en-US" sz="1100" dirty="0"/>
          </a:p>
        </p:txBody>
      </p:sp>
      <p:sp>
        <p:nvSpPr>
          <p:cNvPr id="34" name="Shape 30"/>
          <p:cNvSpPr/>
          <p:nvPr/>
        </p:nvSpPr>
        <p:spPr>
          <a:xfrm>
            <a:off x="2793492" y="3364992"/>
            <a:ext cx="2103120" cy="1691640"/>
          </a:xfrm>
          <a:prstGeom prst="roundRect">
            <a:avLst>
              <a:gd name="adj" fmla="val 5405"/>
            </a:avLst>
          </a:prstGeom>
          <a:solidFill>
            <a:srgbClr val="F6F7F8"/>
          </a:solidFill>
          <a:ln w="19050">
            <a:solidFill>
              <a:srgbClr val="009845"/>
            </a:solidFill>
            <a:prstDash val="solid"/>
          </a:ln>
        </p:spPr>
      </p:sp>
      <p:sp>
        <p:nvSpPr>
          <p:cNvPr id="35" name="Shape 31"/>
          <p:cNvSpPr/>
          <p:nvPr/>
        </p:nvSpPr>
        <p:spPr>
          <a:xfrm>
            <a:off x="2793492" y="3364992"/>
            <a:ext cx="2103120" cy="91440"/>
          </a:xfrm>
          <a:prstGeom prst="rect">
            <a:avLst/>
          </a:prstGeom>
          <a:solidFill>
            <a:srgbClr val="009845"/>
          </a:solidFill>
          <a:ln/>
        </p:spPr>
      </p:sp>
      <p:sp>
        <p:nvSpPr>
          <p:cNvPr id="36" name="Text 32"/>
          <p:cNvSpPr/>
          <p:nvPr/>
        </p:nvSpPr>
        <p:spPr>
          <a:xfrm>
            <a:off x="2793492" y="3621024"/>
            <a:ext cx="2103120" cy="822960"/>
          </a:xfrm>
          <a:prstGeom prst="rect">
            <a:avLst/>
          </a:prstGeom>
          <a:noFill/>
          <a:ln/>
        </p:spPr>
        <p:txBody>
          <a:bodyPr wrap="square" rtlCol="0" anchor="ctr"/>
          <a:lstStyle/>
          <a:p>
            <a:pPr algn="ctr" indent="0" marL="0">
              <a:buNone/>
            </a:pPr>
            <a:r>
              <a:rPr lang="en-US" sz="4400" b="1" dirty="0">
                <a:solidFill>
                  <a:srgbClr val="009845"/>
                </a:solidFill>
                <a:latin typeface="Inter" pitchFamily="34" charset="0"/>
                <a:ea typeface="Inter" pitchFamily="34" charset="-122"/>
                <a:cs typeface="Inter" pitchFamily="34" charset="-120"/>
              </a:rPr>
              <a:t>6</a:t>
            </a:r>
            <a:endParaRPr lang="en-US" sz="4400" dirty="0"/>
          </a:p>
        </p:txBody>
      </p:sp>
      <p:sp>
        <p:nvSpPr>
          <p:cNvPr id="37" name="Text 33"/>
          <p:cNvSpPr/>
          <p:nvPr/>
        </p:nvSpPr>
        <p:spPr>
          <a:xfrm>
            <a:off x="2930652" y="4498848"/>
            <a:ext cx="1828800" cy="502920"/>
          </a:xfrm>
          <a:prstGeom prst="rect">
            <a:avLst/>
          </a:prstGeom>
          <a:noFill/>
          <a:ln/>
        </p:spPr>
        <p:txBody>
          <a:bodyPr wrap="square" rtlCol="0" anchor="t"/>
          <a:lstStyle/>
          <a:p>
            <a:pPr algn="ctr" indent="0" marL="0">
              <a:lnSpc>
                <a:spcPct val="102000"/>
              </a:lnSpc>
              <a:buNone/>
            </a:pPr>
            <a:r>
              <a:rPr lang="en-US" sz="1100" dirty="0">
                <a:solidFill>
                  <a:srgbClr val="454659"/>
                </a:solidFill>
                <a:latin typeface="Inter" pitchFamily="34" charset="0"/>
                <a:ea typeface="Inter" pitchFamily="34" charset="-122"/>
                <a:cs typeface="Inter" pitchFamily="34" charset="-120"/>
              </a:rPr>
              <a:t>Pipeline tasks (2 projects)</a:t>
            </a:r>
            <a:endParaRPr lang="en-US" sz="1100" dirty="0"/>
          </a:p>
        </p:txBody>
      </p:sp>
      <p:sp>
        <p:nvSpPr>
          <p:cNvPr id="38" name="Shape 34"/>
          <p:cNvSpPr/>
          <p:nvPr/>
        </p:nvSpPr>
        <p:spPr>
          <a:xfrm>
            <a:off x="5042916" y="3364992"/>
            <a:ext cx="2103120" cy="1691640"/>
          </a:xfrm>
          <a:prstGeom prst="roundRect">
            <a:avLst>
              <a:gd name="adj" fmla="val 5405"/>
            </a:avLst>
          </a:prstGeom>
          <a:solidFill>
            <a:srgbClr val="F6F7F8"/>
          </a:solidFill>
          <a:ln w="19050">
            <a:solidFill>
              <a:srgbClr val="4CB393"/>
            </a:solidFill>
            <a:prstDash val="solid"/>
          </a:ln>
        </p:spPr>
      </p:sp>
      <p:sp>
        <p:nvSpPr>
          <p:cNvPr id="39" name="Shape 35"/>
          <p:cNvSpPr/>
          <p:nvPr/>
        </p:nvSpPr>
        <p:spPr>
          <a:xfrm>
            <a:off x="5042916" y="3364992"/>
            <a:ext cx="2103120" cy="91440"/>
          </a:xfrm>
          <a:prstGeom prst="rect">
            <a:avLst/>
          </a:prstGeom>
          <a:solidFill>
            <a:srgbClr val="4CB393"/>
          </a:solidFill>
          <a:ln/>
        </p:spPr>
      </p:sp>
      <p:sp>
        <p:nvSpPr>
          <p:cNvPr id="40" name="Text 36"/>
          <p:cNvSpPr/>
          <p:nvPr/>
        </p:nvSpPr>
        <p:spPr>
          <a:xfrm>
            <a:off x="5042916" y="3621024"/>
            <a:ext cx="2103120" cy="822960"/>
          </a:xfrm>
          <a:prstGeom prst="rect">
            <a:avLst/>
          </a:prstGeom>
          <a:noFill/>
          <a:ln/>
        </p:spPr>
        <p:txBody>
          <a:bodyPr wrap="square" rtlCol="0" anchor="ctr"/>
          <a:lstStyle/>
          <a:p>
            <a:pPr algn="ctr" indent="0" marL="0">
              <a:buNone/>
            </a:pPr>
            <a:r>
              <a:rPr lang="en-US" sz="4400" b="1" dirty="0">
                <a:solidFill>
                  <a:srgbClr val="4CB393"/>
                </a:solidFill>
                <a:latin typeface="Inter" pitchFamily="34" charset="0"/>
                <a:ea typeface="Inter" pitchFamily="34" charset="-122"/>
                <a:cs typeface="Inter" pitchFamily="34" charset="-120"/>
              </a:rPr>
              <a:t>5</a:t>
            </a:r>
            <a:endParaRPr lang="en-US" sz="4400" dirty="0"/>
          </a:p>
        </p:txBody>
      </p:sp>
      <p:sp>
        <p:nvSpPr>
          <p:cNvPr id="41" name="Text 37"/>
          <p:cNvSpPr/>
          <p:nvPr/>
        </p:nvSpPr>
        <p:spPr>
          <a:xfrm>
            <a:off x="5180076" y="4498848"/>
            <a:ext cx="1828800" cy="502920"/>
          </a:xfrm>
          <a:prstGeom prst="rect">
            <a:avLst/>
          </a:prstGeom>
          <a:noFill/>
          <a:ln/>
        </p:spPr>
        <p:txBody>
          <a:bodyPr wrap="square" rtlCol="0" anchor="t"/>
          <a:lstStyle/>
          <a:p>
            <a:pPr algn="ctr" indent="0" marL="0">
              <a:lnSpc>
                <a:spcPct val="102000"/>
              </a:lnSpc>
              <a:buNone/>
            </a:pPr>
            <a:r>
              <a:rPr lang="en-US" sz="1100" dirty="0">
                <a:solidFill>
                  <a:srgbClr val="454659"/>
                </a:solidFill>
                <a:latin typeface="Inter" pitchFamily="34" charset="0"/>
                <a:ea typeface="Inter" pitchFamily="34" charset="-122"/>
                <a:cs typeface="Inter" pitchFamily="34" charset="-120"/>
              </a:rPr>
              <a:t>Automations</a:t>
            </a:r>
            <a:endParaRPr lang="en-US" sz="1100" dirty="0"/>
          </a:p>
        </p:txBody>
      </p:sp>
      <p:sp>
        <p:nvSpPr>
          <p:cNvPr id="42" name="Shape 38"/>
          <p:cNvSpPr/>
          <p:nvPr/>
        </p:nvSpPr>
        <p:spPr>
          <a:xfrm>
            <a:off x="7292340" y="3364992"/>
            <a:ext cx="2103120" cy="1691640"/>
          </a:xfrm>
          <a:prstGeom prst="roundRect">
            <a:avLst>
              <a:gd name="adj" fmla="val 5405"/>
            </a:avLst>
          </a:prstGeom>
          <a:solidFill>
            <a:srgbClr val="F6F7F8"/>
          </a:solidFill>
          <a:ln w="19050">
            <a:solidFill>
              <a:srgbClr val="006580"/>
            </a:solidFill>
            <a:prstDash val="solid"/>
          </a:ln>
        </p:spPr>
      </p:sp>
      <p:sp>
        <p:nvSpPr>
          <p:cNvPr id="43" name="Shape 39"/>
          <p:cNvSpPr/>
          <p:nvPr/>
        </p:nvSpPr>
        <p:spPr>
          <a:xfrm>
            <a:off x="7292340" y="3364992"/>
            <a:ext cx="2103120" cy="91440"/>
          </a:xfrm>
          <a:prstGeom prst="rect">
            <a:avLst/>
          </a:prstGeom>
          <a:solidFill>
            <a:srgbClr val="006580"/>
          </a:solidFill>
          <a:ln/>
        </p:spPr>
      </p:sp>
      <p:sp>
        <p:nvSpPr>
          <p:cNvPr id="44" name="Text 40"/>
          <p:cNvSpPr/>
          <p:nvPr/>
        </p:nvSpPr>
        <p:spPr>
          <a:xfrm>
            <a:off x="7292340" y="3621024"/>
            <a:ext cx="2103120" cy="822960"/>
          </a:xfrm>
          <a:prstGeom prst="rect">
            <a:avLst/>
          </a:prstGeom>
          <a:noFill/>
          <a:ln/>
        </p:spPr>
        <p:txBody>
          <a:bodyPr wrap="square" rtlCol="0" anchor="ctr"/>
          <a:lstStyle/>
          <a:p>
            <a:pPr algn="ctr" indent="0" marL="0">
              <a:buNone/>
            </a:pPr>
            <a:r>
              <a:rPr lang="en-US" sz="4400" b="1" dirty="0">
                <a:solidFill>
                  <a:srgbClr val="006580"/>
                </a:solidFill>
                <a:latin typeface="Inter" pitchFamily="34" charset="0"/>
                <a:ea typeface="Inter" pitchFamily="34" charset="-122"/>
                <a:cs typeface="Inter" pitchFamily="34" charset="-120"/>
              </a:rPr>
              <a:t>3</a:t>
            </a:r>
            <a:endParaRPr lang="en-US" sz="4400" dirty="0"/>
          </a:p>
        </p:txBody>
      </p:sp>
      <p:sp>
        <p:nvSpPr>
          <p:cNvPr id="45" name="Text 41"/>
          <p:cNvSpPr/>
          <p:nvPr/>
        </p:nvSpPr>
        <p:spPr>
          <a:xfrm>
            <a:off x="7429500" y="4498848"/>
            <a:ext cx="1828800" cy="502920"/>
          </a:xfrm>
          <a:prstGeom prst="rect">
            <a:avLst/>
          </a:prstGeom>
          <a:noFill/>
          <a:ln/>
        </p:spPr>
        <p:txBody>
          <a:bodyPr wrap="square" rtlCol="0" anchor="t"/>
          <a:lstStyle/>
          <a:p>
            <a:pPr algn="ctr" indent="0" marL="0">
              <a:lnSpc>
                <a:spcPct val="102000"/>
              </a:lnSpc>
              <a:buNone/>
            </a:pPr>
            <a:r>
              <a:rPr lang="en-US" sz="1100" dirty="0">
                <a:solidFill>
                  <a:srgbClr val="454659"/>
                </a:solidFill>
                <a:latin typeface="Inter" pitchFamily="34" charset="0"/>
                <a:ea typeface="Inter" pitchFamily="34" charset="-122"/>
                <a:cs typeface="Inter" pitchFamily="34" charset="-120"/>
              </a:rPr>
              <a:t>Data simulators</a:t>
            </a:r>
            <a:endParaRPr lang="en-US" sz="1100" dirty="0"/>
          </a:p>
        </p:txBody>
      </p:sp>
      <p:sp>
        <p:nvSpPr>
          <p:cNvPr id="46" name="Shape 42"/>
          <p:cNvSpPr/>
          <p:nvPr/>
        </p:nvSpPr>
        <p:spPr>
          <a:xfrm>
            <a:off x="9541764" y="3364992"/>
            <a:ext cx="2103120" cy="1691640"/>
          </a:xfrm>
          <a:prstGeom prst="roundRect">
            <a:avLst>
              <a:gd name="adj" fmla="val 5405"/>
            </a:avLst>
          </a:prstGeom>
          <a:solidFill>
            <a:srgbClr val="F6F7F8"/>
          </a:solidFill>
          <a:ln w="19050">
            <a:solidFill>
              <a:srgbClr val="009845"/>
            </a:solidFill>
            <a:prstDash val="solid"/>
          </a:ln>
        </p:spPr>
      </p:sp>
      <p:sp>
        <p:nvSpPr>
          <p:cNvPr id="47" name="Shape 43"/>
          <p:cNvSpPr/>
          <p:nvPr/>
        </p:nvSpPr>
        <p:spPr>
          <a:xfrm>
            <a:off x="9541764" y="3364992"/>
            <a:ext cx="2103120" cy="91440"/>
          </a:xfrm>
          <a:prstGeom prst="rect">
            <a:avLst/>
          </a:prstGeom>
          <a:solidFill>
            <a:srgbClr val="009845"/>
          </a:solidFill>
          <a:ln/>
        </p:spPr>
      </p:sp>
      <p:sp>
        <p:nvSpPr>
          <p:cNvPr id="48" name="Text 44"/>
          <p:cNvSpPr/>
          <p:nvPr/>
        </p:nvSpPr>
        <p:spPr>
          <a:xfrm>
            <a:off x="9541764" y="3621024"/>
            <a:ext cx="2103120" cy="822960"/>
          </a:xfrm>
          <a:prstGeom prst="rect">
            <a:avLst/>
          </a:prstGeom>
          <a:noFill/>
          <a:ln/>
        </p:spPr>
        <p:txBody>
          <a:bodyPr wrap="square" rtlCol="0" anchor="ctr"/>
          <a:lstStyle/>
          <a:p>
            <a:pPr algn="ctr" indent="0" marL="0">
              <a:buNone/>
            </a:pPr>
            <a:r>
              <a:rPr lang="en-US" sz="4400" b="1" dirty="0">
                <a:solidFill>
                  <a:srgbClr val="009845"/>
                </a:solidFill>
                <a:latin typeface="Inter" pitchFamily="34" charset="0"/>
                <a:ea typeface="Inter" pitchFamily="34" charset="-122"/>
                <a:cs typeface="Inter" pitchFamily="34" charset="-120"/>
              </a:rPr>
              <a:t>2</a:t>
            </a:r>
            <a:endParaRPr lang="en-US" sz="4400" dirty="0"/>
          </a:p>
        </p:txBody>
      </p:sp>
      <p:sp>
        <p:nvSpPr>
          <p:cNvPr id="49" name="Text 45"/>
          <p:cNvSpPr/>
          <p:nvPr/>
        </p:nvSpPr>
        <p:spPr>
          <a:xfrm>
            <a:off x="9678924" y="4498848"/>
            <a:ext cx="1828800" cy="502920"/>
          </a:xfrm>
          <a:prstGeom prst="rect">
            <a:avLst/>
          </a:prstGeom>
          <a:noFill/>
          <a:ln/>
        </p:spPr>
        <p:txBody>
          <a:bodyPr wrap="square" rtlCol="0" anchor="t"/>
          <a:lstStyle/>
          <a:p>
            <a:pPr algn="ctr" indent="0" marL="0">
              <a:lnSpc>
                <a:spcPct val="102000"/>
              </a:lnSpc>
              <a:buNone/>
            </a:pPr>
            <a:r>
              <a:rPr lang="en-US" sz="1100" dirty="0">
                <a:solidFill>
                  <a:srgbClr val="454659"/>
                </a:solidFill>
                <a:latin typeface="Inter" pitchFamily="34" charset="0"/>
                <a:ea typeface="Inter" pitchFamily="34" charset="-122"/>
                <a:cs typeface="Inter" pitchFamily="34" charset="-120"/>
              </a:rPr>
              <a:t>Qlik Predict models</a:t>
            </a:r>
            <a:endParaRPr lang="en-US" sz="1100" dirty="0"/>
          </a:p>
        </p:txBody>
      </p:sp>
      <p:sp>
        <p:nvSpPr>
          <p:cNvPr id="50" name="Shape 46"/>
          <p:cNvSpPr/>
          <p:nvPr/>
        </p:nvSpPr>
        <p:spPr>
          <a:xfrm>
            <a:off x="457200" y="5760720"/>
            <a:ext cx="11247120" cy="548640"/>
          </a:xfrm>
          <a:prstGeom prst="roundRect">
            <a:avLst>
              <a:gd name="adj" fmla="val 13333"/>
            </a:avLst>
          </a:prstGeom>
          <a:solidFill>
            <a:srgbClr val="E0F5EA"/>
          </a:solidFill>
          <a:ln/>
        </p:spPr>
      </p:sp>
      <p:sp>
        <p:nvSpPr>
          <p:cNvPr id="51" name="Text 47"/>
          <p:cNvSpPr/>
          <p:nvPr/>
        </p:nvSpPr>
        <p:spPr>
          <a:xfrm>
            <a:off x="731520" y="5779008"/>
            <a:ext cx="10789920" cy="502920"/>
          </a:xfrm>
          <a:prstGeom prst="rect">
            <a:avLst/>
          </a:prstGeom>
          <a:noFill/>
          <a:ln/>
        </p:spPr>
        <p:txBody>
          <a:bodyPr wrap="square" rtlCol="0" anchor="ctr"/>
          <a:lstStyle/>
          <a:p>
            <a:pPr indent="0" marL="0">
              <a:buNone/>
            </a:pPr>
            <a:r>
              <a:rPr lang="en-US" sz="1100" b="1" dirty="0">
                <a:solidFill>
                  <a:srgbClr val="009845"/>
                </a:solidFill>
                <a:latin typeface="Inter" pitchFamily="34" charset="0"/>
                <a:ea typeface="Inter" pitchFamily="34" charset="-122"/>
                <a:cs typeface="Inter" pitchFamily="34" charset="-120"/>
              </a:rPr>
              <a:t>Grounded figures only — every number above ships in the Project Qlarity repository.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C:\Claude\MCG Full Stack\generators\assets\qlik_cover_bg.png">    </p:cNvPr>
          <p:cNvPicPr>
            <a:picLocks noChangeAspect="1"/>
          </p:cNvPicPr>
          <p:nvPr/>
        </p:nvPicPr>
        <p:blipFill>
          <a:blip r:embed="rId1"/>
          <a:stretch>
            <a:fillRect/>
          </a:stretch>
        </p:blipFill>
        <p:spPr>
          <a:xfrm>
            <a:off x="0" y="0"/>
            <a:ext cx="12188952" cy="6858000"/>
          </a:xfrm>
          <a:prstGeom prst="rect">
            <a:avLst/>
          </a:prstGeom>
        </p:spPr>
      </p:pic>
      <p:pic>
        <p:nvPicPr>
          <p:cNvPr id="3" name="Image 1" descr="C:\Claude\MCG Full Stack\generators\assets\qlik_logo.png">    </p:cNvPr>
          <p:cNvPicPr>
            <a:picLocks noChangeAspect="1"/>
          </p:cNvPicPr>
          <p:nvPr/>
        </p:nvPicPr>
        <p:blipFill>
          <a:blip r:embed="rId2"/>
          <a:stretch>
            <a:fillRect/>
          </a:stretch>
        </p:blipFill>
        <p:spPr>
          <a:xfrm>
            <a:off x="457200" y="365760"/>
            <a:ext cx="1024128" cy="566928"/>
          </a:xfrm>
          <a:prstGeom prst="rect">
            <a:avLst/>
          </a:prstGeom>
        </p:spPr>
      </p:pic>
      <p:sp>
        <p:nvSpPr>
          <p:cNvPr id="4" name="Text 0"/>
          <p:cNvSpPr/>
          <p:nvPr/>
        </p:nvSpPr>
        <p:spPr>
          <a:xfrm>
            <a:off x="457200" y="1280160"/>
            <a:ext cx="7315200" cy="457200"/>
          </a:xfrm>
          <a:prstGeom prst="rect">
            <a:avLst/>
          </a:prstGeom>
          <a:noFill/>
          <a:ln/>
        </p:spPr>
        <p:txBody>
          <a:bodyPr wrap="square" rtlCol="0" anchor="ctr"/>
          <a:lstStyle/>
          <a:p>
            <a:pPr indent="0" marL="0">
              <a:buNone/>
            </a:pPr>
            <a:r>
              <a:rPr lang="en-US" sz="1600" dirty="0">
                <a:solidFill>
                  <a:srgbClr val="A9B3B6"/>
                </a:solidFill>
                <a:latin typeface="Inter" pitchFamily="34" charset="0"/>
                <a:ea typeface="Inter" pitchFamily="34" charset="-122"/>
                <a:cs typeface="Inter" pitchFamily="34" charset="-120"/>
              </a:rPr>
              <a:t>Meridian Commerce Group</a:t>
            </a:r>
            <a:endParaRPr lang="en-US" sz="1600" dirty="0"/>
          </a:p>
        </p:txBody>
      </p:sp>
      <p:sp>
        <p:nvSpPr>
          <p:cNvPr id="5" name="Text 1"/>
          <p:cNvSpPr/>
          <p:nvPr/>
        </p:nvSpPr>
        <p:spPr>
          <a:xfrm>
            <a:off x="457200" y="1783080"/>
            <a:ext cx="8686800" cy="914400"/>
          </a:xfrm>
          <a:prstGeom prst="rect">
            <a:avLst/>
          </a:prstGeom>
          <a:noFill/>
          <a:ln/>
        </p:spPr>
        <p:txBody>
          <a:bodyPr wrap="square" rtlCol="0" anchor="ctr"/>
          <a:lstStyle/>
          <a:p>
            <a:pPr indent="0" marL="0">
              <a:buNone/>
            </a:pPr>
            <a:r>
              <a:rPr lang="en-US" sz="4600" b="1" dirty="0">
                <a:solidFill>
                  <a:srgbClr val="19416C"/>
                </a:solidFill>
                <a:latin typeface="Inter" pitchFamily="34" charset="0"/>
                <a:ea typeface="Inter" pitchFamily="34" charset="-122"/>
                <a:cs typeface="Inter" pitchFamily="34" charset="-120"/>
              </a:rPr>
              <a:t>Project Qlarity</a:t>
            </a:r>
            <a:endParaRPr lang="en-US" sz="4600" dirty="0"/>
          </a:p>
        </p:txBody>
      </p:sp>
      <p:sp>
        <p:nvSpPr>
          <p:cNvPr id="7" name="Text 2"/>
          <p:cNvSpPr/>
          <p:nvPr/>
        </p:nvSpPr>
        <p:spPr>
          <a:xfrm>
            <a:off x="457200" y="2788920"/>
            <a:ext cx="9601200" cy="457200"/>
          </a:xfrm>
          <a:prstGeom prst="rect">
            <a:avLst/>
          </a:prstGeom>
          <a:noFill/>
          <a:ln/>
        </p:spPr>
        <p:txBody>
          <a:bodyPr wrap="square" rtlCol="0" anchor="ctr"/>
          <a:lstStyle/>
          <a:p>
            <a:pPr indent="0" marL="0">
              <a:buNone/>
            </a:pPr>
            <a:r>
              <a:rPr lang="en-US" sz="2000" b="1" dirty="0">
                <a:solidFill>
                  <a:srgbClr val="009845"/>
                </a:solidFill>
                <a:latin typeface="Inter" pitchFamily="34" charset="0"/>
                <a:ea typeface="Inter" pitchFamily="34" charset="-122"/>
                <a:cs typeface="Inter" pitchFamily="34" charset="-120"/>
              </a:rPr>
              <a:t>One repository, one command, the full Qlik stack.</a:t>
            </a:r>
            <a:endParaRPr lang="en-US" sz="2000" dirty="0"/>
          </a:p>
        </p:txBody>
      </p:sp>
      <p:sp>
        <p:nvSpPr>
          <p:cNvPr id="8" name="Text 3"/>
          <p:cNvSpPr/>
          <p:nvPr/>
        </p:nvSpPr>
        <p:spPr>
          <a:xfrm>
            <a:off x="457200" y="3337560"/>
            <a:ext cx="9601200" cy="457200"/>
          </a:xfrm>
          <a:prstGeom prst="rect">
            <a:avLst/>
          </a:prstGeom>
          <a:noFill/>
          <a:ln/>
        </p:spPr>
        <p:txBody>
          <a:bodyPr wrap="square" rtlCol="0" anchor="ctr"/>
          <a:lstStyle/>
          <a:p>
            <a:pPr indent="0" marL="0">
              <a:buNone/>
            </a:pPr>
            <a:r>
              <a:rPr lang="en-US" sz="1300" dirty="0">
                <a:solidFill>
                  <a:srgbClr val="454659"/>
                </a:solidFill>
                <a:latin typeface="Inter" pitchFamily="34" charset="0"/>
                <a:ea typeface="Inter" pitchFamily="34" charset="-122"/>
                <a:cs typeface="Inter" pitchFamily="34" charset="-120"/>
              </a:rPr>
              <a:t>Qlik + Clarity: a repeatable framework for demoing the full Qlik Cloud stack, end to end.</a:t>
            </a:r>
            <a:endParaRPr lang="en-US" sz="1300" dirty="0"/>
          </a:p>
        </p:txBody>
      </p:sp>
      <p:sp>
        <p:nvSpPr>
          <p:cNvPr id="9" name="Shape 4"/>
          <p:cNvSpPr/>
          <p:nvPr/>
        </p:nvSpPr>
        <p:spPr>
          <a:xfrm>
            <a:off x="457200" y="4023360"/>
            <a:ext cx="2011680" cy="1005840"/>
          </a:xfrm>
          <a:prstGeom prst="roundRect">
            <a:avLst>
              <a:gd name="adj" fmla="val 7273"/>
            </a:avLst>
          </a:prstGeom>
          <a:solidFill>
            <a:srgbClr val="F6F7F8"/>
          </a:solidFill>
          <a:ln w="19050">
            <a:solidFill>
              <a:srgbClr val="006580"/>
            </a:solidFill>
            <a:prstDash val="solid"/>
          </a:ln>
        </p:spPr>
      </p:sp>
      <p:sp>
        <p:nvSpPr>
          <p:cNvPr id="10" name="Text 5"/>
          <p:cNvSpPr/>
          <p:nvPr/>
        </p:nvSpPr>
        <p:spPr>
          <a:xfrm>
            <a:off x="457200" y="4069080"/>
            <a:ext cx="2011680" cy="548640"/>
          </a:xfrm>
          <a:prstGeom prst="rect">
            <a:avLst/>
          </a:prstGeom>
          <a:noFill/>
          <a:ln/>
        </p:spPr>
        <p:txBody>
          <a:bodyPr wrap="square" rtlCol="0" anchor="ctr"/>
          <a:lstStyle/>
          <a:p>
            <a:pPr algn="ctr" indent="0" marL="0">
              <a:buNone/>
            </a:pPr>
            <a:r>
              <a:rPr lang="en-US" sz="2800" b="1" dirty="0">
                <a:solidFill>
                  <a:srgbClr val="006580"/>
                </a:solidFill>
                <a:latin typeface="Inter" pitchFamily="34" charset="0"/>
                <a:ea typeface="Inter" pitchFamily="34" charset="-122"/>
                <a:cs typeface="Inter" pitchFamily="34" charset="-120"/>
              </a:rPr>
              <a:t>4</a:t>
            </a:r>
            <a:endParaRPr lang="en-US" sz="2800" dirty="0"/>
          </a:p>
        </p:txBody>
      </p:sp>
      <p:sp>
        <p:nvSpPr>
          <p:cNvPr id="11" name="Text 6"/>
          <p:cNvSpPr/>
          <p:nvPr/>
        </p:nvSpPr>
        <p:spPr>
          <a:xfrm>
            <a:off x="457200" y="4617720"/>
            <a:ext cx="2011680" cy="365760"/>
          </a:xfrm>
          <a:prstGeom prst="rect">
            <a:avLst/>
          </a:prstGeom>
          <a:noFill/>
          <a:ln/>
        </p:spPr>
        <p:txBody>
          <a:bodyPr wrap="square" rtlCol="0" anchor="ctr"/>
          <a:lstStyle/>
          <a:p>
            <a:pPr algn="ctr" indent="0" marL="0">
              <a:buNone/>
            </a:pPr>
            <a:r>
              <a:rPr lang="en-US" sz="1000" dirty="0">
                <a:solidFill>
                  <a:srgbClr val="454659"/>
                </a:solidFill>
                <a:latin typeface="Inter" pitchFamily="34" charset="0"/>
                <a:ea typeface="Inter" pitchFamily="34" charset="-122"/>
                <a:cs typeface="Inter" pitchFamily="34" charset="-120"/>
              </a:rPr>
              <a:t>Connected Stories</a:t>
            </a:r>
            <a:endParaRPr lang="en-US" sz="1000" dirty="0"/>
          </a:p>
        </p:txBody>
      </p:sp>
      <p:sp>
        <p:nvSpPr>
          <p:cNvPr id="12" name="Shape 7"/>
          <p:cNvSpPr/>
          <p:nvPr/>
        </p:nvSpPr>
        <p:spPr>
          <a:xfrm>
            <a:off x="2743200" y="4023360"/>
            <a:ext cx="2011680" cy="1005840"/>
          </a:xfrm>
          <a:prstGeom prst="roundRect">
            <a:avLst>
              <a:gd name="adj" fmla="val 7273"/>
            </a:avLst>
          </a:prstGeom>
          <a:solidFill>
            <a:srgbClr val="F6F7F8"/>
          </a:solidFill>
          <a:ln w="19050">
            <a:solidFill>
              <a:srgbClr val="006580"/>
            </a:solidFill>
            <a:prstDash val="solid"/>
          </a:ln>
        </p:spPr>
      </p:sp>
      <p:sp>
        <p:nvSpPr>
          <p:cNvPr id="13" name="Text 8"/>
          <p:cNvSpPr/>
          <p:nvPr/>
        </p:nvSpPr>
        <p:spPr>
          <a:xfrm>
            <a:off x="2743200" y="4069080"/>
            <a:ext cx="2011680" cy="548640"/>
          </a:xfrm>
          <a:prstGeom prst="rect">
            <a:avLst/>
          </a:prstGeom>
          <a:noFill/>
          <a:ln/>
        </p:spPr>
        <p:txBody>
          <a:bodyPr wrap="square" rtlCol="0" anchor="ctr"/>
          <a:lstStyle/>
          <a:p>
            <a:pPr algn="ctr" indent="0" marL="0">
              <a:buNone/>
            </a:pPr>
            <a:r>
              <a:rPr lang="en-US" sz="2800" b="1" dirty="0">
                <a:solidFill>
                  <a:srgbClr val="006580"/>
                </a:solidFill>
                <a:latin typeface="Inter" pitchFamily="34" charset="0"/>
                <a:ea typeface="Inter" pitchFamily="34" charset="-122"/>
                <a:cs typeface="Inter" pitchFamily="34" charset="-120"/>
              </a:rPr>
              <a:t>3</a:t>
            </a:r>
            <a:endParaRPr lang="en-US" sz="2800" dirty="0"/>
          </a:p>
        </p:txBody>
      </p:sp>
      <p:sp>
        <p:nvSpPr>
          <p:cNvPr id="14" name="Text 9"/>
          <p:cNvSpPr/>
          <p:nvPr/>
        </p:nvSpPr>
        <p:spPr>
          <a:xfrm>
            <a:off x="2743200" y="4617720"/>
            <a:ext cx="2011680" cy="365760"/>
          </a:xfrm>
          <a:prstGeom prst="rect">
            <a:avLst/>
          </a:prstGeom>
          <a:noFill/>
          <a:ln/>
        </p:spPr>
        <p:txBody>
          <a:bodyPr wrap="square" rtlCol="0" anchor="ctr"/>
          <a:lstStyle/>
          <a:p>
            <a:pPr algn="ctr" indent="0" marL="0">
              <a:buNone/>
            </a:pPr>
            <a:r>
              <a:rPr lang="en-US" sz="1000" dirty="0">
                <a:solidFill>
                  <a:srgbClr val="454659"/>
                </a:solidFill>
                <a:latin typeface="Inter" pitchFamily="34" charset="0"/>
                <a:ea typeface="Inter" pitchFamily="34" charset="-122"/>
                <a:cs typeface="Inter" pitchFamily="34" charset="-120"/>
              </a:rPr>
              <a:t>Presentation Decks</a:t>
            </a:r>
            <a:endParaRPr lang="en-US" sz="1000" dirty="0"/>
          </a:p>
        </p:txBody>
      </p:sp>
      <p:sp>
        <p:nvSpPr>
          <p:cNvPr id="15" name="Shape 10"/>
          <p:cNvSpPr/>
          <p:nvPr/>
        </p:nvSpPr>
        <p:spPr>
          <a:xfrm>
            <a:off x="5029200" y="4023360"/>
            <a:ext cx="2011680" cy="1005840"/>
          </a:xfrm>
          <a:prstGeom prst="roundRect">
            <a:avLst>
              <a:gd name="adj" fmla="val 7273"/>
            </a:avLst>
          </a:prstGeom>
          <a:solidFill>
            <a:srgbClr val="F6F7F8"/>
          </a:solidFill>
          <a:ln w="19050">
            <a:solidFill>
              <a:srgbClr val="009845"/>
            </a:solidFill>
            <a:prstDash val="solid"/>
          </a:ln>
        </p:spPr>
      </p:sp>
      <p:sp>
        <p:nvSpPr>
          <p:cNvPr id="16" name="Text 11"/>
          <p:cNvSpPr/>
          <p:nvPr/>
        </p:nvSpPr>
        <p:spPr>
          <a:xfrm>
            <a:off x="5029200" y="4069080"/>
            <a:ext cx="2011680" cy="548640"/>
          </a:xfrm>
          <a:prstGeom prst="rect">
            <a:avLst/>
          </a:prstGeom>
          <a:noFill/>
          <a:ln/>
        </p:spPr>
        <p:txBody>
          <a:bodyPr wrap="square" rtlCol="0" anchor="ctr"/>
          <a:lstStyle/>
          <a:p>
            <a:pPr algn="ctr" indent="0" marL="0">
              <a:buNone/>
            </a:pPr>
            <a:r>
              <a:rPr lang="en-US" sz="2800" b="1" dirty="0">
                <a:solidFill>
                  <a:srgbClr val="009845"/>
                </a:solidFill>
                <a:latin typeface="Inter" pitchFamily="34" charset="0"/>
                <a:ea typeface="Inter" pitchFamily="34" charset="-122"/>
                <a:cs typeface="Inter" pitchFamily="34" charset="-120"/>
              </a:rPr>
              <a:t>2</a:t>
            </a:r>
            <a:endParaRPr lang="en-US" sz="2800" dirty="0"/>
          </a:p>
        </p:txBody>
      </p:sp>
      <p:sp>
        <p:nvSpPr>
          <p:cNvPr id="17" name="Text 12"/>
          <p:cNvSpPr/>
          <p:nvPr/>
        </p:nvSpPr>
        <p:spPr>
          <a:xfrm>
            <a:off x="5029200" y="4617720"/>
            <a:ext cx="2011680" cy="365760"/>
          </a:xfrm>
          <a:prstGeom prst="rect">
            <a:avLst/>
          </a:prstGeom>
          <a:noFill/>
          <a:ln/>
        </p:spPr>
        <p:txBody>
          <a:bodyPr wrap="square" rtlCol="0" anchor="ctr"/>
          <a:lstStyle/>
          <a:p>
            <a:pPr algn="ctr" indent="0" marL="0">
              <a:buNone/>
            </a:pPr>
            <a:r>
              <a:rPr lang="en-US" sz="1000" dirty="0">
                <a:solidFill>
                  <a:srgbClr val="454659"/>
                </a:solidFill>
                <a:latin typeface="Inter" pitchFamily="34" charset="0"/>
                <a:ea typeface="Inter" pitchFamily="34" charset="-122"/>
                <a:cs typeface="Inter" pitchFamily="34" charset="-120"/>
              </a:rPr>
              <a:t>Gold Data Products</a:t>
            </a:r>
            <a:endParaRPr lang="en-US" sz="1000" dirty="0"/>
          </a:p>
        </p:txBody>
      </p:sp>
      <p:sp>
        <p:nvSpPr>
          <p:cNvPr id="18" name="Shape 13"/>
          <p:cNvSpPr/>
          <p:nvPr/>
        </p:nvSpPr>
        <p:spPr>
          <a:xfrm>
            <a:off x="7315200" y="4023360"/>
            <a:ext cx="2011680" cy="1005840"/>
          </a:xfrm>
          <a:prstGeom prst="roundRect">
            <a:avLst>
              <a:gd name="adj" fmla="val 7273"/>
            </a:avLst>
          </a:prstGeom>
          <a:solidFill>
            <a:srgbClr val="F6F7F8"/>
          </a:solidFill>
          <a:ln w="19050">
            <a:solidFill>
              <a:srgbClr val="4CB393"/>
            </a:solidFill>
            <a:prstDash val="solid"/>
          </a:ln>
        </p:spPr>
      </p:sp>
      <p:sp>
        <p:nvSpPr>
          <p:cNvPr id="19" name="Text 14"/>
          <p:cNvSpPr/>
          <p:nvPr/>
        </p:nvSpPr>
        <p:spPr>
          <a:xfrm>
            <a:off x="7315200" y="4069080"/>
            <a:ext cx="2011680" cy="548640"/>
          </a:xfrm>
          <a:prstGeom prst="rect">
            <a:avLst/>
          </a:prstGeom>
          <a:noFill/>
          <a:ln/>
        </p:spPr>
        <p:txBody>
          <a:bodyPr wrap="square" rtlCol="0" anchor="ctr"/>
          <a:lstStyle/>
          <a:p>
            <a:pPr algn="ctr" indent="0" marL="0">
              <a:buNone/>
            </a:pPr>
            <a:r>
              <a:rPr lang="en-US" sz="2800" b="1" dirty="0">
                <a:solidFill>
                  <a:srgbClr val="4CB393"/>
                </a:solidFill>
                <a:latin typeface="Inter" pitchFamily="34" charset="0"/>
                <a:ea typeface="Inter" pitchFamily="34" charset="-122"/>
                <a:cs typeface="Inter" pitchFamily="34" charset="-120"/>
              </a:rPr>
              <a:t>1</a:t>
            </a:r>
            <a:endParaRPr lang="en-US" sz="2800" dirty="0"/>
          </a:p>
        </p:txBody>
      </p:sp>
      <p:sp>
        <p:nvSpPr>
          <p:cNvPr id="20" name="Text 15"/>
          <p:cNvSpPr/>
          <p:nvPr/>
        </p:nvSpPr>
        <p:spPr>
          <a:xfrm>
            <a:off x="7315200" y="4617720"/>
            <a:ext cx="2011680" cy="365760"/>
          </a:xfrm>
          <a:prstGeom prst="rect">
            <a:avLst/>
          </a:prstGeom>
          <a:noFill/>
          <a:ln/>
        </p:spPr>
        <p:txBody>
          <a:bodyPr wrap="square" rtlCol="0" anchor="ctr"/>
          <a:lstStyle/>
          <a:p>
            <a:pPr algn="ctr" indent="0" marL="0">
              <a:buNone/>
            </a:pPr>
            <a:r>
              <a:rPr lang="en-US" sz="1000" dirty="0">
                <a:solidFill>
                  <a:srgbClr val="454659"/>
                </a:solidFill>
                <a:latin typeface="Inter" pitchFamily="34" charset="0"/>
                <a:ea typeface="Inter" pitchFamily="34" charset="-122"/>
                <a:cs typeface="Inter" pitchFamily="34" charset="-120"/>
              </a:rPr>
              <a:t>Repo · One Command</a:t>
            </a:r>
            <a:endParaRPr lang="en-US" sz="1000" dirty="0"/>
          </a:p>
        </p:txBody>
      </p:sp>
      <p:sp>
        <p:nvSpPr>
          <p:cNvPr id="21" name="Text 16"/>
          <p:cNvSpPr/>
          <p:nvPr/>
        </p:nvSpPr>
        <p:spPr>
          <a:xfrm>
            <a:off x="457200" y="5349240"/>
            <a:ext cx="11247120" cy="320040"/>
          </a:xfrm>
          <a:prstGeom prst="rect">
            <a:avLst/>
          </a:prstGeom>
          <a:noFill/>
          <a:ln/>
        </p:spPr>
        <p:txBody>
          <a:bodyPr wrap="square" rtlCol="0" anchor="ctr"/>
          <a:lstStyle/>
          <a:p>
            <a:pPr indent="0" marL="0">
              <a:buNone/>
            </a:pPr>
            <a:r>
              <a:rPr lang="en-US" sz="1200" b="1" dirty="0">
                <a:solidFill>
                  <a:srgbClr val="009845"/>
                </a:solidFill>
                <a:latin typeface="Inter" pitchFamily="34" charset="0"/>
                <a:ea typeface="Inter" pitchFamily="34" charset="-122"/>
                <a:cs typeface="Inter" pitchFamily="34" charset="-120"/>
              </a:rPr>
              <a:t>Deploy it:  </a:t>
            </a:r>
            <a:pPr indent="0" marL="0">
              <a:buNone/>
            </a:pPr>
            <a:r>
              <a:rPr lang="en-US" sz="1200" dirty="0">
                <a:solidFill>
                  <a:srgbClr val="454659"/>
                </a:solidFill>
                <a:latin typeface="Inter" pitchFamily="34" charset="0"/>
                <a:ea typeface="Inter" pitchFamily="34" charset="-122"/>
                <a:cs typeface="Inter" pitchFamily="34" charset="-120"/>
              </a:rPr>
              <a:t>clone the repo and run  npm run deploy  (dry-run first) via the MCG Deploy console on port 3939</a:t>
            </a:r>
            <a:endParaRPr lang="en-US" sz="1200" dirty="0"/>
          </a:p>
        </p:txBody>
      </p:sp>
      <p:sp>
        <p:nvSpPr>
          <p:cNvPr id="22" name="Text 17"/>
          <p:cNvSpPr/>
          <p:nvPr/>
        </p:nvSpPr>
        <p:spPr>
          <a:xfrm>
            <a:off x="457200" y="5715000"/>
            <a:ext cx="11247120" cy="320040"/>
          </a:xfrm>
          <a:prstGeom prst="rect">
            <a:avLst/>
          </a:prstGeom>
          <a:noFill/>
          <a:ln/>
        </p:spPr>
        <p:txBody>
          <a:bodyPr wrap="square" rtlCol="0" anchor="ctr"/>
          <a:lstStyle/>
          <a:p>
            <a:pPr indent="0" marL="0">
              <a:buNone/>
            </a:pPr>
            <a:r>
              <a:rPr lang="en-US" sz="1200" b="1" dirty="0">
                <a:solidFill>
                  <a:srgbClr val="19416C"/>
                </a:solidFill>
                <a:latin typeface="Inter" pitchFamily="34" charset="0"/>
                <a:ea typeface="Inter" pitchFamily="34" charset="-122"/>
                <a:cs typeface="Inter" pitchFamily="34" charset="-120"/>
              </a:rPr>
              <a:t>Resources:  </a:t>
            </a:r>
            <a:pPr indent="0" marL="0">
              <a:buNone/>
            </a:pPr>
            <a:r>
              <a:rPr lang="en-US" sz="1200" dirty="0">
                <a:solidFill>
                  <a:srgbClr val="454659"/>
                </a:solidFill>
                <a:latin typeface="Inter" pitchFamily="34" charset="0"/>
                <a:ea typeface="Inter" pitchFamily="34" charset="-122"/>
                <a:cs typeface="Inter" pitchFamily="34" charset="-120"/>
              </a:rPr>
              <a:t>Project Qlarity repository &amp; demo guide — [placeholder]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006580"/>
          </a:solidFill>
          <a:ln/>
        </p:spPr>
      </p:sp>
      <p:sp>
        <p:nvSpPr>
          <p:cNvPr id="3" name="Shape 1"/>
          <p:cNvSpPr/>
          <p:nvPr/>
        </p:nvSpPr>
        <p:spPr>
          <a:xfrm>
            <a:off x="457200" y="6400800"/>
            <a:ext cx="11274552" cy="9144"/>
          </a:xfrm>
          <a:prstGeom prst="rect">
            <a:avLst/>
          </a:prstGeom>
          <a:solidFill>
            <a:srgbClr val="A9B3B6"/>
          </a:solidFill>
          <a:ln/>
        </p:spPr>
      </p:sp>
      <p:pic>
        <p:nvPicPr>
          <p:cNvPr id="4" name="Image 0" descr="C:\Claude\MCG Full Stack\generators\assets\qlik_logo.png">    </p:cNvPr>
          <p:cNvPicPr>
            <a:picLocks noChangeAspect="1"/>
          </p:cNvPicPr>
          <p:nvPr/>
        </p:nvPicPr>
        <p:blipFill>
          <a:blip r:embed="rId1"/>
          <a:stretch>
            <a:fillRect/>
          </a:stretch>
        </p:blipFill>
        <p:spPr>
          <a:xfrm>
            <a:off x="457200" y="6492240"/>
            <a:ext cx="493776" cy="274320"/>
          </a:xfrm>
          <a:prstGeom prst="rect">
            <a:avLst/>
          </a:prstGeom>
        </p:spPr>
      </p:pic>
      <p:sp>
        <p:nvSpPr>
          <p:cNvPr id="5" name="Text 2"/>
          <p:cNvSpPr/>
          <p:nvPr/>
        </p:nvSpPr>
        <p:spPr>
          <a:xfrm>
            <a:off x="1280160" y="6492240"/>
            <a:ext cx="7315200" cy="274320"/>
          </a:xfrm>
          <a:prstGeom prst="rect">
            <a:avLst/>
          </a:prstGeom>
          <a:noFill/>
          <a:ln/>
        </p:spPr>
        <p:txBody>
          <a:bodyPr wrap="square" rtlCol="0" anchor="ctr"/>
          <a:lstStyle/>
          <a:p>
            <a:pPr indent="0" marL="0">
              <a:buNone/>
            </a:pPr>
            <a:r>
              <a:rPr lang="en-US" sz="800" dirty="0">
                <a:solidFill>
                  <a:srgbClr val="A9B3B6"/>
                </a:solidFill>
                <a:latin typeface="Inter" pitchFamily="34" charset="0"/>
                <a:ea typeface="Inter" pitchFamily="34" charset="-122"/>
                <a:cs typeface="Inter" pitchFamily="34" charset="-120"/>
              </a:rPr>
              <a:t>Project Qlarity  •  MCG Demo  •  Qlik Cloud</a:t>
            </a:r>
            <a:endParaRPr lang="en-US" sz="800" dirty="0"/>
          </a:p>
        </p:txBody>
      </p:sp>
      <p:sp>
        <p:nvSpPr>
          <p:cNvPr id="6" name="Text 3"/>
          <p:cNvSpPr/>
          <p:nvPr/>
        </p:nvSpPr>
        <p:spPr>
          <a:xfrm>
            <a:off x="10972800" y="6492240"/>
            <a:ext cx="914400" cy="274320"/>
          </a:xfrm>
          <a:prstGeom prst="rect">
            <a:avLst/>
          </a:prstGeom>
          <a:noFill/>
          <a:ln/>
        </p:spPr>
        <p:txBody>
          <a:bodyPr wrap="square" rtlCol="0" anchor="ctr"/>
          <a:lstStyle/>
          <a:p>
            <a:pPr algn="r" indent="0" marL="0">
              <a:buNone/>
            </a:pPr>
            <a:r>
              <a:rPr lang="en-US" sz="800" dirty="0">
                <a:solidFill>
                  <a:srgbClr val="A9B3B6"/>
                </a:solidFill>
                <a:latin typeface="Inter" pitchFamily="34" charset="0"/>
                <a:ea typeface="Inter" pitchFamily="34" charset="-122"/>
                <a:cs typeface="Inter" pitchFamily="34" charset="-120"/>
              </a:rPr>
              <a:t>14</a:t>
            </a:r>
            <a:endParaRPr lang="en-US" sz="800" dirty="0"/>
          </a:p>
        </p:txBody>
      </p:sp>
      <p:sp>
        <p:nvSpPr>
          <p:cNvPr id="7" name="Text 4"/>
          <p:cNvSpPr/>
          <p:nvPr/>
        </p:nvSpPr>
        <p:spPr>
          <a:xfrm>
            <a:off x="457200" y="182880"/>
            <a:ext cx="8412480" cy="594360"/>
          </a:xfrm>
          <a:prstGeom prst="rect">
            <a:avLst/>
          </a:prstGeom>
          <a:noFill/>
          <a:ln/>
        </p:spPr>
        <p:txBody>
          <a:bodyPr wrap="square" rtlCol="0" anchor="ctr"/>
          <a:lstStyle/>
          <a:p>
            <a:pPr indent="0" marL="0">
              <a:buNone/>
            </a:pPr>
            <a:r>
              <a:rPr lang="en-US" sz="2600" b="1" dirty="0">
                <a:solidFill>
                  <a:srgbClr val="19416C"/>
                </a:solidFill>
                <a:latin typeface="Inter" pitchFamily="34" charset="0"/>
                <a:ea typeface="Inter" pitchFamily="34" charset="-122"/>
                <a:cs typeface="Inter" pitchFamily="34" charset="-120"/>
              </a:rPr>
              <a:t>Deploy Console</a:t>
            </a:r>
            <a:endParaRPr lang="en-US" sz="2600" dirty="0"/>
          </a:p>
        </p:txBody>
      </p:sp>
      <p:sp>
        <p:nvSpPr>
          <p:cNvPr id="8" name="Text 5"/>
          <p:cNvSpPr/>
          <p:nvPr/>
        </p:nvSpPr>
        <p:spPr>
          <a:xfrm>
            <a:off x="548640" y="749808"/>
            <a:ext cx="11064240" cy="292608"/>
          </a:xfrm>
          <a:prstGeom prst="rect">
            <a:avLst/>
          </a:prstGeom>
          <a:noFill/>
          <a:ln/>
        </p:spPr>
        <p:txBody>
          <a:bodyPr wrap="square" rtlCol="0" anchor="ctr"/>
          <a:lstStyle/>
          <a:p>
            <a:pPr indent="0" marL="0">
              <a:buNone/>
            </a:pPr>
            <a:r>
              <a:rPr lang="en-US" sz="1100" dirty="0">
                <a:solidFill>
                  <a:srgbClr val="454659"/>
                </a:solidFill>
                <a:latin typeface="Inter" pitchFamily="34" charset="0"/>
                <a:ea typeface="Inter" pitchFamily="34" charset="-122"/>
                <a:cs typeface="Inter" pitchFamily="34" charset="-120"/>
              </a:rPr>
              <a:t>The whole environment deploys from one repository.</a:t>
            </a:r>
            <a:endParaRPr lang="en-US" sz="1100" dirty="0"/>
          </a:p>
        </p:txBody>
      </p:sp>
      <p:sp>
        <p:nvSpPr>
          <p:cNvPr id="9" name="Shape 6"/>
          <p:cNvSpPr/>
          <p:nvPr/>
        </p:nvSpPr>
        <p:spPr>
          <a:xfrm>
            <a:off x="1344168" y="1133856"/>
            <a:ext cx="7754112" cy="4901184"/>
          </a:xfrm>
          <a:prstGeom prst="roundRect">
            <a:avLst>
              <a:gd name="adj" fmla="val 746"/>
            </a:avLst>
          </a:prstGeom>
          <a:solidFill>
            <a:srgbClr val="FFFFFF"/>
          </a:solidFill>
          <a:ln w="12700">
            <a:solidFill>
              <a:srgbClr val="A9B3B6"/>
            </a:solidFill>
            <a:prstDash val="solid"/>
          </a:ln>
          <a:effectLst>
            <a:outerShdw sx="100000" sy="100000" kx="0" ky="0" algn="bl" rotWithShape="0" blurRad="76200" dist="25400" dir="16200000">
              <a:srgbClr val="000000">
                <a:alpha val="18000"/>
              </a:srgbClr>
            </a:outerShdw>
          </a:effectLst>
        </p:spPr>
      </p:sp>
      <p:pic>
        <p:nvPicPr>
          <p:cNvPr id="10" name="Image 1" descr="C:\Claude\MCG Full Stack\generators\assets\screenshots\deploy-ui-wizard.png">    </p:cNvPr>
          <p:cNvPicPr>
            <a:picLocks noChangeAspect="1"/>
          </p:cNvPicPr>
          <p:nvPr/>
        </p:nvPicPr>
        <p:blipFill>
          <a:blip r:embed="rId2"/>
          <a:stretch>
            <a:fillRect/>
          </a:stretch>
        </p:blipFill>
        <p:spPr>
          <a:xfrm>
            <a:off x="1417320" y="1207008"/>
            <a:ext cx="7607808" cy="4754880"/>
          </a:xfrm>
          <a:prstGeom prst="rect">
            <a:avLst/>
          </a:prstGeom>
        </p:spPr>
      </p:pic>
      <p:sp>
        <p:nvSpPr>
          <p:cNvPr id="11" name="Text 7"/>
          <p:cNvSpPr/>
          <p:nvPr/>
        </p:nvSpPr>
        <p:spPr>
          <a:xfrm>
            <a:off x="1344168" y="6089904"/>
            <a:ext cx="7754112" cy="274320"/>
          </a:xfrm>
          <a:prstGeom prst="rect">
            <a:avLst/>
          </a:prstGeom>
          <a:noFill/>
          <a:ln/>
        </p:spPr>
        <p:txBody>
          <a:bodyPr wrap="square" rtlCol="0" anchor="t"/>
          <a:lstStyle/>
          <a:p>
            <a:pPr algn="ctr" indent="0" marL="0">
              <a:buNone/>
            </a:pPr>
            <a:r>
              <a:rPr lang="en-US" sz="1000" i="1" dirty="0">
                <a:solidFill>
                  <a:srgbClr val="6B7280"/>
                </a:solidFill>
                <a:latin typeface="Inter" pitchFamily="34" charset="0"/>
                <a:ea typeface="Inter" pitchFamily="34" charset="-122"/>
                <a:cs typeface="Inter" pitchFamily="34" charset="-120"/>
              </a:rPr>
              <a:t>The MCG deploy console — 11 setup steps, Stewardship at step 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Qlik / Meridian Commerce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Qlarity — Meridian Commerce Group Qlik Cloud Demo</dc:title>
  <dc:subject>PptxGenJS Presentation</dc:subject>
  <dc:creator>Qlik</dc:creator>
  <cp:lastModifiedBy>Qlik</cp:lastModifiedBy>
  <cp:revision>1</cp:revision>
  <dcterms:created xsi:type="dcterms:W3CDTF">2026-09-21T20:26:58Z</dcterms:created>
  <dcterms:modified xsi:type="dcterms:W3CDTF">2026-09-21T20:26:58Z</dcterms:modified>
</cp:coreProperties>
</file>