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D7C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</a:t>
            </a:r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COMMERCE </a:t>
            </a:r>
            <a:pPr indent="0" marL="0">
              <a:buNone/>
            </a:pPr>
            <a:r>
              <a:rPr lang="en-US" sz="44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neighborhood store with global reach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3108960"/>
            <a:ext cx="2743200" cy="36576"/>
          </a:xfrm>
          <a:prstGeom prst="rect">
            <a:avLst/>
          </a:prstGeom>
          <a:solidFill>
            <a:srgbClr val="C4922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Profile &amp; Data Quality Assessment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2025  •  Prepared for Senior Leadership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8463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Qlarity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Connected Logistics, Analytics &amp; Real-time Intelligence Technology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5943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Qlarity  •  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D7C8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at a Glance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F2F4F7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3258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$14.2B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57200" y="19202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Revenue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206240" y="118872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F2F4F7"/>
          </a:solidFill>
          <a:ln w="19050">
            <a:solidFill>
              <a:srgbClr val="0D7C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13258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62,000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206240" y="19202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55280" y="118872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F2F4F7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0" y="13258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1,140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7955280" y="19202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Stores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274320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F2F4F7"/>
          </a:solidFill>
          <a:ln w="19050">
            <a:solidFill>
              <a:srgbClr val="0D7C8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88036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457200" y="34747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206240" y="274320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F2F4F7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06240" y="288036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4206240" y="34747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Centers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955280" y="274320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F2F4F7"/>
          </a:solidFill>
          <a:ln w="19050">
            <a:solidFill>
              <a:srgbClr val="0D7C8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0" y="288036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$3.8B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7955280" y="34747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Revenue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57200" y="45720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Founded: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1987, Rotterdam  •  </a:t>
            </a:r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CEO: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Ingrid van der Berg  •  </a:t>
            </a:r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CIO: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Marcus Chen  •  </a:t>
            </a:r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CDO: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Priya Ramanathan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7200" y="50292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Categories: Home goods  •  Electronics  •  Apparel  •  Grocery &amp; Fresh  •  Health &amp; Wellness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Qlarity  •  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D7C8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Landscape — A Tangled Web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distinct source systems  •  6 ERP instances  •  3 WMS platforms  •  2 POS systems  •  14 spreadsheet trackers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4114800"/>
                <a:gridCol w="39319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SAP S/4HANA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ERP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WMS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Warehouse Mgmt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Americas, EU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Manhattan WMS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Warehouse Mgmt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APAC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Meridian Storefront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E-Commerce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 Yonder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 Planning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Americas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Kinaxis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Supply Chain Planning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EU, APAC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Descartes TMS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Tive / Sensitech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IoT Cold Chain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EU, Americas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Shopify POS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 of Sale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Express stores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Retail Xstore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 of Sale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Full-format stores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Snowflake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Warehouse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(partial)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Legacy SQL Server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Regional Reporting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Various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566928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"Why can't we see what's happening in our own supply chain?" — CEO Ingrid van der Berg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560320"/>
            <a:ext cx="1828800" cy="54864"/>
          </a:xfrm>
          <a:prstGeom prst="rect">
            <a:avLst/>
          </a:prstGeom>
          <a:solidFill>
            <a:srgbClr val="C4922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Seven Data Quality Nightmares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8404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$127M in annual losses from data quality failures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5943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COMMERCE GROUP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Qlarity  •  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Data Quality Nightmares — $127M Annual Impact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02920" cy="5029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960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88720" y="9144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Phantom Inventory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29200" y="960120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E2E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0" y="96012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$48.0M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315200" y="914400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IRA: 74% vs 97% target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1709928"/>
            <a:ext cx="502920" cy="502920"/>
          </a:xfrm>
          <a:prstGeom prst="ellipse">
            <a:avLst/>
          </a:prstGeom>
          <a:solidFill>
            <a:srgbClr val="C4922E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170992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88720" y="1664208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Catastrophe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029200" y="1709928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F3C7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0" y="1709928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$3.1M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315200" y="1664208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4.7% first-delivery rejection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2459736"/>
            <a:ext cx="502920" cy="502920"/>
          </a:xfrm>
          <a:prstGeom prst="ellipse">
            <a:avLst/>
          </a:prstGeom>
          <a:solidFill>
            <a:srgbClr val="C4922E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45973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2414016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Master Mess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029200" y="2459736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F3C7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0" y="2459736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$8.2M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315200" y="2414016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8,200 SKUs missing weight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3209544"/>
            <a:ext cx="502920" cy="5029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320954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188720" y="3163824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Pipelines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029200" y="3209544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E2E2"/>
          </a:solidFill>
          <a:ln/>
        </p:spPr>
      </p:sp>
      <p:sp>
        <p:nvSpPr>
          <p:cNvPr id="29" name="Text 27"/>
          <p:cNvSpPr/>
          <p:nvPr/>
        </p:nvSpPr>
        <p:spPr>
          <a:xfrm>
            <a:off x="5029200" y="3209544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$12.0M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7315200" y="3163824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4.3-day detection time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7200" y="3959352"/>
            <a:ext cx="502920" cy="502920"/>
          </a:xfrm>
          <a:prstGeom prst="ellipse">
            <a:avLst/>
          </a:prstGeom>
          <a:solidFill>
            <a:srgbClr val="C4922E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9593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188720" y="3913632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 Babel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029200" y="3959352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F3C7"/>
          </a:solidFill>
          <a:ln/>
        </p:spPr>
      </p:sp>
      <p:sp>
        <p:nvSpPr>
          <p:cNvPr id="35" name="Text 33"/>
          <p:cNvSpPr/>
          <p:nvPr/>
        </p:nvSpPr>
        <p:spPr>
          <a:xfrm>
            <a:off x="5029200" y="3959352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$6.5M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7315200" y="3913632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TZs, no standards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57200" y="4709160"/>
            <a:ext cx="502920" cy="5029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00" y="4709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188720" y="466344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Black Hole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029200" y="4709160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E2E2"/>
          </a:solidFill>
          <a:ln/>
        </p:spPr>
      </p:sp>
      <p:sp>
        <p:nvSpPr>
          <p:cNvPr id="41" name="Text 39"/>
          <p:cNvSpPr/>
          <p:nvPr/>
        </p:nvSpPr>
        <p:spPr>
          <a:xfrm>
            <a:off x="5029200" y="470916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$14.8M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7315200" y="4663440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 missing tracking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457200" y="5458968"/>
            <a:ext cx="502920" cy="5029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545896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1188720" y="5413248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Gap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5029200" y="5458968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E2E2"/>
          </a:solidFill>
          <a:ln/>
        </p:spPr>
      </p:sp>
      <p:sp>
        <p:nvSpPr>
          <p:cNvPr id="47" name="Text 45"/>
          <p:cNvSpPr/>
          <p:nvPr/>
        </p:nvSpPr>
        <p:spPr>
          <a:xfrm>
            <a:off x="5029200" y="5458968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$4.2M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7315200" y="5413248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11-day recall vs 24h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457200" y="6263640"/>
            <a:ext cx="11247120" cy="0"/>
          </a:xfrm>
          <a:prstGeom prst="rect">
            <a:avLst/>
          </a:prstGeom>
          <a:noFill/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Qlarity  •  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Nightmare #1: Phantom Inventory — $48M Annual Impact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5029200" cy="2560320"/>
          </a:xfrm>
          <a:prstGeom prst="roundRect">
            <a:avLst>
              <a:gd name="adj" fmla="val 5357"/>
            </a:avLst>
          </a:prstGeom>
          <a:solidFill>
            <a:srgbClr val="F2F4F7"/>
          </a:solidFill>
          <a:ln w="254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0058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Record Accuracy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46304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457200" y="26517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97%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943600" y="91440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Rotterdam Incident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943600" y="1371600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SAP showed 500 units of BT Speaker at Rotterdam DC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43600" y="1719072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Oracle WMS showed 312 units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43600" y="2066544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Physical count: 287 units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0" y="2414016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Cause: WMS-SAP batch job failed silently for 4.3 days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43600" y="2761488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 alert was ever generated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0" y="3108960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847 phantom inventory units across 42 SKUs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943600" y="3456432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7 stores had preventable stockouts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840480"/>
            <a:ext cx="11247120" cy="9144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93192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Impact: 855 hours of manual reconciliation daily across 1,140 stores. Store managers spend 45 minutes every morning reconciling inventory in spreadsheets.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502920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"We're asking warehouse staff to do a 15-20 minute manual sync check every morning. That's 855 hours of labor across our DC network, every day."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Henrik Jansen, VP Warehouse Operations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Qlarity  •  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Nightmare #6: Carrier Data Black Hole — $14.8M Annual Impact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2F4F7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6012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57200" y="16002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Carriers Globally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83280" y="91440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2F4F7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96012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3383280" y="16002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Tracking #s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309360" y="91440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2F4F7"/>
          </a:solidFill>
          <a:ln w="19050">
            <a:solidFill>
              <a:srgbClr val="C492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9360" y="96012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58%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6309360" y="16002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Visibility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235440" y="91440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2F4F7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35440" y="96012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536K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9235440" y="16002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WISMO Calls/Month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2377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Status Babel — Same Meaning, Different Languages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112471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743200"/>
                <a:gridCol w="3474720"/>
                <a:gridCol w="27432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"Delivered"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"In Transit"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DPD (NL)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Bezorgd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pakketcentrum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DPD (DE)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Zugestellt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 Paketzentrum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DPD (FR)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Livré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 centre de tri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French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FedEx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transit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NinjaVan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Transit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(Lagos)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DLVRD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 (no tracking)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Codes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457200" y="5029200"/>
            <a:ext cx="11247120" cy="91440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/>
        </p:spPr>
      </p:sp>
      <p:sp>
        <p:nvSpPr>
          <p:cNvPr id="22" name="Text 19"/>
          <p:cNvSpPr/>
          <p:nvPr/>
        </p:nvSpPr>
        <p:spPr>
          <a:xfrm>
            <a:off x="731520" y="512064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Singapore Crisis: NinjaVan changed 5-10 kg delivery from 2-day to 3-day without notification. MCG continued promising 2-day delivery for 3+ weeks, affecting 14,000 customers/month. WISMO rate spiked to 52%.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Qlarity  •  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Nightmare #7: Compliance Traceability Gap — $4.2M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Lettuce Recall (RCL-2025-003): Full Traceability Timeline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1371600" cy="548640"/>
          </a:xfrm>
          <a:prstGeom prst="roundRect">
            <a:avLst>
              <a:gd name="adj" fmla="val 8333"/>
            </a:avLst>
          </a:prstGeom>
          <a:solidFill>
            <a:srgbClr val="059669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46304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24h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011680" y="1508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Target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194560"/>
            <a:ext cx="9144000" cy="548640"/>
          </a:xfrm>
          <a:prstGeom prst="roundRect">
            <a:avLst>
              <a:gd name="adj" fmla="val 8333"/>
            </a:avLst>
          </a:prstGeom>
          <a:solidFill>
            <a:srgbClr val="DC262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1945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DAYS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784080" y="22402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MCG Actual (June 2025)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31089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12,400 units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200400" y="310896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Affected across 210 stores in NL, DE, BE, FR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35661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person-hours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00400" y="356616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cross-referencing across 4 disconnected systems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40233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32%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200400" y="402336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stores had lot-level tracking (68% required manual audits)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44805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systems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200400" y="448056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SAP, WMS, Descartes TMS, Meridian CRM — no common key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49377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€85,125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200400" y="493776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recall cost (product, labor, regulatory, brand impact)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3949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NVWA citation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200400" y="539496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regulatory citation issued for traceability failure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Qlarity  •  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D7C8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 Impact — These Aren't Just Data Problems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00584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Managers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0" y="100584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EE2E2"/>
          </a:solidFill>
          <a:ln/>
        </p:spPr>
      </p:sp>
      <p:sp>
        <p:nvSpPr>
          <p:cNvPr id="10" name="Text 8"/>
          <p:cNvSpPr/>
          <p:nvPr/>
        </p:nvSpPr>
        <p:spPr>
          <a:xfrm>
            <a:off x="3200400" y="100584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855 hrs/day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577840" y="105156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inventory reconciliation in spreadsheets — 45 min per store, every morning, across 1,140 stores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01168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01168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Analysts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00400" y="201168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EE2E2"/>
          </a:solidFill>
          <a:ln/>
        </p:spPr>
      </p:sp>
      <p:sp>
        <p:nvSpPr>
          <p:cNvPr id="15" name="Text 13"/>
          <p:cNvSpPr/>
          <p:nvPr/>
        </p:nvSpPr>
        <p:spPr>
          <a:xfrm>
            <a:off x="3200400" y="201168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577840" y="205740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their time spent finding and cleaning data. Only 30% on actual analysis.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01752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301752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Service Agents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00400" y="301752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EE2E2"/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0" y="301752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screens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577840" y="306324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toggle between 5 systems to answer a single WISMO call. 536K calls/month at $2.30 each.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02336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02336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VPs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200400" y="402336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EE2E2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0" y="402336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 data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577840" y="406908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PowerPoint decks already outdated by presentation time. Every region tells a different story.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502920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502920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CFO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200400" y="502920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EE2E2"/>
          </a:solidFill>
          <a:ln/>
        </p:spPr>
      </p:sp>
      <p:sp>
        <p:nvSpPr>
          <p:cNvPr id="30" name="Text 28"/>
          <p:cNvSpPr/>
          <p:nvPr/>
        </p:nvSpPr>
        <p:spPr>
          <a:xfrm>
            <a:off x="3200400" y="502920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Unreliable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577840" y="507492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accurately forecast inventory carrying costs. Data foundation too unreliable for financial planning.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57200" y="576072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8EB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1520" y="580644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"Data quality is now our #1 operational priority for 2026." — CEO Ingrid van der Berg, Q3 Review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560320"/>
            <a:ext cx="1828800" cy="54864"/>
          </a:xfrm>
          <a:prstGeom prst="rect">
            <a:avLst/>
          </a:prstGeom>
          <a:solidFill>
            <a:srgbClr val="C4922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Qlarity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8404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from data chaos to trusted intelligence — $12.4M investment, 952% 3-year ROI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5943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COMMERCE GROUP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Qlarity  •  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Qlarity — Qlik Platform Solution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3566160" cy="4114800"/>
          </a:xfrm>
          <a:prstGeom prst="roundRect">
            <a:avLst>
              <a:gd name="adj" fmla="val 3077"/>
            </a:avLst>
          </a:prstGeom>
          <a:solidFill>
            <a:srgbClr val="F2F4F7"/>
          </a:solidFill>
          <a:ln w="25400">
            <a:solidFill>
              <a:srgbClr val="0D7C8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005840"/>
            <a:ext cx="3383280" cy="731520"/>
          </a:xfrm>
          <a:prstGeom prst="roundRect">
            <a:avLst>
              <a:gd name="adj" fmla="val 10000"/>
            </a:avLst>
          </a:prstGeom>
          <a:solidFill>
            <a:srgbClr val="0D7C8F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0058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Foundation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4173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1-8  •  $5.2M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19202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CDC from SAP, WMS, Meridian CRM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4231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Open Lakehouse Bronze/Silver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29260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Pipeline monitoring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4290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Inventory &amp; cold chain dashboards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97680" y="914400"/>
            <a:ext cx="3566160" cy="4114800"/>
          </a:xfrm>
          <a:prstGeom prst="roundRect">
            <a:avLst>
              <a:gd name="adj" fmla="val 3077"/>
            </a:avLst>
          </a:prstGeom>
          <a:solidFill>
            <a:srgbClr val="F2F4F7"/>
          </a:solidFill>
          <a:ln w="25400">
            <a:solidFill>
              <a:srgbClr val="1B2A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89120" y="1005840"/>
            <a:ext cx="3383280" cy="73152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/>
        </p:spPr>
      </p:sp>
      <p:sp>
        <p:nvSpPr>
          <p:cNvPr id="17" name="Text 15"/>
          <p:cNvSpPr/>
          <p:nvPr/>
        </p:nvSpPr>
        <p:spPr>
          <a:xfrm>
            <a:off x="4389120" y="10058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Analytics &amp; Quality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389120" y="14173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6-16  •  $4.8M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480560" y="19202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Data quality rules &amp; Trust Score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480560" y="24231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Address standardization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480560" y="29260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Supplier deduplication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80560" y="34290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AutoML predictions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138160" y="914400"/>
            <a:ext cx="3566160" cy="4114800"/>
          </a:xfrm>
          <a:prstGeom prst="roundRect">
            <a:avLst>
              <a:gd name="adj" fmla="val 3077"/>
            </a:avLst>
          </a:prstGeom>
          <a:solidFill>
            <a:srgbClr val="F2F4F7"/>
          </a:solidFill>
          <a:ln w="25400">
            <a:solidFill>
              <a:srgbClr val="C492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29600" y="1005840"/>
            <a:ext cx="3383280" cy="731520"/>
          </a:xfrm>
          <a:prstGeom prst="roundRect">
            <a:avLst>
              <a:gd name="adj" fmla="val 10000"/>
            </a:avLst>
          </a:prstGeom>
          <a:solidFill>
            <a:srgbClr val="C4922E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0" y="10058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3: AI &amp; Conversational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229600" y="14173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14-24  •  $2.4M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321040" y="19202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Qlik Answers (RAG over docs)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321040" y="24231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Discovery Agent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321040" y="29260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MCP Server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321040" y="34290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Conversational analytics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5303520"/>
            <a:ext cx="11247120" cy="822960"/>
          </a:xfrm>
          <a:prstGeom prst="roundRect">
            <a:avLst>
              <a:gd name="adj" fmla="val 11111"/>
            </a:avLst>
          </a:prstGeom>
          <a:solidFill>
            <a:srgbClr val="1B2A4A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530352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Investment: $12.4M</a:t>
            </a:r>
            <a:pPr algn="ctr" indent="0" marL="0">
              <a:buNone/>
            </a:pPr>
            <a:r>
              <a:rPr lang="en-US" sz="16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</a:t>
            </a:r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Benefit: $52.7M+</a:t>
            </a:r>
            <a:pPr algn="ctr" indent="0" marL="0">
              <a:buNone/>
            </a:pPr>
            <a:r>
              <a:rPr lang="en-US" sz="16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</a:t>
            </a:r>
            <a:pPr algn="ctr" indent="0" marL="0">
              <a:buNone/>
            </a:pPr>
            <a:r>
              <a:rPr lang="en-US" sz="1600" b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3-Year ROI: 952%</a:t>
            </a:r>
            <a:pPr algn="ctr" indent="0" marL="0">
              <a:buNone/>
            </a:pPr>
            <a:r>
              <a:rPr lang="en-US" sz="16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</a:t>
            </a:r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Payback: &lt; 4 months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4922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Is No Longer "Can We Afford To Do This?"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i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"Can We Afford Not To?"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731520" y="3291840"/>
            <a:ext cx="2743200" cy="36576"/>
          </a:xfrm>
          <a:prstGeom prst="rect">
            <a:avLst/>
          </a:prstGeom>
          <a:solidFill>
            <a:srgbClr val="0D7C8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6576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$127M in annual losses from data quality failures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40233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74% inventory accuracy vs 97% target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11-day recall trace vs 24-hour regulatory requirement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47548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NVWA citation with Q1 2026 follow-up inspection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51206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536,000 WISMO calls per month ($14.8M annually)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57607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COMMERCE </a:t>
            </a:r>
            <a:pPr indent="0" marL="0">
              <a:buNone/>
            </a:pPr>
            <a:r>
              <a:rPr lang="en-US" sz="18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Meridian Commerce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Qlarity — MCG Company Profile &amp; Data Quality Assessment</dc:title>
  <dc:subject>PptxGenJS Presentation</dc:subject>
  <dc:creator>Meridian Commerce Group</dc:creator>
  <cp:lastModifiedBy>Meridian Commerce Group</cp:lastModifiedBy>
  <cp:revision>1</cp:revision>
  <dcterms:created xsi:type="dcterms:W3CDTF">2026-09-21T20:26:58Z</dcterms:created>
  <dcterms:modified xsi:type="dcterms:W3CDTF">2026-09-21T20:26:58Z</dcterms:modified>
</cp:coreProperties>
</file>