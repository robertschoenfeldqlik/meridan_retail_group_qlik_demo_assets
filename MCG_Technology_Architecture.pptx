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371600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14630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700" dirty="0"/>
          </a:p>
        </p:txBody>
      </p:sp>
      <p:sp>
        <p:nvSpPr>
          <p:cNvPr id="5" name="Text 1"/>
          <p:cNvSpPr/>
          <p:nvPr/>
        </p:nvSpPr>
        <p:spPr>
          <a:xfrm>
            <a:off x="548640" y="2011680"/>
            <a:ext cx="5486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Technology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548640" y="36576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Full Stack Demo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548640" y="429768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Open Lakehouse  •  8 Transformation Routes  •  2 Data Products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Analytics Apps  •  2 AutoML Models  •  25 Knowledge Documents  •  MCP + AI Agents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9" name="Text 5"/>
          <p:cNvSpPr/>
          <p:nvPr/>
        </p:nvSpPr>
        <p:spPr>
          <a:xfrm>
            <a:off x="54864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92608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11" name="Text 7"/>
          <p:cNvSpPr/>
          <p:nvPr/>
        </p:nvSpPr>
        <p:spPr>
          <a:xfrm>
            <a:off x="292608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30352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30352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68096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68096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Architecture Overview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20040" y="116128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320040" y="116128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" y="25786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320040" y="25786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" y="39502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3" name="Text 10"/>
          <p:cNvSpPr/>
          <p:nvPr/>
        </p:nvSpPr>
        <p:spPr>
          <a:xfrm>
            <a:off x="320040" y="39502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0040" y="523036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" y="523036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96596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203911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03911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3 tables • Real-time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98348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05663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05663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2 IoT topics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00100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807415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07415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Connector • 3 objects • 15 min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38328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640080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941832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1965960" y="2423160"/>
            <a:ext cx="7040880" cy="9144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965960" y="2414016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Open Lakehouse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214884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222199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(8 tables)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222199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34340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441655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 (8 routes)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41655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Cleansed + joined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537960" y="2715768"/>
            <a:ext cx="2286000" cy="530352"/>
          </a:xfrm>
          <a:prstGeom prst="roundRect">
            <a:avLst>
              <a:gd name="adj" fmla="val 17241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6611112" y="2770632"/>
            <a:ext cx="213969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(2 products)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6611112" y="2999232"/>
            <a:ext cx="213969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+ API-shared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4160520" y="2980944"/>
            <a:ext cx="182880" cy="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0" name="Shape 37"/>
          <p:cNvSpPr/>
          <p:nvPr/>
        </p:nvSpPr>
        <p:spPr>
          <a:xfrm>
            <a:off x="6355080" y="2980944"/>
            <a:ext cx="182880" cy="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9189720" y="242316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9262872" y="2478024"/>
            <a:ext cx="1545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9262872" y="2898648"/>
            <a:ext cx="1545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Stewardship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37947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5" name="Shape 42"/>
          <p:cNvSpPr/>
          <p:nvPr/>
        </p:nvSpPr>
        <p:spPr>
          <a:xfrm>
            <a:off x="79095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196596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7" name="Text 44"/>
          <p:cNvSpPr/>
          <p:nvPr/>
        </p:nvSpPr>
        <p:spPr>
          <a:xfrm>
            <a:off x="2039112" y="3849624"/>
            <a:ext cx="25968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2039112" y="4270248"/>
            <a:ext cx="25968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• 10 sheets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489204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0" name="Text 47"/>
          <p:cNvSpPr/>
          <p:nvPr/>
        </p:nvSpPr>
        <p:spPr>
          <a:xfrm>
            <a:off x="4965192" y="3849624"/>
            <a:ext cx="25968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4965192" y="4270248"/>
            <a:ext cx="25968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• SLA Model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7818120" y="3794760"/>
            <a:ext cx="306324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3" name="Text 50"/>
          <p:cNvSpPr/>
          <p:nvPr/>
        </p:nvSpPr>
        <p:spPr>
          <a:xfrm>
            <a:off x="7891272" y="3849624"/>
            <a:ext cx="29169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&amp; Trust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7891272" y="4270248"/>
            <a:ext cx="29169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• Stewardship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 • Lineage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333756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626364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937260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8" name="Shape 55"/>
          <p:cNvSpPr/>
          <p:nvPr/>
        </p:nvSpPr>
        <p:spPr>
          <a:xfrm>
            <a:off x="1965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9" name="Text 56"/>
          <p:cNvSpPr/>
          <p:nvPr/>
        </p:nvSpPr>
        <p:spPr>
          <a:xfrm>
            <a:off x="2039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60" name="Text 57"/>
          <p:cNvSpPr/>
          <p:nvPr/>
        </p:nvSpPr>
        <p:spPr>
          <a:xfrm>
            <a:off x="2039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4251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2" name="Text 59"/>
          <p:cNvSpPr/>
          <p:nvPr/>
        </p:nvSpPr>
        <p:spPr>
          <a:xfrm>
            <a:off x="4325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4325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6537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5" name="Text 62"/>
          <p:cNvSpPr/>
          <p:nvPr/>
        </p:nvSpPr>
        <p:spPr>
          <a:xfrm>
            <a:off x="6611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66" name="Text 63"/>
          <p:cNvSpPr/>
          <p:nvPr/>
        </p:nvSpPr>
        <p:spPr>
          <a:xfrm>
            <a:off x="6611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queries</a:t>
            </a:r>
            <a:endParaRPr lang="en-US" sz="1000" dirty="0"/>
          </a:p>
        </p:txBody>
      </p:sp>
      <p:sp>
        <p:nvSpPr>
          <p:cNvPr id="67" name="Shape 64"/>
          <p:cNvSpPr/>
          <p:nvPr/>
        </p:nvSpPr>
        <p:spPr>
          <a:xfrm>
            <a:off x="8823960" y="5074920"/>
            <a:ext cx="205740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8" name="Text 65"/>
          <p:cNvSpPr/>
          <p:nvPr/>
        </p:nvSpPr>
        <p:spPr>
          <a:xfrm>
            <a:off x="8897112" y="5129784"/>
            <a:ext cx="19110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69" name="Text 66"/>
          <p:cNvSpPr/>
          <p:nvPr/>
        </p:nvSpPr>
        <p:spPr>
          <a:xfrm>
            <a:off x="8897112" y="5550408"/>
            <a:ext cx="19110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alerts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10744200" y="100584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10744200" y="1005840"/>
            <a:ext cx="1234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Data Quality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— Three Pillars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Data Capture • Real-time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36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~8,000 rows  •  Stock levels by DC/SKU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9436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~15,000 rows  •  Pick, pack, ship events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436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580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~3,000 rows  •  Outbound shipment tracking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436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9436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Phantom inventory (WMS vs ERP mismatch)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Missing lot numbers on 15% of perishables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Timestamp drift between WMS and SAP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Silent pipeline failures (72h undetected)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20624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0624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20624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Confluent Platform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34340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3484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43484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msg/5s  •  Temperature, humidity, GPS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34340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3484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mcg.iot.carrier-events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43484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msg/min  •  Carrier status updates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343400" y="32918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343400" y="361188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5% readings in Fahrenheit (mixed units)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3% bare timestamps (no timezone)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2% Lagos GPS blackouts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8.8% GRU-BA temp exceedances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Carrier status in 5 languages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95528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95528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95528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• 15-min polling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809244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8388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18388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18.4M records  •  Customer addresses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809244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8388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MCG_Order__c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818388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~12,000  •  Order details + SLAs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809244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18388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MCG_Product__c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18388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~5,000  •  Product catalog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809244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09244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11% address format inconsistencies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6% truncated addresses (30-char limit)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Duplicate customer records (fuzzy)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Mixed naming conventions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Medallion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291840" cy="5166360"/>
          </a:xfrm>
          <a:prstGeom prst="roundRect">
            <a:avLst>
              <a:gd name="adj" fmla="val 3333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14300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11430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46304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" y="187452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187452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(CDC)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" y="238658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3232" y="238658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 (CDC)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94360" y="289864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289864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 (CDC)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4360" y="3410712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3232" y="3410712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sf_contacts (API)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4360" y="3922776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3232" y="3922776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sf_orders (API)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94360" y="443484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13232" y="443484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sf_products (API)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94360" y="494690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13232" y="494690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iot_cold_chain (Stream)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94360" y="545896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3232" y="545896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iot_carrier_events (Stream)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206240" y="1005840"/>
            <a:ext cx="3383280" cy="5166360"/>
          </a:xfrm>
          <a:prstGeom prst="roundRect">
            <a:avLst>
              <a:gd name="adj" fmla="val 3243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89120" y="1143000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30" name="Text 27"/>
          <p:cNvSpPr/>
          <p:nvPr/>
        </p:nvSpPr>
        <p:spPr>
          <a:xfrm>
            <a:off x="4389120" y="114300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389120" y="146304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Transformation Routes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343400" y="187452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462272" y="187452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343400" y="238658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462272" y="238658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343400" y="289864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462272" y="289864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4343400" y="3410712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62272" y="3410712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343400" y="3922776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462272" y="3922776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343400" y="443484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462272" y="443484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4343400" y="494690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462272" y="494690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4343400" y="545896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462272" y="545896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8046720" y="1005840"/>
            <a:ext cx="3566160" cy="516636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229600" y="1143000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50" name="Text 47"/>
          <p:cNvSpPr/>
          <p:nvPr/>
        </p:nvSpPr>
        <p:spPr>
          <a:xfrm>
            <a:off x="8229600" y="11430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500" dirty="0"/>
          </a:p>
        </p:txBody>
      </p:sp>
      <p:sp>
        <p:nvSpPr>
          <p:cNvPr id="51" name="Text 48"/>
          <p:cNvSpPr/>
          <p:nvPr/>
        </p:nvSpPr>
        <p:spPr>
          <a:xfrm>
            <a:off x="8229600" y="14630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Data Products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8183880" y="1874520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302752" y="1874520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183880" y="2386584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8302752" y="2386584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last_mile_performance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74904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777240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8" name="Text 55"/>
          <p:cNvSpPr/>
          <p:nvPr/>
        </p:nvSpPr>
        <p:spPr>
          <a:xfrm>
            <a:off x="361188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Flows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763524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Table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Recipes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Transformation Routes — Nightmare Mapping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05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749040" y="1005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 Addressed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223760" y="10058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Transformation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150876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15087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749040" y="15087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Timestamp Tower of Babel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223760" y="15087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timestamps → UTC with source tracking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0574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749040" y="20574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#1 Phantom Inventory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223760" y="20574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vs ERP comparison, phantom detection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60604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26060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749040" y="2606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Address Catastrophe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223760" y="26060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matching, postal code normalization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15468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40080" y="31546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749040" y="315468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223760" y="31546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SKU resolution, weight/UoM standardization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370332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37033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749040" y="37033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Carrier Data Black Hole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223760" y="370332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Multi-language status → MCG canonical codes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425196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/>
          <p:nvPr/>
        </p:nvSpPr>
        <p:spPr>
          <a:xfrm>
            <a:off x="640080" y="42519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3749040" y="42519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223760" y="42519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Celsius normalization, GPS gap detection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480060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7" name="Text 34"/>
          <p:cNvSpPr/>
          <p:nvPr/>
        </p:nvSpPr>
        <p:spPr>
          <a:xfrm>
            <a:off x="640080" y="48006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3749040" y="4800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7223760" y="48006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name matching, canonical ID assignment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34924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8"/>
          <p:cNvSpPr/>
          <p:nvPr/>
        </p:nvSpPr>
        <p:spPr>
          <a:xfrm>
            <a:off x="640080" y="53492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3749040" y="53492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7223760" y="53492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order lifecycle assembly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76072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2700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Talend Address Validation Job (callable service)   •   All 8 routes defined as declarative YAML — version-controlled, API-imported, daily-scheduled (QTCP preview)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Gold-Layer Data Products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governed mart per analytics domain app — created by the pipeline's gold datamart task, attached via the Data Products API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22960" y="1554480"/>
            <a:ext cx="50292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96112" y="1609344"/>
            <a:ext cx="4882896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7373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Health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05840" y="2240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Henrik Jansen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05840" y="25146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 06:00 UTC + event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05840" y="2788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IRA: 97% target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22960" y="3291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00800" y="1554480"/>
            <a:ext cx="50292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73952" y="1609344"/>
            <a:ext cx="4882896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0" y="17373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Mile Performance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583680" y="2240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Sophie Müller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583680" y="25146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 06:00 UTC + event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583680" y="2788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On-time: 92%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3291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Layer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 •  Predict  •  Answers  •  Discovery Agent  •  MCP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 AI Layer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577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580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5895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Operations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5895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Inventory, Cold Chain,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Quality, Compliance, Cost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2918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3649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&amp; Customer Exp.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3649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Last Mile, Tracking,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WISMO, Orders, Addresses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25146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Dark Theme  •  Streaming IoT  •  Section Access  •  Business Logic  •  NLI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263640" y="100584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63640" y="102412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2 AutoML Models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922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5653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Predictor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5653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spoilage_risk_score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feature: route_id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098280" y="150876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171432" y="1563624"/>
            <a:ext cx="223113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SLA Predictor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171432" y="1938528"/>
            <a:ext cx="223113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sla_met (Y/N)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address_quality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263640" y="2514600"/>
            <a:ext cx="5440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AutoML  •  Feature Importance  •  API Sharing  •  Deployed to Production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57200" y="3703320"/>
            <a:ext cx="11247120" cy="2468880"/>
          </a:xfrm>
          <a:prstGeom prst="roundRect">
            <a:avLst>
              <a:gd name="adj" fmla="val 4444"/>
            </a:avLst>
          </a:prstGeom>
          <a:solidFill>
            <a:srgbClr val="E0F5EA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200" y="3703320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Agentic Layer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8580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5895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5895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demo scenarios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29184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336499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36499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TransFrio spoilage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89788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5" name="Text 32"/>
          <p:cNvSpPr/>
          <p:nvPr/>
        </p:nvSpPr>
        <p:spPr>
          <a:xfrm>
            <a:off x="597103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97103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demo prompts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+ docs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850392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8" name="Text 35"/>
          <p:cNvSpPr/>
          <p:nvPr/>
        </p:nvSpPr>
        <p:spPr>
          <a:xfrm>
            <a:off x="857707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857707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 trigger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Nightmares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 in annual data quality costs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Data Quality Nightmares — $127M Annual Impact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10972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0972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280160" y="10515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Phantom Inventory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280160" y="1371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$41M / year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206240" y="10515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ERP says 50, WMS says 42. Stockouts from ghost inventory.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17282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4" name="Shape 11"/>
          <p:cNvSpPr/>
          <p:nvPr/>
        </p:nvSpPr>
        <p:spPr>
          <a:xfrm>
            <a:off x="548640" y="18288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18288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17830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Catastrophe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80160" y="2103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$31M / year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206240" y="17830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11% format issues, 6% truncated. 4.7% carrier rejection.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45973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0" name="Shape 17"/>
          <p:cNvSpPr/>
          <p:nvPr/>
        </p:nvSpPr>
        <p:spPr>
          <a:xfrm>
            <a:off x="548640" y="256032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25603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280160" y="251460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 Mess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280160" y="28346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$14M / year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206240" y="251460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8,200 missing weights, duplicated suppliers, SKU chaos.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19125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48640" y="329184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32918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280160" y="32461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Silent Pipeline Failures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1280160" y="3566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$4M / year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206240" y="324612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Rotterdam CDC sync: 72h undetected. 847 phantom units.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392277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2" name="Shape 29"/>
          <p:cNvSpPr/>
          <p:nvPr/>
        </p:nvSpPr>
        <p:spPr>
          <a:xfrm>
            <a:off x="548640" y="402336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" y="40233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280160" y="3977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Timestamp Tower of Babel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280160" y="4297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$6M / year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206240" y="397764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Mixed UTC/local/bare timestamps across 3 sources.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57200" y="465429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8" name="Shape 35"/>
          <p:cNvSpPr/>
          <p:nvPr/>
        </p:nvSpPr>
        <p:spPr>
          <a:xfrm>
            <a:off x="548640" y="47548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9" name="Text 36"/>
          <p:cNvSpPr/>
          <p:nvPr/>
        </p:nvSpPr>
        <p:spPr>
          <a:xfrm>
            <a:off x="548640" y="47548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1280160" y="47091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 Data Black Hole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1280160" y="5029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$22M / year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4206240" y="47091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carriers, 5 languages, no canonical status mapping.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457200" y="53858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44" name="Shape 41"/>
          <p:cNvSpPr/>
          <p:nvPr/>
        </p:nvSpPr>
        <p:spPr>
          <a:xfrm>
            <a:off x="548640" y="54864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45" name="Text 42"/>
          <p:cNvSpPr/>
          <p:nvPr/>
        </p:nvSpPr>
        <p:spPr>
          <a:xfrm>
            <a:off x="548640" y="54864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280160" y="54406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Traceability Gap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1280160" y="5760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$9M / year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4206240" y="54406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Lettuce recall: 11 days vs 24h requirement. NVWA citation.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&amp; Cluster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Cluster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CDC + Salesforce incremental sync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8580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1: inventory_positions (CDC, real-time)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580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2: warehouse_events (CDC, real-time)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596896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3: shipments (CDC, real-time)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85800" y="2980944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6: sf_contacts (API, 15 min)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3364992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7: sf_orders (API, 15 min)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3749040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8: sf_products (API, 15 min)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1792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Cluster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21792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Kafka ingestion from IoT topics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4652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4: mcg.iot.cold-chain → bronze.iot_cold_chain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4652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5: mcg.iot.carrier-events → bronze.iot_carrier_events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572000"/>
            <a:ext cx="11247120" cy="1554480"/>
          </a:xfrm>
          <a:prstGeom prst="roundRect">
            <a:avLst>
              <a:gd name="adj" fmla="val 5882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7200" y="457200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Components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85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On-prem PostgreSQL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971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971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Gateway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2971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connectivity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257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57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257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Confluent Platform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543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543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 Simulator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7543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kafka_iot_simulator.py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964692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64692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Simulator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964692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postgres_simulator.py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Stack Component Summary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5156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0515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(3)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291840" y="105156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WMS (CDC)  •  Apache Kafka 2 topics (streaming)  •  Salesforce CRM (API)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80136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180136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91840" y="18013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Bronze tables  •  8 Silver transformations + 1 Talend job  •  2 Gold data products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551176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2551176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291840" y="2551176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Data Lineage  •  Impact Analysis  •  Profiling  •  25-term Glossary  •  4 Stewardship campaigns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300984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8" name="Text 15"/>
          <p:cNvSpPr/>
          <p:nvPr/>
        </p:nvSpPr>
        <p:spPr>
          <a:xfrm>
            <a:off x="457200" y="3300984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291840" y="3300984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Qlik Analytics apps (10 sheets)  •  MCG Dark Theme  •  Streaming IoT  •  Alerts  •  Reports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4050792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05079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/ ML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291840" y="405079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Predict models (Spoilage + SLA)  •  Qlik Answers (25 docs)  •  Discovery Agent  •  MCP Server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480060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480060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291840" y="4800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automations: App Reload, Cold Chain Alert, Pipeline Health, WISMO, Address Correction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555040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A9B3B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555040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291840" y="555040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 (Confluent)  •  3 simulators (PG, Kafka, SF)  •  Deploy script  •  Setup guide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6309360"/>
            <a:ext cx="11274552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0" name="Text 27"/>
          <p:cNvSpPr/>
          <p:nvPr/>
        </p:nvSpPr>
        <p:spPr>
          <a:xfrm>
            <a:off x="457200" y="630936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18 Tables  •  9 Flows  •  2 Products  •  10 Sheets  •  2 Models  •  25 Docs  •  5 Automations  •  1 MCP Server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Qlik / 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Technology Architecture — Qlik Cloud Full Stack Demo</dc:title>
  <dc:subject>PptxGenJS Presentation</dc:subject>
  <dc:creator>Qlik</dc:creator>
  <cp:lastModifiedBy>Qlik</cp:lastModifiedBy>
  <cp:revision>1</cp:revision>
  <dcterms:created xsi:type="dcterms:W3CDTF">2026-06-12T18:07:45Z</dcterms:created>
  <dcterms:modified xsi:type="dcterms:W3CDTF">2026-06-12T18:07:45Z</dcterms:modified>
</cp:coreProperties>
</file>