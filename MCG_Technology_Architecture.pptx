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4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371600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14630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700" dirty="0"/>
          </a:p>
        </p:txBody>
      </p:sp>
      <p:sp>
        <p:nvSpPr>
          <p:cNvPr id="5" name="Text 1"/>
          <p:cNvSpPr/>
          <p:nvPr/>
        </p:nvSpPr>
        <p:spPr>
          <a:xfrm>
            <a:off x="548640" y="201168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548640" y="3657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·  Qlik Cloud Full Stack Demo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548640" y="429768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 Declarative Pipelines  •  Open Lakehouse  •  2 Data Products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Analytics Apps  •  2 AutoML Models  •  25 Knowledge Documents  •  MCP + AI Agents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9" name="Text 5"/>
          <p:cNvSpPr/>
          <p:nvPr/>
        </p:nvSpPr>
        <p:spPr>
          <a:xfrm>
            <a:off x="54864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92608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11" name="Text 7"/>
          <p:cNvSpPr/>
          <p:nvPr/>
        </p:nvSpPr>
        <p:spPr>
          <a:xfrm>
            <a:off x="292608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30352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30352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8096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Architecture Overview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20040" y="116128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116128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" y="25786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320040" y="25786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" y="39502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3" name="Text 10"/>
          <p:cNvSpPr/>
          <p:nvPr/>
        </p:nvSpPr>
        <p:spPr>
          <a:xfrm>
            <a:off x="320040" y="39502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" y="523036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" y="523036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96596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084832" y="11795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8" name="Image 1" descr="C:\Claude\MCG Full Stack\generators\assets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548" y="1287292"/>
            <a:ext cx="351495" cy="351495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779776" y="1078992"/>
            <a:ext cx="19293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779776" y="1463040"/>
            <a:ext cx="19293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3 tables • Real-time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98348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02352" y="11795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3" name="Image 2" descr="C:\Claude\MCG Full Stack\generators\assets\icons\stre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0068" y="1287292"/>
            <a:ext cx="351495" cy="351495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797296" y="1078992"/>
            <a:ext cx="19293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5797296" y="1463040"/>
            <a:ext cx="19293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2 IoT topics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800100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8119872" y="117957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8" name="Image 3" descr="C:\Claude\MCG Full Stack\generators\assets\icons\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7588" y="1287292"/>
            <a:ext cx="351495" cy="351495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8814816" y="1078992"/>
            <a:ext cx="19293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8814816" y="1463040"/>
            <a:ext cx="19293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Connector • 3 objects • 15 min</a:t>
            </a:r>
            <a:endParaRPr lang="en-US" sz="950" dirty="0"/>
          </a:p>
        </p:txBody>
      </p:sp>
      <p:sp>
        <p:nvSpPr>
          <p:cNvPr id="31" name="Shape 25"/>
          <p:cNvSpPr/>
          <p:nvPr/>
        </p:nvSpPr>
        <p:spPr>
          <a:xfrm>
            <a:off x="338328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32" name="Shape 26"/>
          <p:cNvSpPr/>
          <p:nvPr/>
        </p:nvSpPr>
        <p:spPr>
          <a:xfrm>
            <a:off x="640080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33" name="Shape 27"/>
          <p:cNvSpPr/>
          <p:nvPr/>
        </p:nvSpPr>
        <p:spPr>
          <a:xfrm>
            <a:off x="941832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34" name="Shape 28"/>
          <p:cNvSpPr/>
          <p:nvPr/>
        </p:nvSpPr>
        <p:spPr>
          <a:xfrm>
            <a:off x="1965960" y="2423160"/>
            <a:ext cx="7040880" cy="9144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2075688" y="2441448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6" name="Image 4" descr="C:\Claude\MCG Full Stack\generators\assets\icons\lakehou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24334" y="2490094"/>
            <a:ext cx="158740" cy="158740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1965960" y="2414016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214884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9" name="Text 32"/>
          <p:cNvSpPr/>
          <p:nvPr/>
        </p:nvSpPr>
        <p:spPr>
          <a:xfrm>
            <a:off x="222199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(8 tables)</a:t>
            </a:r>
            <a:endParaRPr lang="en-US" sz="1200" dirty="0"/>
          </a:p>
        </p:txBody>
      </p:sp>
      <p:sp>
        <p:nvSpPr>
          <p:cNvPr id="40" name="Text 33"/>
          <p:cNvSpPr/>
          <p:nvPr/>
        </p:nvSpPr>
        <p:spPr>
          <a:xfrm>
            <a:off x="222199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41" name="Shape 34"/>
          <p:cNvSpPr/>
          <p:nvPr/>
        </p:nvSpPr>
        <p:spPr>
          <a:xfrm>
            <a:off x="434340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Text 35"/>
          <p:cNvSpPr/>
          <p:nvPr/>
        </p:nvSpPr>
        <p:spPr>
          <a:xfrm>
            <a:off x="441655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(8 routes)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441655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Cleansed + joined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6537960" y="2715768"/>
            <a:ext cx="2286000" cy="530352"/>
          </a:xfrm>
          <a:prstGeom prst="roundRect">
            <a:avLst>
              <a:gd name="adj" fmla="val 1724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5" name="Text 38"/>
          <p:cNvSpPr/>
          <p:nvPr/>
        </p:nvSpPr>
        <p:spPr>
          <a:xfrm>
            <a:off x="6611112" y="2770632"/>
            <a:ext cx="213969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(2 products)</a:t>
            </a:r>
            <a:endParaRPr lang="en-US" sz="1200" dirty="0"/>
          </a:p>
        </p:txBody>
      </p:sp>
      <p:sp>
        <p:nvSpPr>
          <p:cNvPr id="46" name="Text 39"/>
          <p:cNvSpPr/>
          <p:nvPr/>
        </p:nvSpPr>
        <p:spPr>
          <a:xfrm>
            <a:off x="6611112" y="2999232"/>
            <a:ext cx="213969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+ API-shared</a:t>
            </a:r>
            <a:endParaRPr lang="en-US" sz="1000" dirty="0"/>
          </a:p>
        </p:txBody>
      </p:sp>
      <p:sp>
        <p:nvSpPr>
          <p:cNvPr id="47" name="Shape 40"/>
          <p:cNvSpPr/>
          <p:nvPr/>
        </p:nvSpPr>
        <p:spPr>
          <a:xfrm>
            <a:off x="4160520" y="2980944"/>
            <a:ext cx="182880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8" name="Shape 41"/>
          <p:cNvSpPr/>
          <p:nvPr/>
        </p:nvSpPr>
        <p:spPr>
          <a:xfrm>
            <a:off x="6355080" y="2980944"/>
            <a:ext cx="18288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49" name="Shape 42"/>
          <p:cNvSpPr/>
          <p:nvPr/>
        </p:nvSpPr>
        <p:spPr>
          <a:xfrm>
            <a:off x="9144000" y="2423160"/>
            <a:ext cx="1874520" cy="91440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0" name="Shape 43"/>
          <p:cNvSpPr/>
          <p:nvPr/>
        </p:nvSpPr>
        <p:spPr>
          <a:xfrm>
            <a:off x="9262872" y="25968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1" name="Image 5" descr="C:\Claude\MCG Full Stack\generators\assets\icons\transfor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588" y="2704612"/>
            <a:ext cx="351495" cy="351495"/>
          </a:xfrm>
          <a:prstGeom prst="rect">
            <a:avLst/>
          </a:prstGeom>
        </p:spPr>
      </p:pic>
      <p:sp>
        <p:nvSpPr>
          <p:cNvPr id="52" name="Text 44"/>
          <p:cNvSpPr/>
          <p:nvPr/>
        </p:nvSpPr>
        <p:spPr>
          <a:xfrm>
            <a:off x="9957816" y="2496312"/>
            <a:ext cx="9692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53" name="Text 45"/>
          <p:cNvSpPr/>
          <p:nvPr/>
        </p:nvSpPr>
        <p:spPr>
          <a:xfrm>
            <a:off x="9957816" y="2880360"/>
            <a:ext cx="9692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</a:t>
            </a:r>
            <a:endParaRPr lang="en-US" sz="950" dirty="0"/>
          </a:p>
        </p:txBody>
      </p:sp>
      <p:sp>
        <p:nvSpPr>
          <p:cNvPr id="54" name="Shape 46"/>
          <p:cNvSpPr/>
          <p:nvPr/>
        </p:nvSpPr>
        <p:spPr>
          <a:xfrm>
            <a:off x="1965960" y="2039112"/>
            <a:ext cx="7040880" cy="301752"/>
          </a:xfrm>
          <a:prstGeom prst="roundRect">
            <a:avLst>
              <a:gd name="adj" fmla="val 24242"/>
            </a:avLst>
          </a:prstGeom>
          <a:solidFill>
            <a:srgbClr val="009845"/>
          </a:solidFill>
          <a:ln/>
          <a:effectLst>
            <a:outerShdw sx="100000" sy="100000" kx="0" ky="0" algn="bl" rotWithShape="0" blurRad="38100" dist="12700" dir="16200000">
              <a:srgbClr val="000000">
                <a:alpha val="12000"/>
              </a:srgbClr>
            </a:outerShdw>
          </a:effectLst>
        </p:spPr>
      </p:sp>
      <p:sp>
        <p:nvSpPr>
          <p:cNvPr id="55" name="Text 47"/>
          <p:cNvSpPr/>
          <p:nvPr/>
        </p:nvSpPr>
        <p:spPr>
          <a:xfrm>
            <a:off x="1965960" y="2039112"/>
            <a:ext cx="7040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  •  MCG Batch + MCG Streaming  •  declarative YAML, API-imported</a:t>
            </a:r>
            <a:endParaRPr lang="en-US" sz="1000" dirty="0"/>
          </a:p>
        </p:txBody>
      </p:sp>
      <p:sp>
        <p:nvSpPr>
          <p:cNvPr id="56" name="Shape 48"/>
          <p:cNvSpPr/>
          <p:nvPr/>
        </p:nvSpPr>
        <p:spPr>
          <a:xfrm>
            <a:off x="2029968" y="205740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7" name="Image 6" descr="C:\Claude\MCG Full Stack\generators\assets\icons\pipelin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78614" y="2106046"/>
            <a:ext cx="158740" cy="158740"/>
          </a:xfrm>
          <a:prstGeom prst="rect">
            <a:avLst/>
          </a:prstGeom>
        </p:spPr>
      </p:pic>
      <p:sp>
        <p:nvSpPr>
          <p:cNvPr id="58" name="Shape 49"/>
          <p:cNvSpPr/>
          <p:nvPr/>
        </p:nvSpPr>
        <p:spPr>
          <a:xfrm>
            <a:off x="37947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9" name="Shape 50"/>
          <p:cNvSpPr/>
          <p:nvPr/>
        </p:nvSpPr>
        <p:spPr>
          <a:xfrm>
            <a:off x="79095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60" name="Shape 51"/>
          <p:cNvSpPr/>
          <p:nvPr/>
        </p:nvSpPr>
        <p:spPr>
          <a:xfrm>
            <a:off x="196596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1" name="Shape 52"/>
          <p:cNvSpPr/>
          <p:nvPr/>
        </p:nvSpPr>
        <p:spPr>
          <a:xfrm>
            <a:off x="2084832" y="3968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62" name="Image 7" descr="C:\Claude\MCG Full Stack\generators\assets\icons\analytic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2548" y="4076212"/>
            <a:ext cx="351495" cy="351495"/>
          </a:xfrm>
          <a:prstGeom prst="rect">
            <a:avLst/>
          </a:prstGeom>
        </p:spPr>
      </p:pic>
      <p:sp>
        <p:nvSpPr>
          <p:cNvPr id="63" name="Text 53"/>
          <p:cNvSpPr/>
          <p:nvPr/>
        </p:nvSpPr>
        <p:spPr>
          <a:xfrm>
            <a:off x="2779776" y="3867912"/>
            <a:ext cx="183794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200" dirty="0"/>
          </a:p>
        </p:txBody>
      </p:sp>
      <p:sp>
        <p:nvSpPr>
          <p:cNvPr id="64" name="Text 54"/>
          <p:cNvSpPr/>
          <p:nvPr/>
        </p:nvSpPr>
        <p:spPr>
          <a:xfrm>
            <a:off x="2779776" y="4251960"/>
            <a:ext cx="183794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• 10 sheets</a:t>
            </a:r>
            <a:endParaRPr lang="en-US" sz="950" dirty="0"/>
          </a:p>
        </p:txBody>
      </p:sp>
      <p:sp>
        <p:nvSpPr>
          <p:cNvPr id="65" name="Shape 55"/>
          <p:cNvSpPr/>
          <p:nvPr/>
        </p:nvSpPr>
        <p:spPr>
          <a:xfrm>
            <a:off x="489204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6" name="Shape 56"/>
          <p:cNvSpPr/>
          <p:nvPr/>
        </p:nvSpPr>
        <p:spPr>
          <a:xfrm>
            <a:off x="5010912" y="3968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67" name="Image 8" descr="C:\Claude\MCG Full Stack\generators\assets\icons\predic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8628" y="4076212"/>
            <a:ext cx="351495" cy="351495"/>
          </a:xfrm>
          <a:prstGeom prst="rect">
            <a:avLst/>
          </a:prstGeom>
        </p:spPr>
      </p:pic>
      <p:sp>
        <p:nvSpPr>
          <p:cNvPr id="68" name="Text 57"/>
          <p:cNvSpPr/>
          <p:nvPr/>
        </p:nvSpPr>
        <p:spPr>
          <a:xfrm>
            <a:off x="5705856" y="3867912"/>
            <a:ext cx="183794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200" dirty="0"/>
          </a:p>
        </p:txBody>
      </p:sp>
      <p:sp>
        <p:nvSpPr>
          <p:cNvPr id="69" name="Text 58"/>
          <p:cNvSpPr/>
          <p:nvPr/>
        </p:nvSpPr>
        <p:spPr>
          <a:xfrm>
            <a:off x="5705856" y="4251960"/>
            <a:ext cx="183794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Exceedance • Late Delivery</a:t>
            </a:r>
            <a:endParaRPr lang="en-US" sz="950" dirty="0"/>
          </a:p>
        </p:txBody>
      </p:sp>
      <p:sp>
        <p:nvSpPr>
          <p:cNvPr id="70" name="Shape 59"/>
          <p:cNvSpPr/>
          <p:nvPr/>
        </p:nvSpPr>
        <p:spPr>
          <a:xfrm>
            <a:off x="7818120" y="3794760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71" name="Shape 60"/>
          <p:cNvSpPr/>
          <p:nvPr/>
        </p:nvSpPr>
        <p:spPr>
          <a:xfrm>
            <a:off x="7936992" y="396849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72" name="Image 9" descr="C:\Claude\MCG Full Stack\generators\assets\icons\governan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4708" y="4076212"/>
            <a:ext cx="351495" cy="351495"/>
          </a:xfrm>
          <a:prstGeom prst="rect">
            <a:avLst/>
          </a:prstGeom>
        </p:spPr>
      </p:pic>
      <p:sp>
        <p:nvSpPr>
          <p:cNvPr id="73" name="Text 61"/>
          <p:cNvSpPr/>
          <p:nvPr/>
        </p:nvSpPr>
        <p:spPr>
          <a:xfrm>
            <a:off x="8631936" y="3867912"/>
            <a:ext cx="215798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Trust</a:t>
            </a:r>
            <a:endParaRPr lang="en-US" sz="1200" dirty="0"/>
          </a:p>
        </p:txBody>
      </p:sp>
      <p:sp>
        <p:nvSpPr>
          <p:cNvPr id="74" name="Text 62"/>
          <p:cNvSpPr/>
          <p:nvPr/>
        </p:nvSpPr>
        <p:spPr>
          <a:xfrm>
            <a:off x="8631936" y="4251960"/>
            <a:ext cx="21579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• Stewardship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• Lineage</a:t>
            </a:r>
            <a:endParaRPr lang="en-US" sz="950" dirty="0"/>
          </a:p>
        </p:txBody>
      </p:sp>
      <p:sp>
        <p:nvSpPr>
          <p:cNvPr id="75" name="Shape 63"/>
          <p:cNvSpPr/>
          <p:nvPr/>
        </p:nvSpPr>
        <p:spPr>
          <a:xfrm>
            <a:off x="333756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6" name="Shape 64"/>
          <p:cNvSpPr/>
          <p:nvPr/>
        </p:nvSpPr>
        <p:spPr>
          <a:xfrm>
            <a:off x="626364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7" name="Shape 65"/>
          <p:cNvSpPr/>
          <p:nvPr/>
        </p:nvSpPr>
        <p:spPr>
          <a:xfrm>
            <a:off x="937260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78" name="Shape 66"/>
          <p:cNvSpPr/>
          <p:nvPr/>
        </p:nvSpPr>
        <p:spPr>
          <a:xfrm>
            <a:off x="1965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79" name="Shape 67"/>
          <p:cNvSpPr/>
          <p:nvPr/>
        </p:nvSpPr>
        <p:spPr>
          <a:xfrm>
            <a:off x="2084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80" name="Image 10" descr="C:\Claude\MCG Full Stack\generators\assets\icons\answers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92548" y="5356372"/>
            <a:ext cx="351495" cy="351495"/>
          </a:xfrm>
          <a:prstGeom prst="rect">
            <a:avLst/>
          </a:prstGeom>
        </p:spPr>
      </p:pic>
      <p:sp>
        <p:nvSpPr>
          <p:cNvPr id="81" name="Text 68"/>
          <p:cNvSpPr/>
          <p:nvPr/>
        </p:nvSpPr>
        <p:spPr>
          <a:xfrm>
            <a:off x="2779776" y="5148072"/>
            <a:ext cx="11978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82" name="Text 69"/>
          <p:cNvSpPr/>
          <p:nvPr/>
        </p:nvSpPr>
        <p:spPr>
          <a:xfrm>
            <a:off x="2779776" y="5532120"/>
            <a:ext cx="11978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</a:t>
            </a:r>
            <a:endParaRPr lang="en-US" sz="950" dirty="0"/>
          </a:p>
        </p:txBody>
      </p:sp>
      <p:sp>
        <p:nvSpPr>
          <p:cNvPr id="83" name="Shape 70"/>
          <p:cNvSpPr/>
          <p:nvPr/>
        </p:nvSpPr>
        <p:spPr>
          <a:xfrm>
            <a:off x="4251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84" name="Shape 71"/>
          <p:cNvSpPr/>
          <p:nvPr/>
        </p:nvSpPr>
        <p:spPr>
          <a:xfrm>
            <a:off x="4370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85" name="Image 11" descr="C:\Claude\MCG Full Stack\generators\assets\icons\ag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78548" y="5356372"/>
            <a:ext cx="351495" cy="351495"/>
          </a:xfrm>
          <a:prstGeom prst="rect">
            <a:avLst/>
          </a:prstGeom>
        </p:spPr>
      </p:pic>
      <p:sp>
        <p:nvSpPr>
          <p:cNvPr id="86" name="Text 72"/>
          <p:cNvSpPr/>
          <p:nvPr/>
        </p:nvSpPr>
        <p:spPr>
          <a:xfrm>
            <a:off x="5065776" y="5148072"/>
            <a:ext cx="11978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87" name="Text 73"/>
          <p:cNvSpPr/>
          <p:nvPr/>
        </p:nvSpPr>
        <p:spPr>
          <a:xfrm>
            <a:off x="5065776" y="5532120"/>
            <a:ext cx="11978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950" dirty="0"/>
          </a:p>
        </p:txBody>
      </p:sp>
      <p:sp>
        <p:nvSpPr>
          <p:cNvPr id="88" name="Shape 74"/>
          <p:cNvSpPr/>
          <p:nvPr/>
        </p:nvSpPr>
        <p:spPr>
          <a:xfrm>
            <a:off x="6537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89" name="Shape 75"/>
          <p:cNvSpPr/>
          <p:nvPr/>
        </p:nvSpPr>
        <p:spPr>
          <a:xfrm>
            <a:off x="6656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90" name="Image 12" descr="C:\Claude\MCG Full Stack\generators\assets\icons\mcp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64548" y="5356372"/>
            <a:ext cx="351495" cy="351495"/>
          </a:xfrm>
          <a:prstGeom prst="rect">
            <a:avLst/>
          </a:prstGeom>
        </p:spPr>
      </p:pic>
      <p:sp>
        <p:nvSpPr>
          <p:cNvPr id="91" name="Text 76"/>
          <p:cNvSpPr/>
          <p:nvPr/>
        </p:nvSpPr>
        <p:spPr>
          <a:xfrm>
            <a:off x="7351776" y="5148072"/>
            <a:ext cx="119786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92" name="Text 77"/>
          <p:cNvSpPr/>
          <p:nvPr/>
        </p:nvSpPr>
        <p:spPr>
          <a:xfrm>
            <a:off x="7351776" y="5532120"/>
            <a:ext cx="119786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queries</a:t>
            </a:r>
            <a:endParaRPr lang="en-US" sz="950" dirty="0"/>
          </a:p>
        </p:txBody>
      </p:sp>
      <p:sp>
        <p:nvSpPr>
          <p:cNvPr id="93" name="Shape 78"/>
          <p:cNvSpPr/>
          <p:nvPr/>
        </p:nvSpPr>
        <p:spPr>
          <a:xfrm>
            <a:off x="8823960" y="507492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94" name="Shape 79"/>
          <p:cNvSpPr/>
          <p:nvPr/>
        </p:nvSpPr>
        <p:spPr>
          <a:xfrm>
            <a:off x="8942832" y="524865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95" name="Image 13" descr="C:\Claude\MCG Full Stack\generators\assets\icons\automatio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50548" y="5356372"/>
            <a:ext cx="351495" cy="351495"/>
          </a:xfrm>
          <a:prstGeom prst="rect">
            <a:avLst/>
          </a:prstGeom>
        </p:spPr>
      </p:pic>
      <p:sp>
        <p:nvSpPr>
          <p:cNvPr id="96" name="Text 80"/>
          <p:cNvSpPr/>
          <p:nvPr/>
        </p:nvSpPr>
        <p:spPr>
          <a:xfrm>
            <a:off x="9637776" y="5148072"/>
            <a:ext cx="1152144" cy="43891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97" name="Text 81"/>
          <p:cNvSpPr/>
          <p:nvPr/>
        </p:nvSpPr>
        <p:spPr>
          <a:xfrm>
            <a:off x="9637776" y="5532120"/>
            <a:ext cx="115214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alerts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950" dirty="0"/>
          </a:p>
        </p:txBody>
      </p:sp>
      <p:sp>
        <p:nvSpPr>
          <p:cNvPr id="98" name="Shape 82"/>
          <p:cNvSpPr/>
          <p:nvPr/>
        </p:nvSpPr>
        <p:spPr>
          <a:xfrm>
            <a:off x="10744200" y="100584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99" name="Text 83"/>
          <p:cNvSpPr/>
          <p:nvPr/>
        </p:nvSpPr>
        <p:spPr>
          <a:xfrm>
            <a:off x="10744200" y="1005840"/>
            <a:ext cx="1234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Data Quality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— Three Pillars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Data Capture • Real-time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~8,000 rows  •  Stock levels by DC/SKU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9436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~15,000 rows  •  Pick, pack, ship events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436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~3,000 rows  •  Outbound shipment tracking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9436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Phantom inventory (WMS vs ERP mismatch)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Missing lot numbers on 15% of perishables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Timestamp drift between WMS and SAP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Silent pipeline failures (72h undetected)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20624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0624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20624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Confluent Platform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34340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3484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43484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msg/5s  •  Temperature, humidity, GPS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34340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mcg.iot.carrier-events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43484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msg/min  •  Carrier status updates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343400" y="3291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343400" y="361188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5% readings in Fahrenheit (mixed units)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3% bare timestamps (no timezone)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2% Lagos GPS blackouts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8.8% GRU-BA temp exceedances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Carrier status in 5 languages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95528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95528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95528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• 15-min polling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09244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8388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18388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18.4M records  •  Customer addresses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809244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8388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MCG_Order__c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18388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~12,000  •  Order details + SLAs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09244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18388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MCG_Product__c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18388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~5,000  •  Product catalog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809244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09244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11% address format inconsistencies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6% truncated addresses (30-char limit)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Duplicate customer records (fuzzy)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Mixed naming conventions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 &amp; Source Connections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91440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 reach Qlik Cloud through a registered Data Movement gateway. Source connections are created in a Data Integration project that selects the gateway.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3108960" cy="1005840"/>
          </a:xfrm>
          <a:prstGeom prst="roundRect">
            <a:avLst>
              <a:gd name="adj" fmla="val 909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7512" y="200253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1" name="Image 1" descr="C:\Claude\MCG Full Stack\generators\assets\icons\datab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28" y="2110252"/>
            <a:ext cx="351495" cy="35149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62456" y="1856232"/>
            <a:ext cx="2203704" cy="4846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 Databases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362456" y="2286000"/>
            <a:ext cx="2203704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• MySQL • SQL Server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(mcg-qlik-dmg container)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572000" y="1783080"/>
            <a:ext cx="3108960" cy="1005840"/>
          </a:xfrm>
          <a:prstGeom prst="roundRect">
            <a:avLst>
              <a:gd name="adj" fmla="val 909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690872" y="200253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6" name="Image 2" descr="C:\Claude\MCG Full Stack\generators\assets\icons\gatew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8588" y="2110252"/>
            <a:ext cx="351495" cy="35149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385816" y="1856232"/>
            <a:ext cx="2203704" cy="4846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 Gateway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5385816" y="2286000"/>
            <a:ext cx="2203704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Registered to tenant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Outbound HTTPS 443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8595360" y="1783080"/>
            <a:ext cx="3017520" cy="1005840"/>
          </a:xfrm>
          <a:prstGeom prst="roundRect">
            <a:avLst>
              <a:gd name="adj" fmla="val 909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714232" y="200253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1" name="Image 3" descr="C:\Claude\MCG Full Stack\generators\assets\icons\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1948" y="2110252"/>
            <a:ext cx="351495" cy="35149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409176" y="1856232"/>
            <a:ext cx="2112264" cy="4846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9409176" y="2286000"/>
            <a:ext cx="2112264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Integration project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→ Open Lakehouse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3703320" y="2286000"/>
            <a:ext cx="822960" cy="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7726680" y="2286000"/>
            <a:ext cx="822960" cy="0"/>
          </a:xfrm>
          <a:prstGeom prst="line">
            <a:avLst/>
          </a:prstGeom>
          <a:noFill/>
          <a:ln w="19050">
            <a:solidFill>
              <a:srgbClr val="A9B3B6"/>
            </a:solidFill>
            <a:prstDash val="solid"/>
            <a:tailEnd type="triangle"/>
          </a:ln>
        </p:spPr>
      </p:sp>
      <p:sp>
        <p:nvSpPr>
          <p:cNvPr id="26" name="Text 20"/>
          <p:cNvSpPr/>
          <p:nvPr/>
        </p:nvSpPr>
        <p:spPr>
          <a:xfrm>
            <a:off x="54864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Register the gateway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640080" y="370332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Deploy UI → Local Stack &amp; Gateway → Register Gateway / Get Token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640080" y="411480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  (or run agentctl in the mcg-qlik-dmg container)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640080" y="45262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Admin → Data Gateways → Register → paste token → Connected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Create source connections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400800" y="370332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Integration → project → Create connection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6400800" y="411480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Pick PostgreSQL/MySQL/SQL Server, select the gateway</a:t>
            </a:r>
            <a:endParaRPr lang="en-US" sz="1150" dirty="0"/>
          </a:p>
        </p:txBody>
      </p:sp>
      <p:sp>
        <p:nvSpPr>
          <p:cNvPr id="33" name="Text 27"/>
          <p:cNvSpPr/>
          <p:nvPr/>
        </p:nvSpPr>
        <p:spPr>
          <a:xfrm>
            <a:off x="6400800" y="452628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Enter host/port/db/credentials → Test → Save</a:t>
            </a:r>
            <a:endParaRPr lang="en-US" sz="1150" dirty="0"/>
          </a:p>
        </p:txBody>
      </p:sp>
      <p:sp>
        <p:nvSpPr>
          <p:cNvPr id="34" name="Shape 28"/>
          <p:cNvSpPr/>
          <p:nvPr/>
        </p:nvSpPr>
        <p:spPr>
          <a:xfrm>
            <a:off x="548640" y="562356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6350">
            <a:solidFill>
              <a:srgbClr val="A9B3B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31520" y="5687568"/>
            <a:ext cx="10698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 gateway connections are created in the Data Integration UI (the public REST API cannot bind them) — the deploy script skips them with guidance. Kafka sources need a Data Gateway - Streaming; Salesforce/S3/Athena are credentialed connectors.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Medallion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291840" cy="5166360"/>
          </a:xfrm>
          <a:prstGeom prst="roundRect">
            <a:avLst>
              <a:gd name="adj" fmla="val 3333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14300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1430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463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187452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187452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(CDC)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" y="238658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" y="238658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 (CDC)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" y="289864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289864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 (CDC)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4360" y="3410712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3410712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sf_contacts (API)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4360" y="3922776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3232" y="3922776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sf_orders (API)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94360" y="443484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" y="443484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sf_products (API)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94360" y="494690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13232" y="494690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iot_cold_chain (Stream)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4360" y="545896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545896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iot_carrier_events (Stream)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206240" y="1005840"/>
            <a:ext cx="3383280" cy="5166360"/>
          </a:xfrm>
          <a:prstGeom prst="roundRect">
            <a:avLst>
              <a:gd name="adj" fmla="val 3243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89120" y="114300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4389120" y="11430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389120" y="146304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Transformation Routes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343400" y="187452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462272" y="187452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343400" y="238658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62272" y="238658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343400" y="289864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462272" y="289864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343400" y="3410712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3410712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343400" y="3922776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462272" y="3922776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343400" y="443484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462272" y="443484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343400" y="494690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462272" y="494690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4343400" y="545896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462272" y="545896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046720" y="1005840"/>
            <a:ext cx="3566160" cy="516636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29600" y="1143000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50" name="Text 47"/>
          <p:cNvSpPr/>
          <p:nvPr/>
        </p:nvSpPr>
        <p:spPr>
          <a:xfrm>
            <a:off x="8229600" y="11430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8229600" y="1463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Data Products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8183880" y="1874520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302752" y="1874520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183880" y="2386584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302752" y="2386584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last_mile_performance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74904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77240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8" name="Text 55"/>
          <p:cNvSpPr/>
          <p:nvPr/>
        </p:nvSpPr>
        <p:spPr>
          <a:xfrm>
            <a:off x="361188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Flows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763524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Table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Recipes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Transformation Routes — Nightmare Mapping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05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49040" y="1005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 Addressed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223760" y="10058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Transformation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50876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15087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749040" y="15087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Timestamp Tower of Babel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223760" y="15087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timestamps → UTC with source tracking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0574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749040" y="20574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 Phantom Inventory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223760" y="20574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vs ERP comparison, phantom detection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60604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26060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749040" y="2606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Address Catastrophe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23760" y="26060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matching, postal code normalization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15468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40080" y="31546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749040" y="31546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223760" y="31546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SKU resolution, weight/UoM standardization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70332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749040" y="37033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Carrier Data Black Hole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223760" y="37033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Multi-language status → MCG canonical codes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425196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4251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749040" y="42519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223760" y="42519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Celsius normalization, GPS gap detection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80060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7" name="Text 34"/>
          <p:cNvSpPr/>
          <p:nvPr/>
        </p:nvSpPr>
        <p:spPr>
          <a:xfrm>
            <a:off x="640080" y="4800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749040" y="4800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223760" y="48006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name matching, canonical ID assignment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34924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8"/>
          <p:cNvSpPr/>
          <p:nvPr/>
        </p:nvSpPr>
        <p:spPr>
          <a:xfrm>
            <a:off x="640080" y="5349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3749040" y="53492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223760" y="53492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order lifecycle assembly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76072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2700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Talend Address Validation Job (callable service)   •   All 8 routes defined as declarative YAML — version-controlled, API-imported, daily-scheduled (QTCP preview)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Gold-Layer Data Products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governed mart per analytics domain app — created by the pipeline's gold datamart task, attached via the Data Products API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2296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96112" y="1609344"/>
            <a:ext cx="488289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Health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0584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Henrik Jansen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0584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00584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IRA: 97% target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2296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00800" y="1554480"/>
            <a:ext cx="502920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73952" y="1609344"/>
            <a:ext cx="488289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0" y="17373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Mile Performance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583680" y="22402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Sophie Müller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583680" y="25146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 06:00 UTC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583680" y="27889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On-time: 92%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3291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Layer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 •  Predict  •  Answers  •  Discovery Agent  •  MCP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 AI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1792" y="103327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416C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C:\Claude\MCG Full Stack\generators\assets\icons\analyti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337" y="1095817"/>
            <a:ext cx="204094" cy="20409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1024128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8580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75895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Operations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75895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Inventory, Cold Chain,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Quality, Compliance, Cost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32918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33649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&amp; Customer Exp.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33649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Last Mile, Tracking,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WISMO, Orders, Addresses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57200" y="25146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Dark Theme  •  Streaming IoT  •  Section Access  •  Business Logic  •  NLI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263640" y="100584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428232" y="1033272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1" name="Image 2" descr="C:\Claude\MCG Full Stack\generators\assets\icons\predi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0777" y="1095817"/>
            <a:ext cx="204094" cy="20409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263640" y="102412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2 AutoML Models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4922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4" name="Text 19"/>
          <p:cNvSpPr/>
          <p:nvPr/>
        </p:nvSpPr>
        <p:spPr>
          <a:xfrm>
            <a:off x="65653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Exceedance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65653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alert_flag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temperature_c, route_id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9098280" y="150876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9171432" y="1563624"/>
            <a:ext cx="223113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Delivery Predictor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9171432" y="1938528"/>
            <a:ext cx="223113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delivered_late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tracking_missing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6263640" y="2514600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AutoML  •  Feature Importance  •  API Sharing  •  Deployed to Production</a:t>
            </a:r>
            <a:endParaRPr lang="en-US" sz="900" dirty="0"/>
          </a:p>
        </p:txBody>
      </p:sp>
      <p:sp>
        <p:nvSpPr>
          <p:cNvPr id="30" name="Shape 25"/>
          <p:cNvSpPr/>
          <p:nvPr/>
        </p:nvSpPr>
        <p:spPr>
          <a:xfrm>
            <a:off x="457200" y="3703320"/>
            <a:ext cx="11247120" cy="2468880"/>
          </a:xfrm>
          <a:prstGeom prst="roundRect">
            <a:avLst>
              <a:gd name="adj" fmla="val 4444"/>
            </a:avLst>
          </a:prstGeom>
          <a:solidFill>
            <a:srgbClr val="E0F5EA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21792" y="371246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CB393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2" name="Image 3" descr="C:\Claude\MCG Full Stack\generators\assets\icons\ag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337" y="3775009"/>
            <a:ext cx="204094" cy="20409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457200" y="370332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Agentic Layer</a:t>
            </a:r>
            <a:endParaRPr lang="en-US" sz="1400" dirty="0"/>
          </a:p>
        </p:txBody>
      </p:sp>
      <p:sp>
        <p:nvSpPr>
          <p:cNvPr id="34" name="Shape 28"/>
          <p:cNvSpPr/>
          <p:nvPr/>
        </p:nvSpPr>
        <p:spPr>
          <a:xfrm>
            <a:off x="68580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160020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6" name="Image 4" descr="C:\Claude\MCG Full Stack\generators\assets\icons\answ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4442" y="4456786"/>
            <a:ext cx="340157" cy="340157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77724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79552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demo scenarios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</a:t>
            </a:r>
            <a:endParaRPr lang="en-US" sz="950" dirty="0"/>
          </a:p>
        </p:txBody>
      </p:sp>
      <p:sp>
        <p:nvSpPr>
          <p:cNvPr id="39" name="Shape 32"/>
          <p:cNvSpPr/>
          <p:nvPr/>
        </p:nvSpPr>
        <p:spPr>
          <a:xfrm>
            <a:off x="329184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0" name="Shape 33"/>
          <p:cNvSpPr/>
          <p:nvPr/>
        </p:nvSpPr>
        <p:spPr>
          <a:xfrm>
            <a:off x="420624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1" name="Image 5" descr="C:\Claude\MCG Full Stack\generators\assets\icons\ag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0482" y="4456786"/>
            <a:ext cx="340157" cy="340157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338328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300" dirty="0"/>
          </a:p>
        </p:txBody>
      </p:sp>
      <p:sp>
        <p:nvSpPr>
          <p:cNvPr id="43" name="Text 35"/>
          <p:cNvSpPr/>
          <p:nvPr/>
        </p:nvSpPr>
        <p:spPr>
          <a:xfrm>
            <a:off x="340156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TransFrio spoilage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589788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5" name="Shape 37"/>
          <p:cNvSpPr/>
          <p:nvPr/>
        </p:nvSpPr>
        <p:spPr>
          <a:xfrm>
            <a:off x="681228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46" name="Image 6" descr="C:\Claude\MCG Full Stack\generators\assets\icons\mc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522" y="4456786"/>
            <a:ext cx="340157" cy="340157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598932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300" dirty="0"/>
          </a:p>
        </p:txBody>
      </p:sp>
      <p:sp>
        <p:nvSpPr>
          <p:cNvPr id="48" name="Text 39"/>
          <p:cNvSpPr/>
          <p:nvPr/>
        </p:nvSpPr>
        <p:spPr>
          <a:xfrm>
            <a:off x="600760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demo prompts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+ docs</a:t>
            </a:r>
            <a:endParaRPr lang="en-US" sz="950" dirty="0"/>
          </a:p>
        </p:txBody>
      </p:sp>
      <p:sp>
        <p:nvSpPr>
          <p:cNvPr id="49" name="Shape 40"/>
          <p:cNvSpPr/>
          <p:nvPr/>
        </p:nvSpPr>
        <p:spPr>
          <a:xfrm>
            <a:off x="850392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0" name="Shape 41"/>
          <p:cNvSpPr/>
          <p:nvPr/>
        </p:nvSpPr>
        <p:spPr>
          <a:xfrm>
            <a:off x="9418320" y="4352544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51" name="Image 7" descr="C:\Claude\MCG Full Stack\generators\assets\icons\automatio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2562" y="4456786"/>
            <a:ext cx="340157" cy="340157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8595360" y="4937760"/>
            <a:ext cx="21945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300" dirty="0"/>
          </a:p>
        </p:txBody>
      </p:sp>
      <p:sp>
        <p:nvSpPr>
          <p:cNvPr id="53" name="Text 43"/>
          <p:cNvSpPr/>
          <p:nvPr/>
        </p:nvSpPr>
        <p:spPr>
          <a:xfrm>
            <a:off x="8613648" y="5266944"/>
            <a:ext cx="2157984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integration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D8DC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 trigger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Nightmares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 in annual data quality costs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Data Quality Nightmares — $127M Annual Impact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10972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097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280160" y="10515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Phantom Inventory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1371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$48M / year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06240" y="10515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ERP says 50, WMS says 42. Stockouts from ghost inventory.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7282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18288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18288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17830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Catastrophe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8016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$3.1M / year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206240" y="17830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11% format issues, 6% truncated. 4.7% carrier rejection.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45973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0" name="Shape 17"/>
          <p:cNvSpPr/>
          <p:nvPr/>
        </p:nvSpPr>
        <p:spPr>
          <a:xfrm>
            <a:off x="548640" y="256032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25603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280160" y="25146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Mess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280160" y="2834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$8.2M / year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206240" y="251460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8,200 missing weights, duplicated suppliers, SKU chaos.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19125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48640" y="329184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32918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80160" y="32461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Silent Pipeline Failures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280160" y="3566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$12M / year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206240" y="324612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Rotterdam CDC sync: 72h undetected. 847 phantom units.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92277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2" name="Shape 29"/>
          <p:cNvSpPr/>
          <p:nvPr/>
        </p:nvSpPr>
        <p:spPr>
          <a:xfrm>
            <a:off x="548640" y="402336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023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280160" y="3977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 Tower of Babel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28016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$6.5M / year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206240" y="397764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 UTC/local/bare timestamps across 3 sources.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7200" y="465429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7548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9" name="Text 36"/>
          <p:cNvSpPr/>
          <p:nvPr/>
        </p:nvSpPr>
        <p:spPr>
          <a:xfrm>
            <a:off x="548640" y="47548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280160" y="47091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Data Black Hole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1280160" y="5029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$14.8M / year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206240" y="47091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carriers, 5 languages, no canonical status mapping.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457200" y="53858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44" name="Shape 41"/>
          <p:cNvSpPr/>
          <p:nvPr/>
        </p:nvSpPr>
        <p:spPr>
          <a:xfrm>
            <a:off x="548640" y="54864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45" name="Text 42"/>
          <p:cNvSpPr/>
          <p:nvPr/>
        </p:nvSpPr>
        <p:spPr>
          <a:xfrm>
            <a:off x="548640" y="54864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280160" y="54406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Traceability Gap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280160" y="5760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$4.2M / year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206240" y="54406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Lettuce recall: 11 days vs 24h requirement. NVWA citation.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&amp; Cluster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Cluster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CDC + Salesforce incremental sync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1: inventory_positions (CDC, real-time)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2: warehouse_events (CDC, real-time)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596896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3: shipments (CDC, real-time)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85800" y="2980944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6: sf_contacts (API, 15 min)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3364992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7: sf_orders (API, 15 min)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3749040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8: sf_products (API, 15 min)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1792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Cluster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1792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Kafka ingestion from IoT topics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4652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4: mcg.iot.cold-chain → bronze.iot_cold_chain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4652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5: mcg.iot.carrier-events → bronze.iot_carrier_events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572000"/>
            <a:ext cx="11247120" cy="1554480"/>
          </a:xfrm>
          <a:prstGeom prst="roundRect">
            <a:avLst>
              <a:gd name="adj" fmla="val 5882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457200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Components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5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On-prem PostgreSQL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971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71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Gateway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971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connectivity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257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57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257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Confluent Platform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43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543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 Simulator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543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kafka_iot_simulator.py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964692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64692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Simulator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64692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postgres_simulator.py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Qlarity  •  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 Component Summary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5156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051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(3)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91840" y="10515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 (CDC)  •  Apache Kafka 2 topics (streaming)  •  Salesforce CRM (API)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80136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180136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91840" y="18013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declarative pipeline projects (batch + streaming)  •  8 Bronze tables  •  8 Silver transforms  •  2 Gold products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551176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51176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291840" y="2551176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Data Lineage  •  Impact Analysis  •  Profiling  •  25-term Glossary  •  4 Stewardship campaigns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300984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3300984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291840" y="3300984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Qlik Analytics apps (10 sheets)  •  MCG Dark Theme  •  Streaming IoT  •  Alerts  •  Reports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4050792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05079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291840" y="405079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Predict models (Exceedance + Late Delivery)  •  Qlik Answers (25 docs)  •  Discovery Agent  •  MCP Server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80060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48006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291840" y="4800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automations: App Reload, Cold Chain Alert, Pipeline Health, WISMO, Address Correction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55040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A9B3B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55040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291840" y="555040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 (Confluent)  •  3 simulators (PG, Kafka, SF)  •  Deploy script  •  Setup guide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6309360"/>
            <a:ext cx="11274552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0" name="Text 27"/>
          <p:cNvSpPr/>
          <p:nvPr/>
        </p:nvSpPr>
        <p:spPr>
          <a:xfrm>
            <a:off x="457200" y="630936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 Pipelines  •  18 Tables  •  2 Products  •  10 Sheets  •  2 Models  •  25 Docs  •  5 Automations  •  1 MCP Server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Qlarity — MCG Technology Architecture (Qlik Cloud)</dc:title>
  <dc:subject>PptxGenJS Presentation</dc:subject>
  <dc:creator>Qlik</dc:creator>
  <cp:lastModifiedBy>Qlik</cp:lastModifiedBy>
  <cp:revision>1</cp:revision>
  <dcterms:created xsi:type="dcterms:W3CDTF">2026-06-19T17:38:00Z</dcterms:created>
  <dcterms:modified xsi:type="dcterms:W3CDTF">2026-06-19T17:38:00Z</dcterms:modified>
</cp:coreProperties>
</file>