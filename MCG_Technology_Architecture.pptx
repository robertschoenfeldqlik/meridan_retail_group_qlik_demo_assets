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4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2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88136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08483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548" y="1287292"/>
            <a:ext cx="351495" cy="35149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7977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7977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0235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068" y="1287292"/>
            <a:ext cx="351495" cy="35149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79729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79729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11987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8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588" y="1287292"/>
            <a:ext cx="351495" cy="35149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1481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CRM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81481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2075688" y="244144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4334" y="2490094"/>
            <a:ext cx="158740" cy="1587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9" name="Text 32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9144000" y="2423160"/>
            <a:ext cx="187452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262872" y="25968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5" descr="C:\Claude\MCG Full Stack\generators\assets\icons\transfor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588" y="2704612"/>
            <a:ext cx="351495" cy="351495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957816" y="2496312"/>
            <a:ext cx="9692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9957816" y="2880360"/>
            <a:ext cx="9692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</p:txBody>
      </p:sp>
      <p:sp>
        <p:nvSpPr>
          <p:cNvPr id="54" name="Shape 46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55" name="Text 47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2029968" y="205740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7" name="Image 6" descr="C:\Claude\MCG Full Stack\generators\assets\icons\pipe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614" y="2106046"/>
            <a:ext cx="158740" cy="15874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9" name="Shape 50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0" name="Shape 51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208483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2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2548" y="4076212"/>
            <a:ext cx="351495" cy="351495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277977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64" name="Text 54"/>
          <p:cNvSpPr/>
          <p:nvPr/>
        </p:nvSpPr>
        <p:spPr>
          <a:xfrm>
            <a:off x="277977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950" dirty="0"/>
          </a:p>
        </p:txBody>
      </p:sp>
      <p:sp>
        <p:nvSpPr>
          <p:cNvPr id="65" name="Shape 55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6" name="Shape 56"/>
          <p:cNvSpPr/>
          <p:nvPr/>
        </p:nvSpPr>
        <p:spPr>
          <a:xfrm>
            <a:off x="501091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8628" y="4076212"/>
            <a:ext cx="351495" cy="351495"/>
          </a:xfrm>
          <a:prstGeom prst="rect">
            <a:avLst/>
          </a:prstGeom>
        </p:spPr>
      </p:pic>
      <p:sp>
        <p:nvSpPr>
          <p:cNvPr id="68" name="Text 57"/>
          <p:cNvSpPr/>
          <p:nvPr/>
        </p:nvSpPr>
        <p:spPr>
          <a:xfrm>
            <a:off x="570585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70585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1" name="Shape 60"/>
          <p:cNvSpPr/>
          <p:nvPr/>
        </p:nvSpPr>
        <p:spPr>
          <a:xfrm>
            <a:off x="793699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4708" y="4076212"/>
            <a:ext cx="351495" cy="351495"/>
          </a:xfrm>
          <a:prstGeom prst="rect">
            <a:avLst/>
          </a:prstGeom>
        </p:spPr>
      </p:pic>
      <p:sp>
        <p:nvSpPr>
          <p:cNvPr id="73" name="Text 61"/>
          <p:cNvSpPr/>
          <p:nvPr/>
        </p:nvSpPr>
        <p:spPr>
          <a:xfrm>
            <a:off x="8631936" y="3867912"/>
            <a:ext cx="21579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74" name="Text 62"/>
          <p:cNvSpPr/>
          <p:nvPr/>
        </p:nvSpPr>
        <p:spPr>
          <a:xfrm>
            <a:off x="8631936" y="4251960"/>
            <a:ext cx="21579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6" name="Shape 64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7" name="Shape 65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8" name="Shape 66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9" name="Shape 67"/>
          <p:cNvSpPr/>
          <p:nvPr/>
        </p:nvSpPr>
        <p:spPr>
          <a:xfrm>
            <a:off x="2084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0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2548" y="5356372"/>
            <a:ext cx="351495" cy="351495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2779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82" name="Text 69"/>
          <p:cNvSpPr/>
          <p:nvPr/>
        </p:nvSpPr>
        <p:spPr>
          <a:xfrm>
            <a:off x="2779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950" dirty="0"/>
          </a:p>
        </p:txBody>
      </p:sp>
      <p:sp>
        <p:nvSpPr>
          <p:cNvPr id="83" name="Shape 7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4" name="Shape 71"/>
          <p:cNvSpPr/>
          <p:nvPr/>
        </p:nvSpPr>
        <p:spPr>
          <a:xfrm>
            <a:off x="4370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5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8548" y="5356372"/>
            <a:ext cx="351495" cy="351495"/>
          </a:xfrm>
          <a:prstGeom prst="rect">
            <a:avLst/>
          </a:prstGeom>
        </p:spPr>
      </p:pic>
      <p:sp>
        <p:nvSpPr>
          <p:cNvPr id="86" name="Text 72"/>
          <p:cNvSpPr/>
          <p:nvPr/>
        </p:nvSpPr>
        <p:spPr>
          <a:xfrm>
            <a:off x="5065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87" name="Text 73"/>
          <p:cNvSpPr/>
          <p:nvPr/>
        </p:nvSpPr>
        <p:spPr>
          <a:xfrm>
            <a:off x="5065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88" name="Shape 74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9" name="Shape 75"/>
          <p:cNvSpPr/>
          <p:nvPr/>
        </p:nvSpPr>
        <p:spPr>
          <a:xfrm>
            <a:off x="6656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0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4548" y="5356372"/>
            <a:ext cx="351495" cy="351495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7351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92" name="Text 77"/>
          <p:cNvSpPr/>
          <p:nvPr/>
        </p:nvSpPr>
        <p:spPr>
          <a:xfrm>
            <a:off x="7351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950" dirty="0"/>
          </a:p>
        </p:txBody>
      </p:sp>
      <p:sp>
        <p:nvSpPr>
          <p:cNvPr id="93" name="Shape 78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4" name="Shape 79"/>
          <p:cNvSpPr/>
          <p:nvPr/>
        </p:nvSpPr>
        <p:spPr>
          <a:xfrm>
            <a:off x="8942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5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0548" y="5356372"/>
            <a:ext cx="351495" cy="351495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9637776" y="5148072"/>
            <a:ext cx="11521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97" name="Text 81"/>
          <p:cNvSpPr/>
          <p:nvPr/>
        </p:nvSpPr>
        <p:spPr>
          <a:xfrm>
            <a:off x="9637776" y="5532120"/>
            <a:ext cx="11521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950" dirty="0"/>
          </a:p>
        </p:txBody>
      </p:sp>
      <p:sp>
        <p:nvSpPr>
          <p:cNvPr id="98" name="Shape 82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99" name="Text 83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crm_orders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crm_products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751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2110252"/>
            <a:ext cx="351495" cy="3514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6245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6245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9087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588" y="2110252"/>
            <a:ext cx="351495" cy="35149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8581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8581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71423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948" y="2110252"/>
            <a:ext cx="351495" cy="35149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09176" y="1856232"/>
            <a:ext cx="211226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409176" y="2286000"/>
            <a:ext cx="211226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6" name="Text 20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416C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analy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37" y="1095817"/>
            <a:ext cx="204094" cy="2040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2823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predi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777" y="1095817"/>
            <a:ext cx="204094" cy="204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1792" y="37124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2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37" y="3775009"/>
            <a:ext cx="204094" cy="20409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60020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442" y="4456786"/>
            <a:ext cx="340157" cy="340157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79552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20624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5" descr="C:\Claude\MCG Full Stack\generators\assets\icons\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0482" y="4456786"/>
            <a:ext cx="340157" cy="340157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38328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340156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81228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6" descr="C:\Claude\MCG Full Stack\generators\assets\icons\mc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22" y="4456786"/>
            <a:ext cx="340157" cy="340157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98932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48" name="Text 39"/>
          <p:cNvSpPr/>
          <p:nvPr/>
        </p:nvSpPr>
        <p:spPr>
          <a:xfrm>
            <a:off x="600760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941832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7" descr="C:\Claude\MCG Full Stack\generators\assets\icons\automati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2562" y="4456786"/>
            <a:ext cx="340157" cy="34015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859536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300" dirty="0"/>
          </a:p>
        </p:txBody>
      </p:sp>
      <p:sp>
        <p:nvSpPr>
          <p:cNvPr id="53" name="Text 43"/>
          <p:cNvSpPr/>
          <p:nvPr/>
        </p:nvSpPr>
        <p:spPr>
          <a:xfrm>
            <a:off x="861364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Data Engineering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378440" y="310896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0CFC9"/>
          </a:solidFill>
          <a:ln w="6350">
            <a:solidFill>
              <a:srgbClr val="10CF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78440" y="31089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82296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AI. One declarative pipeline YAML, authored visually, in an IDE, or by an AI agent. A path from raw data to trusted, AI-ready data products that keeps human expertise in the loop at each stage.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225296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THE PIPELINE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0" y="122529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 are a Qlik internal preview capability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6751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1790212"/>
            <a:ext cx="351495" cy="3514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 · VS Code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36245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Authors declarative pipeline YAML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version control • CI/CD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768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1655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0" name="Image 2" descr="C:\Claude\MCG Full Stack\generators\assets\icons\pip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268" y="1790212"/>
            <a:ext cx="351495" cy="35149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1149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11149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YAML: landing · transform · datamart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· IDE · AI-agent authorable · Preview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4672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16559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3" descr="C:\Claude\MCG Full Stack\generators\assets\icons\transfo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08" y="1790212"/>
            <a:ext cx="351495" cy="35149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86053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86053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+ RAG inside pipeline tasks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· Bedrock · Ollama · Pinecone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48640" y="2468880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coding agent:   Prompt  →  Generate  →  Schema-validate  →  Review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276148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 THE DATA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120640" y="2761488"/>
            <a:ext cx="649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are Qlik Answers capabilities, not separate products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48640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67512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4" descr="C:\Claude\MCG Full Stack\generators\assets\icons\govern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28" y="3326404"/>
            <a:ext cx="351495" cy="351495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62456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362456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manage data products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natural language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319272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3438144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8" name="Image 5" descr="C:\Claude\MCG Full Stack\generators\assets\icons\answ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5860" y="3326404"/>
            <a:ext cx="351495" cy="351495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133088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4133088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Assess, define &amp; enforce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DQ rules conversationally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6089904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6208776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3" name="Image 6" descr="C:\Claude\MCG Full Stack\generators\assets\icons\ag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6492" y="3326404"/>
            <a:ext cx="351495" cy="35149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03720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6903720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assets · draft glossary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(human-reviewed)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8860536" y="3035808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8979408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8" name="Image 7" descr="C:\Claude\MCG Full Stack\generators\assets\icons\mc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124" y="3326404"/>
            <a:ext cx="351495" cy="351495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9674352" y="3108960"/>
            <a:ext cx="183794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9674352" y="3502152"/>
            <a:ext cx="183794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governance to external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assistants (Claude) · Preview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155448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1060704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3" name="Text 43"/>
          <p:cNvSpPr/>
          <p:nvPr/>
        </p:nvSpPr>
        <p:spPr>
          <a:xfrm>
            <a:off x="2194560" y="4041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agentic layer sits over the medallion — authoring the YAML and governing the outputs</a:t>
            </a:r>
            <a:endParaRPr lang="en-US" sz="1000" dirty="0"/>
          </a:p>
        </p:txBody>
      </p:sp>
      <p:sp>
        <p:nvSpPr>
          <p:cNvPr id="54" name="Shape 44"/>
          <p:cNvSpPr/>
          <p:nvPr/>
        </p:nvSpPr>
        <p:spPr>
          <a:xfrm>
            <a:off x="457200" y="4334256"/>
            <a:ext cx="11274552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5" name="Shape 45"/>
          <p:cNvSpPr/>
          <p:nvPr/>
        </p:nvSpPr>
        <p:spPr>
          <a:xfrm>
            <a:off x="621792" y="437083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6" name="Image 8" descr="C:\Claude\MCG Full Stack\generators\assets\icons\lakehous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913" y="4422953"/>
            <a:ext cx="170078" cy="170078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987552" y="437997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 — the declarative pipeline the agents author &amp; govern  (Bronze · Silver · Gold on Apache Iceberg)</a:t>
            </a:r>
            <a:endParaRPr lang="en-US" sz="1100" dirty="0"/>
          </a:p>
        </p:txBody>
      </p:sp>
      <p:sp>
        <p:nvSpPr>
          <p:cNvPr id="58" name="Shape 47"/>
          <p:cNvSpPr/>
          <p:nvPr/>
        </p:nvSpPr>
        <p:spPr>
          <a:xfrm>
            <a:off x="68580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6580"/>
          </a:solidFill>
          <a:ln/>
        </p:spPr>
      </p:sp>
      <p:sp>
        <p:nvSpPr>
          <p:cNvPr id="59" name="Text 48"/>
          <p:cNvSpPr/>
          <p:nvPr/>
        </p:nvSpPr>
        <p:spPr>
          <a:xfrm>
            <a:off x="68580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Landing</a:t>
            </a:r>
            <a:endParaRPr lang="en-US" sz="1100" dirty="0"/>
          </a:p>
        </p:txBody>
      </p:sp>
      <p:sp>
        <p:nvSpPr>
          <p:cNvPr id="60" name="Shape 49"/>
          <p:cNvSpPr/>
          <p:nvPr/>
        </p:nvSpPr>
        <p:spPr>
          <a:xfrm>
            <a:off x="68580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61" name="Text 50"/>
          <p:cNvSpPr/>
          <p:nvPr/>
        </p:nvSpPr>
        <p:spPr>
          <a:xfrm>
            <a:off x="82296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WMS CDC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CRM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Landing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425196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9845"/>
          </a:solidFill>
          <a:ln/>
        </p:spPr>
      </p:sp>
      <p:sp>
        <p:nvSpPr>
          <p:cNvPr id="63" name="Text 52"/>
          <p:cNvSpPr/>
          <p:nvPr/>
        </p:nvSpPr>
        <p:spPr>
          <a:xfrm>
            <a:off x="425196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· Transform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425196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65" name="Text 54"/>
          <p:cNvSpPr/>
          <p:nvPr/>
        </p:nvSpPr>
        <p:spPr>
          <a:xfrm>
            <a:off x="438912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Silver Transform · 7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Transform</a:t>
            </a:r>
            <a:endParaRPr lang="en-US" sz="950" dirty="0"/>
          </a:p>
        </p:txBody>
      </p:sp>
      <p:sp>
        <p:nvSpPr>
          <p:cNvPr id="66" name="Shape 55"/>
          <p:cNvSpPr/>
          <p:nvPr/>
        </p:nvSpPr>
        <p:spPr>
          <a:xfrm>
            <a:off x="7818120" y="4773168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19416C"/>
          </a:solidFill>
          <a:ln/>
        </p:spPr>
      </p:sp>
      <p:sp>
        <p:nvSpPr>
          <p:cNvPr id="67" name="Text 56"/>
          <p:cNvSpPr/>
          <p:nvPr/>
        </p:nvSpPr>
        <p:spPr>
          <a:xfrm>
            <a:off x="7818120" y="47731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· Datamart</a:t>
            </a:r>
            <a:endParaRPr lang="en-US" sz="1100" dirty="0"/>
          </a:p>
        </p:txBody>
      </p:sp>
      <p:sp>
        <p:nvSpPr>
          <p:cNvPr id="68" name="Shape 57"/>
          <p:cNvSpPr/>
          <p:nvPr/>
        </p:nvSpPr>
        <p:spPr>
          <a:xfrm>
            <a:off x="7818120" y="5175504"/>
            <a:ext cx="3566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9" name="Text 58"/>
          <p:cNvSpPr/>
          <p:nvPr/>
        </p:nvSpPr>
        <p:spPr>
          <a:xfrm>
            <a:off x="7955280" y="5230368"/>
            <a:ext cx="329184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Gold Datamart · 2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Supply Chain Health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Last Mile Performance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3986784" y="5650992"/>
            <a:ext cx="246888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71" name="Shape 60"/>
          <p:cNvSpPr/>
          <p:nvPr/>
        </p:nvSpPr>
        <p:spPr>
          <a:xfrm>
            <a:off x="7571232" y="5650992"/>
            <a:ext cx="22860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2" name="Text 61"/>
          <p:cNvSpPr/>
          <p:nvPr/>
        </p:nvSpPr>
        <p:spPr>
          <a:xfrm>
            <a:off x="548640" y="6291072"/>
            <a:ext cx="11064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capabilities (Declarative Pipelines, Qlik MCP Server) reflect Qlik internal preview, June 2026, and are subject to change.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Meridian CRM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crm_contacts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crm_orders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crm_products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Meridian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sprints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Sprint Summary,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environment deploys from one repository - 11 wizard steps or a single command.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MCG deploy console — 11 setup steps, Stewardship at step 11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Console: Stewardship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settings and the 12-column record schema the Talend job emits.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stewardsh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Stewardship wizard page — sprint settings and the 12-column record schema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Technology Architecture (Qlik Cloud)</dc:title>
  <dc:subject>PptxGenJS Presentation</dc:subject>
  <dc:creator>Qlik</dc:creator>
  <cp:lastModifiedBy>Qlik</cp:lastModifiedBy>
  <cp:revision>1</cp:revision>
  <dcterms:created xsi:type="dcterms:W3CDTF">2026-09-21T20:26:55Z</dcterms:created>
  <dcterms:modified xsi:type="dcterms:W3CDTF">2026-09-21T20:26:55Z</dcterms:modified>
</cp:coreProperties>
</file>