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4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2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88136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·  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Declarative Pipelines  •  Open Lakehouse  •  2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08483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8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548" y="1287292"/>
            <a:ext cx="351495" cy="351495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77977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77977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0235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3" name="Image 2" descr="C:\Claude\MCG Full Stack\generators\assets\icons\str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0068" y="1287292"/>
            <a:ext cx="351495" cy="35149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79729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579729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11987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8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588" y="1287292"/>
            <a:ext cx="351495" cy="351495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881481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CRM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881481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2" name="Shape 26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3" name="Shape 27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2075688" y="244144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4" descr="C:\Claude\MCG Full Stack\generators\assets\icons\lakehou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4334" y="2490094"/>
            <a:ext cx="158740" cy="15874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9" name="Text 32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40" name="Text 33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41" name="Shape 34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5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5" name="Text 38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(2 products)</a:t>
            </a:r>
            <a:endParaRPr lang="en-US" sz="1200" dirty="0"/>
          </a:p>
        </p:txBody>
      </p:sp>
      <p:sp>
        <p:nvSpPr>
          <p:cNvPr id="46" name="Text 39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8" name="Shape 41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9" name="Shape 42"/>
          <p:cNvSpPr/>
          <p:nvPr/>
        </p:nvSpPr>
        <p:spPr>
          <a:xfrm>
            <a:off x="9144000" y="2423160"/>
            <a:ext cx="187452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Shape 43"/>
          <p:cNvSpPr/>
          <p:nvPr/>
        </p:nvSpPr>
        <p:spPr>
          <a:xfrm>
            <a:off x="9262872" y="25968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1" name="Image 5" descr="C:\Claude\MCG Full Stack\generators\assets\icons\transfor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588" y="2704612"/>
            <a:ext cx="351495" cy="351495"/>
          </a:xfrm>
          <a:prstGeom prst="rect">
            <a:avLst/>
          </a:prstGeom>
        </p:spPr>
      </p:pic>
      <p:sp>
        <p:nvSpPr>
          <p:cNvPr id="52" name="Text 44"/>
          <p:cNvSpPr/>
          <p:nvPr/>
        </p:nvSpPr>
        <p:spPr>
          <a:xfrm>
            <a:off x="9957816" y="2496312"/>
            <a:ext cx="9692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53" name="Text 45"/>
          <p:cNvSpPr/>
          <p:nvPr/>
        </p:nvSpPr>
        <p:spPr>
          <a:xfrm>
            <a:off x="9957816" y="2880360"/>
            <a:ext cx="9692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950" dirty="0"/>
          </a:p>
        </p:txBody>
      </p:sp>
      <p:sp>
        <p:nvSpPr>
          <p:cNvPr id="54" name="Shape 46"/>
          <p:cNvSpPr/>
          <p:nvPr/>
        </p:nvSpPr>
        <p:spPr>
          <a:xfrm>
            <a:off x="1965960" y="2039112"/>
            <a:ext cx="7040880" cy="301752"/>
          </a:xfrm>
          <a:prstGeom prst="roundRect">
            <a:avLst>
              <a:gd name="adj" fmla="val 24242"/>
            </a:avLst>
          </a:prstGeom>
          <a:solidFill>
            <a:srgbClr val="009845"/>
          </a:solidFill>
          <a:ln/>
          <a:effectLst>
            <a:outerShdw sx="100000" sy="100000" kx="0" ky="0" algn="bl" rotWithShape="0" blurRad="38100" dist="12700" dir="16200000">
              <a:srgbClr val="000000">
                <a:alpha val="12000"/>
              </a:srgbClr>
            </a:outerShdw>
          </a:effectLst>
        </p:spPr>
      </p:sp>
      <p:sp>
        <p:nvSpPr>
          <p:cNvPr id="55" name="Text 47"/>
          <p:cNvSpPr/>
          <p:nvPr/>
        </p:nvSpPr>
        <p:spPr>
          <a:xfrm>
            <a:off x="1965960" y="2039112"/>
            <a:ext cx="7040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  •  MCG Batch + MCG Streaming  •  declarative YAML, API-imported</a:t>
            </a:r>
            <a:endParaRPr lang="en-US" sz="1000" dirty="0"/>
          </a:p>
        </p:txBody>
      </p:sp>
      <p:sp>
        <p:nvSpPr>
          <p:cNvPr id="56" name="Shape 48"/>
          <p:cNvSpPr/>
          <p:nvPr/>
        </p:nvSpPr>
        <p:spPr>
          <a:xfrm>
            <a:off x="2029968" y="205740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7" name="Image 6" descr="C:\Claude\MCG Full Stack\generators\assets\icons\pipelin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8614" y="2106046"/>
            <a:ext cx="158740" cy="158740"/>
          </a:xfrm>
          <a:prstGeom prst="rect">
            <a:avLst/>
          </a:prstGeom>
        </p:spPr>
      </p:pic>
      <p:sp>
        <p:nvSpPr>
          <p:cNvPr id="58" name="Shape 49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9" name="Shape 50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0" name="Shape 51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1" name="Shape 52"/>
          <p:cNvSpPr/>
          <p:nvPr/>
        </p:nvSpPr>
        <p:spPr>
          <a:xfrm>
            <a:off x="208483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2" name="Image 7" descr="C:\Claude\MCG Full Stack\generators\assets\icons\analytic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2548" y="4076212"/>
            <a:ext cx="351495" cy="351495"/>
          </a:xfrm>
          <a:prstGeom prst="rect">
            <a:avLst/>
          </a:prstGeom>
        </p:spPr>
      </p:pic>
      <p:sp>
        <p:nvSpPr>
          <p:cNvPr id="63" name="Text 53"/>
          <p:cNvSpPr/>
          <p:nvPr/>
        </p:nvSpPr>
        <p:spPr>
          <a:xfrm>
            <a:off x="2779776" y="3867912"/>
            <a:ext cx="18379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64" name="Text 54"/>
          <p:cNvSpPr/>
          <p:nvPr/>
        </p:nvSpPr>
        <p:spPr>
          <a:xfrm>
            <a:off x="2779776" y="4251960"/>
            <a:ext cx="18379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950" dirty="0"/>
          </a:p>
        </p:txBody>
      </p:sp>
      <p:sp>
        <p:nvSpPr>
          <p:cNvPr id="65" name="Shape 55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6" name="Shape 56"/>
          <p:cNvSpPr/>
          <p:nvPr/>
        </p:nvSpPr>
        <p:spPr>
          <a:xfrm>
            <a:off x="501091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7" name="Image 8" descr="C:\Claude\MCG Full Stack\generators\assets\icons\predic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8628" y="4076212"/>
            <a:ext cx="351495" cy="351495"/>
          </a:xfrm>
          <a:prstGeom prst="rect">
            <a:avLst/>
          </a:prstGeom>
        </p:spPr>
      </p:pic>
      <p:sp>
        <p:nvSpPr>
          <p:cNvPr id="68" name="Text 57"/>
          <p:cNvSpPr/>
          <p:nvPr/>
        </p:nvSpPr>
        <p:spPr>
          <a:xfrm>
            <a:off x="5705856" y="3867912"/>
            <a:ext cx="18379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69" name="Text 58"/>
          <p:cNvSpPr/>
          <p:nvPr/>
        </p:nvSpPr>
        <p:spPr>
          <a:xfrm>
            <a:off x="5705856" y="4251960"/>
            <a:ext cx="18379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• Late Delivery</a:t>
            </a:r>
            <a:endParaRPr lang="en-US" sz="950" dirty="0"/>
          </a:p>
        </p:txBody>
      </p:sp>
      <p:sp>
        <p:nvSpPr>
          <p:cNvPr id="70" name="Shape 59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1" name="Shape 60"/>
          <p:cNvSpPr/>
          <p:nvPr/>
        </p:nvSpPr>
        <p:spPr>
          <a:xfrm>
            <a:off x="793699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2" name="Image 9" descr="C:\Claude\MCG Full Stack\generators\assets\icons\governan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4708" y="4076212"/>
            <a:ext cx="351495" cy="351495"/>
          </a:xfrm>
          <a:prstGeom prst="rect">
            <a:avLst/>
          </a:prstGeom>
        </p:spPr>
      </p:pic>
      <p:sp>
        <p:nvSpPr>
          <p:cNvPr id="73" name="Text 61"/>
          <p:cNvSpPr/>
          <p:nvPr/>
        </p:nvSpPr>
        <p:spPr>
          <a:xfrm>
            <a:off x="8631936" y="3867912"/>
            <a:ext cx="21579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74" name="Text 62"/>
          <p:cNvSpPr/>
          <p:nvPr/>
        </p:nvSpPr>
        <p:spPr>
          <a:xfrm>
            <a:off x="8631936" y="4251960"/>
            <a:ext cx="21579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950" dirty="0"/>
          </a:p>
        </p:txBody>
      </p:sp>
      <p:sp>
        <p:nvSpPr>
          <p:cNvPr id="75" name="Shape 63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6" name="Shape 64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7" name="Shape 65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8" name="Shape 66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9" name="Shape 67"/>
          <p:cNvSpPr/>
          <p:nvPr/>
        </p:nvSpPr>
        <p:spPr>
          <a:xfrm>
            <a:off x="2084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0" name="Image 10" descr="C:\Claude\MCG Full Stack\generators\assets\icons\answer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92548" y="5356372"/>
            <a:ext cx="351495" cy="351495"/>
          </a:xfrm>
          <a:prstGeom prst="rect">
            <a:avLst/>
          </a:prstGeom>
        </p:spPr>
      </p:pic>
      <p:sp>
        <p:nvSpPr>
          <p:cNvPr id="81" name="Text 68"/>
          <p:cNvSpPr/>
          <p:nvPr/>
        </p:nvSpPr>
        <p:spPr>
          <a:xfrm>
            <a:off x="2779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82" name="Text 69"/>
          <p:cNvSpPr/>
          <p:nvPr/>
        </p:nvSpPr>
        <p:spPr>
          <a:xfrm>
            <a:off x="2779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950" dirty="0"/>
          </a:p>
        </p:txBody>
      </p:sp>
      <p:sp>
        <p:nvSpPr>
          <p:cNvPr id="83" name="Shape 70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84" name="Shape 71"/>
          <p:cNvSpPr/>
          <p:nvPr/>
        </p:nvSpPr>
        <p:spPr>
          <a:xfrm>
            <a:off x="4370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5" name="Image 11" descr="C:\Claude\MCG Full Stack\generators\assets\icons\ag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8548" y="5356372"/>
            <a:ext cx="351495" cy="351495"/>
          </a:xfrm>
          <a:prstGeom prst="rect">
            <a:avLst/>
          </a:prstGeom>
        </p:spPr>
      </p:pic>
      <p:sp>
        <p:nvSpPr>
          <p:cNvPr id="86" name="Text 72"/>
          <p:cNvSpPr/>
          <p:nvPr/>
        </p:nvSpPr>
        <p:spPr>
          <a:xfrm>
            <a:off x="5065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87" name="Text 73"/>
          <p:cNvSpPr/>
          <p:nvPr/>
        </p:nvSpPr>
        <p:spPr>
          <a:xfrm>
            <a:off x="5065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950" dirty="0"/>
          </a:p>
        </p:txBody>
      </p:sp>
      <p:sp>
        <p:nvSpPr>
          <p:cNvPr id="88" name="Shape 74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89" name="Shape 75"/>
          <p:cNvSpPr/>
          <p:nvPr/>
        </p:nvSpPr>
        <p:spPr>
          <a:xfrm>
            <a:off x="6656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90" name="Image 12" descr="C:\Claude\MCG Full Stack\generators\assets\icons\mc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4548" y="5356372"/>
            <a:ext cx="351495" cy="351495"/>
          </a:xfrm>
          <a:prstGeom prst="rect">
            <a:avLst/>
          </a:prstGeom>
        </p:spPr>
      </p:pic>
      <p:sp>
        <p:nvSpPr>
          <p:cNvPr id="91" name="Text 76"/>
          <p:cNvSpPr/>
          <p:nvPr/>
        </p:nvSpPr>
        <p:spPr>
          <a:xfrm>
            <a:off x="7351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92" name="Text 77"/>
          <p:cNvSpPr/>
          <p:nvPr/>
        </p:nvSpPr>
        <p:spPr>
          <a:xfrm>
            <a:off x="7351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950" dirty="0"/>
          </a:p>
        </p:txBody>
      </p:sp>
      <p:sp>
        <p:nvSpPr>
          <p:cNvPr id="93" name="Shape 78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94" name="Shape 79"/>
          <p:cNvSpPr/>
          <p:nvPr/>
        </p:nvSpPr>
        <p:spPr>
          <a:xfrm>
            <a:off x="8942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95" name="Image 13" descr="C:\Claude\MCG Full Stack\generators\assets\icons\automati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50548" y="5356372"/>
            <a:ext cx="351495" cy="351495"/>
          </a:xfrm>
          <a:prstGeom prst="rect">
            <a:avLst/>
          </a:prstGeom>
        </p:spPr>
      </p:pic>
      <p:sp>
        <p:nvSpPr>
          <p:cNvPr id="96" name="Text 80"/>
          <p:cNvSpPr/>
          <p:nvPr/>
        </p:nvSpPr>
        <p:spPr>
          <a:xfrm>
            <a:off x="9637776" y="5148072"/>
            <a:ext cx="11521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97" name="Text 81"/>
          <p:cNvSpPr/>
          <p:nvPr/>
        </p:nvSpPr>
        <p:spPr>
          <a:xfrm>
            <a:off x="9637776" y="5532120"/>
            <a:ext cx="11521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950" dirty="0"/>
          </a:p>
        </p:txBody>
      </p:sp>
      <p:sp>
        <p:nvSpPr>
          <p:cNvPr id="98" name="Shape 82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99" name="Text 83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crm_orders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crm_products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 &amp; Source Connections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Data Movement gateway. Source connections are created in a Data Integration project that selects the gateway.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751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1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28" y="2110252"/>
            <a:ext cx="351495" cy="35149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62456" y="1856232"/>
            <a:ext cx="220370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362456" y="2286000"/>
            <a:ext cx="220370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• MySQL • SQL Server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(mcg-qlik-dmg container)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57200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69087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6" name="Image 2" descr="C:\Claude\MCG Full Stack\generators\assets\icons\gatew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8588" y="2110252"/>
            <a:ext cx="351495" cy="35149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385816" y="1856232"/>
            <a:ext cx="220370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385816" y="2286000"/>
            <a:ext cx="220370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Registered to tenant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Outbound HTTPS 443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8595360" y="1783080"/>
            <a:ext cx="3017520" cy="1005840"/>
          </a:xfrm>
          <a:prstGeom prst="roundRect">
            <a:avLst>
              <a:gd name="adj" fmla="val 909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71423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1948" y="2110252"/>
            <a:ext cx="351495" cy="35149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409176" y="1856232"/>
            <a:ext cx="211226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409176" y="2286000"/>
            <a:ext cx="211226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 project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→ Open Lakehouse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370332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772668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26" name="Text 20"/>
          <p:cNvSpPr/>
          <p:nvPr/>
        </p:nvSpPr>
        <p:spPr>
          <a:xfrm>
            <a:off x="54864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640080" y="3703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640080" y="411480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  (or run agentctl in the mcg-qlik-dmg container)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640080" y="45262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Admin → Data Gateways → Register → paste token → Connected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00800" y="370332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project → Create connection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6400800" y="4114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Pick PostgreSQL/MySQL/SQL Server, select the gateway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6400800" y="452628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548640" y="562356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31520" y="5687568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 connections are created in the Data Integration UI (the public REST API cannot bind them) — the deploy script skips them with guidance. Kafka sources need a Data Gateway - Streaming; S3/Athena are credentialed connectors.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crm_contacts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crm_orders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crm_products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Text 5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(callable service)   •   All 8 routes defined as declarative YAML — version-controlled, API-imported, daily-scheduled (QTCP preview)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Gold-Layer Data Products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governed mart per analytics domain app — created by the pipeline's gold datamart task, attached via the Data Products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96112" y="1609344"/>
            <a:ext cx="488289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0584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73952" y="1609344"/>
            <a:ext cx="488289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58368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103327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416C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C:\Claude\MCG Full Stack\generators\assets\icons\analyti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337" y="1095817"/>
            <a:ext cx="204094" cy="20409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28232" y="103327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predi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777" y="1095817"/>
            <a:ext cx="204094" cy="20409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alert_flag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temperature_c, route_id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delivered_late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tracking_missing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21792" y="371246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2" name="Image 3" descr="C:\Claude\MCG Full Stack\generators\assets\icons\ag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37" y="3775009"/>
            <a:ext cx="204094" cy="20409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34" name="Shape 28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160020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4" descr="C:\Claude\MCG Full Stack\generators\assets\icons\answ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4442" y="4456786"/>
            <a:ext cx="340157" cy="340157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7724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79552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420624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1" name="Image 5" descr="C:\Claude\MCG Full Stack\generators\assets\icons\ag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0482" y="4456786"/>
            <a:ext cx="340157" cy="340157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338328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300" dirty="0"/>
          </a:p>
        </p:txBody>
      </p:sp>
      <p:sp>
        <p:nvSpPr>
          <p:cNvPr id="43" name="Text 35"/>
          <p:cNvSpPr/>
          <p:nvPr/>
        </p:nvSpPr>
        <p:spPr>
          <a:xfrm>
            <a:off x="340156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681228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6" name="Image 6" descr="C:\Claude\MCG Full Stack\generators\assets\icons\mc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522" y="4456786"/>
            <a:ext cx="340157" cy="340157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598932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300" dirty="0"/>
          </a:p>
        </p:txBody>
      </p:sp>
      <p:sp>
        <p:nvSpPr>
          <p:cNvPr id="48" name="Text 39"/>
          <p:cNvSpPr/>
          <p:nvPr/>
        </p:nvSpPr>
        <p:spPr>
          <a:xfrm>
            <a:off x="600760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950" dirty="0"/>
          </a:p>
        </p:txBody>
      </p:sp>
      <p:sp>
        <p:nvSpPr>
          <p:cNvPr id="49" name="Shape 40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Shape 41"/>
          <p:cNvSpPr/>
          <p:nvPr/>
        </p:nvSpPr>
        <p:spPr>
          <a:xfrm>
            <a:off x="941832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1" name="Image 7" descr="C:\Claude\MCG Full Stack\generators\assets\icons\automati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2562" y="4456786"/>
            <a:ext cx="340157" cy="340157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859536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300" dirty="0"/>
          </a:p>
        </p:txBody>
      </p:sp>
      <p:sp>
        <p:nvSpPr>
          <p:cNvPr id="53" name="Text 43"/>
          <p:cNvSpPr/>
          <p:nvPr/>
        </p:nvSpPr>
        <p:spPr>
          <a:xfrm>
            <a:off x="861364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Data Engineering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0378440" y="310896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10CFC9"/>
          </a:solidFill>
          <a:ln w="6350">
            <a:solidFill>
              <a:srgbClr val="10CFC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378440" y="310896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48640" y="82296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Build-side AI. One declarative pipeline YAML, authored visually, in an IDE, or by an AI agent. A path from raw data to trusted, AI-ready data products that keeps human expertise in the loop at each stage.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1225296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THE PIPELINE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669280" y="1225296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 are a Qlik internal preview capability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" y="1499616"/>
            <a:ext cx="3566160" cy="932688"/>
          </a:xfrm>
          <a:prstGeom prst="roundRect">
            <a:avLst>
              <a:gd name="adj" fmla="val 9804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67512" y="1682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28" y="1790212"/>
            <a:ext cx="351495" cy="35149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62456" y="15727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Coding Agent · VS Code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362456" y="1965960"/>
            <a:ext cx="26609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Authors declarative pipeline YAML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version control • CI/CD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297680" y="1499616"/>
            <a:ext cx="3566160" cy="932688"/>
          </a:xfrm>
          <a:prstGeom prst="roundRect">
            <a:avLst>
              <a:gd name="adj" fmla="val 9804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416552" y="1682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0" name="Image 2" descr="C:\Claude\MCG Full Stack\generators\assets\icons\pipe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4268" y="1790212"/>
            <a:ext cx="351495" cy="35149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111496" y="15727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111496" y="1965960"/>
            <a:ext cx="26609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YAML: landing · transform · datamart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· IDE · AI-agent authorable · Preview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8046720" y="1499616"/>
            <a:ext cx="3566160" cy="932688"/>
          </a:xfrm>
          <a:prstGeom prst="roundRect">
            <a:avLst>
              <a:gd name="adj" fmla="val 9804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165592" y="1682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5" name="Image 3" descr="C:\Claude\MCG Full Stack\generators\assets\icons\transfo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3308" y="1790212"/>
            <a:ext cx="351495" cy="35149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860536" y="15727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8860536" y="1965960"/>
            <a:ext cx="26609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+ RAG inside pipeline tasks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· Bedrock · Ollama · Pinecone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548640" y="2468880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coding agent:   Prompt  →  Generate  →  Schema-validate  →  Review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276148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 THE DATA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120640" y="2761488"/>
            <a:ext cx="6492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conversational agents are Qlik Answers capabilities, not separate products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48640" y="3035808"/>
            <a:ext cx="2651760" cy="932688"/>
          </a:xfrm>
          <a:prstGeom prst="roundRect">
            <a:avLst>
              <a:gd name="adj" fmla="val 9804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667512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3" name="Image 4" descr="C:\Claude\MCG Full Stack\generators\assets\icons\governan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28" y="3326404"/>
            <a:ext cx="351495" cy="351495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362456" y="3108960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1362456" y="3502152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manage data products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natural language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3319272" y="3035808"/>
            <a:ext cx="2651760" cy="932688"/>
          </a:xfrm>
          <a:prstGeom prst="roundRect">
            <a:avLst>
              <a:gd name="adj" fmla="val 9804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3438144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8" name="Image 5" descr="C:\Claude\MCG Full Stack\generators\assets\icons\answ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5860" y="3326404"/>
            <a:ext cx="351495" cy="351495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4133088" y="3108960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4133088" y="3502152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Assess, define &amp; enforce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DQ rules conversationally</a:t>
            </a:r>
            <a:endParaRPr lang="en-US" sz="950" dirty="0"/>
          </a:p>
        </p:txBody>
      </p:sp>
      <p:sp>
        <p:nvSpPr>
          <p:cNvPr id="41" name="Shape 33"/>
          <p:cNvSpPr/>
          <p:nvPr/>
        </p:nvSpPr>
        <p:spPr>
          <a:xfrm>
            <a:off x="6089904" y="3035808"/>
            <a:ext cx="2651760" cy="932688"/>
          </a:xfrm>
          <a:prstGeom prst="roundRect">
            <a:avLst>
              <a:gd name="adj" fmla="val 9804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Shape 34"/>
          <p:cNvSpPr/>
          <p:nvPr/>
        </p:nvSpPr>
        <p:spPr>
          <a:xfrm>
            <a:off x="6208776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3" name="Image 6" descr="C:\Claude\MCG Full Stack\generators\assets\icons\ag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6492" y="3326404"/>
            <a:ext cx="351495" cy="351495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6903720" y="3108960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Glossary Agent</a:t>
            </a:r>
            <a:endParaRPr lang="en-US" sz="1200" dirty="0"/>
          </a:p>
        </p:txBody>
      </p:sp>
      <p:sp>
        <p:nvSpPr>
          <p:cNvPr id="45" name="Text 36"/>
          <p:cNvSpPr/>
          <p:nvPr/>
        </p:nvSpPr>
        <p:spPr>
          <a:xfrm>
            <a:off x="6903720" y="3502152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assets · draft glossary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(human-reviewed)</a:t>
            </a:r>
            <a:endParaRPr lang="en-US" sz="950" dirty="0"/>
          </a:p>
        </p:txBody>
      </p:sp>
      <p:sp>
        <p:nvSpPr>
          <p:cNvPr id="46" name="Shape 37"/>
          <p:cNvSpPr/>
          <p:nvPr/>
        </p:nvSpPr>
        <p:spPr>
          <a:xfrm>
            <a:off x="8860536" y="3035808"/>
            <a:ext cx="2743200" cy="932688"/>
          </a:xfrm>
          <a:prstGeom prst="roundRect">
            <a:avLst>
              <a:gd name="adj" fmla="val 9804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8979408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8" name="Image 7" descr="C:\Claude\MCG Full Stack\generators\assets\icons\mc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87124" y="3326404"/>
            <a:ext cx="351495" cy="351495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9674352" y="3108960"/>
            <a:ext cx="183794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200" dirty="0"/>
          </a:p>
        </p:txBody>
      </p:sp>
      <p:sp>
        <p:nvSpPr>
          <p:cNvPr id="50" name="Text 40"/>
          <p:cNvSpPr/>
          <p:nvPr/>
        </p:nvSpPr>
        <p:spPr>
          <a:xfrm>
            <a:off x="9674352" y="3502152"/>
            <a:ext cx="183794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Exposes governance to external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assistants (Claude) · Preview</a:t>
            </a:r>
            <a:endParaRPr lang="en-US" sz="950" dirty="0"/>
          </a:p>
        </p:txBody>
      </p:sp>
      <p:sp>
        <p:nvSpPr>
          <p:cNvPr id="51" name="Shape 41"/>
          <p:cNvSpPr/>
          <p:nvPr/>
        </p:nvSpPr>
        <p:spPr>
          <a:xfrm>
            <a:off x="1554480" y="4041648"/>
            <a:ext cx="0" cy="27432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2" name="Shape 42"/>
          <p:cNvSpPr/>
          <p:nvPr/>
        </p:nvSpPr>
        <p:spPr>
          <a:xfrm>
            <a:off x="10607040" y="4041648"/>
            <a:ext cx="0" cy="27432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3" name="Text 43"/>
          <p:cNvSpPr/>
          <p:nvPr/>
        </p:nvSpPr>
        <p:spPr>
          <a:xfrm>
            <a:off x="2194560" y="40416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agentic layer sits over the medallion — authoring the YAML and governing the outputs</a:t>
            </a:r>
            <a:endParaRPr lang="en-US" sz="1000" dirty="0"/>
          </a:p>
        </p:txBody>
      </p:sp>
      <p:sp>
        <p:nvSpPr>
          <p:cNvPr id="54" name="Shape 44"/>
          <p:cNvSpPr/>
          <p:nvPr/>
        </p:nvSpPr>
        <p:spPr>
          <a:xfrm>
            <a:off x="457200" y="4334256"/>
            <a:ext cx="11274552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55" name="Shape 45"/>
          <p:cNvSpPr/>
          <p:nvPr/>
        </p:nvSpPr>
        <p:spPr>
          <a:xfrm>
            <a:off x="621792" y="437083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6" name="Image 8" descr="C:\Claude\MCG Full Stack\generators\assets\icons\lakehous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913" y="4422953"/>
            <a:ext cx="170078" cy="170078"/>
          </a:xfrm>
          <a:prstGeom prst="rect">
            <a:avLst/>
          </a:prstGeom>
        </p:spPr>
      </p:pic>
      <p:sp>
        <p:nvSpPr>
          <p:cNvPr id="57" name="Text 46"/>
          <p:cNvSpPr/>
          <p:nvPr/>
        </p:nvSpPr>
        <p:spPr>
          <a:xfrm>
            <a:off x="987552" y="437997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 — the declarative pipeline the agents author &amp; govern  (Bronze · Silver · Gold on Apache Iceberg)</a:t>
            </a:r>
            <a:endParaRPr lang="en-US" sz="1100" dirty="0"/>
          </a:p>
        </p:txBody>
      </p:sp>
      <p:sp>
        <p:nvSpPr>
          <p:cNvPr id="58" name="Shape 47"/>
          <p:cNvSpPr/>
          <p:nvPr/>
        </p:nvSpPr>
        <p:spPr>
          <a:xfrm>
            <a:off x="685800" y="4773168"/>
            <a:ext cx="3291840" cy="347472"/>
          </a:xfrm>
          <a:prstGeom prst="roundRect">
            <a:avLst>
              <a:gd name="adj" fmla="val 15789"/>
            </a:avLst>
          </a:prstGeom>
          <a:solidFill>
            <a:srgbClr val="006580"/>
          </a:solidFill>
          <a:ln/>
        </p:spPr>
      </p:sp>
      <p:sp>
        <p:nvSpPr>
          <p:cNvPr id="59" name="Text 48"/>
          <p:cNvSpPr/>
          <p:nvPr/>
        </p:nvSpPr>
        <p:spPr>
          <a:xfrm>
            <a:off x="685800" y="4773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· Landing</a:t>
            </a:r>
            <a:endParaRPr lang="en-US" sz="1100" dirty="0"/>
          </a:p>
        </p:txBody>
      </p:sp>
      <p:sp>
        <p:nvSpPr>
          <p:cNvPr id="60" name="Shape 49"/>
          <p:cNvSpPr/>
          <p:nvPr/>
        </p:nvSpPr>
        <p:spPr>
          <a:xfrm>
            <a:off x="685800" y="51755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61" name="Text 50"/>
          <p:cNvSpPr/>
          <p:nvPr/>
        </p:nvSpPr>
        <p:spPr>
          <a:xfrm>
            <a:off x="822960" y="5230368"/>
            <a:ext cx="301752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WMS CDC Landing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CRM Landing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IoT Streaming Landing</a:t>
            </a:r>
            <a:endParaRPr lang="en-US" sz="950" dirty="0"/>
          </a:p>
        </p:txBody>
      </p:sp>
      <p:sp>
        <p:nvSpPr>
          <p:cNvPr id="62" name="Shape 51"/>
          <p:cNvSpPr/>
          <p:nvPr/>
        </p:nvSpPr>
        <p:spPr>
          <a:xfrm>
            <a:off x="4251960" y="4773168"/>
            <a:ext cx="3291840" cy="347472"/>
          </a:xfrm>
          <a:prstGeom prst="roundRect">
            <a:avLst>
              <a:gd name="adj" fmla="val 15789"/>
            </a:avLst>
          </a:prstGeom>
          <a:solidFill>
            <a:srgbClr val="009845"/>
          </a:solidFill>
          <a:ln/>
        </p:spPr>
      </p:sp>
      <p:sp>
        <p:nvSpPr>
          <p:cNvPr id="63" name="Text 52"/>
          <p:cNvSpPr/>
          <p:nvPr/>
        </p:nvSpPr>
        <p:spPr>
          <a:xfrm>
            <a:off x="4251960" y="4773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· Transform</a:t>
            </a:r>
            <a:endParaRPr lang="en-US" sz="1100" dirty="0"/>
          </a:p>
        </p:txBody>
      </p:sp>
      <p:sp>
        <p:nvSpPr>
          <p:cNvPr id="64" name="Shape 53"/>
          <p:cNvSpPr/>
          <p:nvPr/>
        </p:nvSpPr>
        <p:spPr>
          <a:xfrm>
            <a:off x="4251960" y="51755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65" name="Text 54"/>
          <p:cNvSpPr/>
          <p:nvPr/>
        </p:nvSpPr>
        <p:spPr>
          <a:xfrm>
            <a:off x="4389120" y="5230368"/>
            <a:ext cx="301752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Silver Transform · 7 datasets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IoT Streaming Transform</a:t>
            </a:r>
            <a:endParaRPr lang="en-US" sz="950" dirty="0"/>
          </a:p>
        </p:txBody>
      </p:sp>
      <p:sp>
        <p:nvSpPr>
          <p:cNvPr id="66" name="Shape 55"/>
          <p:cNvSpPr/>
          <p:nvPr/>
        </p:nvSpPr>
        <p:spPr>
          <a:xfrm>
            <a:off x="7818120" y="4773168"/>
            <a:ext cx="3566160" cy="347472"/>
          </a:xfrm>
          <a:prstGeom prst="roundRect">
            <a:avLst>
              <a:gd name="adj" fmla="val 15789"/>
            </a:avLst>
          </a:prstGeom>
          <a:solidFill>
            <a:srgbClr val="19416C"/>
          </a:solidFill>
          <a:ln/>
        </p:spPr>
      </p:sp>
      <p:sp>
        <p:nvSpPr>
          <p:cNvPr id="67" name="Text 56"/>
          <p:cNvSpPr/>
          <p:nvPr/>
        </p:nvSpPr>
        <p:spPr>
          <a:xfrm>
            <a:off x="7818120" y="477316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· Datamart</a:t>
            </a:r>
            <a:endParaRPr lang="en-US" sz="1100" dirty="0"/>
          </a:p>
        </p:txBody>
      </p:sp>
      <p:sp>
        <p:nvSpPr>
          <p:cNvPr id="68" name="Shape 57"/>
          <p:cNvSpPr/>
          <p:nvPr/>
        </p:nvSpPr>
        <p:spPr>
          <a:xfrm>
            <a:off x="7818120" y="5175504"/>
            <a:ext cx="35661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69" name="Text 58"/>
          <p:cNvSpPr/>
          <p:nvPr/>
        </p:nvSpPr>
        <p:spPr>
          <a:xfrm>
            <a:off x="7955280" y="5230368"/>
            <a:ext cx="329184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Gold Datamart · 2 datasets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Supply Chain Health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Last Mile Performance</a:t>
            </a:r>
            <a:endParaRPr lang="en-US" sz="950" dirty="0"/>
          </a:p>
        </p:txBody>
      </p:sp>
      <p:sp>
        <p:nvSpPr>
          <p:cNvPr id="70" name="Shape 59"/>
          <p:cNvSpPr/>
          <p:nvPr/>
        </p:nvSpPr>
        <p:spPr>
          <a:xfrm>
            <a:off x="3986784" y="5650992"/>
            <a:ext cx="246888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71" name="Shape 60"/>
          <p:cNvSpPr/>
          <p:nvPr/>
        </p:nvSpPr>
        <p:spPr>
          <a:xfrm>
            <a:off x="7571232" y="5650992"/>
            <a:ext cx="22860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2" name="Text 61"/>
          <p:cNvSpPr/>
          <p:nvPr/>
        </p:nvSpPr>
        <p:spPr>
          <a:xfrm>
            <a:off x="548640" y="6291072"/>
            <a:ext cx="110642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capabilities (Declarative Pipelines, Qlik MCP Server) reflect Qlik internal preview, June 2026, and are subject to change.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$8.2M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$14.8M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$4.2M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Meridian CRM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crm_contacts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crm_orders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crm_products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Meridian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pipeline projects (batch + streaming)  •  8 Bronze tables  •  8 Silver transforms  •  2 Gold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sprints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(Exceedance + Late Delivery)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Sprint Summary,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Pipelines  •  18 Tables  •  2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Console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7498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environment deploys from one repository - 11 wizard steps or a single command.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344168" y="1133856"/>
            <a:ext cx="7754112" cy="4901184"/>
          </a:xfrm>
          <a:prstGeom prst="roundRect">
            <a:avLst>
              <a:gd name="adj" fmla="val 746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Claude\MCG Full Stack\generators\assets\screenshots\deploy-ui-wiz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07008"/>
            <a:ext cx="7607808" cy="4754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44168" y="6089904"/>
            <a:ext cx="77541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MCG deploy console — 11 setup steps, Stewardship at step 11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Console: Stewardship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74980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Sprint settings and the 12-column record schema the Talend job emits.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344168" y="1133856"/>
            <a:ext cx="7754112" cy="4901184"/>
          </a:xfrm>
          <a:prstGeom prst="roundRect">
            <a:avLst>
              <a:gd name="adj" fmla="val 746"/>
            </a:avLst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18000"/>
              </a:srgbClr>
            </a:outerShdw>
          </a:effectLst>
        </p:spPr>
      </p:sp>
      <p:pic>
        <p:nvPicPr>
          <p:cNvPr id="10" name="Image 1" descr="C:\Claude\MCG Full Stack\generators\assets\screenshots\deploy-ui-stewardshi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07008"/>
            <a:ext cx="7607808" cy="4754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44168" y="6089904"/>
            <a:ext cx="77541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Stewardship wizard page — sprint settings and the 12-column record schema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Technology Architecture (Qlik Cloud)</dc:title>
  <dc:subject>PptxGenJS Presentation</dc:subject>
  <dc:creator>Qlik</dc:creator>
  <cp:lastModifiedBy>Qlik</cp:lastModifiedBy>
  <cp:revision>1</cp:revision>
  <dcterms:created xsi:type="dcterms:W3CDTF">2026-09-21T20:12:57Z</dcterms:created>
  <dcterms:modified xsi:type="dcterms:W3CDTF">2026-09-21T20:12:57Z</dcterms:modified>
</cp:coreProperties>
</file>