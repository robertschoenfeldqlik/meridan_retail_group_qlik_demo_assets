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4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2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cov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57200"/>
            <a:ext cx="1088136" cy="60350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146304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Meridian Commerce Group</a:t>
            </a:r>
            <a:endParaRPr lang="en-US" sz="1700" dirty="0"/>
          </a:p>
        </p:txBody>
      </p:sp>
      <p:sp>
        <p:nvSpPr>
          <p:cNvPr id="5" name="Text 1"/>
          <p:cNvSpPr/>
          <p:nvPr/>
        </p:nvSpPr>
        <p:spPr>
          <a:xfrm>
            <a:off x="548640" y="2011680"/>
            <a:ext cx="54864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Technology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Architecture</a:t>
            </a:r>
            <a:endParaRPr lang="en-US" sz="4000" dirty="0"/>
          </a:p>
        </p:txBody>
      </p:sp>
      <p:sp>
        <p:nvSpPr>
          <p:cNvPr id="6" name="Text 2"/>
          <p:cNvSpPr/>
          <p:nvPr/>
        </p:nvSpPr>
        <p:spPr>
          <a:xfrm>
            <a:off x="548640" y="365760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·  Qlik Cloud Full Stack Demo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548640" y="4297680"/>
            <a:ext cx="5943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Sources  •  2 Declarative Pipelines  •  Open Lakehouse  •  2 Data Products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Analytics Apps  •  2 AutoML Models  •  25 Knowledge Documents  •  MCP + AI Agents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5577840"/>
            <a:ext cx="2103120" cy="548640"/>
          </a:xfrm>
          <a:prstGeom prst="roundRect">
            <a:avLst>
              <a:gd name="adj" fmla="val 13333"/>
            </a:avLst>
          </a:prstGeom>
          <a:solidFill>
            <a:srgbClr val="009845"/>
          </a:solidFill>
          <a:ln/>
        </p:spPr>
      </p:sp>
      <p:sp>
        <p:nvSpPr>
          <p:cNvPr id="9" name="Text 5"/>
          <p:cNvSpPr/>
          <p:nvPr/>
        </p:nvSpPr>
        <p:spPr>
          <a:xfrm>
            <a:off x="548640" y="557784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2926080" y="5577840"/>
            <a:ext cx="2103120" cy="548640"/>
          </a:xfrm>
          <a:prstGeom prst="roundRect">
            <a:avLst>
              <a:gd name="adj" fmla="val 13333"/>
            </a:avLst>
          </a:prstGeom>
          <a:solidFill>
            <a:srgbClr val="006580"/>
          </a:solidFill>
          <a:ln/>
        </p:spPr>
      </p:sp>
      <p:sp>
        <p:nvSpPr>
          <p:cNvPr id="11" name="Text 7"/>
          <p:cNvSpPr/>
          <p:nvPr/>
        </p:nvSpPr>
        <p:spPr>
          <a:xfrm>
            <a:off x="2926080" y="557784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303520" y="5577840"/>
            <a:ext cx="2103120" cy="548640"/>
          </a:xfrm>
          <a:prstGeom prst="roundRect">
            <a:avLst>
              <a:gd name="adj" fmla="val 13333"/>
            </a:avLst>
          </a:prstGeom>
          <a:solidFill>
            <a:srgbClr val="19416C"/>
          </a:solidFill>
          <a:ln/>
        </p:spPr>
      </p:sp>
      <p:sp>
        <p:nvSpPr>
          <p:cNvPr id="13" name="Text 9"/>
          <p:cNvSpPr/>
          <p:nvPr/>
        </p:nvSpPr>
        <p:spPr>
          <a:xfrm>
            <a:off x="5303520" y="557784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7680960" y="5577840"/>
            <a:ext cx="2103120" cy="548640"/>
          </a:xfrm>
          <a:prstGeom prst="roundRect">
            <a:avLst>
              <a:gd name="adj" fmla="val 13333"/>
            </a:avLst>
          </a:prstGeom>
          <a:solidFill>
            <a:srgbClr val="4CB393"/>
          </a:solidFill>
          <a:ln/>
        </p:spPr>
      </p:sp>
      <p:sp>
        <p:nvSpPr>
          <p:cNvPr id="15" name="Text 11"/>
          <p:cNvSpPr/>
          <p:nvPr/>
        </p:nvSpPr>
        <p:spPr>
          <a:xfrm>
            <a:off x="7680960" y="557784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Outcomes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45720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End-to-End Architecture Overview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320040" y="1161288"/>
            <a:ext cx="1417320" cy="594360"/>
          </a:xfrm>
          <a:prstGeom prst="roundRect">
            <a:avLst>
              <a:gd name="adj" fmla="val 9231"/>
            </a:avLst>
          </a:prstGeom>
          <a:solidFill>
            <a:srgbClr val="006580"/>
          </a:solidFill>
          <a:ln/>
        </p:spPr>
      </p:sp>
      <p:sp>
        <p:nvSpPr>
          <p:cNvPr id="9" name="Text 6"/>
          <p:cNvSpPr/>
          <p:nvPr/>
        </p:nvSpPr>
        <p:spPr>
          <a:xfrm>
            <a:off x="320040" y="1161288"/>
            <a:ext cx="1417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20040" y="2578608"/>
            <a:ext cx="1417320" cy="594360"/>
          </a:xfrm>
          <a:prstGeom prst="roundRect">
            <a:avLst>
              <a:gd name="adj" fmla="val 9231"/>
            </a:avLst>
          </a:prstGeom>
          <a:solidFill>
            <a:srgbClr val="009845"/>
          </a:solidFill>
          <a:ln/>
        </p:spPr>
      </p:sp>
      <p:sp>
        <p:nvSpPr>
          <p:cNvPr id="11" name="Text 8"/>
          <p:cNvSpPr/>
          <p:nvPr/>
        </p:nvSpPr>
        <p:spPr>
          <a:xfrm>
            <a:off x="320040" y="2578608"/>
            <a:ext cx="1417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20040" y="3950208"/>
            <a:ext cx="1417320" cy="594360"/>
          </a:xfrm>
          <a:prstGeom prst="roundRect">
            <a:avLst>
              <a:gd name="adj" fmla="val 9231"/>
            </a:avLst>
          </a:prstGeom>
          <a:solidFill>
            <a:srgbClr val="19416C"/>
          </a:solidFill>
          <a:ln/>
        </p:spPr>
      </p:sp>
      <p:sp>
        <p:nvSpPr>
          <p:cNvPr id="13" name="Text 10"/>
          <p:cNvSpPr/>
          <p:nvPr/>
        </p:nvSpPr>
        <p:spPr>
          <a:xfrm>
            <a:off x="320040" y="3950208"/>
            <a:ext cx="1417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320040" y="5230368"/>
            <a:ext cx="1417320" cy="594360"/>
          </a:xfrm>
          <a:prstGeom prst="roundRect">
            <a:avLst>
              <a:gd name="adj" fmla="val 9231"/>
            </a:avLst>
          </a:prstGeom>
          <a:solidFill>
            <a:srgbClr val="4CB393"/>
          </a:solidFill>
          <a:ln/>
        </p:spPr>
      </p:sp>
      <p:sp>
        <p:nvSpPr>
          <p:cNvPr id="15" name="Text 12"/>
          <p:cNvSpPr/>
          <p:nvPr/>
        </p:nvSpPr>
        <p:spPr>
          <a:xfrm>
            <a:off x="320040" y="5230368"/>
            <a:ext cx="1417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OUTCOMES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1965960" y="1005840"/>
            <a:ext cx="2834640" cy="91440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2084832" y="117957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8" name="Image 1" descr="C:\Claude\MCG Full Stack\generators\assets\icons\databa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2548" y="1287292"/>
            <a:ext cx="351495" cy="351495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2779776" y="1078992"/>
            <a:ext cx="1929384" cy="43891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(WMS)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2779776" y="1463040"/>
            <a:ext cx="19293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• 3 tables • Real-time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4983480" y="1005840"/>
            <a:ext cx="2834640" cy="91440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5102352" y="117957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23" name="Image 2" descr="C:\Claude\MCG Full Stack\generators\assets\icons\strea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0068" y="1287292"/>
            <a:ext cx="351495" cy="351495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5797296" y="1078992"/>
            <a:ext cx="1929384" cy="43891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Apache Kafka</a:t>
            </a:r>
            <a:endParaRPr lang="en-US" sz="1200" dirty="0"/>
          </a:p>
        </p:txBody>
      </p:sp>
      <p:sp>
        <p:nvSpPr>
          <p:cNvPr id="25" name="Text 20"/>
          <p:cNvSpPr/>
          <p:nvPr/>
        </p:nvSpPr>
        <p:spPr>
          <a:xfrm>
            <a:off x="5797296" y="1463040"/>
            <a:ext cx="19293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• 2 IoT topics</a:t>
            </a:r>
            <a:endParaRPr lang="en-US" sz="950" dirty="0"/>
          </a:p>
        </p:txBody>
      </p:sp>
      <p:sp>
        <p:nvSpPr>
          <p:cNvPr id="26" name="Shape 21"/>
          <p:cNvSpPr/>
          <p:nvPr/>
        </p:nvSpPr>
        <p:spPr>
          <a:xfrm>
            <a:off x="8001000" y="1005840"/>
            <a:ext cx="2834640" cy="91440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8119872" y="117957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28" name="Image 3" descr="C:\Claude\MCG Full Stack\generators\assets\icons\clou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7588" y="1287292"/>
            <a:ext cx="351495" cy="351495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8814816" y="1078992"/>
            <a:ext cx="1929384" cy="43891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Salesforce CRM</a:t>
            </a:r>
            <a:endParaRPr lang="en-US" sz="1200" dirty="0"/>
          </a:p>
        </p:txBody>
      </p:sp>
      <p:sp>
        <p:nvSpPr>
          <p:cNvPr id="30" name="Text 24"/>
          <p:cNvSpPr/>
          <p:nvPr/>
        </p:nvSpPr>
        <p:spPr>
          <a:xfrm>
            <a:off x="8814816" y="1463040"/>
            <a:ext cx="19293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Connector • 3 objects • 15 min</a:t>
            </a:r>
            <a:endParaRPr lang="en-US" sz="950" dirty="0"/>
          </a:p>
        </p:txBody>
      </p:sp>
      <p:sp>
        <p:nvSpPr>
          <p:cNvPr id="31" name="Shape 25"/>
          <p:cNvSpPr/>
          <p:nvPr/>
        </p:nvSpPr>
        <p:spPr>
          <a:xfrm>
            <a:off x="3383280" y="1920240"/>
            <a:ext cx="0" cy="502920"/>
          </a:xfrm>
          <a:prstGeom prst="line">
            <a:avLst/>
          </a:prstGeom>
          <a:noFill/>
          <a:ln w="19050">
            <a:solidFill>
              <a:srgbClr val="006580"/>
            </a:solidFill>
            <a:prstDash val="solid"/>
            <a:tailEnd type="triangle"/>
          </a:ln>
        </p:spPr>
      </p:sp>
      <p:sp>
        <p:nvSpPr>
          <p:cNvPr id="32" name="Shape 26"/>
          <p:cNvSpPr/>
          <p:nvPr/>
        </p:nvSpPr>
        <p:spPr>
          <a:xfrm>
            <a:off x="6400800" y="1920240"/>
            <a:ext cx="0" cy="502920"/>
          </a:xfrm>
          <a:prstGeom prst="line">
            <a:avLst/>
          </a:prstGeom>
          <a:noFill/>
          <a:ln w="19050">
            <a:solidFill>
              <a:srgbClr val="006580"/>
            </a:solidFill>
            <a:prstDash val="solid"/>
            <a:tailEnd type="triangle"/>
          </a:ln>
        </p:spPr>
      </p:sp>
      <p:sp>
        <p:nvSpPr>
          <p:cNvPr id="33" name="Shape 27"/>
          <p:cNvSpPr/>
          <p:nvPr/>
        </p:nvSpPr>
        <p:spPr>
          <a:xfrm>
            <a:off x="9418320" y="1920240"/>
            <a:ext cx="0" cy="502920"/>
          </a:xfrm>
          <a:prstGeom prst="line">
            <a:avLst/>
          </a:prstGeom>
          <a:noFill/>
          <a:ln w="19050">
            <a:solidFill>
              <a:srgbClr val="006580"/>
            </a:solidFill>
            <a:prstDash val="solid"/>
            <a:tailEnd type="triangle"/>
          </a:ln>
        </p:spPr>
      </p:sp>
      <p:sp>
        <p:nvSpPr>
          <p:cNvPr id="34" name="Shape 28"/>
          <p:cNvSpPr/>
          <p:nvPr/>
        </p:nvSpPr>
        <p:spPr>
          <a:xfrm>
            <a:off x="1965960" y="2423160"/>
            <a:ext cx="7040880" cy="914400"/>
          </a:xfrm>
          <a:prstGeom prst="roundRect">
            <a:avLst>
              <a:gd name="adj" fmla="val 12000"/>
            </a:avLst>
          </a:prstGeom>
          <a:solidFill>
            <a:srgbClr val="E0F5EA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2075688" y="2441448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9845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36" name="Image 4" descr="C:\Claude\MCG Full Stack\generators\assets\icons\lakehous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24334" y="2490094"/>
            <a:ext cx="158740" cy="158740"/>
          </a:xfrm>
          <a:prstGeom prst="rect">
            <a:avLst/>
          </a:prstGeom>
        </p:spPr>
      </p:pic>
      <p:sp>
        <p:nvSpPr>
          <p:cNvPr id="37" name="Text 30"/>
          <p:cNvSpPr/>
          <p:nvPr/>
        </p:nvSpPr>
        <p:spPr>
          <a:xfrm>
            <a:off x="1965960" y="2414016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Open Lakehouse</a:t>
            </a:r>
            <a:endParaRPr lang="en-US" sz="1100" dirty="0"/>
          </a:p>
        </p:txBody>
      </p:sp>
      <p:sp>
        <p:nvSpPr>
          <p:cNvPr id="38" name="Shape 31"/>
          <p:cNvSpPr/>
          <p:nvPr/>
        </p:nvSpPr>
        <p:spPr>
          <a:xfrm>
            <a:off x="2148840" y="2715768"/>
            <a:ext cx="2011680" cy="530352"/>
          </a:xfrm>
          <a:prstGeom prst="roundRect">
            <a:avLst>
              <a:gd name="adj" fmla="val 1724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9" name="Text 32"/>
          <p:cNvSpPr/>
          <p:nvPr/>
        </p:nvSpPr>
        <p:spPr>
          <a:xfrm>
            <a:off x="2221992" y="2770632"/>
            <a:ext cx="1865376" cy="26517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Bronze (8 tables)</a:t>
            </a:r>
            <a:endParaRPr lang="en-US" sz="1200" dirty="0"/>
          </a:p>
        </p:txBody>
      </p:sp>
      <p:sp>
        <p:nvSpPr>
          <p:cNvPr id="40" name="Text 33"/>
          <p:cNvSpPr/>
          <p:nvPr/>
        </p:nvSpPr>
        <p:spPr>
          <a:xfrm>
            <a:off x="2221992" y="2999232"/>
            <a:ext cx="1865376" cy="222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 ingestion</a:t>
            </a:r>
            <a:endParaRPr lang="en-US" sz="1000" dirty="0"/>
          </a:p>
        </p:txBody>
      </p:sp>
      <p:sp>
        <p:nvSpPr>
          <p:cNvPr id="41" name="Shape 34"/>
          <p:cNvSpPr/>
          <p:nvPr/>
        </p:nvSpPr>
        <p:spPr>
          <a:xfrm>
            <a:off x="4343400" y="2715768"/>
            <a:ext cx="2011680" cy="530352"/>
          </a:xfrm>
          <a:prstGeom prst="roundRect">
            <a:avLst>
              <a:gd name="adj" fmla="val 17241"/>
            </a:avLst>
          </a:prstGeom>
          <a:solidFill>
            <a:srgbClr val="009845"/>
          </a:solidFill>
          <a:ln w="6350">
            <a:solidFill>
              <a:srgbClr val="009845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42" name="Text 35"/>
          <p:cNvSpPr/>
          <p:nvPr/>
        </p:nvSpPr>
        <p:spPr>
          <a:xfrm>
            <a:off x="4416552" y="2770632"/>
            <a:ext cx="1865376" cy="26517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Silver (8 routes)</a:t>
            </a:r>
            <a:endParaRPr lang="en-US" sz="1200" dirty="0"/>
          </a:p>
        </p:txBody>
      </p:sp>
      <p:sp>
        <p:nvSpPr>
          <p:cNvPr id="43" name="Text 36"/>
          <p:cNvSpPr/>
          <p:nvPr/>
        </p:nvSpPr>
        <p:spPr>
          <a:xfrm>
            <a:off x="4416552" y="2999232"/>
            <a:ext cx="1865376" cy="222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Cleansed + joined</a:t>
            </a:r>
            <a:endParaRPr lang="en-US" sz="1000" dirty="0"/>
          </a:p>
        </p:txBody>
      </p:sp>
      <p:sp>
        <p:nvSpPr>
          <p:cNvPr id="44" name="Shape 37"/>
          <p:cNvSpPr/>
          <p:nvPr/>
        </p:nvSpPr>
        <p:spPr>
          <a:xfrm>
            <a:off x="6537960" y="2715768"/>
            <a:ext cx="2286000" cy="530352"/>
          </a:xfrm>
          <a:prstGeom prst="roundRect">
            <a:avLst>
              <a:gd name="adj" fmla="val 17241"/>
            </a:avLst>
          </a:prstGeom>
          <a:solidFill>
            <a:srgbClr val="19416C"/>
          </a:solidFill>
          <a:ln w="6350">
            <a:solidFill>
              <a:srgbClr val="19416C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45" name="Text 38"/>
          <p:cNvSpPr/>
          <p:nvPr/>
        </p:nvSpPr>
        <p:spPr>
          <a:xfrm>
            <a:off x="6611112" y="2770632"/>
            <a:ext cx="2139696" cy="26517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 (2 products)</a:t>
            </a:r>
            <a:endParaRPr lang="en-US" sz="1200" dirty="0"/>
          </a:p>
        </p:txBody>
      </p:sp>
      <p:sp>
        <p:nvSpPr>
          <p:cNvPr id="46" name="Text 39"/>
          <p:cNvSpPr/>
          <p:nvPr/>
        </p:nvSpPr>
        <p:spPr>
          <a:xfrm>
            <a:off x="6611112" y="2999232"/>
            <a:ext cx="2139696" cy="222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Governed + API-shared</a:t>
            </a:r>
            <a:endParaRPr lang="en-US" sz="1000" dirty="0"/>
          </a:p>
        </p:txBody>
      </p:sp>
      <p:sp>
        <p:nvSpPr>
          <p:cNvPr id="47" name="Shape 40"/>
          <p:cNvSpPr/>
          <p:nvPr/>
        </p:nvSpPr>
        <p:spPr>
          <a:xfrm>
            <a:off x="4160520" y="2980944"/>
            <a:ext cx="182880" cy="0"/>
          </a:xfrm>
          <a:prstGeom prst="line">
            <a:avLst/>
          </a:prstGeom>
          <a:noFill/>
          <a:ln w="1905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48" name="Shape 41"/>
          <p:cNvSpPr/>
          <p:nvPr/>
        </p:nvSpPr>
        <p:spPr>
          <a:xfrm>
            <a:off x="6355080" y="2980944"/>
            <a:ext cx="182880" cy="0"/>
          </a:xfrm>
          <a:prstGeom prst="line">
            <a:avLst/>
          </a:prstGeom>
          <a:noFill/>
          <a:ln w="19050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49" name="Shape 42"/>
          <p:cNvSpPr/>
          <p:nvPr/>
        </p:nvSpPr>
        <p:spPr>
          <a:xfrm>
            <a:off x="9144000" y="2423160"/>
            <a:ext cx="1874520" cy="91440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 w="6350">
            <a:solidFill>
              <a:srgbClr val="009845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50" name="Shape 43"/>
          <p:cNvSpPr/>
          <p:nvPr/>
        </p:nvSpPr>
        <p:spPr>
          <a:xfrm>
            <a:off x="9262872" y="259689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51" name="Image 5" descr="C:\Claude\MCG Full Stack\generators\assets\icons\transform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70588" y="2704612"/>
            <a:ext cx="351495" cy="351495"/>
          </a:xfrm>
          <a:prstGeom prst="rect">
            <a:avLst/>
          </a:prstGeom>
        </p:spPr>
      </p:pic>
      <p:sp>
        <p:nvSpPr>
          <p:cNvPr id="52" name="Text 44"/>
          <p:cNvSpPr/>
          <p:nvPr/>
        </p:nvSpPr>
        <p:spPr>
          <a:xfrm>
            <a:off x="9957816" y="2496312"/>
            <a:ext cx="969264" cy="43891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</a:t>
            </a:r>
            <a:endParaRPr lang="en-US" sz="1200" dirty="0"/>
          </a:p>
        </p:txBody>
      </p:sp>
      <p:sp>
        <p:nvSpPr>
          <p:cNvPr id="53" name="Text 45"/>
          <p:cNvSpPr/>
          <p:nvPr/>
        </p:nvSpPr>
        <p:spPr>
          <a:xfrm>
            <a:off x="9957816" y="2880360"/>
            <a:ext cx="96926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Address Validation</a:t>
            </a:r>
            <a:endParaRPr lang="en-US" sz="950" dirty="0"/>
          </a:p>
        </p:txBody>
      </p:sp>
      <p:sp>
        <p:nvSpPr>
          <p:cNvPr id="54" name="Shape 46"/>
          <p:cNvSpPr/>
          <p:nvPr/>
        </p:nvSpPr>
        <p:spPr>
          <a:xfrm>
            <a:off x="1965960" y="2039112"/>
            <a:ext cx="7040880" cy="301752"/>
          </a:xfrm>
          <a:prstGeom prst="roundRect">
            <a:avLst>
              <a:gd name="adj" fmla="val 24242"/>
            </a:avLst>
          </a:prstGeom>
          <a:solidFill>
            <a:srgbClr val="009845"/>
          </a:solidFill>
          <a:ln/>
          <a:effectLst>
            <a:outerShdw sx="100000" sy="100000" kx="0" ky="0" algn="bl" rotWithShape="0" blurRad="38100" dist="12700" dir="16200000">
              <a:srgbClr val="000000">
                <a:alpha val="12000"/>
              </a:srgbClr>
            </a:outerShdw>
          </a:effectLst>
        </p:spPr>
      </p:sp>
      <p:sp>
        <p:nvSpPr>
          <p:cNvPr id="55" name="Text 47"/>
          <p:cNvSpPr/>
          <p:nvPr/>
        </p:nvSpPr>
        <p:spPr>
          <a:xfrm>
            <a:off x="1965960" y="2039112"/>
            <a:ext cx="70408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Pipelines  •  MCG Batch + MCG Streaming  •  declarative YAML, API-imported</a:t>
            </a:r>
            <a:endParaRPr lang="en-US" sz="1000" dirty="0"/>
          </a:p>
        </p:txBody>
      </p:sp>
      <p:sp>
        <p:nvSpPr>
          <p:cNvPr id="56" name="Shape 48"/>
          <p:cNvSpPr/>
          <p:nvPr/>
        </p:nvSpPr>
        <p:spPr>
          <a:xfrm>
            <a:off x="2029968" y="2057400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57" name="Image 6" descr="C:\Claude\MCG Full Stack\generators\assets\icons\pipelin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78614" y="2106046"/>
            <a:ext cx="158740" cy="158740"/>
          </a:xfrm>
          <a:prstGeom prst="rect">
            <a:avLst/>
          </a:prstGeom>
        </p:spPr>
      </p:pic>
      <p:sp>
        <p:nvSpPr>
          <p:cNvPr id="58" name="Shape 49"/>
          <p:cNvSpPr/>
          <p:nvPr/>
        </p:nvSpPr>
        <p:spPr>
          <a:xfrm>
            <a:off x="3794760" y="3337560"/>
            <a:ext cx="0" cy="457200"/>
          </a:xfrm>
          <a:prstGeom prst="line">
            <a:avLst/>
          </a:prstGeom>
          <a:noFill/>
          <a:ln w="1905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59" name="Shape 50"/>
          <p:cNvSpPr/>
          <p:nvPr/>
        </p:nvSpPr>
        <p:spPr>
          <a:xfrm>
            <a:off x="7909560" y="3337560"/>
            <a:ext cx="0" cy="457200"/>
          </a:xfrm>
          <a:prstGeom prst="line">
            <a:avLst/>
          </a:prstGeom>
          <a:noFill/>
          <a:ln w="1905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60" name="Shape 51"/>
          <p:cNvSpPr/>
          <p:nvPr/>
        </p:nvSpPr>
        <p:spPr>
          <a:xfrm>
            <a:off x="1965960" y="3794760"/>
            <a:ext cx="2743200" cy="91440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 w="6350">
            <a:solidFill>
              <a:srgbClr val="19416C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61" name="Shape 52"/>
          <p:cNvSpPr/>
          <p:nvPr/>
        </p:nvSpPr>
        <p:spPr>
          <a:xfrm>
            <a:off x="2084832" y="396849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62" name="Image 7" descr="C:\Claude\MCG Full Stack\generators\assets\icons\analytic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92548" y="4076212"/>
            <a:ext cx="351495" cy="351495"/>
          </a:xfrm>
          <a:prstGeom prst="rect">
            <a:avLst/>
          </a:prstGeom>
        </p:spPr>
      </p:pic>
      <p:sp>
        <p:nvSpPr>
          <p:cNvPr id="63" name="Text 53"/>
          <p:cNvSpPr/>
          <p:nvPr/>
        </p:nvSpPr>
        <p:spPr>
          <a:xfrm>
            <a:off x="2779776" y="3867912"/>
            <a:ext cx="1837944" cy="43891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</a:t>
            </a:r>
            <a:endParaRPr lang="en-US" sz="1200" dirty="0"/>
          </a:p>
        </p:txBody>
      </p:sp>
      <p:sp>
        <p:nvSpPr>
          <p:cNvPr id="64" name="Text 54"/>
          <p:cNvSpPr/>
          <p:nvPr/>
        </p:nvSpPr>
        <p:spPr>
          <a:xfrm>
            <a:off x="2779776" y="4251960"/>
            <a:ext cx="183794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apps • 10 sheets</a:t>
            </a:r>
            <a:endParaRPr lang="en-US" sz="950" dirty="0"/>
          </a:p>
        </p:txBody>
      </p:sp>
      <p:sp>
        <p:nvSpPr>
          <p:cNvPr id="65" name="Shape 55"/>
          <p:cNvSpPr/>
          <p:nvPr/>
        </p:nvSpPr>
        <p:spPr>
          <a:xfrm>
            <a:off x="4892040" y="3794760"/>
            <a:ext cx="2743200" cy="91440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 w="6350">
            <a:solidFill>
              <a:srgbClr val="19416C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66" name="Shape 56"/>
          <p:cNvSpPr/>
          <p:nvPr/>
        </p:nvSpPr>
        <p:spPr>
          <a:xfrm>
            <a:off x="5010912" y="396849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67" name="Image 8" descr="C:\Claude\MCG Full Stack\generators\assets\icons\predic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18628" y="4076212"/>
            <a:ext cx="351495" cy="351495"/>
          </a:xfrm>
          <a:prstGeom prst="rect">
            <a:avLst/>
          </a:prstGeom>
        </p:spPr>
      </p:pic>
      <p:sp>
        <p:nvSpPr>
          <p:cNvPr id="68" name="Text 57"/>
          <p:cNvSpPr/>
          <p:nvPr/>
        </p:nvSpPr>
        <p:spPr>
          <a:xfrm>
            <a:off x="5705856" y="3867912"/>
            <a:ext cx="1837944" cy="43891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Predict</a:t>
            </a:r>
            <a:endParaRPr lang="en-US" sz="1200" dirty="0"/>
          </a:p>
        </p:txBody>
      </p:sp>
      <p:sp>
        <p:nvSpPr>
          <p:cNvPr id="69" name="Text 58"/>
          <p:cNvSpPr/>
          <p:nvPr/>
        </p:nvSpPr>
        <p:spPr>
          <a:xfrm>
            <a:off x="5705856" y="4251960"/>
            <a:ext cx="183794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Exceedance • Late Delivery</a:t>
            </a:r>
            <a:endParaRPr lang="en-US" sz="950" dirty="0"/>
          </a:p>
        </p:txBody>
      </p:sp>
      <p:sp>
        <p:nvSpPr>
          <p:cNvPr id="70" name="Shape 59"/>
          <p:cNvSpPr/>
          <p:nvPr/>
        </p:nvSpPr>
        <p:spPr>
          <a:xfrm>
            <a:off x="7818120" y="3794760"/>
            <a:ext cx="3063240" cy="91440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 w="6350">
            <a:solidFill>
              <a:srgbClr val="19416C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71" name="Shape 60"/>
          <p:cNvSpPr/>
          <p:nvPr/>
        </p:nvSpPr>
        <p:spPr>
          <a:xfrm>
            <a:off x="7936992" y="396849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72" name="Image 9" descr="C:\Claude\MCG Full Stack\generators\assets\icons\governanc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44708" y="4076212"/>
            <a:ext cx="351495" cy="351495"/>
          </a:xfrm>
          <a:prstGeom prst="rect">
            <a:avLst/>
          </a:prstGeom>
        </p:spPr>
      </p:pic>
      <p:sp>
        <p:nvSpPr>
          <p:cNvPr id="73" name="Text 61"/>
          <p:cNvSpPr/>
          <p:nvPr/>
        </p:nvSpPr>
        <p:spPr>
          <a:xfrm>
            <a:off x="8631936" y="3867912"/>
            <a:ext cx="2157984" cy="43891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 &amp; Trust</a:t>
            </a:r>
            <a:endParaRPr lang="en-US" sz="1200" dirty="0"/>
          </a:p>
        </p:txBody>
      </p:sp>
      <p:sp>
        <p:nvSpPr>
          <p:cNvPr id="74" name="Text 62"/>
          <p:cNvSpPr/>
          <p:nvPr/>
        </p:nvSpPr>
        <p:spPr>
          <a:xfrm>
            <a:off x="8631936" y="4251960"/>
            <a:ext cx="21579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• Stewardship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Glossary • Lineage</a:t>
            </a:r>
            <a:endParaRPr lang="en-US" sz="950" dirty="0"/>
          </a:p>
        </p:txBody>
      </p:sp>
      <p:sp>
        <p:nvSpPr>
          <p:cNvPr id="75" name="Shape 63"/>
          <p:cNvSpPr/>
          <p:nvPr/>
        </p:nvSpPr>
        <p:spPr>
          <a:xfrm>
            <a:off x="3337560" y="4709160"/>
            <a:ext cx="0" cy="365760"/>
          </a:xfrm>
          <a:prstGeom prst="line">
            <a:avLst/>
          </a:prstGeom>
          <a:noFill/>
          <a:ln w="19050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76" name="Shape 64"/>
          <p:cNvSpPr/>
          <p:nvPr/>
        </p:nvSpPr>
        <p:spPr>
          <a:xfrm>
            <a:off x="6263640" y="4709160"/>
            <a:ext cx="0" cy="365760"/>
          </a:xfrm>
          <a:prstGeom prst="line">
            <a:avLst/>
          </a:prstGeom>
          <a:noFill/>
          <a:ln w="19050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77" name="Shape 65"/>
          <p:cNvSpPr/>
          <p:nvPr/>
        </p:nvSpPr>
        <p:spPr>
          <a:xfrm>
            <a:off x="9372600" y="4709160"/>
            <a:ext cx="0" cy="365760"/>
          </a:xfrm>
          <a:prstGeom prst="line">
            <a:avLst/>
          </a:prstGeom>
          <a:noFill/>
          <a:ln w="19050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78" name="Shape 66"/>
          <p:cNvSpPr/>
          <p:nvPr/>
        </p:nvSpPr>
        <p:spPr>
          <a:xfrm>
            <a:off x="1965960" y="5074920"/>
            <a:ext cx="2103120" cy="91440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79" name="Shape 67"/>
          <p:cNvSpPr/>
          <p:nvPr/>
        </p:nvSpPr>
        <p:spPr>
          <a:xfrm>
            <a:off x="2084832" y="524865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80" name="Image 10" descr="C:\Claude\MCG Full Stack\generators\assets\icons\answers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192548" y="5356372"/>
            <a:ext cx="351495" cy="351495"/>
          </a:xfrm>
          <a:prstGeom prst="rect">
            <a:avLst/>
          </a:prstGeom>
        </p:spPr>
      </p:pic>
      <p:sp>
        <p:nvSpPr>
          <p:cNvPr id="81" name="Text 68"/>
          <p:cNvSpPr/>
          <p:nvPr/>
        </p:nvSpPr>
        <p:spPr>
          <a:xfrm>
            <a:off x="2779776" y="5148072"/>
            <a:ext cx="1197864" cy="43891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</a:t>
            </a:r>
            <a:endParaRPr lang="en-US" sz="1200" dirty="0"/>
          </a:p>
        </p:txBody>
      </p:sp>
      <p:sp>
        <p:nvSpPr>
          <p:cNvPr id="82" name="Text 69"/>
          <p:cNvSpPr/>
          <p:nvPr/>
        </p:nvSpPr>
        <p:spPr>
          <a:xfrm>
            <a:off x="2779776" y="5532120"/>
            <a:ext cx="119786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DOCX docs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base</a:t>
            </a:r>
            <a:endParaRPr lang="en-US" sz="950" dirty="0"/>
          </a:p>
        </p:txBody>
      </p:sp>
      <p:sp>
        <p:nvSpPr>
          <p:cNvPr id="83" name="Shape 70"/>
          <p:cNvSpPr/>
          <p:nvPr/>
        </p:nvSpPr>
        <p:spPr>
          <a:xfrm>
            <a:off x="4251960" y="5074920"/>
            <a:ext cx="2103120" cy="91440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84" name="Shape 71"/>
          <p:cNvSpPr/>
          <p:nvPr/>
        </p:nvSpPr>
        <p:spPr>
          <a:xfrm>
            <a:off x="4370832" y="524865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85" name="Image 11" descr="C:\Claude\MCG Full Stack\generators\assets\icons\agent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478548" y="5356372"/>
            <a:ext cx="351495" cy="351495"/>
          </a:xfrm>
          <a:prstGeom prst="rect">
            <a:avLst/>
          </a:prstGeom>
        </p:spPr>
      </p:pic>
      <p:sp>
        <p:nvSpPr>
          <p:cNvPr id="86" name="Text 72"/>
          <p:cNvSpPr/>
          <p:nvPr/>
        </p:nvSpPr>
        <p:spPr>
          <a:xfrm>
            <a:off x="5065776" y="5148072"/>
            <a:ext cx="1197864" cy="43891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</a:t>
            </a:r>
            <a:endParaRPr lang="en-US" sz="1200" dirty="0"/>
          </a:p>
        </p:txBody>
      </p:sp>
      <p:sp>
        <p:nvSpPr>
          <p:cNvPr id="87" name="Text 73"/>
          <p:cNvSpPr/>
          <p:nvPr/>
        </p:nvSpPr>
        <p:spPr>
          <a:xfrm>
            <a:off x="5065776" y="5532120"/>
            <a:ext cx="119786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Anomaly detection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Proactive alerts</a:t>
            </a:r>
            <a:endParaRPr lang="en-US" sz="950" dirty="0"/>
          </a:p>
        </p:txBody>
      </p:sp>
      <p:sp>
        <p:nvSpPr>
          <p:cNvPr id="88" name="Shape 74"/>
          <p:cNvSpPr/>
          <p:nvPr/>
        </p:nvSpPr>
        <p:spPr>
          <a:xfrm>
            <a:off x="6537960" y="5074920"/>
            <a:ext cx="2103120" cy="91440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89" name="Shape 75"/>
          <p:cNvSpPr/>
          <p:nvPr/>
        </p:nvSpPr>
        <p:spPr>
          <a:xfrm>
            <a:off x="6656832" y="524865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90" name="Image 12" descr="C:\Claude\MCG Full Stack\generators\assets\icons\mcp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764548" y="5356372"/>
            <a:ext cx="351495" cy="351495"/>
          </a:xfrm>
          <a:prstGeom prst="rect">
            <a:avLst/>
          </a:prstGeom>
        </p:spPr>
      </p:pic>
      <p:sp>
        <p:nvSpPr>
          <p:cNvPr id="91" name="Text 76"/>
          <p:cNvSpPr/>
          <p:nvPr/>
        </p:nvSpPr>
        <p:spPr>
          <a:xfrm>
            <a:off x="7351776" y="5148072"/>
            <a:ext cx="1197864" cy="43891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Server</a:t>
            </a:r>
            <a:endParaRPr lang="en-US" sz="1200" dirty="0"/>
          </a:p>
        </p:txBody>
      </p:sp>
      <p:sp>
        <p:nvSpPr>
          <p:cNvPr id="92" name="Text 77"/>
          <p:cNvSpPr/>
          <p:nvPr/>
        </p:nvSpPr>
        <p:spPr>
          <a:xfrm>
            <a:off x="7351776" y="5532120"/>
            <a:ext cx="119786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integration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queries</a:t>
            </a:r>
            <a:endParaRPr lang="en-US" sz="950" dirty="0"/>
          </a:p>
        </p:txBody>
      </p:sp>
      <p:sp>
        <p:nvSpPr>
          <p:cNvPr id="93" name="Shape 78"/>
          <p:cNvSpPr/>
          <p:nvPr/>
        </p:nvSpPr>
        <p:spPr>
          <a:xfrm>
            <a:off x="8823960" y="5074920"/>
            <a:ext cx="2057400" cy="91440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94" name="Shape 79"/>
          <p:cNvSpPr/>
          <p:nvPr/>
        </p:nvSpPr>
        <p:spPr>
          <a:xfrm>
            <a:off x="8942832" y="524865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95" name="Image 13" descr="C:\Claude\MCG Full Stack\generators\assets\icons\automation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050548" y="5356372"/>
            <a:ext cx="351495" cy="351495"/>
          </a:xfrm>
          <a:prstGeom prst="rect">
            <a:avLst/>
          </a:prstGeom>
        </p:spPr>
      </p:pic>
      <p:sp>
        <p:nvSpPr>
          <p:cNvPr id="96" name="Text 80"/>
          <p:cNvSpPr/>
          <p:nvPr/>
        </p:nvSpPr>
        <p:spPr>
          <a:xfrm>
            <a:off x="9637776" y="5148072"/>
            <a:ext cx="1152144" cy="43891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Automations</a:t>
            </a:r>
            <a:endParaRPr lang="en-US" sz="1200" dirty="0"/>
          </a:p>
        </p:txBody>
      </p:sp>
      <p:sp>
        <p:nvSpPr>
          <p:cNvPr id="97" name="Text 81"/>
          <p:cNvSpPr/>
          <p:nvPr/>
        </p:nvSpPr>
        <p:spPr>
          <a:xfrm>
            <a:off x="9637776" y="5532120"/>
            <a:ext cx="115214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Teams alerts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jobs</a:t>
            </a:r>
            <a:endParaRPr lang="en-US" sz="950" dirty="0"/>
          </a:p>
        </p:txBody>
      </p:sp>
      <p:sp>
        <p:nvSpPr>
          <p:cNvPr id="98" name="Shape 82"/>
          <p:cNvSpPr/>
          <p:nvPr/>
        </p:nvSpPr>
        <p:spPr>
          <a:xfrm>
            <a:off x="10744200" y="1005840"/>
            <a:ext cx="1234440" cy="914400"/>
          </a:xfrm>
          <a:prstGeom prst="roundRect">
            <a:avLst>
              <a:gd name="adj" fmla="val 8000"/>
            </a:avLst>
          </a:prstGeom>
          <a:solidFill>
            <a:srgbClr val="E3EAF3"/>
          </a:solidFill>
          <a:ln w="12700">
            <a:solidFill>
              <a:srgbClr val="19416C"/>
            </a:solidFill>
            <a:prstDash val="solid"/>
          </a:ln>
        </p:spPr>
      </p:sp>
      <p:sp>
        <p:nvSpPr>
          <p:cNvPr id="99" name="Text 83"/>
          <p:cNvSpPr/>
          <p:nvPr/>
        </p:nvSpPr>
        <p:spPr>
          <a:xfrm>
            <a:off x="10744200" y="1005840"/>
            <a:ext cx="1234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Data Quality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Nightmares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$127M/yr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45720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Sources — Three Pillars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3566160" cy="5120640"/>
          </a:xfrm>
          <a:prstGeom prst="roundRect">
            <a:avLst>
              <a:gd name="adj" fmla="val 3077"/>
            </a:avLst>
          </a:prstGeom>
          <a:solidFill>
            <a:srgbClr val="E3EAF3"/>
          </a:solidFill>
          <a:ln w="19050">
            <a:solidFill>
              <a:srgbClr val="19416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105156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(WMS)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14173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 Data Capture • Real-time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94360" y="1828800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85800" y="1828800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inventory_positions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85800" y="2103120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~8,000 rows  •  Stock levels by DC/SKU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594360" y="2487168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5800" y="2487168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warehouse_events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85800" y="2761488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~15,000 rows  •  Pick, pack, ship events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594360" y="3145536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85800" y="3145536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shipments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85800" y="3419856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~3,000 rows  •  Outbound shipment tracking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594360" y="39319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Quality Issues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594360" y="4251960"/>
            <a:ext cx="32918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Phantom inventory (WMS vs ERP mismatch)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Missing lot numbers on 15% of perishables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Timestamp drift between WMS and SAP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Silent pipeline failures (72h undetected)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206240" y="1005840"/>
            <a:ext cx="3566160" cy="5120640"/>
          </a:xfrm>
          <a:prstGeom prst="roundRect">
            <a:avLst>
              <a:gd name="adj" fmla="val 3077"/>
            </a:avLst>
          </a:prstGeom>
          <a:solidFill>
            <a:srgbClr val="E0F2F5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206240" y="105156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Apache Kafka (IoT)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4206240" y="14173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• Confluent Platform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4343400" y="1828800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434840" y="1828800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mcg.iot.cold-chain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4434840" y="2103120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 msg/5s  •  Temperature, humidity, GPS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4343400" y="2487168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434840" y="2487168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mcg.iot.carrier-events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4434840" y="2761488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 msg/min  •  Carrier status updates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4343400" y="329184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Quality Issues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4343400" y="3611880"/>
            <a:ext cx="32918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5% readings in Fahrenheit (mixed units)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3% bare timestamps (no timezone)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2% Lagos GPS blackouts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8.8% GRU-BA temp exceedances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Carrier status in 5 languages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7955280" y="1005840"/>
            <a:ext cx="3566160" cy="5120640"/>
          </a:xfrm>
          <a:prstGeom prst="roundRect">
            <a:avLst>
              <a:gd name="adj" fmla="val 3077"/>
            </a:avLst>
          </a:prstGeom>
          <a:solidFill>
            <a:srgbClr val="E0F5EA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955280" y="105156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Salesforce CRM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7955280" y="14173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Standard Connector • 15-min polling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8092440" y="1828800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8183880" y="1828800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Contact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8183880" y="2103120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18.4M records  •  Customer addresses</a:t>
            </a:r>
            <a:endParaRPr lang="en-US" sz="900" dirty="0"/>
          </a:p>
        </p:txBody>
      </p:sp>
      <p:sp>
        <p:nvSpPr>
          <p:cNvPr id="39" name="Shape 36"/>
          <p:cNvSpPr/>
          <p:nvPr/>
        </p:nvSpPr>
        <p:spPr>
          <a:xfrm>
            <a:off x="8092440" y="2487168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8183880" y="2487168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MCG_Order__c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8183880" y="2761488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~12,000  •  Order details + SLAs</a:t>
            </a:r>
            <a:endParaRPr lang="en-US" sz="900" dirty="0"/>
          </a:p>
        </p:txBody>
      </p:sp>
      <p:sp>
        <p:nvSpPr>
          <p:cNvPr id="42" name="Shape 39"/>
          <p:cNvSpPr/>
          <p:nvPr/>
        </p:nvSpPr>
        <p:spPr>
          <a:xfrm>
            <a:off x="8092440" y="3145536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8183880" y="3145536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MCG_Product__c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8183880" y="3419856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~5,000  •  Product catalog</a:t>
            </a:r>
            <a:endParaRPr lang="en-US" sz="900" dirty="0"/>
          </a:p>
        </p:txBody>
      </p:sp>
      <p:sp>
        <p:nvSpPr>
          <p:cNvPr id="45" name="Text 42"/>
          <p:cNvSpPr/>
          <p:nvPr/>
        </p:nvSpPr>
        <p:spPr>
          <a:xfrm>
            <a:off x="8092440" y="39319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Quality Issues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8092440" y="4251960"/>
            <a:ext cx="32918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11% address format inconsistencies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6% truncated addresses (30-char limit)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Duplicate customer records (fuzzy)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Mixed naming conventions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45720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Gateway &amp; Source Connections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457200" y="91440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Local databases reach Qlik Cloud through a registered Data Movement gateway. Source connections are created in a Data Integration project that selects the gateway.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48640" y="1783080"/>
            <a:ext cx="3108960" cy="1005840"/>
          </a:xfrm>
          <a:prstGeom prst="roundRect">
            <a:avLst>
              <a:gd name="adj" fmla="val 909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67512" y="200253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1" name="Image 1" descr="C:\Claude\MCG Full Stack\generators\assets\icons\databa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228" y="2110252"/>
            <a:ext cx="351495" cy="35149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362456" y="1856232"/>
            <a:ext cx="2203704" cy="4846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Local Databases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1362456" y="2286000"/>
            <a:ext cx="2203704" cy="448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• MySQL • SQL Server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(mcg-qlik-dmg container)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4572000" y="1783080"/>
            <a:ext cx="3108960" cy="1005840"/>
          </a:xfrm>
          <a:prstGeom prst="roundRect">
            <a:avLst>
              <a:gd name="adj" fmla="val 9091"/>
            </a:avLst>
          </a:prstGeom>
          <a:solidFill>
            <a:srgbClr val="19416C"/>
          </a:solidFill>
          <a:ln w="6350">
            <a:solidFill>
              <a:srgbClr val="19416C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4690872" y="200253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6" name="Image 2" descr="C:\Claude\MCG Full Stack\generators\assets\icons\gatewa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8588" y="2110252"/>
            <a:ext cx="351495" cy="35149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385816" y="1856232"/>
            <a:ext cx="2203704" cy="4846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Movement Gateway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5385816" y="2286000"/>
            <a:ext cx="2203704" cy="448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Registered to tenant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Outbound HTTPS 443</a:t>
            </a:r>
            <a:endParaRPr lang="en-US" sz="950" dirty="0"/>
          </a:p>
        </p:txBody>
      </p:sp>
      <p:sp>
        <p:nvSpPr>
          <p:cNvPr id="19" name="Shape 14"/>
          <p:cNvSpPr/>
          <p:nvPr/>
        </p:nvSpPr>
        <p:spPr>
          <a:xfrm>
            <a:off x="8595360" y="1783080"/>
            <a:ext cx="3017520" cy="1005840"/>
          </a:xfrm>
          <a:prstGeom prst="roundRect">
            <a:avLst>
              <a:gd name="adj" fmla="val 9091"/>
            </a:avLst>
          </a:prstGeom>
          <a:solidFill>
            <a:srgbClr val="009845"/>
          </a:solidFill>
          <a:ln w="6350">
            <a:solidFill>
              <a:srgbClr val="009845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8714232" y="200253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21" name="Image 3" descr="C:\Claude\MCG Full Stack\generators\assets\icons\clou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1948" y="2110252"/>
            <a:ext cx="351495" cy="351495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409176" y="1856232"/>
            <a:ext cx="2112264" cy="4846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</a:t>
            </a:r>
            <a:endParaRPr lang="en-US" sz="1200" dirty="0"/>
          </a:p>
        </p:txBody>
      </p:sp>
      <p:sp>
        <p:nvSpPr>
          <p:cNvPr id="23" name="Text 17"/>
          <p:cNvSpPr/>
          <p:nvPr/>
        </p:nvSpPr>
        <p:spPr>
          <a:xfrm>
            <a:off x="9409176" y="2286000"/>
            <a:ext cx="2112264" cy="448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Integration project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→ Open Lakehouse</a:t>
            </a:r>
            <a:endParaRPr lang="en-US" sz="950" dirty="0"/>
          </a:p>
        </p:txBody>
      </p:sp>
      <p:sp>
        <p:nvSpPr>
          <p:cNvPr id="24" name="Shape 18"/>
          <p:cNvSpPr/>
          <p:nvPr/>
        </p:nvSpPr>
        <p:spPr>
          <a:xfrm>
            <a:off x="3703320" y="2286000"/>
            <a:ext cx="822960" cy="0"/>
          </a:xfrm>
          <a:prstGeom prst="line">
            <a:avLst/>
          </a:prstGeom>
          <a:noFill/>
          <a:ln w="19050">
            <a:solidFill>
              <a:srgbClr val="A9B3B6"/>
            </a:solidFill>
            <a:prstDash val="solid"/>
            <a:tailEnd type="triangle"/>
          </a:ln>
        </p:spPr>
      </p:sp>
      <p:sp>
        <p:nvSpPr>
          <p:cNvPr id="25" name="Shape 19"/>
          <p:cNvSpPr/>
          <p:nvPr/>
        </p:nvSpPr>
        <p:spPr>
          <a:xfrm>
            <a:off x="7726680" y="2286000"/>
            <a:ext cx="822960" cy="0"/>
          </a:xfrm>
          <a:prstGeom prst="line">
            <a:avLst/>
          </a:prstGeom>
          <a:noFill/>
          <a:ln w="19050">
            <a:solidFill>
              <a:srgbClr val="A9B3B6"/>
            </a:solidFill>
            <a:prstDash val="solid"/>
            <a:tailEnd type="triangle"/>
          </a:ln>
        </p:spPr>
      </p:sp>
      <p:sp>
        <p:nvSpPr>
          <p:cNvPr id="26" name="Text 20"/>
          <p:cNvSpPr/>
          <p:nvPr/>
        </p:nvSpPr>
        <p:spPr>
          <a:xfrm>
            <a:off x="548640" y="32461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· Register the gateway</a:t>
            </a:r>
            <a:endParaRPr lang="en-US" sz="1400" dirty="0"/>
          </a:p>
        </p:txBody>
      </p:sp>
      <p:sp>
        <p:nvSpPr>
          <p:cNvPr id="27" name="Text 21"/>
          <p:cNvSpPr/>
          <p:nvPr/>
        </p:nvSpPr>
        <p:spPr>
          <a:xfrm>
            <a:off x="640080" y="370332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Deploy UI → Local Stack &amp; Gateway → Register Gateway / Get Token</a:t>
            </a:r>
            <a:endParaRPr lang="en-US" sz="1150" dirty="0"/>
          </a:p>
        </p:txBody>
      </p:sp>
      <p:sp>
        <p:nvSpPr>
          <p:cNvPr id="28" name="Text 22"/>
          <p:cNvSpPr/>
          <p:nvPr/>
        </p:nvSpPr>
        <p:spPr>
          <a:xfrm>
            <a:off x="640080" y="411480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  (or run agentctl in the mcg-qlik-dmg container)</a:t>
            </a:r>
            <a:endParaRPr lang="en-US" sz="1150" dirty="0"/>
          </a:p>
        </p:txBody>
      </p:sp>
      <p:sp>
        <p:nvSpPr>
          <p:cNvPr id="29" name="Text 23"/>
          <p:cNvSpPr/>
          <p:nvPr/>
        </p:nvSpPr>
        <p:spPr>
          <a:xfrm>
            <a:off x="640080" y="45262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Admin → Data Gateways → Register → paste token → Connected</a:t>
            </a:r>
            <a:endParaRPr lang="en-US" sz="1150" dirty="0"/>
          </a:p>
        </p:txBody>
      </p:sp>
      <p:sp>
        <p:nvSpPr>
          <p:cNvPr id="30" name="Text 24"/>
          <p:cNvSpPr/>
          <p:nvPr/>
        </p:nvSpPr>
        <p:spPr>
          <a:xfrm>
            <a:off x="6309360" y="32461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Create source connections</a:t>
            </a:r>
            <a:endParaRPr lang="en-US" sz="1400" dirty="0"/>
          </a:p>
        </p:txBody>
      </p:sp>
      <p:sp>
        <p:nvSpPr>
          <p:cNvPr id="31" name="Text 25"/>
          <p:cNvSpPr/>
          <p:nvPr/>
        </p:nvSpPr>
        <p:spPr>
          <a:xfrm>
            <a:off x="6400800" y="3703320"/>
            <a:ext cx="5394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Integration → project → Create connection</a:t>
            </a:r>
            <a:endParaRPr lang="en-US" sz="1150" dirty="0"/>
          </a:p>
        </p:txBody>
      </p:sp>
      <p:sp>
        <p:nvSpPr>
          <p:cNvPr id="32" name="Text 26"/>
          <p:cNvSpPr/>
          <p:nvPr/>
        </p:nvSpPr>
        <p:spPr>
          <a:xfrm>
            <a:off x="6400800" y="4114800"/>
            <a:ext cx="5394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Pick PostgreSQL/MySQL/SQL Server, select the gateway</a:t>
            </a:r>
            <a:endParaRPr lang="en-US" sz="1150" dirty="0"/>
          </a:p>
        </p:txBody>
      </p:sp>
      <p:sp>
        <p:nvSpPr>
          <p:cNvPr id="33" name="Text 27"/>
          <p:cNvSpPr/>
          <p:nvPr/>
        </p:nvSpPr>
        <p:spPr>
          <a:xfrm>
            <a:off x="6400800" y="4526280"/>
            <a:ext cx="5394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Enter host/port/db/credentials → Test → Save</a:t>
            </a:r>
            <a:endParaRPr lang="en-US" sz="1150" dirty="0"/>
          </a:p>
        </p:txBody>
      </p:sp>
      <p:sp>
        <p:nvSpPr>
          <p:cNvPr id="34" name="Shape 28"/>
          <p:cNvSpPr/>
          <p:nvPr/>
        </p:nvSpPr>
        <p:spPr>
          <a:xfrm>
            <a:off x="548640" y="5623560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F6F7F8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731520" y="5687568"/>
            <a:ext cx="106984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Movement gateway connections are created in the Data Integration UI (the public REST API cannot bind them) — the deploy script skips them with guidance. Kafka sources need a Data Gateway - Streaming; Salesforce/S3/Athena are credentialed connectors.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45720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Lakehouse — Medallion Architecture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3291840" cy="5166360"/>
          </a:xfrm>
          <a:prstGeom prst="roundRect">
            <a:avLst>
              <a:gd name="adj" fmla="val 3333"/>
            </a:avLst>
          </a:prstGeom>
          <a:solidFill>
            <a:srgbClr val="E0F2F5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0080" y="1143000"/>
            <a:ext cx="292608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10" name="Text 7"/>
          <p:cNvSpPr/>
          <p:nvPr/>
        </p:nvSpPr>
        <p:spPr>
          <a:xfrm>
            <a:off x="640080" y="1143000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BRONZE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40080" y="146304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 Ingestion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94360" y="1874520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13232" y="1874520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inventory_positions (CDC)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94360" y="2386584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13232" y="2386584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warehouse_events (CDC)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94360" y="2898648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13232" y="2898648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shipments (CDC)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94360" y="3410712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13232" y="3410712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sf_contacts (API)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594360" y="3922776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13232" y="3922776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sf_orders (API)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94360" y="4434840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13232" y="4434840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sf_products (API)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594360" y="4946904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13232" y="4946904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iot_cold_chain (Stream)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594360" y="5458968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13232" y="5458968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iot_carrier_events (Stream)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4206240" y="1005840"/>
            <a:ext cx="3383280" cy="5166360"/>
          </a:xfrm>
          <a:prstGeom prst="roundRect">
            <a:avLst>
              <a:gd name="adj" fmla="val 3243"/>
            </a:avLst>
          </a:prstGeom>
          <a:solidFill>
            <a:srgbClr val="E0F5EA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389120" y="1143000"/>
            <a:ext cx="3017520" cy="54864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30" name="Text 27"/>
          <p:cNvSpPr/>
          <p:nvPr/>
        </p:nvSpPr>
        <p:spPr>
          <a:xfrm>
            <a:off x="4389120" y="1143000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SILVER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4389120" y="1463040"/>
            <a:ext cx="3017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Transformation Routes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4343400" y="1874520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462272" y="1874520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Timestamp Normalization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4343400" y="2386584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462272" y="2386584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Inventory Reconciliation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343400" y="2898648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4462272" y="2898648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Address Standardization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4343400" y="3410712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4462272" y="3410712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Product Harmonization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4343400" y="3922776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4462272" y="3922776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 Carrier Canonicalization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4343400" y="4434840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4462272" y="4434840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 IoT Normalization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4343400" y="4946904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4462272" y="4946904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 Supplier Deduplication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4343400" y="5458968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4462272" y="5458968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 Order-to-Delivery Timeline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8046720" y="1005840"/>
            <a:ext cx="3566160" cy="5166360"/>
          </a:xfrm>
          <a:prstGeom prst="roundRect">
            <a:avLst>
              <a:gd name="adj" fmla="val 3077"/>
            </a:avLst>
          </a:prstGeom>
          <a:solidFill>
            <a:srgbClr val="E3EAF3"/>
          </a:solidFill>
          <a:ln w="19050">
            <a:solidFill>
              <a:srgbClr val="19416C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8229600" y="1143000"/>
            <a:ext cx="3200400" cy="54864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/>
        </p:spPr>
      </p:sp>
      <p:sp>
        <p:nvSpPr>
          <p:cNvPr id="50" name="Text 47"/>
          <p:cNvSpPr/>
          <p:nvPr/>
        </p:nvSpPr>
        <p:spPr>
          <a:xfrm>
            <a:off x="8229600" y="114300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</a:t>
            </a:r>
            <a:endParaRPr lang="en-US" sz="1500" dirty="0"/>
          </a:p>
        </p:txBody>
      </p:sp>
      <p:sp>
        <p:nvSpPr>
          <p:cNvPr id="51" name="Text 48"/>
          <p:cNvSpPr/>
          <p:nvPr/>
        </p:nvSpPr>
        <p:spPr>
          <a:xfrm>
            <a:off x="8229600" y="146304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Governed Data Products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8183880" y="1874520"/>
            <a:ext cx="329184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8302752" y="1874520"/>
            <a:ext cx="305409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supply_chain_health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8183880" y="2386584"/>
            <a:ext cx="329184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8302752" y="2386584"/>
            <a:ext cx="305409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last_mile_performance</a:t>
            </a:r>
            <a:endParaRPr lang="en-US" sz="1000" dirty="0"/>
          </a:p>
        </p:txBody>
      </p:sp>
      <p:sp>
        <p:nvSpPr>
          <p:cNvPr id="56" name="Shape 53"/>
          <p:cNvSpPr/>
          <p:nvPr/>
        </p:nvSpPr>
        <p:spPr>
          <a:xfrm>
            <a:off x="3749040" y="3474720"/>
            <a:ext cx="457200" cy="0"/>
          </a:xfrm>
          <a:prstGeom prst="line">
            <a:avLst/>
          </a:prstGeom>
          <a:noFill/>
          <a:ln w="2540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57" name="Shape 54"/>
          <p:cNvSpPr/>
          <p:nvPr/>
        </p:nvSpPr>
        <p:spPr>
          <a:xfrm>
            <a:off x="7772400" y="3474720"/>
            <a:ext cx="457200" cy="0"/>
          </a:xfrm>
          <a:prstGeom prst="line">
            <a:avLst/>
          </a:prstGeom>
          <a:noFill/>
          <a:ln w="2540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58" name="Text 55"/>
          <p:cNvSpPr/>
          <p:nvPr/>
        </p:nvSpPr>
        <p:spPr>
          <a:xfrm>
            <a:off x="3611880" y="292608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Flows +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Jobs</a:t>
            </a:r>
            <a:endParaRPr lang="en-US" sz="800" dirty="0"/>
          </a:p>
        </p:txBody>
      </p:sp>
      <p:sp>
        <p:nvSpPr>
          <p:cNvPr id="59" name="Text 56"/>
          <p:cNvSpPr/>
          <p:nvPr/>
        </p:nvSpPr>
        <p:spPr>
          <a:xfrm>
            <a:off x="7635240" y="292608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Table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Recipes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45720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Transformation Routes — Nightmare Mapping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74552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0584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Route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3749040" y="100584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 Addressed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223760" y="100584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 Transformation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57200" y="1508760"/>
            <a:ext cx="11274552" cy="502920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13" name="Text 10"/>
          <p:cNvSpPr/>
          <p:nvPr/>
        </p:nvSpPr>
        <p:spPr>
          <a:xfrm>
            <a:off x="640080" y="150876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Timestamp Normalization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749040" y="150876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#5 Timestamp Tower of Babel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223760" y="150876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timestamps → UTC with source tracking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57200" y="2057400"/>
            <a:ext cx="112745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205740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Inventory Reconciliation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749040" y="205740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#1 Phantom Inventory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223760" y="205740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WMS vs ERP comparison, phantom detection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606040"/>
            <a:ext cx="11274552" cy="502920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21" name="Text 18"/>
          <p:cNvSpPr/>
          <p:nvPr/>
        </p:nvSpPr>
        <p:spPr>
          <a:xfrm>
            <a:off x="640080" y="260604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Address Standardization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749040" y="260604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#2 Address Catastrophe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223760" y="260604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Fuzzy matching, postal code normalization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154680"/>
            <a:ext cx="112745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640080" y="315468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Product Harmonization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749040" y="315468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#3 Product Master Mess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7223760" y="315468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SKU resolution, weight/UoM standardization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57200" y="3703320"/>
            <a:ext cx="11274552" cy="502920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29" name="Text 26"/>
          <p:cNvSpPr/>
          <p:nvPr/>
        </p:nvSpPr>
        <p:spPr>
          <a:xfrm>
            <a:off x="640080" y="370332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 Carrier Canonicalization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3749040" y="370332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#6 Carrier Data Black Hole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7223760" y="370332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Multi-language status → MCG canonical codes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57200" y="4251960"/>
            <a:ext cx="112745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3" name="Text 30"/>
          <p:cNvSpPr/>
          <p:nvPr/>
        </p:nvSpPr>
        <p:spPr>
          <a:xfrm>
            <a:off x="640080" y="425196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 IoT Normalization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3749040" y="425196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#5 + #6 Combined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7223760" y="425196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Celsius normalization, GPS gap detection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57200" y="4800600"/>
            <a:ext cx="11274552" cy="502920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37" name="Text 34"/>
          <p:cNvSpPr/>
          <p:nvPr/>
        </p:nvSpPr>
        <p:spPr>
          <a:xfrm>
            <a:off x="640080" y="480060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 Supplier Deduplication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3749040" y="480060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#3 Product Master Mess</a:t>
            </a:r>
            <a:endParaRPr lang="en-US" sz="1100" dirty="0"/>
          </a:p>
        </p:txBody>
      </p:sp>
      <p:sp>
        <p:nvSpPr>
          <p:cNvPr id="39" name="Text 36"/>
          <p:cNvSpPr/>
          <p:nvPr/>
        </p:nvSpPr>
        <p:spPr>
          <a:xfrm>
            <a:off x="7223760" y="480060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Fuzzy name matching, canonical ID assignment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349240"/>
            <a:ext cx="112745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Text 38"/>
          <p:cNvSpPr/>
          <p:nvPr/>
        </p:nvSpPr>
        <p:spPr>
          <a:xfrm>
            <a:off x="640080" y="534924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 Order-to-Delivery Timeline</a:t>
            </a:r>
            <a:endParaRPr lang="en-US" sz="1100" dirty="0"/>
          </a:p>
        </p:txBody>
      </p:sp>
      <p:sp>
        <p:nvSpPr>
          <p:cNvPr id="42" name="Text 39"/>
          <p:cNvSpPr/>
          <p:nvPr/>
        </p:nvSpPr>
        <p:spPr>
          <a:xfrm>
            <a:off x="3749040" y="534924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#5 + #6 Combined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7223760" y="534924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End-to-end order lifecycle assembly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760720"/>
            <a:ext cx="11274552" cy="457200"/>
          </a:xfrm>
          <a:prstGeom prst="roundRect">
            <a:avLst>
              <a:gd name="adj" fmla="val 12000"/>
            </a:avLst>
          </a:prstGeom>
          <a:solidFill>
            <a:srgbClr val="E0F5EA"/>
          </a:solidFill>
          <a:ln w="12700">
            <a:solidFill>
              <a:srgbClr val="009845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640080" y="57607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 Talend Address Validation Job (callable service)   •   All 8 routes defined as declarative YAML — version-controlled, API-imported, daily-scheduled (QTCP preview)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45720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Gold-Layer Data Products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457200" y="86868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governed mart per analytics domain app — created by the pipeline's gold datamart task, attached via the Data Products API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822960" y="1554480"/>
            <a:ext cx="502920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90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96112" y="1609344"/>
            <a:ext cx="4882896" cy="54864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73736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Supply Chain Health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005840" y="224028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Owner: Henrik Jansen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005840" y="251460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Refresh: Daily 06:00 UTC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1005840" y="278892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KPI: IRA: 97% target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822960" y="32918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 •  API Sharing  •  Lineage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6400800" y="1554480"/>
            <a:ext cx="502920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9050">
            <a:solidFill>
              <a:srgbClr val="009845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473952" y="1609344"/>
            <a:ext cx="4882896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18" name="Text 15"/>
          <p:cNvSpPr/>
          <p:nvPr/>
        </p:nvSpPr>
        <p:spPr>
          <a:xfrm>
            <a:off x="6400800" y="173736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Last Mile Performance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583680" y="224028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Owner: Sophie Müller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583680" y="251460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Refresh: Daily 06:00 UTC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6583680" y="278892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KPI: On-time: 92%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32918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 •  API Sharing  •  Lineage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2194560"/>
            <a:ext cx="7315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&amp;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Layer</a:t>
            </a:r>
            <a:endParaRPr lang="en-US" sz="3600" dirty="0"/>
          </a:p>
        </p:txBody>
      </p:sp>
      <p:sp>
        <p:nvSpPr>
          <p:cNvPr id="4" name="Text 1"/>
          <p:cNvSpPr/>
          <p:nvPr/>
        </p:nvSpPr>
        <p:spPr>
          <a:xfrm>
            <a:off x="731520" y="33832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  •  Predict  •  Answers  •  Discovery Agent  •  MCP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45720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&amp; AI Layer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577840" cy="2377440"/>
          </a:xfrm>
          <a:prstGeom prst="roundRect">
            <a:avLst>
              <a:gd name="adj" fmla="val 4615"/>
            </a:avLst>
          </a:prstGeom>
          <a:solidFill>
            <a:srgbClr val="E3EAF3"/>
          </a:solidFill>
          <a:ln w="19050">
            <a:solidFill>
              <a:srgbClr val="19416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21792" y="1033272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9416C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C:\Claude\MCG Full Stack\generators\assets\icons\analytic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337" y="1095817"/>
            <a:ext cx="204094" cy="20409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1024128"/>
            <a:ext cx="5577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 — 2 Domain Apps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685800" y="1508760"/>
            <a:ext cx="2468880" cy="822960"/>
          </a:xfrm>
          <a:prstGeom prst="roundRect">
            <a:avLst>
              <a:gd name="adj" fmla="val 1111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758952" y="1563624"/>
            <a:ext cx="2322576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Supply Chain Operations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758952" y="1938528"/>
            <a:ext cx="2322576" cy="34564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sheets: Inventory, Cold Chain,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Quality, Compliance, Cost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3291840" y="1508760"/>
            <a:ext cx="2468880" cy="822960"/>
          </a:xfrm>
          <a:prstGeom prst="roundRect">
            <a:avLst>
              <a:gd name="adj" fmla="val 1111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3364992" y="1563624"/>
            <a:ext cx="2322576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Delivery &amp; Customer Exp.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3364992" y="1938528"/>
            <a:ext cx="2322576" cy="34564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sheets: Last Mile, Tracking,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WISMO, Orders, Addresses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457200" y="2514600"/>
            <a:ext cx="5577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Dark Theme  •  Streaming IoT  •  Section Access  •  Business Logic  •  NLI</a:t>
            </a:r>
            <a:endParaRPr lang="en-US" sz="900" dirty="0"/>
          </a:p>
        </p:txBody>
      </p:sp>
      <p:sp>
        <p:nvSpPr>
          <p:cNvPr id="19" name="Shape 15"/>
          <p:cNvSpPr/>
          <p:nvPr/>
        </p:nvSpPr>
        <p:spPr>
          <a:xfrm>
            <a:off x="6263640" y="1005840"/>
            <a:ext cx="5440680" cy="2377440"/>
          </a:xfrm>
          <a:prstGeom prst="roundRect">
            <a:avLst>
              <a:gd name="adj" fmla="val 4615"/>
            </a:avLst>
          </a:prstGeom>
          <a:solidFill>
            <a:srgbClr val="E0F2F5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428232" y="1033272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6580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21" name="Image 2" descr="C:\Claude\MCG Full Stack\generators\assets\icons\predic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0777" y="1095817"/>
            <a:ext cx="204094" cy="204094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263640" y="1024128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Predict — 2 AutoML Models</a:t>
            </a:r>
            <a:endParaRPr lang="en-US" sz="1400" dirty="0"/>
          </a:p>
        </p:txBody>
      </p:sp>
      <p:sp>
        <p:nvSpPr>
          <p:cNvPr id="23" name="Shape 18"/>
          <p:cNvSpPr/>
          <p:nvPr/>
        </p:nvSpPr>
        <p:spPr>
          <a:xfrm>
            <a:off x="6492240" y="1508760"/>
            <a:ext cx="2468880" cy="822960"/>
          </a:xfrm>
          <a:prstGeom prst="roundRect">
            <a:avLst>
              <a:gd name="adj" fmla="val 1111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4" name="Text 19"/>
          <p:cNvSpPr/>
          <p:nvPr/>
        </p:nvSpPr>
        <p:spPr>
          <a:xfrm>
            <a:off x="6565392" y="1563624"/>
            <a:ext cx="2322576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Cold Chain Exceedance</a:t>
            </a:r>
            <a:endParaRPr lang="en-US" sz="1200" dirty="0"/>
          </a:p>
        </p:txBody>
      </p:sp>
      <p:sp>
        <p:nvSpPr>
          <p:cNvPr id="25" name="Text 20"/>
          <p:cNvSpPr/>
          <p:nvPr/>
        </p:nvSpPr>
        <p:spPr>
          <a:xfrm>
            <a:off x="6565392" y="1938528"/>
            <a:ext cx="2322576" cy="34564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Target: alert_flag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Top: temperature_c, route_id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9098280" y="1508760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7" name="Text 22"/>
          <p:cNvSpPr/>
          <p:nvPr/>
        </p:nvSpPr>
        <p:spPr>
          <a:xfrm>
            <a:off x="9171432" y="1563624"/>
            <a:ext cx="2231136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Late Delivery Predictor</a:t>
            </a:r>
            <a:endParaRPr lang="en-US" sz="1200" dirty="0"/>
          </a:p>
        </p:txBody>
      </p:sp>
      <p:sp>
        <p:nvSpPr>
          <p:cNvPr id="28" name="Text 23"/>
          <p:cNvSpPr/>
          <p:nvPr/>
        </p:nvSpPr>
        <p:spPr>
          <a:xfrm>
            <a:off x="9171432" y="1938528"/>
            <a:ext cx="2231136" cy="34564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Target: delivered_late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Top: tracking_missing</a:t>
            </a:r>
            <a:endParaRPr lang="en-US" sz="1000" dirty="0"/>
          </a:p>
        </p:txBody>
      </p:sp>
      <p:sp>
        <p:nvSpPr>
          <p:cNvPr id="29" name="Text 24"/>
          <p:cNvSpPr/>
          <p:nvPr/>
        </p:nvSpPr>
        <p:spPr>
          <a:xfrm>
            <a:off x="6263640" y="2514600"/>
            <a:ext cx="5440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AutoML  •  Feature Importance  •  API Sharing  •  Deployed to Production</a:t>
            </a:r>
            <a:endParaRPr lang="en-US" sz="900" dirty="0"/>
          </a:p>
        </p:txBody>
      </p:sp>
      <p:sp>
        <p:nvSpPr>
          <p:cNvPr id="30" name="Shape 25"/>
          <p:cNvSpPr/>
          <p:nvPr/>
        </p:nvSpPr>
        <p:spPr>
          <a:xfrm>
            <a:off x="457200" y="3703320"/>
            <a:ext cx="11247120" cy="2468880"/>
          </a:xfrm>
          <a:prstGeom prst="roundRect">
            <a:avLst>
              <a:gd name="adj" fmla="val 4444"/>
            </a:avLst>
          </a:prstGeom>
          <a:solidFill>
            <a:srgbClr val="E0F5EA"/>
          </a:solidFill>
          <a:ln w="19050">
            <a:solidFill>
              <a:srgbClr val="4CB393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621792" y="3712464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CB393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32" name="Image 3" descr="C:\Claude\MCG Full Stack\generators\assets\icons\age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337" y="3775009"/>
            <a:ext cx="204094" cy="204094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457200" y="3703320"/>
            <a:ext cx="11247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Agentic Layer</a:t>
            </a:r>
            <a:endParaRPr lang="en-US" sz="1400" dirty="0"/>
          </a:p>
        </p:txBody>
      </p:sp>
      <p:sp>
        <p:nvSpPr>
          <p:cNvPr id="34" name="Shape 28"/>
          <p:cNvSpPr/>
          <p:nvPr/>
        </p:nvSpPr>
        <p:spPr>
          <a:xfrm>
            <a:off x="685800" y="4206240"/>
            <a:ext cx="2377440" cy="1737360"/>
          </a:xfrm>
          <a:prstGeom prst="roundRect">
            <a:avLst>
              <a:gd name="adj" fmla="val 5263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5" name="Shape 29"/>
          <p:cNvSpPr/>
          <p:nvPr/>
        </p:nvSpPr>
        <p:spPr>
          <a:xfrm>
            <a:off x="1600200" y="4352544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36" name="Image 4" descr="C:\Claude\MCG Full Stack\generators\assets\icons\answer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04442" y="4456786"/>
            <a:ext cx="340157" cy="340157"/>
          </a:xfrm>
          <a:prstGeom prst="rect">
            <a:avLst/>
          </a:prstGeom>
        </p:spPr>
      </p:pic>
      <p:sp>
        <p:nvSpPr>
          <p:cNvPr id="37" name="Text 30"/>
          <p:cNvSpPr/>
          <p:nvPr/>
        </p:nvSpPr>
        <p:spPr>
          <a:xfrm>
            <a:off x="777240" y="4937760"/>
            <a:ext cx="219456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</a:t>
            </a:r>
            <a:endParaRPr lang="en-US" sz="1300" dirty="0"/>
          </a:p>
        </p:txBody>
      </p:sp>
      <p:sp>
        <p:nvSpPr>
          <p:cNvPr id="38" name="Text 31"/>
          <p:cNvSpPr/>
          <p:nvPr/>
        </p:nvSpPr>
        <p:spPr>
          <a:xfrm>
            <a:off x="795528" y="5266944"/>
            <a:ext cx="2157984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DOCX docs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demo scenarios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Mart</a:t>
            </a:r>
            <a:endParaRPr lang="en-US" sz="950" dirty="0"/>
          </a:p>
        </p:txBody>
      </p:sp>
      <p:sp>
        <p:nvSpPr>
          <p:cNvPr id="39" name="Shape 32"/>
          <p:cNvSpPr/>
          <p:nvPr/>
        </p:nvSpPr>
        <p:spPr>
          <a:xfrm>
            <a:off x="3291840" y="4206240"/>
            <a:ext cx="2377440" cy="1737360"/>
          </a:xfrm>
          <a:prstGeom prst="roundRect">
            <a:avLst>
              <a:gd name="adj" fmla="val 5263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40" name="Shape 33"/>
          <p:cNvSpPr/>
          <p:nvPr/>
        </p:nvSpPr>
        <p:spPr>
          <a:xfrm>
            <a:off x="4206240" y="4352544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41" name="Image 5" descr="C:\Claude\MCG Full Stack\generators\assets\icons\agen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10482" y="4456786"/>
            <a:ext cx="340157" cy="340157"/>
          </a:xfrm>
          <a:prstGeom prst="rect">
            <a:avLst/>
          </a:prstGeom>
        </p:spPr>
      </p:pic>
      <p:sp>
        <p:nvSpPr>
          <p:cNvPr id="42" name="Text 34"/>
          <p:cNvSpPr/>
          <p:nvPr/>
        </p:nvSpPr>
        <p:spPr>
          <a:xfrm>
            <a:off x="3383280" y="4937760"/>
            <a:ext cx="219456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</a:t>
            </a:r>
            <a:endParaRPr lang="en-US" sz="1300" dirty="0"/>
          </a:p>
        </p:txBody>
      </p:sp>
      <p:sp>
        <p:nvSpPr>
          <p:cNvPr id="43" name="Text 35"/>
          <p:cNvSpPr/>
          <p:nvPr/>
        </p:nvSpPr>
        <p:spPr>
          <a:xfrm>
            <a:off x="3401568" y="5266944"/>
            <a:ext cx="2157984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Anomaly detection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TransFrio spoilage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Proactive alerts</a:t>
            </a:r>
            <a:endParaRPr lang="en-US" sz="950" dirty="0"/>
          </a:p>
        </p:txBody>
      </p:sp>
      <p:sp>
        <p:nvSpPr>
          <p:cNvPr id="44" name="Shape 36"/>
          <p:cNvSpPr/>
          <p:nvPr/>
        </p:nvSpPr>
        <p:spPr>
          <a:xfrm>
            <a:off x="5897880" y="4206240"/>
            <a:ext cx="2377440" cy="1737360"/>
          </a:xfrm>
          <a:prstGeom prst="roundRect">
            <a:avLst>
              <a:gd name="adj" fmla="val 5263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45" name="Shape 37"/>
          <p:cNvSpPr/>
          <p:nvPr/>
        </p:nvSpPr>
        <p:spPr>
          <a:xfrm>
            <a:off x="6812280" y="4352544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46" name="Image 6" descr="C:\Claude\MCG Full Stack\generators\assets\icons\mcp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16522" y="4456786"/>
            <a:ext cx="340157" cy="340157"/>
          </a:xfrm>
          <a:prstGeom prst="rect">
            <a:avLst/>
          </a:prstGeom>
        </p:spPr>
      </p:pic>
      <p:sp>
        <p:nvSpPr>
          <p:cNvPr id="47" name="Text 38"/>
          <p:cNvSpPr/>
          <p:nvPr/>
        </p:nvSpPr>
        <p:spPr>
          <a:xfrm>
            <a:off x="5989320" y="4937760"/>
            <a:ext cx="219456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Server</a:t>
            </a:r>
            <a:endParaRPr lang="en-US" sz="1300" dirty="0"/>
          </a:p>
        </p:txBody>
      </p:sp>
      <p:sp>
        <p:nvSpPr>
          <p:cNvPr id="48" name="Text 39"/>
          <p:cNvSpPr/>
          <p:nvPr/>
        </p:nvSpPr>
        <p:spPr>
          <a:xfrm>
            <a:off x="6007608" y="5266944"/>
            <a:ext cx="2157984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integration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demo prompts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+ docs</a:t>
            </a:r>
            <a:endParaRPr lang="en-US" sz="950" dirty="0"/>
          </a:p>
        </p:txBody>
      </p:sp>
      <p:sp>
        <p:nvSpPr>
          <p:cNvPr id="49" name="Shape 40"/>
          <p:cNvSpPr/>
          <p:nvPr/>
        </p:nvSpPr>
        <p:spPr>
          <a:xfrm>
            <a:off x="8503920" y="4206240"/>
            <a:ext cx="2377440" cy="1737360"/>
          </a:xfrm>
          <a:prstGeom prst="roundRect">
            <a:avLst>
              <a:gd name="adj" fmla="val 5263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50" name="Shape 41"/>
          <p:cNvSpPr/>
          <p:nvPr/>
        </p:nvSpPr>
        <p:spPr>
          <a:xfrm>
            <a:off x="9418320" y="4352544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51" name="Image 7" descr="C:\Claude\MCG Full Stack\generators\assets\icons\automatio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22562" y="4456786"/>
            <a:ext cx="340157" cy="340157"/>
          </a:xfrm>
          <a:prstGeom prst="rect">
            <a:avLst/>
          </a:prstGeom>
        </p:spPr>
      </p:pic>
      <p:sp>
        <p:nvSpPr>
          <p:cNvPr id="52" name="Text 42"/>
          <p:cNvSpPr/>
          <p:nvPr/>
        </p:nvSpPr>
        <p:spPr>
          <a:xfrm>
            <a:off x="8595360" y="4937760"/>
            <a:ext cx="219456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Automations</a:t>
            </a:r>
            <a:endParaRPr lang="en-US" sz="1300" dirty="0"/>
          </a:p>
        </p:txBody>
      </p:sp>
      <p:sp>
        <p:nvSpPr>
          <p:cNvPr id="53" name="Text 43"/>
          <p:cNvSpPr/>
          <p:nvPr/>
        </p:nvSpPr>
        <p:spPr>
          <a:xfrm>
            <a:off x="8613648" y="5266944"/>
            <a:ext cx="2157984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automations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Teams integration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job trigger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45720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Data Engineering Layer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10378440" y="310896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10CFC9"/>
          </a:solidFill>
          <a:ln w="6350">
            <a:solidFill>
              <a:srgbClr val="10CFC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378440" y="310896"/>
            <a:ext cx="1325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Preview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548640" y="822960"/>
            <a:ext cx="9692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Build-side AI. One declarative pipeline YAML, authored visually, in an IDE, or by an AI agent. A path from raw data to trusted, AI-ready data products that keeps human expertise in the loop at each stage.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48640" y="1225296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AUTHOR THE PIPELINE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669280" y="1225296"/>
            <a:ext cx="5943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Declarative Data Pipelines are a Qlik internal preview capability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548640" y="1499616"/>
            <a:ext cx="3566160" cy="932688"/>
          </a:xfrm>
          <a:prstGeom prst="roundRect">
            <a:avLst>
              <a:gd name="adj" fmla="val 9804"/>
            </a:avLst>
          </a:prstGeom>
          <a:solidFill>
            <a:srgbClr val="009845"/>
          </a:solidFill>
          <a:ln w="6350">
            <a:solidFill>
              <a:srgbClr val="009845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67512" y="168249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5" name="Image 1" descr="C:\Claude\MCG Full Stack\generators\assets\icons\age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228" y="1790212"/>
            <a:ext cx="351495" cy="351495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362456" y="1572768"/>
            <a:ext cx="2660904" cy="44805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Coding Agent · VS Code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1362456" y="1965960"/>
            <a:ext cx="2660904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Authors declarative pipeline YAML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Git version control • CI/CD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4297680" y="1499616"/>
            <a:ext cx="3566160" cy="932688"/>
          </a:xfrm>
          <a:prstGeom prst="roundRect">
            <a:avLst>
              <a:gd name="adj" fmla="val 9804"/>
            </a:avLst>
          </a:prstGeom>
          <a:solidFill>
            <a:srgbClr val="009845"/>
          </a:solidFill>
          <a:ln w="6350">
            <a:solidFill>
              <a:srgbClr val="009845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4416552" y="168249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20" name="Image 2" descr="C:\Claude\MCG Full Stack\generators\assets\icons\pipeli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4268" y="1790212"/>
            <a:ext cx="351495" cy="351495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111496" y="1572768"/>
            <a:ext cx="2660904" cy="44805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Declarative Data Pipelines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5111496" y="1965960"/>
            <a:ext cx="2660904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YAML: landing · transform · datamart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UI · IDE · AI-agent authorable · Preview</a:t>
            </a:r>
            <a:endParaRPr 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8046720" y="1499616"/>
            <a:ext cx="3566160" cy="932688"/>
          </a:xfrm>
          <a:prstGeom prst="roundRect">
            <a:avLst>
              <a:gd name="adj" fmla="val 9804"/>
            </a:avLst>
          </a:prstGeom>
          <a:solidFill>
            <a:srgbClr val="009845"/>
          </a:solidFill>
          <a:ln w="6350">
            <a:solidFill>
              <a:srgbClr val="009845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8165592" y="168249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25" name="Image 3" descr="C:\Claude\MCG Full Stack\generators\assets\icons\transform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3308" y="1790212"/>
            <a:ext cx="351495" cy="351495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8860536" y="1572768"/>
            <a:ext cx="2660904" cy="44805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Agentic Routes</a:t>
            </a:r>
            <a:endParaRPr lang="en-US" sz="1200" dirty="0"/>
          </a:p>
        </p:txBody>
      </p:sp>
      <p:sp>
        <p:nvSpPr>
          <p:cNvPr id="27" name="Text 21"/>
          <p:cNvSpPr/>
          <p:nvPr/>
        </p:nvSpPr>
        <p:spPr>
          <a:xfrm>
            <a:off x="8860536" y="1965960"/>
            <a:ext cx="2660904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LLM + RAG inside pipeline tasks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· Bedrock · Ollama · Pinecone</a:t>
            </a:r>
            <a:endParaRPr lang="en-US" sz="950" dirty="0"/>
          </a:p>
        </p:txBody>
      </p:sp>
      <p:sp>
        <p:nvSpPr>
          <p:cNvPr id="28" name="Text 22"/>
          <p:cNvSpPr/>
          <p:nvPr/>
        </p:nvSpPr>
        <p:spPr>
          <a:xfrm>
            <a:off x="548640" y="2468880"/>
            <a:ext cx="11064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Human-in-the-loop coding agent:   Prompt  →  Generate  →  Schema-validate  →  Review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548640" y="276148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 THE DATA</a:t>
            </a:r>
            <a:endParaRPr lang="en-US" sz="1100" dirty="0"/>
          </a:p>
        </p:txBody>
      </p:sp>
      <p:sp>
        <p:nvSpPr>
          <p:cNvPr id="30" name="Text 24"/>
          <p:cNvSpPr/>
          <p:nvPr/>
        </p:nvSpPr>
        <p:spPr>
          <a:xfrm>
            <a:off x="5120640" y="2761488"/>
            <a:ext cx="6492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conversational agents are Qlik Answers capabilities, not separate products</a:t>
            </a:r>
            <a:endParaRPr lang="en-US" sz="900" dirty="0"/>
          </a:p>
        </p:txBody>
      </p:sp>
      <p:sp>
        <p:nvSpPr>
          <p:cNvPr id="31" name="Shape 25"/>
          <p:cNvSpPr/>
          <p:nvPr/>
        </p:nvSpPr>
        <p:spPr>
          <a:xfrm>
            <a:off x="548640" y="3035808"/>
            <a:ext cx="2651760" cy="932688"/>
          </a:xfrm>
          <a:prstGeom prst="roundRect">
            <a:avLst>
              <a:gd name="adj" fmla="val 9804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2" name="Shape 26"/>
          <p:cNvSpPr/>
          <p:nvPr/>
        </p:nvSpPr>
        <p:spPr>
          <a:xfrm>
            <a:off x="667512" y="3218688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33" name="Image 4" descr="C:\Claude\MCG Full Stack\generators\assets\icons\governanc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5228" y="3326404"/>
            <a:ext cx="351495" cy="351495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1362456" y="3108960"/>
            <a:ext cx="1746504" cy="44805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 Agent</a:t>
            </a:r>
            <a:endParaRPr lang="en-US" sz="1200" dirty="0"/>
          </a:p>
        </p:txBody>
      </p:sp>
      <p:sp>
        <p:nvSpPr>
          <p:cNvPr id="35" name="Text 28"/>
          <p:cNvSpPr/>
          <p:nvPr/>
        </p:nvSpPr>
        <p:spPr>
          <a:xfrm>
            <a:off x="1362456" y="3502152"/>
            <a:ext cx="1746504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Create &amp; manage data products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by natural language</a:t>
            </a:r>
            <a:endParaRPr lang="en-US" sz="950" dirty="0"/>
          </a:p>
        </p:txBody>
      </p:sp>
      <p:sp>
        <p:nvSpPr>
          <p:cNvPr id="36" name="Shape 29"/>
          <p:cNvSpPr/>
          <p:nvPr/>
        </p:nvSpPr>
        <p:spPr>
          <a:xfrm>
            <a:off x="3319272" y="3035808"/>
            <a:ext cx="2651760" cy="932688"/>
          </a:xfrm>
          <a:prstGeom prst="roundRect">
            <a:avLst>
              <a:gd name="adj" fmla="val 9804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7" name="Shape 30"/>
          <p:cNvSpPr/>
          <p:nvPr/>
        </p:nvSpPr>
        <p:spPr>
          <a:xfrm>
            <a:off x="3438144" y="3218688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38" name="Image 5" descr="C:\Claude\MCG Full Stack\generators\assets\icons\answer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45860" y="3326404"/>
            <a:ext cx="351495" cy="351495"/>
          </a:xfrm>
          <a:prstGeom prst="rect">
            <a:avLst/>
          </a:prstGeom>
        </p:spPr>
      </p:pic>
      <p:sp>
        <p:nvSpPr>
          <p:cNvPr id="39" name="Text 31"/>
          <p:cNvSpPr/>
          <p:nvPr/>
        </p:nvSpPr>
        <p:spPr>
          <a:xfrm>
            <a:off x="4133088" y="3108960"/>
            <a:ext cx="1746504" cy="44805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Quality Agent</a:t>
            </a:r>
            <a:endParaRPr lang="en-US" sz="1200" dirty="0"/>
          </a:p>
        </p:txBody>
      </p:sp>
      <p:sp>
        <p:nvSpPr>
          <p:cNvPr id="40" name="Text 32"/>
          <p:cNvSpPr/>
          <p:nvPr/>
        </p:nvSpPr>
        <p:spPr>
          <a:xfrm>
            <a:off x="4133088" y="3502152"/>
            <a:ext cx="1746504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Assess, define &amp; enforce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DQ rules conversationally</a:t>
            </a:r>
            <a:endParaRPr lang="en-US" sz="950" dirty="0"/>
          </a:p>
        </p:txBody>
      </p:sp>
      <p:sp>
        <p:nvSpPr>
          <p:cNvPr id="41" name="Shape 33"/>
          <p:cNvSpPr/>
          <p:nvPr/>
        </p:nvSpPr>
        <p:spPr>
          <a:xfrm>
            <a:off x="6089904" y="3035808"/>
            <a:ext cx="2651760" cy="932688"/>
          </a:xfrm>
          <a:prstGeom prst="roundRect">
            <a:avLst>
              <a:gd name="adj" fmla="val 9804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42" name="Shape 34"/>
          <p:cNvSpPr/>
          <p:nvPr/>
        </p:nvSpPr>
        <p:spPr>
          <a:xfrm>
            <a:off x="6208776" y="3218688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43" name="Image 6" descr="C:\Claude\MCG Full Stack\generators\assets\icons\agen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16492" y="3326404"/>
            <a:ext cx="351495" cy="351495"/>
          </a:xfrm>
          <a:prstGeom prst="rect">
            <a:avLst/>
          </a:prstGeom>
        </p:spPr>
      </p:pic>
      <p:sp>
        <p:nvSpPr>
          <p:cNvPr id="44" name="Text 35"/>
          <p:cNvSpPr/>
          <p:nvPr/>
        </p:nvSpPr>
        <p:spPr>
          <a:xfrm>
            <a:off x="6903720" y="3108960"/>
            <a:ext cx="1746504" cy="44805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Catalog &amp; Glossary Agent</a:t>
            </a:r>
            <a:endParaRPr lang="en-US" sz="1200" dirty="0"/>
          </a:p>
        </p:txBody>
      </p:sp>
      <p:sp>
        <p:nvSpPr>
          <p:cNvPr id="45" name="Text 36"/>
          <p:cNvSpPr/>
          <p:nvPr/>
        </p:nvSpPr>
        <p:spPr>
          <a:xfrm>
            <a:off x="6903720" y="3502152"/>
            <a:ext cx="1746504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 assets · draft glossary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terms (human-reviewed)</a:t>
            </a:r>
            <a:endParaRPr lang="en-US" sz="950" dirty="0"/>
          </a:p>
        </p:txBody>
      </p:sp>
      <p:sp>
        <p:nvSpPr>
          <p:cNvPr id="46" name="Shape 37"/>
          <p:cNvSpPr/>
          <p:nvPr/>
        </p:nvSpPr>
        <p:spPr>
          <a:xfrm>
            <a:off x="8860536" y="3035808"/>
            <a:ext cx="2743200" cy="932688"/>
          </a:xfrm>
          <a:prstGeom prst="roundRect">
            <a:avLst>
              <a:gd name="adj" fmla="val 9804"/>
            </a:avLst>
          </a:prstGeom>
          <a:solidFill>
            <a:srgbClr val="19416C"/>
          </a:solidFill>
          <a:ln w="6350">
            <a:solidFill>
              <a:srgbClr val="19416C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47" name="Shape 38"/>
          <p:cNvSpPr/>
          <p:nvPr/>
        </p:nvSpPr>
        <p:spPr>
          <a:xfrm>
            <a:off x="8979408" y="3218688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48" name="Image 7" descr="C:\Claude\MCG Full Stack\generators\assets\icons\mcp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87124" y="3326404"/>
            <a:ext cx="351495" cy="351495"/>
          </a:xfrm>
          <a:prstGeom prst="rect">
            <a:avLst/>
          </a:prstGeom>
        </p:spPr>
      </p:pic>
      <p:sp>
        <p:nvSpPr>
          <p:cNvPr id="49" name="Text 39"/>
          <p:cNvSpPr/>
          <p:nvPr/>
        </p:nvSpPr>
        <p:spPr>
          <a:xfrm>
            <a:off x="9674352" y="3108960"/>
            <a:ext cx="1837944" cy="44805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MCP Server</a:t>
            </a:r>
            <a:endParaRPr lang="en-US" sz="1200" dirty="0"/>
          </a:p>
        </p:txBody>
      </p:sp>
      <p:sp>
        <p:nvSpPr>
          <p:cNvPr id="50" name="Text 40"/>
          <p:cNvSpPr/>
          <p:nvPr/>
        </p:nvSpPr>
        <p:spPr>
          <a:xfrm>
            <a:off x="9674352" y="3502152"/>
            <a:ext cx="1837944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Exposes governance to external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assistants (Claude) · Preview</a:t>
            </a:r>
            <a:endParaRPr lang="en-US" sz="950" dirty="0"/>
          </a:p>
        </p:txBody>
      </p:sp>
      <p:sp>
        <p:nvSpPr>
          <p:cNvPr id="51" name="Shape 41"/>
          <p:cNvSpPr/>
          <p:nvPr/>
        </p:nvSpPr>
        <p:spPr>
          <a:xfrm>
            <a:off x="1554480" y="4041648"/>
            <a:ext cx="0" cy="274320"/>
          </a:xfrm>
          <a:prstGeom prst="line">
            <a:avLst/>
          </a:prstGeom>
          <a:noFill/>
          <a:ln w="19050">
            <a:solidFill>
              <a:srgbClr val="A9B3B6"/>
            </a:solidFill>
            <a:prstDash val="solid"/>
            <a:tailEnd type="triangle"/>
          </a:ln>
        </p:spPr>
      </p:sp>
      <p:sp>
        <p:nvSpPr>
          <p:cNvPr id="52" name="Shape 42"/>
          <p:cNvSpPr/>
          <p:nvPr/>
        </p:nvSpPr>
        <p:spPr>
          <a:xfrm>
            <a:off x="10607040" y="4041648"/>
            <a:ext cx="0" cy="274320"/>
          </a:xfrm>
          <a:prstGeom prst="line">
            <a:avLst/>
          </a:prstGeom>
          <a:noFill/>
          <a:ln w="19050">
            <a:solidFill>
              <a:srgbClr val="A9B3B6"/>
            </a:solidFill>
            <a:prstDash val="solid"/>
            <a:tailEnd type="triangle"/>
          </a:ln>
        </p:spPr>
      </p:sp>
      <p:sp>
        <p:nvSpPr>
          <p:cNvPr id="53" name="Text 43"/>
          <p:cNvSpPr/>
          <p:nvPr/>
        </p:nvSpPr>
        <p:spPr>
          <a:xfrm>
            <a:off x="2194560" y="404164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agentic layer sits over the medallion — authoring the YAML and governing the outputs</a:t>
            </a:r>
            <a:endParaRPr lang="en-US" sz="1000" dirty="0"/>
          </a:p>
        </p:txBody>
      </p:sp>
      <p:sp>
        <p:nvSpPr>
          <p:cNvPr id="54" name="Shape 44"/>
          <p:cNvSpPr/>
          <p:nvPr/>
        </p:nvSpPr>
        <p:spPr>
          <a:xfrm>
            <a:off x="457200" y="4334256"/>
            <a:ext cx="11274552" cy="1920240"/>
          </a:xfrm>
          <a:prstGeom prst="roundRect">
            <a:avLst>
              <a:gd name="adj" fmla="val 5714"/>
            </a:avLst>
          </a:prstGeom>
          <a:solidFill>
            <a:srgbClr val="F6F7F8"/>
          </a:solidFill>
          <a:ln w="12700">
            <a:solidFill>
              <a:srgbClr val="A9B3B6"/>
            </a:solidFill>
            <a:prstDash val="solid"/>
          </a:ln>
        </p:spPr>
      </p:sp>
      <p:sp>
        <p:nvSpPr>
          <p:cNvPr id="55" name="Shape 45"/>
          <p:cNvSpPr/>
          <p:nvPr/>
        </p:nvSpPr>
        <p:spPr>
          <a:xfrm>
            <a:off x="621792" y="4370832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9845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56" name="Image 8" descr="C:\Claude\MCG Full Stack\generators\assets\icons\lakehous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3913" y="4422953"/>
            <a:ext cx="170078" cy="170078"/>
          </a:xfrm>
          <a:prstGeom prst="rect">
            <a:avLst/>
          </a:prstGeom>
        </p:spPr>
      </p:pic>
      <p:sp>
        <p:nvSpPr>
          <p:cNvPr id="57" name="Text 46"/>
          <p:cNvSpPr/>
          <p:nvPr/>
        </p:nvSpPr>
        <p:spPr>
          <a:xfrm>
            <a:off x="987552" y="4379976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Open Lakehouse — the declarative pipeline the agents author &amp; govern  (Bronze · Silver · Gold on Apache Iceberg)</a:t>
            </a:r>
            <a:endParaRPr lang="en-US" sz="1100" dirty="0"/>
          </a:p>
        </p:txBody>
      </p:sp>
      <p:sp>
        <p:nvSpPr>
          <p:cNvPr id="58" name="Shape 47"/>
          <p:cNvSpPr/>
          <p:nvPr/>
        </p:nvSpPr>
        <p:spPr>
          <a:xfrm>
            <a:off x="685800" y="4773168"/>
            <a:ext cx="3291840" cy="347472"/>
          </a:xfrm>
          <a:prstGeom prst="roundRect">
            <a:avLst>
              <a:gd name="adj" fmla="val 15789"/>
            </a:avLst>
          </a:prstGeom>
          <a:solidFill>
            <a:srgbClr val="006580"/>
          </a:solidFill>
          <a:ln/>
        </p:spPr>
      </p:sp>
      <p:sp>
        <p:nvSpPr>
          <p:cNvPr id="59" name="Text 48"/>
          <p:cNvSpPr/>
          <p:nvPr/>
        </p:nvSpPr>
        <p:spPr>
          <a:xfrm>
            <a:off x="685800" y="4773168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BRONZE · Landing</a:t>
            </a:r>
            <a:endParaRPr lang="en-US" sz="1100" dirty="0"/>
          </a:p>
        </p:txBody>
      </p:sp>
      <p:sp>
        <p:nvSpPr>
          <p:cNvPr id="60" name="Shape 49"/>
          <p:cNvSpPr/>
          <p:nvPr/>
        </p:nvSpPr>
        <p:spPr>
          <a:xfrm>
            <a:off x="685800" y="5175504"/>
            <a:ext cx="329184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61" name="Text 50"/>
          <p:cNvSpPr/>
          <p:nvPr/>
        </p:nvSpPr>
        <p:spPr>
          <a:xfrm>
            <a:off x="822960" y="5230368"/>
            <a:ext cx="3017520" cy="8503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MCG WMS CDC Landing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MCG CRM Landing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MCG IoT Streaming Landing</a:t>
            </a:r>
            <a:endParaRPr lang="en-US" sz="950" dirty="0"/>
          </a:p>
        </p:txBody>
      </p:sp>
      <p:sp>
        <p:nvSpPr>
          <p:cNvPr id="62" name="Shape 51"/>
          <p:cNvSpPr/>
          <p:nvPr/>
        </p:nvSpPr>
        <p:spPr>
          <a:xfrm>
            <a:off x="4251960" y="4773168"/>
            <a:ext cx="3291840" cy="347472"/>
          </a:xfrm>
          <a:prstGeom prst="roundRect">
            <a:avLst>
              <a:gd name="adj" fmla="val 15789"/>
            </a:avLst>
          </a:prstGeom>
          <a:solidFill>
            <a:srgbClr val="009845"/>
          </a:solidFill>
          <a:ln/>
        </p:spPr>
      </p:sp>
      <p:sp>
        <p:nvSpPr>
          <p:cNvPr id="63" name="Text 52"/>
          <p:cNvSpPr/>
          <p:nvPr/>
        </p:nvSpPr>
        <p:spPr>
          <a:xfrm>
            <a:off x="4251960" y="4773168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SILVER · Transform</a:t>
            </a:r>
            <a:endParaRPr lang="en-US" sz="1100" dirty="0"/>
          </a:p>
        </p:txBody>
      </p:sp>
      <p:sp>
        <p:nvSpPr>
          <p:cNvPr id="64" name="Shape 53"/>
          <p:cNvSpPr/>
          <p:nvPr/>
        </p:nvSpPr>
        <p:spPr>
          <a:xfrm>
            <a:off x="4251960" y="5175504"/>
            <a:ext cx="329184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65" name="Text 54"/>
          <p:cNvSpPr/>
          <p:nvPr/>
        </p:nvSpPr>
        <p:spPr>
          <a:xfrm>
            <a:off x="4389120" y="5230368"/>
            <a:ext cx="3017520" cy="8503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MCG Silver Transform · 7 datasets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MCG IoT Streaming Transform</a:t>
            </a:r>
            <a:endParaRPr lang="en-US" sz="950" dirty="0"/>
          </a:p>
        </p:txBody>
      </p:sp>
      <p:sp>
        <p:nvSpPr>
          <p:cNvPr id="66" name="Shape 55"/>
          <p:cNvSpPr/>
          <p:nvPr/>
        </p:nvSpPr>
        <p:spPr>
          <a:xfrm>
            <a:off x="7818120" y="4773168"/>
            <a:ext cx="3566160" cy="347472"/>
          </a:xfrm>
          <a:prstGeom prst="roundRect">
            <a:avLst>
              <a:gd name="adj" fmla="val 15789"/>
            </a:avLst>
          </a:prstGeom>
          <a:solidFill>
            <a:srgbClr val="19416C"/>
          </a:solidFill>
          <a:ln/>
        </p:spPr>
      </p:sp>
      <p:sp>
        <p:nvSpPr>
          <p:cNvPr id="67" name="Text 56"/>
          <p:cNvSpPr/>
          <p:nvPr/>
        </p:nvSpPr>
        <p:spPr>
          <a:xfrm>
            <a:off x="7818120" y="4773168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 · Datamart</a:t>
            </a:r>
            <a:endParaRPr lang="en-US" sz="1100" dirty="0"/>
          </a:p>
        </p:txBody>
      </p:sp>
      <p:sp>
        <p:nvSpPr>
          <p:cNvPr id="68" name="Shape 57"/>
          <p:cNvSpPr/>
          <p:nvPr/>
        </p:nvSpPr>
        <p:spPr>
          <a:xfrm>
            <a:off x="7818120" y="5175504"/>
            <a:ext cx="356616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69" name="Text 58"/>
          <p:cNvSpPr/>
          <p:nvPr/>
        </p:nvSpPr>
        <p:spPr>
          <a:xfrm>
            <a:off x="7955280" y="5230368"/>
            <a:ext cx="3291840" cy="8503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MCG Gold Datamart · 2 datasets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Supply Chain Health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Last Mile Performance</a:t>
            </a:r>
            <a:endParaRPr lang="en-US" sz="950" dirty="0"/>
          </a:p>
        </p:txBody>
      </p:sp>
      <p:sp>
        <p:nvSpPr>
          <p:cNvPr id="70" name="Shape 59"/>
          <p:cNvSpPr/>
          <p:nvPr/>
        </p:nvSpPr>
        <p:spPr>
          <a:xfrm>
            <a:off x="3986784" y="5650992"/>
            <a:ext cx="246888" cy="0"/>
          </a:xfrm>
          <a:prstGeom prst="line">
            <a:avLst/>
          </a:prstGeom>
          <a:noFill/>
          <a:ln w="1905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71" name="Shape 60"/>
          <p:cNvSpPr/>
          <p:nvPr/>
        </p:nvSpPr>
        <p:spPr>
          <a:xfrm>
            <a:off x="7571232" y="5650992"/>
            <a:ext cx="228600" cy="0"/>
          </a:xfrm>
          <a:prstGeom prst="line">
            <a:avLst/>
          </a:prstGeom>
          <a:noFill/>
          <a:ln w="19050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72" name="Text 61"/>
          <p:cNvSpPr/>
          <p:nvPr/>
        </p:nvSpPr>
        <p:spPr>
          <a:xfrm>
            <a:off x="548640" y="6291072"/>
            <a:ext cx="110642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Preview capabilities (Declarative Pipelines, Qlik MCP Server) reflect Qlik internal preview, June 2026, and are subject to change.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2194560"/>
            <a:ext cx="7315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7 Nightmares</a:t>
            </a:r>
            <a:endParaRPr lang="en-US" sz="3600" dirty="0"/>
          </a:p>
        </p:txBody>
      </p:sp>
      <p:sp>
        <p:nvSpPr>
          <p:cNvPr id="4" name="Text 1"/>
          <p:cNvSpPr/>
          <p:nvPr/>
        </p:nvSpPr>
        <p:spPr>
          <a:xfrm>
            <a:off x="731520" y="33832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$127M in annual data quality costs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45720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7 Data Quality Nightmares — $127M Annual Impact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548640" y="109728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109728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1280160" y="105156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Phantom Inventory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280160" y="13716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$48M / year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206240" y="105156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ERP says 50, WMS says 42. Stockouts from ghost inventory.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172821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14" name="Shape 11"/>
          <p:cNvSpPr/>
          <p:nvPr/>
        </p:nvSpPr>
        <p:spPr>
          <a:xfrm>
            <a:off x="548640" y="182880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15" name="Text 12"/>
          <p:cNvSpPr/>
          <p:nvPr/>
        </p:nvSpPr>
        <p:spPr>
          <a:xfrm>
            <a:off x="548640" y="182880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280160" y="178308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Address Catastrophe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280160" y="21031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$3.1M / year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4206240" y="178308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11% format issues, 6% truncated. 4.7% carrier rejection.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45973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20" name="Shape 17"/>
          <p:cNvSpPr/>
          <p:nvPr/>
        </p:nvSpPr>
        <p:spPr>
          <a:xfrm>
            <a:off x="548640" y="256032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21" name="Text 18"/>
          <p:cNvSpPr/>
          <p:nvPr/>
        </p:nvSpPr>
        <p:spPr>
          <a:xfrm>
            <a:off x="548640" y="256032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1280160" y="251460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 Master Mess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1280160" y="28346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$8.2M / year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4206240" y="251460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8,200 missing weights, duplicated suppliers, SKU chaos.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19125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26" name="Shape 23"/>
          <p:cNvSpPr/>
          <p:nvPr/>
        </p:nvSpPr>
        <p:spPr>
          <a:xfrm>
            <a:off x="548640" y="329184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27" name="Text 24"/>
          <p:cNvSpPr/>
          <p:nvPr/>
        </p:nvSpPr>
        <p:spPr>
          <a:xfrm>
            <a:off x="548640" y="329184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800" dirty="0"/>
          </a:p>
        </p:txBody>
      </p:sp>
      <p:sp>
        <p:nvSpPr>
          <p:cNvPr id="28" name="Text 25"/>
          <p:cNvSpPr/>
          <p:nvPr/>
        </p:nvSpPr>
        <p:spPr>
          <a:xfrm>
            <a:off x="1280160" y="324612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Silent Pipeline Failures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1280160" y="35661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$12M / year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4206240" y="324612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Rotterdam CDC sync: 72h undetected. 847 phantom units.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457200" y="392277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32" name="Shape 29"/>
          <p:cNvSpPr/>
          <p:nvPr/>
        </p:nvSpPr>
        <p:spPr>
          <a:xfrm>
            <a:off x="548640" y="402336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33" name="Text 30"/>
          <p:cNvSpPr/>
          <p:nvPr/>
        </p:nvSpPr>
        <p:spPr>
          <a:xfrm>
            <a:off x="548640" y="40233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800" dirty="0"/>
          </a:p>
        </p:txBody>
      </p:sp>
      <p:sp>
        <p:nvSpPr>
          <p:cNvPr id="34" name="Text 31"/>
          <p:cNvSpPr/>
          <p:nvPr/>
        </p:nvSpPr>
        <p:spPr>
          <a:xfrm>
            <a:off x="1280160" y="397764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Timestamp Tower of Babel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1280160" y="4297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$6.5M / year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4206240" y="397764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Mixed UTC/local/bare timestamps across 3 sources.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457200" y="465429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38" name="Shape 35"/>
          <p:cNvSpPr/>
          <p:nvPr/>
        </p:nvSpPr>
        <p:spPr>
          <a:xfrm>
            <a:off x="548640" y="475488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39" name="Text 36"/>
          <p:cNvSpPr/>
          <p:nvPr/>
        </p:nvSpPr>
        <p:spPr>
          <a:xfrm>
            <a:off x="548640" y="475488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800" dirty="0"/>
          </a:p>
        </p:txBody>
      </p:sp>
      <p:sp>
        <p:nvSpPr>
          <p:cNvPr id="40" name="Text 37"/>
          <p:cNvSpPr/>
          <p:nvPr/>
        </p:nvSpPr>
        <p:spPr>
          <a:xfrm>
            <a:off x="1280160" y="470916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Carrier Data Black Hole</a:t>
            </a:r>
            <a:endParaRPr lang="en-US" sz="1300" dirty="0"/>
          </a:p>
        </p:txBody>
      </p:sp>
      <p:sp>
        <p:nvSpPr>
          <p:cNvPr id="41" name="Text 38"/>
          <p:cNvSpPr/>
          <p:nvPr/>
        </p:nvSpPr>
        <p:spPr>
          <a:xfrm>
            <a:off x="1280160" y="50292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$14.8M / year</a:t>
            </a:r>
            <a:endParaRPr lang="en-US" sz="1100" dirty="0"/>
          </a:p>
        </p:txBody>
      </p:sp>
      <p:sp>
        <p:nvSpPr>
          <p:cNvPr id="42" name="Text 39"/>
          <p:cNvSpPr/>
          <p:nvPr/>
        </p:nvSpPr>
        <p:spPr>
          <a:xfrm>
            <a:off x="4206240" y="470916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carriers, 5 languages, no canonical status mapping.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457200" y="538581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44" name="Shape 41"/>
          <p:cNvSpPr/>
          <p:nvPr/>
        </p:nvSpPr>
        <p:spPr>
          <a:xfrm>
            <a:off x="548640" y="548640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45" name="Text 42"/>
          <p:cNvSpPr/>
          <p:nvPr/>
        </p:nvSpPr>
        <p:spPr>
          <a:xfrm>
            <a:off x="548640" y="548640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800" dirty="0"/>
          </a:p>
        </p:txBody>
      </p:sp>
      <p:sp>
        <p:nvSpPr>
          <p:cNvPr id="46" name="Text 43"/>
          <p:cNvSpPr/>
          <p:nvPr/>
        </p:nvSpPr>
        <p:spPr>
          <a:xfrm>
            <a:off x="1280160" y="544068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Compliance Traceability Gap</a:t>
            </a:r>
            <a:endParaRPr lang="en-US" sz="1300" dirty="0"/>
          </a:p>
        </p:txBody>
      </p:sp>
      <p:sp>
        <p:nvSpPr>
          <p:cNvPr id="47" name="Text 44"/>
          <p:cNvSpPr/>
          <p:nvPr/>
        </p:nvSpPr>
        <p:spPr>
          <a:xfrm>
            <a:off x="1280160" y="57607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$4.2M / year</a:t>
            </a:r>
            <a:endParaRPr lang="en-US" sz="1100" dirty="0"/>
          </a:p>
        </p:txBody>
      </p:sp>
      <p:sp>
        <p:nvSpPr>
          <p:cNvPr id="48" name="Text 45"/>
          <p:cNvSpPr/>
          <p:nvPr/>
        </p:nvSpPr>
        <p:spPr>
          <a:xfrm>
            <a:off x="4206240" y="544068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Lettuce recall: 11 days vs 24h requirement. NVWA citation.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45720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&amp; Cluster Architecture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3200400"/>
          </a:xfrm>
          <a:prstGeom prst="roundRect">
            <a:avLst>
              <a:gd name="adj" fmla="val 3429"/>
            </a:avLst>
          </a:prstGeom>
          <a:solidFill>
            <a:srgbClr val="E0F2F5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1024128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Cluster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57200" y="13898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CDC + Salesforce incremental sync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685800" y="1828800"/>
            <a:ext cx="502920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1: inventory_positions (CDC, real-time)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85800" y="2212848"/>
            <a:ext cx="5029200" cy="347472"/>
          </a:xfrm>
          <a:prstGeom prst="rect">
            <a:avLst/>
          </a:prstGeom>
          <a:solidFill>
            <a:srgbClr val="F6F7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2: warehouse_events (CDC, real-time)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85800" y="2596896"/>
            <a:ext cx="502920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3: shipments (CDC, real-time)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85800" y="2980944"/>
            <a:ext cx="5029200" cy="347472"/>
          </a:xfrm>
          <a:prstGeom prst="rect">
            <a:avLst/>
          </a:prstGeom>
          <a:solidFill>
            <a:srgbClr val="F6F7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6: sf_contacts (API, 15 min)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85800" y="3364992"/>
            <a:ext cx="502920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7: sf_orders (API, 15 min)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85800" y="3749040"/>
            <a:ext cx="5029200" cy="347472"/>
          </a:xfrm>
          <a:prstGeom prst="rect">
            <a:avLst/>
          </a:prstGeom>
          <a:solidFill>
            <a:srgbClr val="F6F7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8: sf_products (API, 15 min)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217920" y="1005840"/>
            <a:ext cx="5486400" cy="3200400"/>
          </a:xfrm>
          <a:prstGeom prst="roundRect">
            <a:avLst>
              <a:gd name="adj" fmla="val 3429"/>
            </a:avLst>
          </a:prstGeom>
          <a:solidFill>
            <a:srgbClr val="E0F5EA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217920" y="1024128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Cluster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217920" y="13898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Real-time Kafka ingestion from IoT topics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446520" y="1828800"/>
            <a:ext cx="502920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4: mcg.iot.cold-chain → bronze.iot_cold_chain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446520" y="2212848"/>
            <a:ext cx="5029200" cy="347472"/>
          </a:xfrm>
          <a:prstGeom prst="rect">
            <a:avLst/>
          </a:prstGeom>
          <a:solidFill>
            <a:srgbClr val="F6F7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5: mcg.iot.carrier-events → bronze.iot_carrier_events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57200" y="4572000"/>
            <a:ext cx="11247120" cy="1554480"/>
          </a:xfrm>
          <a:prstGeom prst="roundRect">
            <a:avLst>
              <a:gd name="adj" fmla="val 5882"/>
            </a:avLst>
          </a:prstGeom>
          <a:solidFill>
            <a:srgbClr val="F6F7F8"/>
          </a:solidFill>
          <a:ln w="12700">
            <a:solidFill>
              <a:srgbClr val="A9B3B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7200" y="4572000"/>
            <a:ext cx="11247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Infrastructure Components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685800" y="502920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85800" y="5047488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Movement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Gateway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685800" y="550468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On-prem PostgreSQL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2971800" y="502920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2971800" y="5047488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Gateway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2971800" y="550468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Kafka connectivity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5257800" y="502920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257800" y="5047488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Docker Compose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5257800" y="550468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Confluent Platform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7543800" y="502920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543800" y="5047488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IoT Simulator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7543800" y="550468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kafka_iot_simulator.py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9646920" y="502920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646920" y="5047488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WMS Simulator</a:t>
            </a:r>
            <a:endParaRPr lang="en-US" sz="1000" dirty="0"/>
          </a:p>
        </p:txBody>
      </p:sp>
      <p:sp>
        <p:nvSpPr>
          <p:cNvPr id="38" name="Text 35"/>
          <p:cNvSpPr/>
          <p:nvPr/>
        </p:nvSpPr>
        <p:spPr>
          <a:xfrm>
            <a:off x="9646920" y="550468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postgres_simulator.py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45720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 Stack Component Summary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51560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006580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105156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Sources (3)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3291840" y="105156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WMS (CDC)  •  Apache Kafka 2 topics (streaming)  •  Salesforce CRM (API)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57200" y="1801368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009845"/>
          </a:solidFill>
          <a:ln/>
        </p:spPr>
      </p:sp>
      <p:sp>
        <p:nvSpPr>
          <p:cNvPr id="12" name="Text 9"/>
          <p:cNvSpPr/>
          <p:nvPr/>
        </p:nvSpPr>
        <p:spPr>
          <a:xfrm>
            <a:off x="457200" y="1801368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Lakehouse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3291840" y="18013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declarative pipeline projects (batch + streaming)  •  8 Bronze tables  •  8 Silver transforms  •  2 Gold products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2551176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006580"/>
          </a:solidFill>
          <a:ln/>
        </p:spPr>
      </p:sp>
      <p:sp>
        <p:nvSpPr>
          <p:cNvPr id="15" name="Text 12"/>
          <p:cNvSpPr/>
          <p:nvPr/>
        </p:nvSpPr>
        <p:spPr>
          <a:xfrm>
            <a:off x="457200" y="2551176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291840" y="2551176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 •  Data Lineage  •  Impact Analysis  •  Profiling  •  25-term Glossary  •  4 Stewardship campaigns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57200" y="3300984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19416C"/>
          </a:solidFill>
          <a:ln/>
        </p:spPr>
      </p:sp>
      <p:sp>
        <p:nvSpPr>
          <p:cNvPr id="18" name="Text 15"/>
          <p:cNvSpPr/>
          <p:nvPr/>
        </p:nvSpPr>
        <p:spPr>
          <a:xfrm>
            <a:off x="457200" y="3300984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3291840" y="3300984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Qlik Analytics apps (10 sheets)  •  MCG Dark Theme  •  Streaming IoT  •  Alerts  •  Reports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4050792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4CB393"/>
          </a:solidFill>
          <a:ln/>
        </p:spPr>
      </p:sp>
      <p:sp>
        <p:nvSpPr>
          <p:cNvPr id="21" name="Text 18"/>
          <p:cNvSpPr/>
          <p:nvPr/>
        </p:nvSpPr>
        <p:spPr>
          <a:xfrm>
            <a:off x="457200" y="4050792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/ ML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3291840" y="4050792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Predict models (Exceedance + Late Delivery)  •  Qlik Answers (25 docs)  •  Discovery Agent  •  MCP Server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57200" y="4800600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009845"/>
          </a:solidFill>
          <a:ln/>
        </p:spPr>
      </p:sp>
      <p:sp>
        <p:nvSpPr>
          <p:cNvPr id="24" name="Text 21"/>
          <p:cNvSpPr/>
          <p:nvPr/>
        </p:nvSpPr>
        <p:spPr>
          <a:xfrm>
            <a:off x="457200" y="480060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Automation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291840" y="480060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automations: App Reload, Cold Chain Alert, Pipeline Health, WISMO, Address Correction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57200" y="5550408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A9B3B6"/>
          </a:solidFill>
          <a:ln/>
        </p:spPr>
      </p:sp>
      <p:sp>
        <p:nvSpPr>
          <p:cNvPr id="27" name="Text 24"/>
          <p:cNvSpPr/>
          <p:nvPr/>
        </p:nvSpPr>
        <p:spPr>
          <a:xfrm>
            <a:off x="457200" y="5550408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Infrastructure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3291840" y="555040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Docker Compose (Confluent)  •  3 simulators (PG, Kafka, SF)  •  Deploy script  •  Setup guide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6309360"/>
            <a:ext cx="11274552" cy="411480"/>
          </a:xfrm>
          <a:prstGeom prst="roundRect">
            <a:avLst>
              <a:gd name="adj" fmla="val 13333"/>
            </a:avLst>
          </a:prstGeom>
          <a:solidFill>
            <a:srgbClr val="19416C"/>
          </a:solidFill>
          <a:ln/>
        </p:spPr>
      </p:sp>
      <p:sp>
        <p:nvSpPr>
          <p:cNvPr id="30" name="Text 27"/>
          <p:cNvSpPr/>
          <p:nvPr/>
        </p:nvSpPr>
        <p:spPr>
          <a:xfrm>
            <a:off x="457200" y="6309360"/>
            <a:ext cx="112745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Sources  •  2 Pipelines  •  18 Tables  •  2 Products  •  10 Sheets  •  2 Models  •  25 Docs  •  5 Automations  •  1 MCP Server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Qlik / Meridian Commerce Group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Qlarity — MCG Technology Architecture (Qlik Cloud)</dc:title>
  <dc:subject>PptxGenJS Presentation</dc:subject>
  <dc:creator>Qlik</dc:creator>
  <cp:lastModifiedBy>Qlik</cp:lastModifiedBy>
  <cp:revision>1</cp:revision>
  <dcterms:created xsi:type="dcterms:W3CDTF">2026-07-28T13:13:54Z</dcterms:created>
  <dcterms:modified xsi:type="dcterms:W3CDTF">2026-07-28T13:13:54Z</dcterms:modified>
</cp:coreProperties>
</file>