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1371600" cy="60350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146304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</a:t>
            </a:r>
            <a:endParaRPr lang="en-US" sz="1700" dirty="0"/>
          </a:p>
        </p:txBody>
      </p:sp>
      <p:sp>
        <p:nvSpPr>
          <p:cNvPr id="5" name="Text 1"/>
          <p:cNvSpPr/>
          <p:nvPr/>
        </p:nvSpPr>
        <p:spPr>
          <a:xfrm>
            <a:off x="548640" y="2011680"/>
            <a:ext cx="54864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Technology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Architecture</a:t>
            </a:r>
            <a:endParaRPr lang="en-US" sz="4000" dirty="0"/>
          </a:p>
        </p:txBody>
      </p:sp>
      <p:sp>
        <p:nvSpPr>
          <p:cNvPr id="6" name="Text 2"/>
          <p:cNvSpPr/>
          <p:nvPr/>
        </p:nvSpPr>
        <p:spPr>
          <a:xfrm>
            <a:off x="548640" y="36576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Full Stack Demo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548640" y="4297680"/>
            <a:ext cx="5943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Sources  •  Open Lakehouse  •  8 Transformation Routes  •  2 Data Products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Analytics Apps  •  2 AutoML Models  •  25 Knowledge Documents  •  MCP + AI Agents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5577840"/>
            <a:ext cx="2103120" cy="548640"/>
          </a:xfrm>
          <a:prstGeom prst="roundRect">
            <a:avLst>
              <a:gd name="adj" fmla="val 13333"/>
            </a:avLst>
          </a:prstGeom>
          <a:solidFill>
            <a:srgbClr val="009845"/>
          </a:solidFill>
          <a:ln/>
        </p:spPr>
      </p:sp>
      <p:sp>
        <p:nvSpPr>
          <p:cNvPr id="9" name="Text 5"/>
          <p:cNvSpPr/>
          <p:nvPr/>
        </p:nvSpPr>
        <p:spPr>
          <a:xfrm>
            <a:off x="548640" y="55778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2926080" y="5577840"/>
            <a:ext cx="2103120" cy="548640"/>
          </a:xfrm>
          <a:prstGeom prst="roundRect">
            <a:avLst>
              <a:gd name="adj" fmla="val 13333"/>
            </a:avLst>
          </a:prstGeom>
          <a:solidFill>
            <a:srgbClr val="006580"/>
          </a:solidFill>
          <a:ln/>
        </p:spPr>
      </p:sp>
      <p:sp>
        <p:nvSpPr>
          <p:cNvPr id="11" name="Text 7"/>
          <p:cNvSpPr/>
          <p:nvPr/>
        </p:nvSpPr>
        <p:spPr>
          <a:xfrm>
            <a:off x="2926080" y="55778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303520" y="5577840"/>
            <a:ext cx="2103120" cy="548640"/>
          </a:xfrm>
          <a:prstGeom prst="roundRect">
            <a:avLst>
              <a:gd name="adj" fmla="val 13333"/>
            </a:avLst>
          </a:prstGeom>
          <a:solidFill>
            <a:srgbClr val="19416C"/>
          </a:solidFill>
          <a:ln/>
        </p:spPr>
      </p:sp>
      <p:sp>
        <p:nvSpPr>
          <p:cNvPr id="13" name="Text 9"/>
          <p:cNvSpPr/>
          <p:nvPr/>
        </p:nvSpPr>
        <p:spPr>
          <a:xfrm>
            <a:off x="5303520" y="55778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7680960" y="5577840"/>
            <a:ext cx="2103120" cy="548640"/>
          </a:xfrm>
          <a:prstGeom prst="roundRect">
            <a:avLst>
              <a:gd name="adj" fmla="val 13333"/>
            </a:avLst>
          </a:prstGeom>
          <a:solidFill>
            <a:srgbClr val="4CB393"/>
          </a:solidFill>
          <a:ln/>
        </p:spPr>
      </p:sp>
      <p:sp>
        <p:nvSpPr>
          <p:cNvPr id="15" name="Text 11"/>
          <p:cNvSpPr/>
          <p:nvPr/>
        </p:nvSpPr>
        <p:spPr>
          <a:xfrm>
            <a:off x="7680960" y="55778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Outcomes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 Architecture Overview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320040" y="1161288"/>
            <a:ext cx="1417320" cy="594360"/>
          </a:xfrm>
          <a:prstGeom prst="roundRect">
            <a:avLst>
              <a:gd name="adj" fmla="val 9231"/>
            </a:avLst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320040" y="1161288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20040" y="2578608"/>
            <a:ext cx="1417320" cy="594360"/>
          </a:xfrm>
          <a:prstGeom prst="roundRect">
            <a:avLst>
              <a:gd name="adj" fmla="val 9231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320040" y="2578608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20040" y="3950208"/>
            <a:ext cx="1417320" cy="594360"/>
          </a:xfrm>
          <a:prstGeom prst="roundRect">
            <a:avLst>
              <a:gd name="adj" fmla="val 9231"/>
            </a:avLst>
          </a:prstGeom>
          <a:solidFill>
            <a:srgbClr val="19416C"/>
          </a:solidFill>
          <a:ln/>
        </p:spPr>
      </p:sp>
      <p:sp>
        <p:nvSpPr>
          <p:cNvPr id="13" name="Text 10"/>
          <p:cNvSpPr/>
          <p:nvPr/>
        </p:nvSpPr>
        <p:spPr>
          <a:xfrm>
            <a:off x="320040" y="3950208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320040" y="5230368"/>
            <a:ext cx="1417320" cy="594360"/>
          </a:xfrm>
          <a:prstGeom prst="roundRect">
            <a:avLst>
              <a:gd name="adj" fmla="val 9231"/>
            </a:avLst>
          </a:prstGeom>
          <a:solidFill>
            <a:srgbClr val="4CB393"/>
          </a:solidFill>
          <a:ln/>
        </p:spPr>
      </p:sp>
      <p:sp>
        <p:nvSpPr>
          <p:cNvPr id="15" name="Text 12"/>
          <p:cNvSpPr/>
          <p:nvPr/>
        </p:nvSpPr>
        <p:spPr>
          <a:xfrm>
            <a:off x="320040" y="5230368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OUTCOMES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1965960" y="1005840"/>
            <a:ext cx="2834640" cy="91440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2039112" y="1060704"/>
            <a:ext cx="268833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(WMS)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2039112" y="1481328"/>
            <a:ext cx="268833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• 3 tables • Real-time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983480" y="1005840"/>
            <a:ext cx="2834640" cy="91440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056632" y="1060704"/>
            <a:ext cx="268833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Apache Kafka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5056632" y="1481328"/>
            <a:ext cx="268833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• 2 IoT topics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8001000" y="1005840"/>
            <a:ext cx="2834640" cy="91440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8074152" y="1060704"/>
            <a:ext cx="268833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Salesforce CRM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8074152" y="1481328"/>
            <a:ext cx="268833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Connector • 3 objects • 15 min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3383280" y="1920240"/>
            <a:ext cx="0" cy="502920"/>
          </a:xfrm>
          <a:prstGeom prst="line">
            <a:avLst/>
          </a:prstGeom>
          <a:noFill/>
          <a:ln w="19050">
            <a:solidFill>
              <a:srgbClr val="006580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6400800" y="1920240"/>
            <a:ext cx="0" cy="502920"/>
          </a:xfrm>
          <a:prstGeom prst="line">
            <a:avLst/>
          </a:prstGeom>
          <a:noFill/>
          <a:ln w="19050">
            <a:solidFill>
              <a:srgbClr val="006580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9418320" y="1920240"/>
            <a:ext cx="0" cy="502920"/>
          </a:xfrm>
          <a:prstGeom prst="line">
            <a:avLst/>
          </a:prstGeom>
          <a:noFill/>
          <a:ln w="19050">
            <a:solidFill>
              <a:srgbClr val="006580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1965960" y="2423160"/>
            <a:ext cx="7040880" cy="914400"/>
          </a:xfrm>
          <a:prstGeom prst="roundRect">
            <a:avLst>
              <a:gd name="adj" fmla="val 12000"/>
            </a:avLst>
          </a:prstGeom>
          <a:solidFill>
            <a:srgbClr val="E0F5EA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965960" y="2414016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Open Lakehouse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2148840" y="2715768"/>
            <a:ext cx="2011680" cy="530352"/>
          </a:xfrm>
          <a:prstGeom prst="roundRect">
            <a:avLst>
              <a:gd name="adj" fmla="val 1724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1" name="Text 28"/>
          <p:cNvSpPr/>
          <p:nvPr/>
        </p:nvSpPr>
        <p:spPr>
          <a:xfrm>
            <a:off x="2221992" y="2770632"/>
            <a:ext cx="1865376" cy="26517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 (8 tables)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2221992" y="2999232"/>
            <a:ext cx="1865376" cy="222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ingestion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343400" y="2715768"/>
            <a:ext cx="2011680" cy="530352"/>
          </a:xfrm>
          <a:prstGeom prst="roundRect">
            <a:avLst>
              <a:gd name="adj" fmla="val 17241"/>
            </a:avLst>
          </a:prstGeom>
          <a:solidFill>
            <a:srgbClr val="009845"/>
          </a:solidFill>
          <a:ln w="6350">
            <a:solidFill>
              <a:srgbClr val="009845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4" name="Text 31"/>
          <p:cNvSpPr/>
          <p:nvPr/>
        </p:nvSpPr>
        <p:spPr>
          <a:xfrm>
            <a:off x="4416552" y="2770632"/>
            <a:ext cx="1865376" cy="26517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 (8 routes)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4416552" y="2999232"/>
            <a:ext cx="1865376" cy="222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Cleansed + joined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6537960" y="2715768"/>
            <a:ext cx="2286000" cy="530352"/>
          </a:xfrm>
          <a:prstGeom prst="roundRect">
            <a:avLst>
              <a:gd name="adj" fmla="val 17241"/>
            </a:avLst>
          </a:prstGeom>
          <a:solidFill>
            <a:srgbClr val="19416C"/>
          </a:solidFill>
          <a:ln w="63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7" name="Text 34"/>
          <p:cNvSpPr/>
          <p:nvPr/>
        </p:nvSpPr>
        <p:spPr>
          <a:xfrm>
            <a:off x="6611112" y="2770632"/>
            <a:ext cx="2139696" cy="26517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 (2 products)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6611112" y="2999232"/>
            <a:ext cx="2139696" cy="222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Governed + API-shared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4160520" y="2980944"/>
            <a:ext cx="182880" cy="0"/>
          </a:xfrm>
          <a:prstGeom prst="line">
            <a:avLst/>
          </a:prstGeom>
          <a:noFill/>
          <a:ln w="1905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40" name="Shape 37"/>
          <p:cNvSpPr/>
          <p:nvPr/>
        </p:nvSpPr>
        <p:spPr>
          <a:xfrm>
            <a:off x="6355080" y="2980944"/>
            <a:ext cx="182880" cy="0"/>
          </a:xfrm>
          <a:prstGeom prst="line">
            <a:avLst/>
          </a:prstGeom>
          <a:noFill/>
          <a:ln w="19050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41" name="Shape 38"/>
          <p:cNvSpPr/>
          <p:nvPr/>
        </p:nvSpPr>
        <p:spPr>
          <a:xfrm>
            <a:off x="9189720" y="2423160"/>
            <a:ext cx="1691640" cy="91440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 w="6350">
            <a:solidFill>
              <a:srgbClr val="009845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42" name="Text 39"/>
          <p:cNvSpPr/>
          <p:nvPr/>
        </p:nvSpPr>
        <p:spPr>
          <a:xfrm>
            <a:off x="9262872" y="2478024"/>
            <a:ext cx="154533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9262872" y="2898648"/>
            <a:ext cx="154533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Address Validation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Stewardship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3794760" y="3337560"/>
            <a:ext cx="0" cy="457200"/>
          </a:xfrm>
          <a:prstGeom prst="line">
            <a:avLst/>
          </a:prstGeom>
          <a:noFill/>
          <a:ln w="1905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45" name="Shape 42"/>
          <p:cNvSpPr/>
          <p:nvPr/>
        </p:nvSpPr>
        <p:spPr>
          <a:xfrm>
            <a:off x="7909560" y="3337560"/>
            <a:ext cx="0" cy="457200"/>
          </a:xfrm>
          <a:prstGeom prst="line">
            <a:avLst/>
          </a:prstGeom>
          <a:noFill/>
          <a:ln w="1905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46" name="Shape 43"/>
          <p:cNvSpPr/>
          <p:nvPr/>
        </p:nvSpPr>
        <p:spPr>
          <a:xfrm>
            <a:off x="1965960" y="3794760"/>
            <a:ext cx="2743200" cy="91440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 w="63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47" name="Text 44"/>
          <p:cNvSpPr/>
          <p:nvPr/>
        </p:nvSpPr>
        <p:spPr>
          <a:xfrm>
            <a:off x="2039112" y="3849624"/>
            <a:ext cx="259689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</a:t>
            </a:r>
            <a:endParaRPr lang="en-US" sz="1200" dirty="0"/>
          </a:p>
        </p:txBody>
      </p:sp>
      <p:sp>
        <p:nvSpPr>
          <p:cNvPr id="48" name="Text 45"/>
          <p:cNvSpPr/>
          <p:nvPr/>
        </p:nvSpPr>
        <p:spPr>
          <a:xfrm>
            <a:off x="2039112" y="4270248"/>
            <a:ext cx="259689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apps • 10 sheets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4892040" y="3794760"/>
            <a:ext cx="2743200" cy="91440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 w="63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50" name="Text 47"/>
          <p:cNvSpPr/>
          <p:nvPr/>
        </p:nvSpPr>
        <p:spPr>
          <a:xfrm>
            <a:off x="4965192" y="3849624"/>
            <a:ext cx="259689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</a:t>
            </a:r>
            <a:endParaRPr lang="en-US" sz="1200" dirty="0"/>
          </a:p>
        </p:txBody>
      </p:sp>
      <p:sp>
        <p:nvSpPr>
          <p:cNvPr id="51" name="Text 48"/>
          <p:cNvSpPr/>
          <p:nvPr/>
        </p:nvSpPr>
        <p:spPr>
          <a:xfrm>
            <a:off x="4965192" y="4270248"/>
            <a:ext cx="259689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Spoilage Risk • SLA Model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7818120" y="3794760"/>
            <a:ext cx="3063240" cy="91440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 w="63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53" name="Text 50"/>
          <p:cNvSpPr/>
          <p:nvPr/>
        </p:nvSpPr>
        <p:spPr>
          <a:xfrm>
            <a:off x="7891272" y="3849624"/>
            <a:ext cx="291693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 &amp; Trust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7891272" y="4270248"/>
            <a:ext cx="291693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• Stewardship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Glossary • Lineage</a:t>
            </a:r>
            <a:endParaRPr lang="en-US" sz="1000" dirty="0"/>
          </a:p>
        </p:txBody>
      </p:sp>
      <p:sp>
        <p:nvSpPr>
          <p:cNvPr id="55" name="Shape 52"/>
          <p:cNvSpPr/>
          <p:nvPr/>
        </p:nvSpPr>
        <p:spPr>
          <a:xfrm>
            <a:off x="3337560" y="4709160"/>
            <a:ext cx="0" cy="365760"/>
          </a:xfrm>
          <a:prstGeom prst="line">
            <a:avLst/>
          </a:prstGeom>
          <a:noFill/>
          <a:ln w="19050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56" name="Shape 53"/>
          <p:cNvSpPr/>
          <p:nvPr/>
        </p:nvSpPr>
        <p:spPr>
          <a:xfrm>
            <a:off x="6263640" y="4709160"/>
            <a:ext cx="0" cy="365760"/>
          </a:xfrm>
          <a:prstGeom prst="line">
            <a:avLst/>
          </a:prstGeom>
          <a:noFill/>
          <a:ln w="19050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57" name="Shape 54"/>
          <p:cNvSpPr/>
          <p:nvPr/>
        </p:nvSpPr>
        <p:spPr>
          <a:xfrm>
            <a:off x="9372600" y="4709160"/>
            <a:ext cx="0" cy="365760"/>
          </a:xfrm>
          <a:prstGeom prst="line">
            <a:avLst/>
          </a:prstGeom>
          <a:noFill/>
          <a:ln w="19050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58" name="Shape 55"/>
          <p:cNvSpPr/>
          <p:nvPr/>
        </p:nvSpPr>
        <p:spPr>
          <a:xfrm>
            <a:off x="1965960" y="5074920"/>
            <a:ext cx="2103120" cy="91440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59" name="Text 56"/>
          <p:cNvSpPr/>
          <p:nvPr/>
        </p:nvSpPr>
        <p:spPr>
          <a:xfrm>
            <a:off x="2039112" y="5129784"/>
            <a:ext cx="195681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</a:t>
            </a:r>
            <a:endParaRPr lang="en-US" sz="1200" dirty="0"/>
          </a:p>
        </p:txBody>
      </p:sp>
      <p:sp>
        <p:nvSpPr>
          <p:cNvPr id="60" name="Text 57"/>
          <p:cNvSpPr/>
          <p:nvPr/>
        </p:nvSpPr>
        <p:spPr>
          <a:xfrm>
            <a:off x="2039112" y="5550408"/>
            <a:ext cx="195681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DOCX docs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base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4251960" y="5074920"/>
            <a:ext cx="2103120" cy="91440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62" name="Text 59"/>
          <p:cNvSpPr/>
          <p:nvPr/>
        </p:nvSpPr>
        <p:spPr>
          <a:xfrm>
            <a:off x="4325112" y="5129784"/>
            <a:ext cx="195681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</a:t>
            </a:r>
            <a:endParaRPr lang="en-US" sz="1200" dirty="0"/>
          </a:p>
        </p:txBody>
      </p:sp>
      <p:sp>
        <p:nvSpPr>
          <p:cNvPr id="63" name="Text 60"/>
          <p:cNvSpPr/>
          <p:nvPr/>
        </p:nvSpPr>
        <p:spPr>
          <a:xfrm>
            <a:off x="4325112" y="5550408"/>
            <a:ext cx="195681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Anomaly detection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Proactive alerts</a:t>
            </a:r>
            <a:endParaRPr lang="en-US" sz="1000" dirty="0"/>
          </a:p>
        </p:txBody>
      </p:sp>
      <p:sp>
        <p:nvSpPr>
          <p:cNvPr id="64" name="Shape 61"/>
          <p:cNvSpPr/>
          <p:nvPr/>
        </p:nvSpPr>
        <p:spPr>
          <a:xfrm>
            <a:off x="6537960" y="5074920"/>
            <a:ext cx="2103120" cy="91440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65" name="Text 62"/>
          <p:cNvSpPr/>
          <p:nvPr/>
        </p:nvSpPr>
        <p:spPr>
          <a:xfrm>
            <a:off x="6611112" y="5129784"/>
            <a:ext cx="195681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Server</a:t>
            </a:r>
            <a:endParaRPr lang="en-US" sz="1200" dirty="0"/>
          </a:p>
        </p:txBody>
      </p:sp>
      <p:sp>
        <p:nvSpPr>
          <p:cNvPr id="66" name="Text 63"/>
          <p:cNvSpPr/>
          <p:nvPr/>
        </p:nvSpPr>
        <p:spPr>
          <a:xfrm>
            <a:off x="6611112" y="5550408"/>
            <a:ext cx="195681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integration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queries</a:t>
            </a:r>
            <a:endParaRPr lang="en-US" sz="1000" dirty="0"/>
          </a:p>
        </p:txBody>
      </p:sp>
      <p:sp>
        <p:nvSpPr>
          <p:cNvPr id="67" name="Shape 64"/>
          <p:cNvSpPr/>
          <p:nvPr/>
        </p:nvSpPr>
        <p:spPr>
          <a:xfrm>
            <a:off x="8823960" y="5074920"/>
            <a:ext cx="2057400" cy="91440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68" name="Text 65"/>
          <p:cNvSpPr/>
          <p:nvPr/>
        </p:nvSpPr>
        <p:spPr>
          <a:xfrm>
            <a:off x="8897112" y="5129784"/>
            <a:ext cx="191109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Automations</a:t>
            </a:r>
            <a:endParaRPr lang="en-US" sz="1200" dirty="0"/>
          </a:p>
        </p:txBody>
      </p:sp>
      <p:sp>
        <p:nvSpPr>
          <p:cNvPr id="69" name="Text 66"/>
          <p:cNvSpPr/>
          <p:nvPr/>
        </p:nvSpPr>
        <p:spPr>
          <a:xfrm>
            <a:off x="8897112" y="5550408"/>
            <a:ext cx="191109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Teams alerts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jobs</a:t>
            </a:r>
            <a:endParaRPr lang="en-US" sz="1000" dirty="0"/>
          </a:p>
        </p:txBody>
      </p:sp>
      <p:sp>
        <p:nvSpPr>
          <p:cNvPr id="70" name="Shape 67"/>
          <p:cNvSpPr/>
          <p:nvPr/>
        </p:nvSpPr>
        <p:spPr>
          <a:xfrm>
            <a:off x="10744200" y="1005840"/>
            <a:ext cx="1234440" cy="914400"/>
          </a:xfrm>
          <a:prstGeom prst="roundRect">
            <a:avLst>
              <a:gd name="adj" fmla="val 8000"/>
            </a:avLst>
          </a:prstGeom>
          <a:solidFill>
            <a:srgbClr val="E3EAF3"/>
          </a:solidFill>
          <a:ln w="12700">
            <a:solidFill>
              <a:srgbClr val="19416C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10744200" y="1005840"/>
            <a:ext cx="1234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Data Quality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Nightmares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$127M/yr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 — Three Pillars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3566160" cy="5120640"/>
          </a:xfrm>
          <a:prstGeom prst="roundRect">
            <a:avLst>
              <a:gd name="adj" fmla="val 3077"/>
            </a:avLst>
          </a:prstGeom>
          <a:solidFill>
            <a:srgbClr val="E3EAF3"/>
          </a:solidFill>
          <a:ln w="19050">
            <a:solidFill>
              <a:srgbClr val="19416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105156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(WMS)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14173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Data Capture • Real-time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94360" y="1828800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85800" y="182880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85800" y="2103120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~8,000 rows  •  Stock levels by DC/SKU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594360" y="2487168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5800" y="2487168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warehouse_events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85800" y="2761488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~15,000 rows  •  Pick, pack, ship events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594360" y="3145536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85800" y="3145536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shipments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85800" y="3419856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~3,000 rows  •  Outbound shipment tracking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594360" y="39319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 Issues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594360" y="4251960"/>
            <a:ext cx="32918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Phantom inventory (WMS vs ERP mismatch)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Missing lot numbers on 15% of perishables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Timestamp drift between WMS and SAP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Silent pipeline failures (72h undetected)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206240" y="1005840"/>
            <a:ext cx="3566160" cy="5120640"/>
          </a:xfrm>
          <a:prstGeom prst="roundRect">
            <a:avLst>
              <a:gd name="adj" fmla="val 3077"/>
            </a:avLst>
          </a:prstGeom>
          <a:solidFill>
            <a:srgbClr val="E0F2F5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206240" y="105156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Apache Kafka (IoT)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4206240" y="14173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• Confluent Platform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4343400" y="1828800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434840" y="182880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mcg.iot.cold-chain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4434840" y="2103120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 msg/5s  •  Temperature, humidity, GPS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4343400" y="2487168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434840" y="2487168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mcg.iot.carrier-events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4434840" y="2761488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 msg/min  •  Carrier status updates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4343400" y="329184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 Issues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4343400" y="3611880"/>
            <a:ext cx="32918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5% readings in Fahrenheit (mixed units)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3% bare timestamps (no timezone)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2% Lagos GPS blackouts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8.8% GRU-BA temp exceedances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Carrier status in 5 languages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7955280" y="1005840"/>
            <a:ext cx="3566160" cy="5120640"/>
          </a:xfrm>
          <a:prstGeom prst="roundRect">
            <a:avLst>
              <a:gd name="adj" fmla="val 3077"/>
            </a:avLst>
          </a:prstGeom>
          <a:solidFill>
            <a:srgbClr val="E0F5EA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955280" y="105156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Salesforce CRM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7955280" y="14173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 Connector • 15-min polling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8092440" y="1828800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8183880" y="182880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Contact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8183880" y="2103120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18.4M records  •  Customer addresses</a:t>
            </a:r>
            <a:endParaRPr lang="en-US" sz="900" dirty="0"/>
          </a:p>
        </p:txBody>
      </p:sp>
      <p:sp>
        <p:nvSpPr>
          <p:cNvPr id="39" name="Shape 36"/>
          <p:cNvSpPr/>
          <p:nvPr/>
        </p:nvSpPr>
        <p:spPr>
          <a:xfrm>
            <a:off x="8092440" y="2487168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8183880" y="2487168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MCG_Order__c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8183880" y="2761488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~12,000  •  Order details + SLAs</a:t>
            </a:r>
            <a:endParaRPr lang="en-US" sz="900" dirty="0"/>
          </a:p>
        </p:txBody>
      </p:sp>
      <p:sp>
        <p:nvSpPr>
          <p:cNvPr id="42" name="Shape 39"/>
          <p:cNvSpPr/>
          <p:nvPr/>
        </p:nvSpPr>
        <p:spPr>
          <a:xfrm>
            <a:off x="8092440" y="3145536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8183880" y="3145536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MCG_Product__c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8183880" y="3419856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~5,000  •  Product catalog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8092440" y="39319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 Issues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8092440" y="4251960"/>
            <a:ext cx="32918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11% address format inconsistencies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6% truncated addresses (30-char limit)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Duplicate customer records (fuzzy)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Mixed naming conventions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Lakehouse — Medallion Architecture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3291840" cy="5166360"/>
          </a:xfrm>
          <a:prstGeom prst="roundRect">
            <a:avLst>
              <a:gd name="adj" fmla="val 3333"/>
            </a:avLst>
          </a:prstGeom>
          <a:solidFill>
            <a:srgbClr val="E0F2F5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" y="1143000"/>
            <a:ext cx="292608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10" name="Text 7"/>
          <p:cNvSpPr/>
          <p:nvPr/>
        </p:nvSpPr>
        <p:spPr>
          <a:xfrm>
            <a:off x="640080" y="114300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40080" y="146304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Ingestion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94360" y="1874520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13232" y="1874520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 (CDC)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94360" y="2386584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13232" y="2386584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warehouse_events (CDC)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94360" y="2898648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13232" y="2898648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shipments (CDC)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94360" y="3410712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13232" y="3410712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sf_contacts (API)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94360" y="3922776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13232" y="3922776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sf_orders (API)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94360" y="4434840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13232" y="4434840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sf_products (API)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594360" y="4946904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13232" y="4946904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iot_cold_chain (Stream)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594360" y="5458968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13232" y="5458968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iot_carrier_events (Stream)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4206240" y="1005840"/>
            <a:ext cx="3383280" cy="5166360"/>
          </a:xfrm>
          <a:prstGeom prst="roundRect">
            <a:avLst>
              <a:gd name="adj" fmla="val 3243"/>
            </a:avLst>
          </a:prstGeom>
          <a:solidFill>
            <a:srgbClr val="E0F5EA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389120" y="1143000"/>
            <a:ext cx="301752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30" name="Text 27"/>
          <p:cNvSpPr/>
          <p:nvPr/>
        </p:nvSpPr>
        <p:spPr>
          <a:xfrm>
            <a:off x="4389120" y="1143000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4389120" y="1463040"/>
            <a:ext cx="3017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Transformation Routes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343400" y="1874520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462272" y="1874520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Timestamp Normalization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4343400" y="2386584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462272" y="2386584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Inventory Reconciliation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343400" y="2898648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4462272" y="2898648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Address Standardization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4343400" y="3410712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4462272" y="3410712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Product Harmonization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4343400" y="3922776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4462272" y="3922776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 Carrier Canonicalization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4343400" y="4434840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4462272" y="4434840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 IoT Normalization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4343400" y="4946904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4462272" y="4946904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 Supplier Deduplication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4343400" y="5458968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4462272" y="5458968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 Order-to-Delivery Timeline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8046720" y="1005840"/>
            <a:ext cx="3566160" cy="5166360"/>
          </a:xfrm>
          <a:prstGeom prst="roundRect">
            <a:avLst>
              <a:gd name="adj" fmla="val 3077"/>
            </a:avLst>
          </a:prstGeom>
          <a:solidFill>
            <a:srgbClr val="E3EAF3"/>
          </a:solidFill>
          <a:ln w="19050">
            <a:solidFill>
              <a:srgbClr val="19416C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8229600" y="1143000"/>
            <a:ext cx="3200400" cy="54864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</p:sp>
      <p:sp>
        <p:nvSpPr>
          <p:cNvPr id="50" name="Text 47"/>
          <p:cNvSpPr/>
          <p:nvPr/>
        </p:nvSpPr>
        <p:spPr>
          <a:xfrm>
            <a:off x="8229600" y="114300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</a:t>
            </a:r>
            <a:endParaRPr lang="en-US" sz="1500" dirty="0"/>
          </a:p>
        </p:txBody>
      </p:sp>
      <p:sp>
        <p:nvSpPr>
          <p:cNvPr id="51" name="Text 48"/>
          <p:cNvSpPr/>
          <p:nvPr/>
        </p:nvSpPr>
        <p:spPr>
          <a:xfrm>
            <a:off x="8229600" y="146304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Governed Data Products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8183880" y="1874520"/>
            <a:ext cx="329184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8302752" y="1874520"/>
            <a:ext cx="305409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supply_chain_health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8183880" y="2386584"/>
            <a:ext cx="329184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8302752" y="2386584"/>
            <a:ext cx="305409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last_mile_performance</a:t>
            </a:r>
            <a:endParaRPr lang="en-US" sz="1000" dirty="0"/>
          </a:p>
        </p:txBody>
      </p:sp>
      <p:sp>
        <p:nvSpPr>
          <p:cNvPr id="56" name="Shape 53"/>
          <p:cNvSpPr/>
          <p:nvPr/>
        </p:nvSpPr>
        <p:spPr>
          <a:xfrm>
            <a:off x="3749040" y="3474720"/>
            <a:ext cx="457200" cy="0"/>
          </a:xfrm>
          <a:prstGeom prst="line">
            <a:avLst/>
          </a:prstGeom>
          <a:noFill/>
          <a:ln w="2540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57" name="Shape 54"/>
          <p:cNvSpPr/>
          <p:nvPr/>
        </p:nvSpPr>
        <p:spPr>
          <a:xfrm>
            <a:off x="7772400" y="3474720"/>
            <a:ext cx="457200" cy="0"/>
          </a:xfrm>
          <a:prstGeom prst="line">
            <a:avLst/>
          </a:prstGeom>
          <a:noFill/>
          <a:ln w="2540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58" name="Text 55"/>
          <p:cNvSpPr/>
          <p:nvPr/>
        </p:nvSpPr>
        <p:spPr>
          <a:xfrm>
            <a:off x="3611880" y="292608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Flows +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Jobs</a:t>
            </a:r>
            <a:endParaRPr lang="en-US" sz="800" dirty="0"/>
          </a:p>
        </p:txBody>
      </p:sp>
      <p:sp>
        <p:nvSpPr>
          <p:cNvPr id="59" name="Text 56"/>
          <p:cNvSpPr/>
          <p:nvPr/>
        </p:nvSpPr>
        <p:spPr>
          <a:xfrm>
            <a:off x="7635240" y="292608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Table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Recipes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Transformation Routes — Nightmare Mapping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74552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0584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Route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749040" y="10058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 Addressed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223760" y="100584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 Transformation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57200" y="1508760"/>
            <a:ext cx="11274552" cy="502920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13" name="Text 10"/>
          <p:cNvSpPr/>
          <p:nvPr/>
        </p:nvSpPr>
        <p:spPr>
          <a:xfrm>
            <a:off x="640080" y="150876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Timestamp Normalization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749040" y="150876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#5 Timestamp Tower of Babel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223760" y="150876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timestamps → UTC with source tracking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57200" y="2057400"/>
            <a:ext cx="112745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205740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Inventory Reconciliation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749040" y="20574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#1 Phantom Inventory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223760" y="205740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WMS vs ERP comparison, phantom detection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606040"/>
            <a:ext cx="11274552" cy="502920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21" name="Text 18"/>
          <p:cNvSpPr/>
          <p:nvPr/>
        </p:nvSpPr>
        <p:spPr>
          <a:xfrm>
            <a:off x="640080" y="260604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Address Standardization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749040" y="260604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#2 Address Catastrophe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223760" y="260604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Fuzzy matching, postal code normalization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154680"/>
            <a:ext cx="112745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640080" y="315468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Product Harmonization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749040" y="315468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#3 Product Master Mess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7223760" y="315468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SKU resolution, weight/UoM standardization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57200" y="3703320"/>
            <a:ext cx="11274552" cy="502920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29" name="Text 26"/>
          <p:cNvSpPr/>
          <p:nvPr/>
        </p:nvSpPr>
        <p:spPr>
          <a:xfrm>
            <a:off x="640080" y="370332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 Carrier Canonicalization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3749040" y="370332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#6 Carrier Data Black Hole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7223760" y="370332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Multi-language status → MCG canonical codes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57200" y="4251960"/>
            <a:ext cx="112745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Text 30"/>
          <p:cNvSpPr/>
          <p:nvPr/>
        </p:nvSpPr>
        <p:spPr>
          <a:xfrm>
            <a:off x="640080" y="425196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 IoT Normalization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3749040" y="425196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#5 + #6 Combined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7223760" y="425196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Celsius normalization, GPS gap detection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57200" y="4800600"/>
            <a:ext cx="11274552" cy="502920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37" name="Text 34"/>
          <p:cNvSpPr/>
          <p:nvPr/>
        </p:nvSpPr>
        <p:spPr>
          <a:xfrm>
            <a:off x="640080" y="480060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 Supplier Deduplication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3749040" y="48006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#3 Product Master Mess</a:t>
            </a:r>
            <a:endParaRPr lang="en-US" sz="1100" dirty="0"/>
          </a:p>
        </p:txBody>
      </p:sp>
      <p:sp>
        <p:nvSpPr>
          <p:cNvPr id="39" name="Text 36"/>
          <p:cNvSpPr/>
          <p:nvPr/>
        </p:nvSpPr>
        <p:spPr>
          <a:xfrm>
            <a:off x="7223760" y="480060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Fuzzy name matching, canonical ID assignment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349240"/>
            <a:ext cx="112745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Text 38"/>
          <p:cNvSpPr/>
          <p:nvPr/>
        </p:nvSpPr>
        <p:spPr>
          <a:xfrm>
            <a:off x="640080" y="534924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 Order-to-Delivery Timeline</a:t>
            </a:r>
            <a:endParaRPr lang="en-US" sz="1100" dirty="0"/>
          </a:p>
        </p:txBody>
      </p:sp>
      <p:sp>
        <p:nvSpPr>
          <p:cNvPr id="42" name="Text 39"/>
          <p:cNvSpPr/>
          <p:nvPr/>
        </p:nvSpPr>
        <p:spPr>
          <a:xfrm>
            <a:off x="3749040" y="534924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#5 + #6 Combined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7223760" y="534924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 order lifecycle assembly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760720"/>
            <a:ext cx="11274552" cy="457200"/>
          </a:xfrm>
          <a:prstGeom prst="roundRect">
            <a:avLst>
              <a:gd name="adj" fmla="val 12000"/>
            </a:avLst>
          </a:prstGeom>
          <a:solidFill>
            <a:srgbClr val="E0F5EA"/>
          </a:solidFill>
          <a:ln w="12700">
            <a:solidFill>
              <a:srgbClr val="009845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640080" y="57607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Talend Address Validation Job (callable service)   •   All 8 routes defined as declarative YAML — version-controlled, API-imported, daily-scheduled (QTCP preview)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Gold-Layer Data Products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457200" y="86868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governed mart per analytics domain app — created by the pipeline's gold datamart task, attached via the Data Products API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822960" y="1554480"/>
            <a:ext cx="502920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90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96112" y="1609344"/>
            <a:ext cx="4882896" cy="54864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73736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Supply Chain Health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005840" y="224028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Owner: Henrik Jansen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005840" y="251460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Refresh: Daily 06:00 UTC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1005840" y="278892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KPI: IRA: 97% target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822960" y="32918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 •  API Sharing  •  Lineage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6400800" y="1554480"/>
            <a:ext cx="502920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9050">
            <a:solidFill>
              <a:srgbClr val="009845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473952" y="1609344"/>
            <a:ext cx="4882896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18" name="Text 15"/>
          <p:cNvSpPr/>
          <p:nvPr/>
        </p:nvSpPr>
        <p:spPr>
          <a:xfrm>
            <a:off x="6400800" y="173736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Last Mile Performance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583680" y="224028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Owner: Sophie Müller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583680" y="251460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Refresh: Daily 06:00 UTC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6583680" y="278892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KPI: On-time: 92%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32918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 •  API Sharing  •  Lineage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2194560"/>
            <a:ext cx="7315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&amp;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Layer</a:t>
            </a:r>
            <a:endParaRPr lang="en-US" sz="3600" dirty="0"/>
          </a:p>
        </p:txBody>
      </p:sp>
      <p:sp>
        <p:nvSpPr>
          <p:cNvPr id="4" name="Text 1"/>
          <p:cNvSpPr/>
          <p:nvPr/>
        </p:nvSpPr>
        <p:spPr>
          <a:xfrm>
            <a:off x="731520" y="33832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  •  Predict  •  Answers  •  Discovery Agent  •  MCP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&amp; AI Layer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577840" cy="2377440"/>
          </a:xfrm>
          <a:prstGeom prst="roundRect">
            <a:avLst>
              <a:gd name="adj" fmla="val 4615"/>
            </a:avLst>
          </a:prstGeom>
          <a:solidFill>
            <a:srgbClr val="E3EAF3"/>
          </a:solidFill>
          <a:ln w="19050">
            <a:solidFill>
              <a:srgbClr val="19416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1024128"/>
            <a:ext cx="5577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 — 2 Domain Apps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85800" y="1508760"/>
            <a:ext cx="2468880" cy="822960"/>
          </a:xfrm>
          <a:prstGeom prst="roundRect">
            <a:avLst>
              <a:gd name="adj" fmla="val 1111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758952" y="1563624"/>
            <a:ext cx="2322576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Supply Chain Operations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58952" y="1938528"/>
            <a:ext cx="2322576" cy="3456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sheets: Inventory, Cold Chain,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Quality, Compliance, Cost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291840" y="1508760"/>
            <a:ext cx="2468880" cy="822960"/>
          </a:xfrm>
          <a:prstGeom prst="roundRect">
            <a:avLst>
              <a:gd name="adj" fmla="val 1111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3364992" y="1563624"/>
            <a:ext cx="2322576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Delivery &amp; Customer Exp.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3364992" y="1938528"/>
            <a:ext cx="2322576" cy="3456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sheets: Last Mile, Tracking,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WISMO, Orders, Addresses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57200" y="2514600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Dark Theme  •  Streaming IoT  •  Section Access  •  Business Logic  •  NLI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6263640" y="1005840"/>
            <a:ext cx="5440680" cy="2377440"/>
          </a:xfrm>
          <a:prstGeom prst="roundRect">
            <a:avLst>
              <a:gd name="adj" fmla="val 4615"/>
            </a:avLst>
          </a:prstGeom>
          <a:solidFill>
            <a:srgbClr val="E0F2F5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263640" y="1024128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 — 2 AutoML Models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6492240" y="1508760"/>
            <a:ext cx="2468880" cy="822960"/>
          </a:xfrm>
          <a:prstGeom prst="roundRect">
            <a:avLst>
              <a:gd name="adj" fmla="val 1111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6565392" y="1563624"/>
            <a:ext cx="2322576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Spoilage Risk Predictor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565392" y="1938528"/>
            <a:ext cx="2322576" cy="3456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 spoilage_risk_score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feature: route_id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9098280" y="1508760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9171432" y="1563624"/>
            <a:ext cx="2231136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Delivery SLA Predictor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9171432" y="1938528"/>
            <a:ext cx="2231136" cy="3456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 sla_met (Y/N)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Top: address_quality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6263640" y="2514600"/>
            <a:ext cx="5440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AutoML  •  Feature Importance  •  API Sharing  •  Deployed to Production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457200" y="3703320"/>
            <a:ext cx="11247120" cy="2468880"/>
          </a:xfrm>
          <a:prstGeom prst="roundRect">
            <a:avLst>
              <a:gd name="adj" fmla="val 4444"/>
            </a:avLst>
          </a:prstGeom>
          <a:solidFill>
            <a:srgbClr val="E0F5EA"/>
          </a:solidFill>
          <a:ln w="19050">
            <a:solidFill>
              <a:srgbClr val="4CB39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7200" y="3703320"/>
            <a:ext cx="11247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Agentic Layer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685800" y="4206240"/>
            <a:ext cx="2377440" cy="1737360"/>
          </a:xfrm>
          <a:prstGeom prst="roundRect">
            <a:avLst>
              <a:gd name="adj" fmla="val 5263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9" name="Text 26"/>
          <p:cNvSpPr/>
          <p:nvPr/>
        </p:nvSpPr>
        <p:spPr>
          <a:xfrm>
            <a:off x="758952" y="4261104"/>
            <a:ext cx="2231136" cy="8686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758952" y="5093208"/>
            <a:ext cx="2231136" cy="7296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DOCX docs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demo scenarios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Mart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3291840" y="4206240"/>
            <a:ext cx="2377440" cy="1737360"/>
          </a:xfrm>
          <a:prstGeom prst="roundRect">
            <a:avLst>
              <a:gd name="adj" fmla="val 5263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2" name="Text 29"/>
          <p:cNvSpPr/>
          <p:nvPr/>
        </p:nvSpPr>
        <p:spPr>
          <a:xfrm>
            <a:off x="3364992" y="4261104"/>
            <a:ext cx="2231136" cy="8686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3364992" y="5093208"/>
            <a:ext cx="2231136" cy="7296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Anomaly detection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TransFrio spoilage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Proactive alerts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5897880" y="4206240"/>
            <a:ext cx="2377440" cy="1737360"/>
          </a:xfrm>
          <a:prstGeom prst="roundRect">
            <a:avLst>
              <a:gd name="adj" fmla="val 5263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5" name="Text 32"/>
          <p:cNvSpPr/>
          <p:nvPr/>
        </p:nvSpPr>
        <p:spPr>
          <a:xfrm>
            <a:off x="5971032" y="4261104"/>
            <a:ext cx="2231136" cy="8686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Server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5971032" y="5093208"/>
            <a:ext cx="2231136" cy="7296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integration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demo prompts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+ docs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8503920" y="4206240"/>
            <a:ext cx="2377440" cy="1737360"/>
          </a:xfrm>
          <a:prstGeom prst="roundRect">
            <a:avLst>
              <a:gd name="adj" fmla="val 5263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8" name="Text 35"/>
          <p:cNvSpPr/>
          <p:nvPr/>
        </p:nvSpPr>
        <p:spPr>
          <a:xfrm>
            <a:off x="8577072" y="4261104"/>
            <a:ext cx="2231136" cy="8686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Automations</a:t>
            </a:r>
            <a:endParaRPr lang="en-US" sz="1200" dirty="0"/>
          </a:p>
        </p:txBody>
      </p:sp>
      <p:sp>
        <p:nvSpPr>
          <p:cNvPr id="39" name="Text 36"/>
          <p:cNvSpPr/>
          <p:nvPr/>
        </p:nvSpPr>
        <p:spPr>
          <a:xfrm>
            <a:off x="8577072" y="5093208"/>
            <a:ext cx="2231136" cy="7296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automations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Teams integration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job trigger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2194560"/>
            <a:ext cx="7315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7 Nightmares</a:t>
            </a:r>
            <a:endParaRPr lang="en-US" sz="3600" dirty="0"/>
          </a:p>
        </p:txBody>
      </p:sp>
      <p:sp>
        <p:nvSpPr>
          <p:cNvPr id="4" name="Text 1"/>
          <p:cNvSpPr/>
          <p:nvPr/>
        </p:nvSpPr>
        <p:spPr>
          <a:xfrm>
            <a:off x="731520" y="33832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$127M in annual data quality costs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7 Data Quality Nightmares — $127M Annual Impact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548640" y="109728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109728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280160" y="105156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Phantom Inventory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280160" y="13716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$41M / year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206240" y="105156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ERP says 50, WMS says 42. Stockouts from ghost inventory.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172821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14" name="Shape 11"/>
          <p:cNvSpPr/>
          <p:nvPr/>
        </p:nvSpPr>
        <p:spPr>
          <a:xfrm>
            <a:off x="548640" y="182880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15" name="Text 12"/>
          <p:cNvSpPr/>
          <p:nvPr/>
        </p:nvSpPr>
        <p:spPr>
          <a:xfrm>
            <a:off x="548640" y="182880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280160" y="178308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Address Catastrophe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280160" y="21031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$31M / year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4206240" y="178308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11% format issues, 6% truncated. 4.7% carrier rejection.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45973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20" name="Shape 17"/>
          <p:cNvSpPr/>
          <p:nvPr/>
        </p:nvSpPr>
        <p:spPr>
          <a:xfrm>
            <a:off x="548640" y="256032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21" name="Text 18"/>
          <p:cNvSpPr/>
          <p:nvPr/>
        </p:nvSpPr>
        <p:spPr>
          <a:xfrm>
            <a:off x="548640" y="256032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1280160" y="251460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Master Mess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1280160" y="28346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$14M / year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4206240" y="251460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8,200 missing weights, duplicated suppliers, SKU chaos.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19125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26" name="Shape 23"/>
          <p:cNvSpPr/>
          <p:nvPr/>
        </p:nvSpPr>
        <p:spPr>
          <a:xfrm>
            <a:off x="548640" y="329184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27" name="Text 24"/>
          <p:cNvSpPr/>
          <p:nvPr/>
        </p:nvSpPr>
        <p:spPr>
          <a:xfrm>
            <a:off x="548640" y="329184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Text 25"/>
          <p:cNvSpPr/>
          <p:nvPr/>
        </p:nvSpPr>
        <p:spPr>
          <a:xfrm>
            <a:off x="1280160" y="324612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Silent Pipeline Failures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1280160" y="35661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$4M / year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4206240" y="324612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Rotterdam CDC sync: 72h undetected. 847 phantom units.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57200" y="392277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32" name="Shape 29"/>
          <p:cNvSpPr/>
          <p:nvPr/>
        </p:nvSpPr>
        <p:spPr>
          <a:xfrm>
            <a:off x="548640" y="402336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33" name="Text 30"/>
          <p:cNvSpPr/>
          <p:nvPr/>
        </p:nvSpPr>
        <p:spPr>
          <a:xfrm>
            <a:off x="548640" y="40233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800" dirty="0"/>
          </a:p>
        </p:txBody>
      </p:sp>
      <p:sp>
        <p:nvSpPr>
          <p:cNvPr id="34" name="Text 31"/>
          <p:cNvSpPr/>
          <p:nvPr/>
        </p:nvSpPr>
        <p:spPr>
          <a:xfrm>
            <a:off x="1280160" y="397764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Timestamp Tower of Babel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1280160" y="4297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$6M / year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4206240" y="397764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Mixed UTC/local/bare timestamps across 3 sources.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457200" y="465429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38" name="Shape 35"/>
          <p:cNvSpPr/>
          <p:nvPr/>
        </p:nvSpPr>
        <p:spPr>
          <a:xfrm>
            <a:off x="548640" y="475488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39" name="Text 36"/>
          <p:cNvSpPr/>
          <p:nvPr/>
        </p:nvSpPr>
        <p:spPr>
          <a:xfrm>
            <a:off x="548640" y="475488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800" dirty="0"/>
          </a:p>
        </p:txBody>
      </p:sp>
      <p:sp>
        <p:nvSpPr>
          <p:cNvPr id="40" name="Text 37"/>
          <p:cNvSpPr/>
          <p:nvPr/>
        </p:nvSpPr>
        <p:spPr>
          <a:xfrm>
            <a:off x="1280160" y="470916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Carrier Data Black Hole</a:t>
            </a:r>
            <a:endParaRPr lang="en-US" sz="1300" dirty="0"/>
          </a:p>
        </p:txBody>
      </p:sp>
      <p:sp>
        <p:nvSpPr>
          <p:cNvPr id="41" name="Text 38"/>
          <p:cNvSpPr/>
          <p:nvPr/>
        </p:nvSpPr>
        <p:spPr>
          <a:xfrm>
            <a:off x="1280160" y="50292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$22M / year</a:t>
            </a:r>
            <a:endParaRPr lang="en-US" sz="1100" dirty="0"/>
          </a:p>
        </p:txBody>
      </p:sp>
      <p:sp>
        <p:nvSpPr>
          <p:cNvPr id="42" name="Text 39"/>
          <p:cNvSpPr/>
          <p:nvPr/>
        </p:nvSpPr>
        <p:spPr>
          <a:xfrm>
            <a:off x="4206240" y="470916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carriers, 5 languages, no canonical status mapping.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457200" y="538581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44" name="Shape 41"/>
          <p:cNvSpPr/>
          <p:nvPr/>
        </p:nvSpPr>
        <p:spPr>
          <a:xfrm>
            <a:off x="548640" y="548640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45" name="Text 42"/>
          <p:cNvSpPr/>
          <p:nvPr/>
        </p:nvSpPr>
        <p:spPr>
          <a:xfrm>
            <a:off x="548640" y="548640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800" dirty="0"/>
          </a:p>
        </p:txBody>
      </p:sp>
      <p:sp>
        <p:nvSpPr>
          <p:cNvPr id="46" name="Text 43"/>
          <p:cNvSpPr/>
          <p:nvPr/>
        </p:nvSpPr>
        <p:spPr>
          <a:xfrm>
            <a:off x="1280160" y="544068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Compliance Traceability Gap</a:t>
            </a:r>
            <a:endParaRPr lang="en-US" sz="1300" dirty="0"/>
          </a:p>
        </p:txBody>
      </p:sp>
      <p:sp>
        <p:nvSpPr>
          <p:cNvPr id="47" name="Text 44"/>
          <p:cNvSpPr/>
          <p:nvPr/>
        </p:nvSpPr>
        <p:spPr>
          <a:xfrm>
            <a:off x="1280160" y="57607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$9M / year</a:t>
            </a:r>
            <a:endParaRPr lang="en-US" sz="1100" dirty="0"/>
          </a:p>
        </p:txBody>
      </p:sp>
      <p:sp>
        <p:nvSpPr>
          <p:cNvPr id="48" name="Text 45"/>
          <p:cNvSpPr/>
          <p:nvPr/>
        </p:nvSpPr>
        <p:spPr>
          <a:xfrm>
            <a:off x="4206240" y="544068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Lettuce recall: 11 days vs 24h requirement. NVWA citation.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&amp; Cluster Architecture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3200400"/>
          </a:xfrm>
          <a:prstGeom prst="roundRect">
            <a:avLst>
              <a:gd name="adj" fmla="val 3429"/>
            </a:avLst>
          </a:prstGeom>
          <a:solidFill>
            <a:srgbClr val="E0F2F5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1024128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Cluster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57200" y="13898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CDC + Salesforce incremental sync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85800" y="1828800"/>
            <a:ext cx="50292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1: inventory_positions (CDC, real-time)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85800" y="2212848"/>
            <a:ext cx="5029200" cy="347472"/>
          </a:xfrm>
          <a:prstGeom prst="rect">
            <a:avLst/>
          </a:prstGeom>
          <a:solidFill>
            <a:srgbClr val="F6F7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2: warehouse_events (CDC, real-time)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85800" y="2596896"/>
            <a:ext cx="50292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3: shipments (CDC, real-time)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85800" y="2980944"/>
            <a:ext cx="5029200" cy="347472"/>
          </a:xfrm>
          <a:prstGeom prst="rect">
            <a:avLst/>
          </a:prstGeom>
          <a:solidFill>
            <a:srgbClr val="F6F7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6: sf_contacts (API, 15 min)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85800" y="3364992"/>
            <a:ext cx="50292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7: sf_orders (API, 15 min)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85800" y="3749040"/>
            <a:ext cx="5029200" cy="347472"/>
          </a:xfrm>
          <a:prstGeom prst="rect">
            <a:avLst/>
          </a:prstGeom>
          <a:solidFill>
            <a:srgbClr val="F6F7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8: sf_products (API, 15 min)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217920" y="1005840"/>
            <a:ext cx="5486400" cy="3200400"/>
          </a:xfrm>
          <a:prstGeom prst="roundRect">
            <a:avLst>
              <a:gd name="adj" fmla="val 3429"/>
            </a:avLst>
          </a:prstGeom>
          <a:solidFill>
            <a:srgbClr val="E0F5EA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217920" y="1024128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Cluster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217920" y="13898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Real-time Kafka ingestion from IoT topics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446520" y="1828800"/>
            <a:ext cx="50292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4: mcg.iot.cold-chain → bronze.iot_cold_chain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446520" y="2212848"/>
            <a:ext cx="5029200" cy="347472"/>
          </a:xfrm>
          <a:prstGeom prst="rect">
            <a:avLst/>
          </a:prstGeom>
          <a:solidFill>
            <a:srgbClr val="F6F7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5: mcg.iot.carrier-events → bronze.iot_carrier_events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57200" y="4572000"/>
            <a:ext cx="11247120" cy="1554480"/>
          </a:xfrm>
          <a:prstGeom prst="roundRect">
            <a:avLst>
              <a:gd name="adj" fmla="val 5882"/>
            </a:avLst>
          </a:prstGeom>
          <a:solidFill>
            <a:srgbClr val="F6F7F8"/>
          </a:solidFill>
          <a:ln w="12700">
            <a:solidFill>
              <a:srgbClr val="A9B3B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7200" y="4572000"/>
            <a:ext cx="11247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Infrastructure Components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68580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8580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Movement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Gateway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8580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On-prem PostgreSQL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297180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297180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Gateway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297180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Kafka connectivity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525780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25780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Docker Compose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525780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Confluent Platform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754380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54380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IoT Simulator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754380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kafka_iot_simulator.py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964692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64692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WMS Simulator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964692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postgres_simulator.py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 Stack Component Summary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51560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105156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 (3)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291840" y="105156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WMS (CDC)  •  Apache Kafka 2 topics (streaming)  •  Salesforce CRM (API)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57200" y="1801368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009845"/>
          </a:solidFill>
          <a:ln/>
        </p:spPr>
      </p:sp>
      <p:sp>
        <p:nvSpPr>
          <p:cNvPr id="12" name="Text 9"/>
          <p:cNvSpPr/>
          <p:nvPr/>
        </p:nvSpPr>
        <p:spPr>
          <a:xfrm>
            <a:off x="457200" y="1801368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Lakehouse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3291840" y="18013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Bronze tables  •  8 Silver transformations + 1 Talend job  •  2 Gold data products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2551176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006580"/>
          </a:solidFill>
          <a:ln/>
        </p:spPr>
      </p:sp>
      <p:sp>
        <p:nvSpPr>
          <p:cNvPr id="15" name="Text 12"/>
          <p:cNvSpPr/>
          <p:nvPr/>
        </p:nvSpPr>
        <p:spPr>
          <a:xfrm>
            <a:off x="457200" y="2551176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291840" y="2551176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 •  Data Lineage  •  Impact Analysis  •  Profiling  •  25-term Glossary  •  4 Stewardship campaigns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57200" y="3300984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19416C"/>
          </a:solidFill>
          <a:ln/>
        </p:spPr>
      </p:sp>
      <p:sp>
        <p:nvSpPr>
          <p:cNvPr id="18" name="Text 15"/>
          <p:cNvSpPr/>
          <p:nvPr/>
        </p:nvSpPr>
        <p:spPr>
          <a:xfrm>
            <a:off x="457200" y="3300984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3291840" y="3300984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Qlik Analytics apps (10 sheets)  •  MCG Dark Theme  •  Streaming IoT  •  Alerts  •  Reports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4050792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4CB393"/>
          </a:solidFill>
          <a:ln/>
        </p:spPr>
      </p:sp>
      <p:sp>
        <p:nvSpPr>
          <p:cNvPr id="21" name="Text 18"/>
          <p:cNvSpPr/>
          <p:nvPr/>
        </p:nvSpPr>
        <p:spPr>
          <a:xfrm>
            <a:off x="457200" y="4050792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/ ML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3291840" y="4050792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Predict models (Spoilage + SLA)  •  Qlik Answers (25 docs)  •  Discovery Agent  •  MCP Server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57200" y="4800600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009845"/>
          </a:solidFill>
          <a:ln/>
        </p:spPr>
      </p:sp>
      <p:sp>
        <p:nvSpPr>
          <p:cNvPr id="24" name="Text 21"/>
          <p:cNvSpPr/>
          <p:nvPr/>
        </p:nvSpPr>
        <p:spPr>
          <a:xfrm>
            <a:off x="457200" y="480060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Automation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291840" y="480060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automations: App Reload, Cold Chain Alert, Pipeline Health, WISMO, Address Correction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57200" y="5550408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A9B3B6"/>
          </a:solidFill>
          <a:ln/>
        </p:spPr>
      </p:sp>
      <p:sp>
        <p:nvSpPr>
          <p:cNvPr id="27" name="Text 24"/>
          <p:cNvSpPr/>
          <p:nvPr/>
        </p:nvSpPr>
        <p:spPr>
          <a:xfrm>
            <a:off x="457200" y="5550408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Infrastructure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3291840" y="555040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Docker Compose (Confluent)  •  3 simulators (PG, Kafka, SF)  •  Deploy script  •  Setup guide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6309360"/>
            <a:ext cx="11274552" cy="411480"/>
          </a:xfrm>
          <a:prstGeom prst="roundRect">
            <a:avLst>
              <a:gd name="adj" fmla="val 13333"/>
            </a:avLst>
          </a:prstGeom>
          <a:solidFill>
            <a:srgbClr val="19416C"/>
          </a:solidFill>
          <a:ln/>
        </p:spPr>
      </p:sp>
      <p:sp>
        <p:nvSpPr>
          <p:cNvPr id="30" name="Text 27"/>
          <p:cNvSpPr/>
          <p:nvPr/>
        </p:nvSpPr>
        <p:spPr>
          <a:xfrm>
            <a:off x="457200" y="6309360"/>
            <a:ext cx="112745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Sources  •  18 Tables  •  9 Flows  •  2 Products  •  10 Sheets  •  2 Models  •  25 Docs  •  5 Automations  •  1 MCP Server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Qlik / Meridian Commerce Group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MCG Technology Architecture — Qlik Cloud Full Stack Demo</dc:title>
  <dc:subject>PptxGenJS Presentation</dc:subject>
  <dc:creator>Qlik</dc:creator>
  <cp:lastModifiedBy>Qlik</cp:lastModifiedBy>
  <cp:revision>1</cp:revision>
  <dcterms:created xsi:type="dcterms:W3CDTF">2026-06-12T18:46:31Z</dcterms:created>
  <dcterms:modified xsi:type="dcterms:W3CDTF">2026-06-12T18:46:31Z</dcterms:modified>
</cp:coreProperties>
</file>